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 id="2147483700" r:id="rId2"/>
    <p:sldMasterId id="2147483701" r:id="rId3"/>
  </p:sldMasterIdLst>
  <p:notesMasterIdLst>
    <p:notesMasterId r:id="rId241"/>
  </p:notesMasterIdLst>
  <p:sldIdLst>
    <p:sldId id="256" r:id="rId4"/>
    <p:sldId id="284" r:id="rId5"/>
    <p:sldId id="307" r:id="rId6"/>
    <p:sldId id="338" r:id="rId7"/>
    <p:sldId id="343" r:id="rId8"/>
    <p:sldId id="339" r:id="rId9"/>
    <p:sldId id="341" r:id="rId10"/>
    <p:sldId id="340" r:id="rId11"/>
    <p:sldId id="345" r:id="rId12"/>
    <p:sldId id="360" r:id="rId13"/>
    <p:sldId id="342" r:id="rId14"/>
    <p:sldId id="356" r:id="rId15"/>
    <p:sldId id="344" r:id="rId16"/>
    <p:sldId id="346" r:id="rId17"/>
    <p:sldId id="347" r:id="rId18"/>
    <p:sldId id="362" r:id="rId19"/>
    <p:sldId id="357" r:id="rId20"/>
    <p:sldId id="361" r:id="rId21"/>
    <p:sldId id="358" r:id="rId22"/>
    <p:sldId id="359" r:id="rId23"/>
    <p:sldId id="375" r:id="rId24"/>
    <p:sldId id="371" r:id="rId25"/>
    <p:sldId id="372" r:id="rId26"/>
    <p:sldId id="373" r:id="rId27"/>
    <p:sldId id="374" r:id="rId28"/>
    <p:sldId id="363" r:id="rId29"/>
    <p:sldId id="400" r:id="rId30"/>
    <p:sldId id="376" r:id="rId31"/>
    <p:sldId id="392" r:id="rId32"/>
    <p:sldId id="377" r:id="rId33"/>
    <p:sldId id="378" r:id="rId34"/>
    <p:sldId id="364" r:id="rId35"/>
    <p:sldId id="365" r:id="rId36"/>
    <p:sldId id="398" r:id="rId37"/>
    <p:sldId id="366" r:id="rId38"/>
    <p:sldId id="383" r:id="rId39"/>
    <p:sldId id="384" r:id="rId40"/>
    <p:sldId id="386" r:id="rId41"/>
    <p:sldId id="387" r:id="rId42"/>
    <p:sldId id="389" r:id="rId43"/>
    <p:sldId id="388" r:id="rId44"/>
    <p:sldId id="390" r:id="rId45"/>
    <p:sldId id="391" r:id="rId46"/>
    <p:sldId id="395" r:id="rId47"/>
    <p:sldId id="397" r:id="rId48"/>
    <p:sldId id="394" r:id="rId49"/>
    <p:sldId id="393" r:id="rId50"/>
    <p:sldId id="401" r:id="rId51"/>
    <p:sldId id="402" r:id="rId52"/>
    <p:sldId id="403" r:id="rId53"/>
    <p:sldId id="404" r:id="rId54"/>
    <p:sldId id="405" r:id="rId55"/>
    <p:sldId id="478" r:id="rId56"/>
    <p:sldId id="482" r:id="rId57"/>
    <p:sldId id="483" r:id="rId58"/>
    <p:sldId id="484" r:id="rId59"/>
    <p:sldId id="480" r:id="rId60"/>
    <p:sldId id="396" r:id="rId61"/>
    <p:sldId id="399" r:id="rId62"/>
    <p:sldId id="379" r:id="rId63"/>
    <p:sldId id="380" r:id="rId64"/>
    <p:sldId id="381" r:id="rId65"/>
    <p:sldId id="406" r:id="rId66"/>
    <p:sldId id="407" r:id="rId67"/>
    <p:sldId id="382" r:id="rId68"/>
    <p:sldId id="411" r:id="rId69"/>
    <p:sldId id="412" r:id="rId70"/>
    <p:sldId id="408" r:id="rId71"/>
    <p:sldId id="409" r:id="rId72"/>
    <p:sldId id="410" r:id="rId73"/>
    <p:sldId id="424" r:id="rId74"/>
    <p:sldId id="425" r:id="rId75"/>
    <p:sldId id="413" r:id="rId76"/>
    <p:sldId id="414" r:id="rId77"/>
    <p:sldId id="427" r:id="rId78"/>
    <p:sldId id="426" r:id="rId79"/>
    <p:sldId id="428" r:id="rId80"/>
    <p:sldId id="415" r:id="rId81"/>
    <p:sldId id="429" r:id="rId82"/>
    <p:sldId id="430" r:id="rId83"/>
    <p:sldId id="431" r:id="rId84"/>
    <p:sldId id="416" r:id="rId85"/>
    <p:sldId id="417" r:id="rId86"/>
    <p:sldId id="432" r:id="rId87"/>
    <p:sldId id="418" r:id="rId88"/>
    <p:sldId id="439" r:id="rId89"/>
    <p:sldId id="440" r:id="rId90"/>
    <p:sldId id="419" r:id="rId91"/>
    <p:sldId id="441" r:id="rId92"/>
    <p:sldId id="442" r:id="rId93"/>
    <p:sldId id="443" r:id="rId94"/>
    <p:sldId id="444" r:id="rId95"/>
    <p:sldId id="447" r:id="rId96"/>
    <p:sldId id="445" r:id="rId97"/>
    <p:sldId id="446" r:id="rId98"/>
    <p:sldId id="448" r:id="rId99"/>
    <p:sldId id="449" r:id="rId100"/>
    <p:sldId id="450" r:id="rId101"/>
    <p:sldId id="451" r:id="rId102"/>
    <p:sldId id="452" r:id="rId103"/>
    <p:sldId id="453" r:id="rId104"/>
    <p:sldId id="420" r:id="rId105"/>
    <p:sldId id="510" r:id="rId106"/>
    <p:sldId id="457" r:id="rId107"/>
    <p:sldId id="463" r:id="rId108"/>
    <p:sldId id="464" r:id="rId109"/>
    <p:sldId id="465" r:id="rId110"/>
    <p:sldId id="466" r:id="rId111"/>
    <p:sldId id="454" r:id="rId112"/>
    <p:sldId id="458" r:id="rId113"/>
    <p:sldId id="470" r:id="rId114"/>
    <p:sldId id="471" r:id="rId115"/>
    <p:sldId id="472" r:id="rId116"/>
    <p:sldId id="473" r:id="rId117"/>
    <p:sldId id="462" r:id="rId118"/>
    <p:sldId id="485" r:id="rId119"/>
    <p:sldId id="486" r:id="rId120"/>
    <p:sldId id="487" r:id="rId121"/>
    <p:sldId id="488" r:id="rId122"/>
    <p:sldId id="492" r:id="rId123"/>
    <p:sldId id="489" r:id="rId124"/>
    <p:sldId id="490" r:id="rId125"/>
    <p:sldId id="491" r:id="rId126"/>
    <p:sldId id="493" r:id="rId127"/>
    <p:sldId id="496" r:id="rId128"/>
    <p:sldId id="494" r:id="rId129"/>
    <p:sldId id="497" r:id="rId130"/>
    <p:sldId id="495" r:id="rId131"/>
    <p:sldId id="498" r:id="rId132"/>
    <p:sldId id="474" r:id="rId133"/>
    <p:sldId id="499" r:id="rId134"/>
    <p:sldId id="500" r:id="rId135"/>
    <p:sldId id="501" r:id="rId136"/>
    <p:sldId id="502" r:id="rId137"/>
    <p:sldId id="503" r:id="rId138"/>
    <p:sldId id="505" r:id="rId139"/>
    <p:sldId id="504" r:id="rId140"/>
    <p:sldId id="475" r:id="rId141"/>
    <p:sldId id="506" r:id="rId142"/>
    <p:sldId id="507" r:id="rId143"/>
    <p:sldId id="508" r:id="rId144"/>
    <p:sldId id="509" r:id="rId145"/>
    <p:sldId id="511" r:id="rId146"/>
    <p:sldId id="512" r:id="rId147"/>
    <p:sldId id="513" r:id="rId148"/>
    <p:sldId id="476" r:id="rId149"/>
    <p:sldId id="477" r:id="rId150"/>
    <p:sldId id="422" r:id="rId151"/>
    <p:sldId id="423" r:id="rId152"/>
    <p:sldId id="433" r:id="rId153"/>
    <p:sldId id="434" r:id="rId154"/>
    <p:sldId id="435" r:id="rId155"/>
    <p:sldId id="436" r:id="rId156"/>
    <p:sldId id="437" r:id="rId157"/>
    <p:sldId id="524" r:id="rId158"/>
    <p:sldId id="438" r:id="rId159"/>
    <p:sldId id="519" r:id="rId160"/>
    <p:sldId id="514" r:id="rId161"/>
    <p:sldId id="515" r:id="rId162"/>
    <p:sldId id="525" r:id="rId163"/>
    <p:sldId id="526" r:id="rId164"/>
    <p:sldId id="527" r:id="rId165"/>
    <p:sldId id="520" r:id="rId166"/>
    <p:sldId id="521" r:id="rId167"/>
    <p:sldId id="522" r:id="rId168"/>
    <p:sldId id="523" r:id="rId169"/>
    <p:sldId id="516" r:id="rId170"/>
    <p:sldId id="528" r:id="rId171"/>
    <p:sldId id="529" r:id="rId172"/>
    <p:sldId id="530" r:id="rId173"/>
    <p:sldId id="538" r:id="rId174"/>
    <p:sldId id="531" r:id="rId175"/>
    <p:sldId id="517" r:id="rId176"/>
    <p:sldId id="540" r:id="rId177"/>
    <p:sldId id="534" r:id="rId178"/>
    <p:sldId id="535" r:id="rId179"/>
    <p:sldId id="536" r:id="rId180"/>
    <p:sldId id="545" r:id="rId181"/>
    <p:sldId id="537" r:id="rId182"/>
    <p:sldId id="546" r:id="rId183"/>
    <p:sldId id="541" r:id="rId184"/>
    <p:sldId id="542" r:id="rId185"/>
    <p:sldId id="543" r:id="rId186"/>
    <p:sldId id="569" r:id="rId187"/>
    <p:sldId id="551" r:id="rId188"/>
    <p:sldId id="547" r:id="rId189"/>
    <p:sldId id="548" r:id="rId190"/>
    <p:sldId id="549" r:id="rId191"/>
    <p:sldId id="552" r:id="rId192"/>
    <p:sldId id="555" r:id="rId193"/>
    <p:sldId id="556" r:id="rId194"/>
    <p:sldId id="553" r:id="rId195"/>
    <p:sldId id="554" r:id="rId196"/>
    <p:sldId id="557" r:id="rId197"/>
    <p:sldId id="550" r:id="rId198"/>
    <p:sldId id="558" r:id="rId199"/>
    <p:sldId id="559" r:id="rId200"/>
    <p:sldId id="567" r:id="rId201"/>
    <p:sldId id="568" r:id="rId202"/>
    <p:sldId id="561" r:id="rId203"/>
    <p:sldId id="563" r:id="rId204"/>
    <p:sldId id="570" r:id="rId205"/>
    <p:sldId id="564" r:id="rId206"/>
    <p:sldId id="565" r:id="rId207"/>
    <p:sldId id="566" r:id="rId208"/>
    <p:sldId id="544" r:id="rId209"/>
    <p:sldId id="575" r:id="rId210"/>
    <p:sldId id="576" r:id="rId211"/>
    <p:sldId id="571" r:id="rId212"/>
    <p:sldId id="572" r:id="rId213"/>
    <p:sldId id="577" r:id="rId214"/>
    <p:sldId id="578" r:id="rId215"/>
    <p:sldId id="579" r:id="rId216"/>
    <p:sldId id="573" r:id="rId217"/>
    <p:sldId id="574" r:id="rId218"/>
    <p:sldId id="337" r:id="rId219"/>
    <p:sldId id="580" r:id="rId220"/>
    <p:sldId id="585" r:id="rId221"/>
    <p:sldId id="586" r:id="rId222"/>
    <p:sldId id="587" r:id="rId223"/>
    <p:sldId id="308" r:id="rId224"/>
    <p:sldId id="285" r:id="rId225"/>
    <p:sldId id="355" r:id="rId226"/>
    <p:sldId id="354" r:id="rId227"/>
    <p:sldId id="584" r:id="rId228"/>
    <p:sldId id="348" r:id="rId229"/>
    <p:sldId id="349" r:id="rId230"/>
    <p:sldId id="350" r:id="rId231"/>
    <p:sldId id="351" r:id="rId232"/>
    <p:sldId id="532" r:id="rId233"/>
    <p:sldId id="533" r:id="rId234"/>
    <p:sldId id="273" r:id="rId235"/>
    <p:sldId id="278" r:id="rId236"/>
    <p:sldId id="539" r:id="rId237"/>
    <p:sldId id="352" r:id="rId238"/>
    <p:sldId id="562" r:id="rId239"/>
    <p:sldId id="353" r:id="rId240"/>
  </p:sldIdLst>
  <p:sldSz cx="9144000" cy="5143500" type="screen16x9"/>
  <p:notesSz cx="6858000" cy="9144000"/>
  <p:embeddedFontLst>
    <p:embeddedFont>
      <p:font typeface="Comfortaa" panose="020B0604020202020204" charset="0"/>
      <p:regular r:id="rId242"/>
      <p:bold r:id="rId243"/>
    </p:embeddedFont>
    <p:embeddedFont>
      <p:font typeface="Comfortaa Medium" panose="020B0604020202020204" charset="0"/>
      <p:regular r:id="rId244"/>
      <p:bold r:id="rId245"/>
    </p:embeddedFont>
    <p:embeddedFont>
      <p:font typeface="Helvetica Neue" panose="020B0604020202020204" charset="0"/>
      <p:regular r:id="rId246"/>
      <p:bold r:id="rId247"/>
      <p:italic r:id="rId248"/>
      <p:boldItalic r:id="rId249"/>
    </p:embeddedFont>
    <p:embeddedFont>
      <p:font typeface="Inter" panose="020B0604020202020204" charset="0"/>
      <p:regular r:id="rId250"/>
      <p:bold r:id="rId251"/>
      <p:italic r:id="rId252"/>
      <p:boldItalic r:id="rId253"/>
    </p:embeddedFont>
    <p:embeddedFont>
      <p:font typeface="Inter Medium" panose="020B0604020202020204" charset="0"/>
      <p:regular r:id="rId254"/>
      <p:bold r:id="rId255"/>
      <p:italic r:id="rId256"/>
      <p:boldItalic r:id="rId257"/>
    </p:embeddedFont>
    <p:embeddedFont>
      <p:font typeface="Lato" panose="020B0604020202020204" charset="0"/>
      <p:regular r:id="rId258"/>
      <p:bold r:id="rId259"/>
      <p:italic r:id="rId260"/>
      <p:boldItalic r:id="rId261"/>
    </p:embeddedFont>
    <p:embeddedFont>
      <p:font typeface="Merriweather" panose="020B0604020202020204" charset="0"/>
      <p:regular r:id="rId262"/>
      <p:bold r:id="rId263"/>
      <p:italic r:id="rId264"/>
      <p:boldItalic r:id="rId265"/>
    </p:embeddedFont>
    <p:embeddedFont>
      <p:font typeface="Roboto" panose="020B0604020202020204" charset="0"/>
      <p:regular r:id="rId266"/>
      <p:bold r:id="rId267"/>
      <p:italic r:id="rId268"/>
      <p:boldItalic r:id="rId269"/>
    </p:embeddedFont>
    <p:embeddedFont>
      <p:font typeface="Roboto Condensed Light" panose="020B0604020202020204" charset="0"/>
      <p:regular r:id="rId270"/>
      <p:bold r:id="rId271"/>
      <p:italic r:id="rId272"/>
      <p:boldItalic r:id="rId273"/>
    </p:embeddedFont>
    <p:embeddedFont>
      <p:font typeface="Rubik" panose="020B0604020202020204" charset="-79"/>
      <p:regular r:id="rId274"/>
      <p:bold r:id="rId275"/>
      <p:italic r:id="rId276"/>
      <p:boldItalic r:id="rId2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F3B"/>
    <a:srgbClr val="B088FF"/>
    <a:srgbClr val="272532"/>
    <a:srgbClr val="1210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85125C-2D90-44BB-9572-9AD770A94C52}">
  <a:tblStyle styleId="{3385125C-2D90-44BB-9572-9AD770A94C52}" styleName="Table_0">
    <a:wholeTbl>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wholeTbl>
    <a:band1H>
      <a:tcTxStyle/>
      <a:tcStyle>
        <a:tcBdr/>
      </a:tcStyle>
    </a:band1H>
    <a:band2H>
      <a:tcTxStyle b="off" i="off"/>
      <a:tcStyle>
        <a:tcBdr/>
        <a:fill>
          <a:solidFill>
            <a:srgbClr val="E3E5E8"/>
          </a:solidFill>
        </a:fill>
      </a:tcStyle>
    </a:band2H>
    <a:band1V>
      <a:tcTxStyle/>
      <a:tcStyle>
        <a:tcBdr/>
      </a:tcStyle>
    </a:band1V>
    <a:band2V>
      <a:tcTxStyle/>
      <a:tcStyle>
        <a:tcBdr/>
      </a:tcStyle>
    </a:band2V>
    <a:lastCol>
      <a:tcTxStyle/>
      <a:tcStyle>
        <a:tcBdr/>
      </a:tcStyle>
    </a:lastCol>
    <a:firstCol>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398CCE"/>
          </a:solidFill>
        </a:fill>
      </a:tcStyle>
    </a:firstCol>
    <a:lastRow>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3797C6"/>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lastRow>
    <a:seCell>
      <a:tcTxStyle/>
      <a:tcStyle>
        <a:tcBdr/>
      </a:tcStyle>
    </a:seCell>
    <a:swCell>
      <a:tcTxStyle/>
      <a:tcStyle>
        <a:tcBdr/>
      </a:tcStyle>
    </a:swCell>
    <a:firstRow>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 styleId="{089503BA-411C-4511-BEE9-534013F5078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919C834-B7B1-4ECF-AE0E-9BD6425C956E}" styleName="Table_2">
    <a:wholeTbl>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wholeTbl>
    <a:band1H>
      <a:tcTxStyle/>
      <a:tcStyle>
        <a:tcBdr/>
      </a:tcStyle>
    </a:band1H>
    <a:band2H>
      <a:tcTxStyle b="off" i="off"/>
      <a:tcStyle>
        <a:tcBdr/>
        <a:fill>
          <a:solidFill>
            <a:srgbClr val="E3E5E8"/>
          </a:solidFill>
        </a:fill>
      </a:tcStyle>
    </a:band2H>
    <a:band1V>
      <a:tcTxStyle/>
      <a:tcStyle>
        <a:tcBdr/>
      </a:tcStyle>
    </a:band1V>
    <a:band2V>
      <a:tcTxStyle/>
      <a:tcStyle>
        <a:tcBdr/>
      </a:tcStyle>
    </a:band2V>
    <a:lastCol>
      <a:tcTxStyle/>
      <a:tcStyle>
        <a:tcBdr/>
      </a:tcStyle>
    </a:lastCol>
    <a:firstCol>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398CCE"/>
          </a:solidFill>
        </a:fill>
      </a:tcStyle>
    </a:firstCol>
    <a:lastRow>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3797C6"/>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lastRow>
    <a:seCell>
      <a:tcTxStyle/>
      <a:tcStyle>
        <a:tcBdr/>
      </a:tcStyle>
    </a:seCell>
    <a:swCell>
      <a:tcTxStyle/>
      <a:tcStyle>
        <a:tcBdr/>
      </a:tcStyle>
    </a:swCell>
    <a:firstRow>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5F3B"/>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666" y="102"/>
      </p:cViewPr>
      <p:guideLst>
        <p:guide orient="horz" pos="1620"/>
        <p:guide pos="2880"/>
      </p:guideLst>
    </p:cSldViewPr>
  </p:slideViewPr>
  <p:notesTextViewPr>
    <p:cViewPr>
      <p:scale>
        <a:sx n="1" d="1"/>
        <a:sy n="1" d="1"/>
      </p:scale>
      <p:origin x="0" y="0"/>
    </p:cViewPr>
  </p:notesTextViewPr>
  <p:sorterViewPr>
    <p:cViewPr>
      <p:scale>
        <a:sx n="200" d="100"/>
        <a:sy n="200" d="100"/>
      </p:scale>
      <p:origin x="0" y="-13830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63" Type="http://schemas.openxmlformats.org/officeDocument/2006/relationships/slide" Target="slides/slide60.xml"/><Relationship Id="rId159" Type="http://schemas.openxmlformats.org/officeDocument/2006/relationships/slide" Target="slides/slide156.xml"/><Relationship Id="rId170" Type="http://schemas.openxmlformats.org/officeDocument/2006/relationships/slide" Target="slides/slide167.xml"/><Relationship Id="rId226" Type="http://schemas.openxmlformats.org/officeDocument/2006/relationships/slide" Target="slides/slide223.xml"/><Relationship Id="rId268" Type="http://schemas.openxmlformats.org/officeDocument/2006/relationships/font" Target="fonts/font27.fntdata"/><Relationship Id="rId32" Type="http://schemas.openxmlformats.org/officeDocument/2006/relationships/slide" Target="slides/slide29.xml"/><Relationship Id="rId74" Type="http://schemas.openxmlformats.org/officeDocument/2006/relationships/slide" Target="slides/slide71.xml"/><Relationship Id="rId128" Type="http://schemas.openxmlformats.org/officeDocument/2006/relationships/slide" Target="slides/slide125.xml"/><Relationship Id="rId5" Type="http://schemas.openxmlformats.org/officeDocument/2006/relationships/slide" Target="slides/slide2.xml"/><Relationship Id="rId181" Type="http://schemas.openxmlformats.org/officeDocument/2006/relationships/slide" Target="slides/slide178.xml"/><Relationship Id="rId237" Type="http://schemas.openxmlformats.org/officeDocument/2006/relationships/slide" Target="slides/slide234.xml"/><Relationship Id="rId279" Type="http://schemas.openxmlformats.org/officeDocument/2006/relationships/viewProps" Target="viewProps.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92" Type="http://schemas.openxmlformats.org/officeDocument/2006/relationships/slide" Target="slides/slide189.xml"/><Relationship Id="rId206" Type="http://schemas.openxmlformats.org/officeDocument/2006/relationships/slide" Target="slides/slide203.xml"/><Relationship Id="rId227" Type="http://schemas.openxmlformats.org/officeDocument/2006/relationships/slide" Target="slides/slide224.xml"/><Relationship Id="rId248" Type="http://schemas.openxmlformats.org/officeDocument/2006/relationships/font" Target="fonts/font7.fntdata"/><Relationship Id="rId269" Type="http://schemas.openxmlformats.org/officeDocument/2006/relationships/font" Target="fonts/font28.fntdata"/><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280" Type="http://schemas.openxmlformats.org/officeDocument/2006/relationships/theme" Target="theme/theme1.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slide" Target="slides/slide179.xml"/><Relationship Id="rId217" Type="http://schemas.openxmlformats.org/officeDocument/2006/relationships/slide" Target="slides/slide214.xml"/><Relationship Id="rId6" Type="http://schemas.openxmlformats.org/officeDocument/2006/relationships/slide" Target="slides/slide3.xml"/><Relationship Id="rId238" Type="http://schemas.openxmlformats.org/officeDocument/2006/relationships/slide" Target="slides/slide235.xml"/><Relationship Id="rId259" Type="http://schemas.openxmlformats.org/officeDocument/2006/relationships/font" Target="fonts/font18.fntdata"/><Relationship Id="rId23" Type="http://schemas.openxmlformats.org/officeDocument/2006/relationships/slide" Target="slides/slide20.xml"/><Relationship Id="rId119" Type="http://schemas.openxmlformats.org/officeDocument/2006/relationships/slide" Target="slides/slide116.xml"/><Relationship Id="rId270" Type="http://schemas.openxmlformats.org/officeDocument/2006/relationships/font" Target="fonts/font29.fntdata"/><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172" Type="http://schemas.openxmlformats.org/officeDocument/2006/relationships/slide" Target="slides/slide169.xml"/><Relationship Id="rId193" Type="http://schemas.openxmlformats.org/officeDocument/2006/relationships/slide" Target="slides/slide190.xml"/><Relationship Id="rId207" Type="http://schemas.openxmlformats.org/officeDocument/2006/relationships/slide" Target="slides/slide204.xml"/><Relationship Id="rId228" Type="http://schemas.openxmlformats.org/officeDocument/2006/relationships/slide" Target="slides/slide225.xml"/><Relationship Id="rId249" Type="http://schemas.openxmlformats.org/officeDocument/2006/relationships/font" Target="fonts/font8.fntdata"/><Relationship Id="rId13" Type="http://schemas.openxmlformats.org/officeDocument/2006/relationships/slide" Target="slides/slide10.xml"/><Relationship Id="rId109" Type="http://schemas.openxmlformats.org/officeDocument/2006/relationships/slide" Target="slides/slide106.xml"/><Relationship Id="rId260" Type="http://schemas.openxmlformats.org/officeDocument/2006/relationships/font" Target="fonts/font19.fntdata"/><Relationship Id="rId281" Type="http://schemas.openxmlformats.org/officeDocument/2006/relationships/tableStyles" Target="tableStyles.xml"/><Relationship Id="rId34" Type="http://schemas.openxmlformats.org/officeDocument/2006/relationships/slide" Target="slides/slide31.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20" Type="http://schemas.openxmlformats.org/officeDocument/2006/relationships/slide" Target="slides/slide117.xml"/><Relationship Id="rId141" Type="http://schemas.openxmlformats.org/officeDocument/2006/relationships/slide" Target="slides/slide138.xml"/><Relationship Id="rId7" Type="http://schemas.openxmlformats.org/officeDocument/2006/relationships/slide" Target="slides/slide4.xml"/><Relationship Id="rId162" Type="http://schemas.openxmlformats.org/officeDocument/2006/relationships/slide" Target="slides/slide159.xml"/><Relationship Id="rId183" Type="http://schemas.openxmlformats.org/officeDocument/2006/relationships/slide" Target="slides/slide180.xml"/><Relationship Id="rId218" Type="http://schemas.openxmlformats.org/officeDocument/2006/relationships/slide" Target="slides/slide215.xml"/><Relationship Id="rId239" Type="http://schemas.openxmlformats.org/officeDocument/2006/relationships/slide" Target="slides/slide236.xml"/><Relationship Id="rId250" Type="http://schemas.openxmlformats.org/officeDocument/2006/relationships/font" Target="fonts/font9.fntdata"/><Relationship Id="rId271" Type="http://schemas.openxmlformats.org/officeDocument/2006/relationships/font" Target="fonts/font30.fntdata"/><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208" Type="http://schemas.openxmlformats.org/officeDocument/2006/relationships/slide" Target="slides/slide205.xml"/><Relationship Id="rId229" Type="http://schemas.openxmlformats.org/officeDocument/2006/relationships/slide" Target="slides/slide226.xml"/><Relationship Id="rId240" Type="http://schemas.openxmlformats.org/officeDocument/2006/relationships/slide" Target="slides/slide237.xml"/><Relationship Id="rId261" Type="http://schemas.openxmlformats.org/officeDocument/2006/relationships/font" Target="fonts/font20.fntdata"/><Relationship Id="rId14" Type="http://schemas.openxmlformats.org/officeDocument/2006/relationships/slide" Target="slides/slide11.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8" Type="http://schemas.openxmlformats.org/officeDocument/2006/relationships/slide" Target="slides/slide5.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219" Type="http://schemas.openxmlformats.org/officeDocument/2006/relationships/slide" Target="slides/slide216.xml"/><Relationship Id="rId230" Type="http://schemas.openxmlformats.org/officeDocument/2006/relationships/slide" Target="slides/slide227.xml"/><Relationship Id="rId251" Type="http://schemas.openxmlformats.org/officeDocument/2006/relationships/font" Target="fonts/font10.fntdata"/><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72" Type="http://schemas.openxmlformats.org/officeDocument/2006/relationships/font" Target="fonts/font31.fntdata"/><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95" Type="http://schemas.openxmlformats.org/officeDocument/2006/relationships/slide" Target="slides/slide192.xml"/><Relationship Id="rId209" Type="http://schemas.openxmlformats.org/officeDocument/2006/relationships/slide" Target="slides/slide206.xml"/><Relationship Id="rId220" Type="http://schemas.openxmlformats.org/officeDocument/2006/relationships/slide" Target="slides/slide217.xml"/><Relationship Id="rId241" Type="http://schemas.openxmlformats.org/officeDocument/2006/relationships/notesMaster" Target="notesMasters/notesMaster1.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262" Type="http://schemas.openxmlformats.org/officeDocument/2006/relationships/font" Target="fonts/font21.fntdata"/><Relationship Id="rId78" Type="http://schemas.openxmlformats.org/officeDocument/2006/relationships/slide" Target="slides/slide75.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64" Type="http://schemas.openxmlformats.org/officeDocument/2006/relationships/slide" Target="slides/slide161.xml"/><Relationship Id="rId185" Type="http://schemas.openxmlformats.org/officeDocument/2006/relationships/slide" Target="slides/slide182.xml"/><Relationship Id="rId9" Type="http://schemas.openxmlformats.org/officeDocument/2006/relationships/slide" Target="slides/slide6.xml"/><Relationship Id="rId210" Type="http://schemas.openxmlformats.org/officeDocument/2006/relationships/slide" Target="slides/slide207.xml"/><Relationship Id="rId26" Type="http://schemas.openxmlformats.org/officeDocument/2006/relationships/slide" Target="slides/slide23.xml"/><Relationship Id="rId231" Type="http://schemas.openxmlformats.org/officeDocument/2006/relationships/slide" Target="slides/slide228.xml"/><Relationship Id="rId252" Type="http://schemas.openxmlformats.org/officeDocument/2006/relationships/font" Target="fonts/font11.fntdata"/><Relationship Id="rId273" Type="http://schemas.openxmlformats.org/officeDocument/2006/relationships/font" Target="fonts/font32.fntdata"/><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slide" Target="slides/slide218.xml"/><Relationship Id="rId242" Type="http://schemas.openxmlformats.org/officeDocument/2006/relationships/font" Target="fonts/font1.fntdata"/><Relationship Id="rId263" Type="http://schemas.openxmlformats.org/officeDocument/2006/relationships/font" Target="fonts/font22.fntdata"/><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11" Type="http://schemas.openxmlformats.org/officeDocument/2006/relationships/slide" Target="slides/slide208.xml"/><Relationship Id="rId232" Type="http://schemas.openxmlformats.org/officeDocument/2006/relationships/slide" Target="slides/slide229.xml"/><Relationship Id="rId253" Type="http://schemas.openxmlformats.org/officeDocument/2006/relationships/font" Target="fonts/font12.fntdata"/><Relationship Id="rId274" Type="http://schemas.openxmlformats.org/officeDocument/2006/relationships/font" Target="fonts/font33.fntdata"/><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slide" Target="slides/slide198.xml"/><Relationship Id="rId222" Type="http://schemas.openxmlformats.org/officeDocument/2006/relationships/slide" Target="slides/slide219.xml"/><Relationship Id="rId243" Type="http://schemas.openxmlformats.org/officeDocument/2006/relationships/font" Target="fonts/font2.fntdata"/><Relationship Id="rId264" Type="http://schemas.openxmlformats.org/officeDocument/2006/relationships/font" Target="fonts/font23.fntdata"/><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1" Type="http://schemas.openxmlformats.org/officeDocument/2006/relationships/slideMaster" Target="slideMasters/slideMaster1.xml"/><Relationship Id="rId212" Type="http://schemas.openxmlformats.org/officeDocument/2006/relationships/slide" Target="slides/slide209.xml"/><Relationship Id="rId233" Type="http://schemas.openxmlformats.org/officeDocument/2006/relationships/slide" Target="slides/slide230.xml"/><Relationship Id="rId254" Type="http://schemas.openxmlformats.org/officeDocument/2006/relationships/font" Target="fonts/font13.fntdata"/><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275" Type="http://schemas.openxmlformats.org/officeDocument/2006/relationships/font" Target="fonts/font34.fntdata"/><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202" Type="http://schemas.openxmlformats.org/officeDocument/2006/relationships/slide" Target="slides/slide199.xml"/><Relationship Id="rId223" Type="http://schemas.openxmlformats.org/officeDocument/2006/relationships/slide" Target="slides/slide220.xml"/><Relationship Id="rId244" Type="http://schemas.openxmlformats.org/officeDocument/2006/relationships/font" Target="fonts/font3.fntdata"/><Relationship Id="rId18" Type="http://schemas.openxmlformats.org/officeDocument/2006/relationships/slide" Target="slides/slide15.xml"/><Relationship Id="rId39" Type="http://schemas.openxmlformats.org/officeDocument/2006/relationships/slide" Target="slides/slide36.xml"/><Relationship Id="rId265" Type="http://schemas.openxmlformats.org/officeDocument/2006/relationships/font" Target="fonts/font24.fntdata"/><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34" Type="http://schemas.openxmlformats.org/officeDocument/2006/relationships/slide" Target="slides/slide231.xml"/><Relationship Id="rId2" Type="http://schemas.openxmlformats.org/officeDocument/2006/relationships/slideMaster" Target="slideMasters/slideMaster2.xml"/><Relationship Id="rId29" Type="http://schemas.openxmlformats.org/officeDocument/2006/relationships/slide" Target="slides/slide26.xml"/><Relationship Id="rId255" Type="http://schemas.openxmlformats.org/officeDocument/2006/relationships/font" Target="fonts/font14.fntdata"/><Relationship Id="rId276" Type="http://schemas.openxmlformats.org/officeDocument/2006/relationships/font" Target="fonts/font35.fntdata"/><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 Id="rId19" Type="http://schemas.openxmlformats.org/officeDocument/2006/relationships/slide" Target="slides/slide16.xml"/><Relationship Id="rId224" Type="http://schemas.openxmlformats.org/officeDocument/2006/relationships/slide" Target="slides/slide221.xml"/><Relationship Id="rId245" Type="http://schemas.openxmlformats.org/officeDocument/2006/relationships/font" Target="fonts/font4.fntdata"/><Relationship Id="rId266" Type="http://schemas.openxmlformats.org/officeDocument/2006/relationships/font" Target="fonts/font25.fntdata"/><Relationship Id="rId30" Type="http://schemas.openxmlformats.org/officeDocument/2006/relationships/slide" Target="slides/slide2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189" Type="http://schemas.openxmlformats.org/officeDocument/2006/relationships/slide" Target="slides/slide186.xml"/><Relationship Id="rId3" Type="http://schemas.openxmlformats.org/officeDocument/2006/relationships/slideMaster" Target="slideMasters/slideMaster3.xml"/><Relationship Id="rId214" Type="http://schemas.openxmlformats.org/officeDocument/2006/relationships/slide" Target="slides/slide211.xml"/><Relationship Id="rId235" Type="http://schemas.openxmlformats.org/officeDocument/2006/relationships/slide" Target="slides/slide232.xml"/><Relationship Id="rId256" Type="http://schemas.openxmlformats.org/officeDocument/2006/relationships/font" Target="fonts/font15.fntdata"/><Relationship Id="rId277" Type="http://schemas.openxmlformats.org/officeDocument/2006/relationships/font" Target="fonts/font36.fntdata"/><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179" Type="http://schemas.openxmlformats.org/officeDocument/2006/relationships/slide" Target="slides/slide176.xml"/><Relationship Id="rId190" Type="http://schemas.openxmlformats.org/officeDocument/2006/relationships/slide" Target="slides/slide187.xml"/><Relationship Id="rId204" Type="http://schemas.openxmlformats.org/officeDocument/2006/relationships/slide" Target="slides/slide201.xml"/><Relationship Id="rId225" Type="http://schemas.openxmlformats.org/officeDocument/2006/relationships/slide" Target="slides/slide222.xml"/><Relationship Id="rId246" Type="http://schemas.openxmlformats.org/officeDocument/2006/relationships/font" Target="fonts/font5.fntdata"/><Relationship Id="rId267" Type="http://schemas.openxmlformats.org/officeDocument/2006/relationships/font" Target="fonts/font26.fntdata"/><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94" Type="http://schemas.openxmlformats.org/officeDocument/2006/relationships/slide" Target="slides/slide91.xml"/><Relationship Id="rId148" Type="http://schemas.openxmlformats.org/officeDocument/2006/relationships/slide" Target="slides/slide145.xml"/><Relationship Id="rId169" Type="http://schemas.openxmlformats.org/officeDocument/2006/relationships/slide" Target="slides/slide166.xml"/><Relationship Id="rId4" Type="http://schemas.openxmlformats.org/officeDocument/2006/relationships/slide" Target="slides/slide1.xml"/><Relationship Id="rId180" Type="http://schemas.openxmlformats.org/officeDocument/2006/relationships/slide" Target="slides/slide177.xml"/><Relationship Id="rId215" Type="http://schemas.openxmlformats.org/officeDocument/2006/relationships/slide" Target="slides/slide212.xml"/><Relationship Id="rId236" Type="http://schemas.openxmlformats.org/officeDocument/2006/relationships/slide" Target="slides/slide233.xml"/><Relationship Id="rId257" Type="http://schemas.openxmlformats.org/officeDocument/2006/relationships/font" Target="fonts/font16.fntdata"/><Relationship Id="rId278" Type="http://schemas.openxmlformats.org/officeDocument/2006/relationships/presProps" Target="presProps.xml"/><Relationship Id="rId42" Type="http://schemas.openxmlformats.org/officeDocument/2006/relationships/slide" Target="slides/slide39.xml"/><Relationship Id="rId84" Type="http://schemas.openxmlformats.org/officeDocument/2006/relationships/slide" Target="slides/slide81.xml"/><Relationship Id="rId138" Type="http://schemas.openxmlformats.org/officeDocument/2006/relationships/slide" Target="slides/slide135.xml"/><Relationship Id="rId191" Type="http://schemas.openxmlformats.org/officeDocument/2006/relationships/slide" Target="slides/slide188.xml"/><Relationship Id="rId205" Type="http://schemas.openxmlformats.org/officeDocument/2006/relationships/slide" Target="slides/slide202.xml"/><Relationship Id="rId247" Type="http://schemas.openxmlformats.org/officeDocument/2006/relationships/font" Target="fonts/font6.fntdata"/><Relationship Id="rId107" Type="http://schemas.openxmlformats.org/officeDocument/2006/relationships/slide" Target="slides/slide104.xml"/><Relationship Id="rId11" Type="http://schemas.openxmlformats.org/officeDocument/2006/relationships/slide" Target="slides/slide8.xml"/><Relationship Id="rId53" Type="http://schemas.openxmlformats.org/officeDocument/2006/relationships/slide" Target="slides/slide50.xml"/><Relationship Id="rId149" Type="http://schemas.openxmlformats.org/officeDocument/2006/relationships/slide" Target="slides/slide146.xml"/><Relationship Id="rId95" Type="http://schemas.openxmlformats.org/officeDocument/2006/relationships/slide" Target="slides/slide92.xml"/><Relationship Id="rId160" Type="http://schemas.openxmlformats.org/officeDocument/2006/relationships/slide" Target="slides/slide157.xml"/><Relationship Id="rId216" Type="http://schemas.openxmlformats.org/officeDocument/2006/relationships/slide" Target="slides/slide213.xml"/><Relationship Id="rId258"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3816d269fb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8E3B18F8-F5B3-16B4-8312-9493A5A025E6}"/>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87D80834-28F0-43A0-572D-B355AAA824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B2648CF4-CE3F-9F97-DD15-EA71B8094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8594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F4D3AD2-8AD8-B14B-BC37-5B7A103E9B5D}"/>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6DF9698-4CBE-3BED-79B3-D5C457FF43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C521154-5CAE-AB5E-5A68-3ACFD6F9B4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35446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BD08302-2943-E636-3495-509B94BCF5D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EAAF11C-395F-F176-258E-1F8F9A583A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AEDF046-2D8F-B539-AD05-8F1481E1B5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7617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E79F1CF-4712-B0D3-20F4-BE1475EA349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BE2CF8C-F9EF-3D64-CCD6-D28C806DBE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C9C29DC1-6CBE-C05F-DB2F-90A7E940EA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6553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A1D0121-7578-3267-025A-BC1E7824304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180A8F2-5AB0-D3CA-D846-2E81E373BE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6846E3B-2DAA-8F86-2FC9-F1CFF4A51E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6804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E65670B-9C29-CE00-D24D-0817106B5C8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6F4528C-7D2A-D2FD-24E5-55F936B2F1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4CBD71E-6658-7F54-1E0E-3371041414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1586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1911814-BF2A-E30F-DB96-0CEB41774E7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A6CE844-53C3-DB89-6ED5-9AD8AD87D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51452BE-64F1-07F8-420E-C69B2583B3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6657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8FAC7D8-B6FD-BAF8-5C22-1DA60DF11D6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BBFF3AC-D8EF-956A-B34F-7272B3C0F8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5E2BA84-E9AC-3954-9259-99B5B92DF3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3763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CF5BE57-151B-A638-E9C3-A49A9007DB3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C15CBB5-FEFC-EE3A-B6CC-0A42A824E9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81271B4-D61E-BE5E-7CAA-344B0FA51F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761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75FDD4B-0807-94AC-07CF-C19DDA48F42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1096F14-6780-032F-6153-9CFA6FC707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22D40F2-0C1A-7127-763A-5B0D89494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940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3DB33F6-4866-70FA-0A68-C25DFB61E821}"/>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751AB69D-74FA-DE26-31EE-3011F068DF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BA49427B-DFC4-944E-0615-D3DC95A112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1813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0087009-F920-390F-83FB-05D9EB6BBE0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2DACAD8-96BA-40CF-EBC7-0C7EC16187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03C8284-69E8-7054-479C-D737B925F1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8901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5AD2A29-A215-24DB-FFB5-2DDF4F7E74C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068363F-3356-9C06-BDE1-04BF9FACC3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B9567CC-BCED-E925-A1DC-66C29615D1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01442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1D8C948-2058-9E6E-B364-D560CC4F8A3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8DBCC08-1406-B4C9-A2D5-9CFC7B25B2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B840D80-455A-EBAE-75D9-8D7B8DC44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2003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D39947F-145A-8A15-B1D3-4CFFEBB38B19}"/>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7D8D3432-571C-9B46-C3DF-E51F541896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B90CF0D0-E5C9-4891-90E7-ACE5D79717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9055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55E6CAB-4BDA-A715-227F-325BF77B19F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03DB63A-2CAA-CBEC-993C-B9989C1EF3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1E7428F-C01E-3E2E-382A-98F075DD0B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3868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2CCC80F-FF57-4E6E-3730-C39204F0161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8E90301-D19C-543B-8B43-F0856A17B0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644D527-E43D-AD6F-F596-276C6AAF4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9178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68D7829-5C28-1CB9-81F1-FC9A9A6BF2F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6B3548C-BAD6-6CF5-56B1-CF9DA26C65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603E2FA-2CB9-B74D-C5E0-FD37CF269F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66971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46F5873-991B-B482-230A-F3021B1FFFA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C75A862-FBF0-53C7-CE12-AA23691034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8397905-3CCD-2DD9-97B6-7718A89393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3824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102F826-E067-79F7-01DC-208FCE54E60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A84A120-2997-B23F-7E44-2366A398B4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C01CB53-A972-3A7D-15E0-338D6F5E67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026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9E27A10-6520-E332-67BC-7320AF6AE1F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0581B90-88D2-6C45-6D29-716E7C55A2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F47016A-A83A-2FBA-35DA-69BC30F660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5070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735C3E1-F7BA-B564-4897-A9CC74CBF34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56FE29C-B8EC-43D3-439F-3B8D9D3A39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76DFA31-9ABA-2650-5DDE-F57886B45D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4344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66C8818-90A4-2655-F2EA-AD3FDD62DE1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0C3E938-CC1A-8792-850C-962667E1E8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2F4BDC4-7B18-CF0E-FBBE-0C03390DD7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13621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598F667-4C3D-9B45-52C4-84FFAFF5870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4B4D1A4-878E-2882-EC2C-95222A3E8D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8F52C69-363C-DAC1-061C-5310232990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2709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67131EF-FA10-39E7-DF81-C22D80124F0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8D51EAF-740F-399F-DDEC-C12998CD18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54B1E4B-7699-1D98-A656-F92A62440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6181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78B4992-503A-3588-3AA0-222F5F48310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FD79F18-4BF3-F752-92C5-CBD7D24F38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ECD0685-BE8F-22A1-F5F8-E4CA2ED850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871424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30B66A16-837A-352D-19B4-E3FF7D7B0C44}"/>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5963F8B6-01FF-0215-E19A-80F249BB06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C52546E4-2D35-24EB-BF68-AD533E4CD2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6111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FC9F9EF-2668-CF5E-0CD8-C07E6D0BCC7F}"/>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4077BD62-B4A7-8CD6-6A9B-4411CA5DC6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53E3BF1A-1F71-504F-2DCE-50AAF384B9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60321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E4E93A4E-C8DC-D7EB-B2E2-FB7A17B1C760}"/>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98C05F6B-8F34-29FF-830B-BA6FA6470A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682EC68E-F45B-C1AE-2E7F-A558C997EB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87714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A405E65-3FB6-08CA-7F6E-B7220D0DB1C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16403A2-7F69-59CA-04E2-2BEFBBFF93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852D636-43E5-3E9F-E609-1A95761681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255909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DA6CB0E-F27C-B244-7CD0-290751D55F8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1C33969-90F4-F1ED-67CA-0A7B58642E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DBA26CC-2183-656E-E088-C1947D8CC8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4495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752CC7E-1126-32F7-E144-EF96DB91745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A753D68-69B8-D8CE-C8D8-3333DF6818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A0FDDAC-B07A-7034-A039-AF12FFFE25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29386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C3C646A-2164-E0FE-AEB7-EB9D1251E27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E1059F8-FCEB-A66A-FBDF-68A185BAFD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5EB5E2D-0FE6-44B7-1D04-D6B9F613B8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75932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171D2C1-8DAE-E7C0-172E-D19B6F6381C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EFD1EF8-5A55-6040-FE8A-47E28D7A70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7E43D70-34F9-73ED-1AAB-BF55BDB91C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3087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F7F11539-00BE-B73E-49FF-015F016C76DB}"/>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DB4ECD5C-BD0B-E075-A9FA-E65642C4B4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99138B07-A39B-8482-EB0E-E6A837EE6E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11160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1F58BF3-CF81-B868-9E97-3189F88B742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5FB3B31-6520-F9F1-BFFC-74D2C6DC63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F45DF40-CCB1-DF42-22D6-403FE41438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196375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B39B313-5136-A062-0856-5C76F94594B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CF1B878-C0DF-6897-F01E-925C43D249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52BD744-2CF1-0110-A219-E6F8A02C2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591327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49EE620-0A93-CCA0-1AE1-6530A512776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9C2CE51-201F-7741-9A94-A5CB7911CD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827CAC5-4145-F531-D4D4-212AB42A08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32711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43D52CB-7A9D-BF10-4E23-63873389C86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3EF7D5E-3BA1-710D-9199-B61A33598B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5AA776F-4DF4-4F52-8839-2E345D8D1B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29691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24FF386-E688-6429-6F36-C43A309F0A3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6955E76-56E9-333B-3267-B9CB3FE51B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8D94653-906E-5B70-07B4-71333DAF2A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96196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BA28894-9407-FBC8-8FCB-52AF963EF30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F4D9615-BF1B-2ADA-4F5E-F17CDD7E3C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A8F9FBF-C736-6050-6D18-1726DE553C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699669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9C312B0-AAF4-8A4A-3F8E-C471379C38C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3EF77AE-396E-552D-810B-845D601630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716E607-FE0B-B131-0EB8-15477BCD7A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5964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3664D5E-F673-F3D5-ECF9-569D5C54BF8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D5F94D8-53DB-D3AB-284C-9FE36D20EB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8DE3006-501E-F267-9217-BAF0F62636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02474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AD6DE4C-948B-2E0A-3008-8351C8B1002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A62805F-B4E6-9A98-852D-CF9D4D8A0D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CCFD013-87ED-78E7-B3E4-B2B7739E80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38427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F0BC530D-B586-34CC-CAC3-5CF253221FC2}"/>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4CD5B4D3-D4DB-C375-CB0C-30389C197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1F1240DE-92FD-FB3A-D88D-92717B4DCE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462520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B4C666E5-809B-3481-489B-C3EDEAAAE8C5}"/>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58666460-29D3-0E36-5065-9F3F8E2A19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D68350E6-1F14-8F12-86D4-A67D48EB9D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53363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CA25F835-006C-B9BA-805C-A2CEB6CFA770}"/>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2426ADE0-ACE8-7DC2-E2E1-5C8FEB50D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E46D5B96-4479-0F61-405D-B10F8571C6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25797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E3FF028-7D75-A5FE-67DC-F77DFB9FC3C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54E67C5-1176-598C-458F-41B8A203EC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C30361A-E038-3470-84B5-0F7DD4EA39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7259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1ED75FD-77BC-1C8C-AF93-04880ACB26C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CD60ED8-9271-D06C-2A53-FBB4B8DCCE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F208A98-427A-952B-A484-4A07AB1849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10122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08BC257-BB9A-F26D-F3AB-20E68A09FBC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186245E-A63A-E154-FDE6-C9BB222CA7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E2E082B-092A-440B-1654-8F428171E0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55456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B9459F2-D9F6-FE12-C6B8-912A476B43F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0A2F674-DCE6-3A88-BDBB-3C74B374E2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1A0CD34-2195-DBDC-18ED-8D81DB65B0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33153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C56E177-C5EC-BB3E-F3ED-1B0144C68AE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E876CA7-84F5-DB69-D49B-BE9E0FDF38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923E5DE-76E3-97F1-9478-873C76A8B9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174579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EDDE355-3DA8-7EDA-48F9-253FBAB5B30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87A0B3C-284D-536F-D69C-BD2A21DEC4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6DEF1D5-526C-B310-916D-1DEA4FA124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33291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5F9A00F-A6F0-145D-5D22-4EC2E788B72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DA6ABDD-6797-3FB4-FACA-76ADA9B3FA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F41A100-5D5F-A6F5-EF47-B373529E3D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47932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EAA208D-A2C0-DF59-BC9F-3C5EC615D23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CE9B4C9-1C68-F095-E3CE-572FAB16B5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2083FFE-E9A9-D002-2144-F5EA06A6B9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072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351C0E7-0DFF-6F87-E052-3B5755F1F13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7EA51E2-EDAE-6109-8E4E-75913021F4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D5793B0-F46D-6688-B263-A8AD2075A7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01827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CBD8304E-F057-1DF5-89FD-AA9976C6DA17}"/>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8880C7E4-1588-22A7-07D0-7BF203CECF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3ED86380-109E-C4EA-CBE5-D088C481D9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191988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756EE54-8F59-5A5B-40F1-34A9AC31044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B5D467D-D702-9C3D-38D8-5EB19C7C16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95D4B36-7D1F-FBFC-CE2E-F06AC9DED1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858292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C5234B1-9970-9F51-9EC1-22D0321D500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7DCF0D4-95B0-4C3E-FBF6-B62DBF076E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EB3241C-69DC-3F98-F97D-B63CEAC673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71181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68F4E5B-6760-FBE2-3A1A-C2D1E611F24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B87436A-19E7-7AF2-F768-51153CB5D1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92089F26-29D3-19D0-9EF2-5B4D448A50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04903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984DF99-4548-24AA-9C87-9DC5EE8FA89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B1B7671-59C2-86D1-5B94-A14434E909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DD330CB-9844-1EEB-693A-902EEE1C02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76063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4509188-6994-95BC-BBB3-CF38B25509CD}"/>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CCDFCD0-9C6C-9BC8-71F7-B07AA20A97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F868DE1-E1EC-7971-318A-18EB46A05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60327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FC18211-2194-0089-C9DE-83BE166BA36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288CCFE-90C2-8AC5-173D-E3C6652934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3D9356A-6A74-ADAE-6DE8-978B7EDB03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38722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99535E1-1662-B952-020A-81E465B6B20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48C3224-ACCA-9039-831B-1E8DACED78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C4EEAEF-E6F4-8BBF-7013-F4181C0786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4774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8528E30-417F-BC55-1B08-A32440ACF8C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3B47244-52DF-F51E-2900-0984646E0D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78976C2-1642-69DE-46CD-9F53B5F89E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26134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3DF841C6-7C22-C548-109A-7D8D5BCC4F35}"/>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B15A4901-A9F2-74D0-9C42-D0398EAB3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DBEC52F1-E25C-76C6-D274-0BF67D05CE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395364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6D234A5-09E6-F51C-0B25-66952FF239A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630683A-919F-EDF4-772D-C191CC8235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9B971E9-1E66-9BD3-C42B-3BEC3CE877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58815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18E8AA9-E6CA-A034-F445-E361073F421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D90D442-3853-FC1F-81AE-CEA75B1D16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75FF5BB-B77C-97E0-5693-A3AE2766B4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26832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CAE8919-32D2-B496-32E9-6B716D4341B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4DF51B8-EA41-1B47-DA2C-5243233270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B58B628-24A2-2FB4-87F1-7FAD7C240A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0291755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050E2E3-359E-CDD2-FB44-2970B2BC54A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6D68192-DA46-9B14-5086-F0A93A6FF8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A5E88D6-A9F2-3FB3-6E1A-8B81D315D6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423933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6936A59-BAAF-4A53-6437-72EEB8AE3A9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E124A11-3A0A-0BFC-37DD-0FD9F0E212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3DF5744-CCCA-F63F-5D80-D3E2FE9AFB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355285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7864E67-4BC9-D2E4-729A-AACEC5FDFE4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ACE2272-294C-5C76-02C9-FD9B8EB7AB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39D9A77-0068-5F8A-1208-257C002B87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30506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3FA1EBA-DBCB-836F-26F4-04F62FD1E69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5378838-BF1E-616D-621D-FA99CFB559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8A0F08F-0F2C-E6A3-F0F8-F7ECFF0B08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694293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2BD56520-F174-9B2B-1915-EAA5DE050F98}"/>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C883D357-D04C-01FB-600E-B49CB92517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0F9973FF-3BA7-E9DC-BC90-BA881D1157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6392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AEB6FB90-4A60-F309-1728-E7E76BCEA618}"/>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FF680C7A-85AF-6C76-8F7A-F9AE2CD761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21E2EE93-3049-C10D-4901-895BD9BCD8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92803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9A993915-55AE-F1A8-793B-603EF0841218}"/>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AADA38BD-AE1D-DD2C-D64F-46A5AB89DC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2A21538E-736C-7AE6-3A7E-854A34EF80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978606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C1CFE01-6ECC-5793-FFE1-9BC074E7B49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75EA2DA-A475-AD1D-2BFF-6A0D30F9AF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774E7E5-9F10-2D53-D91B-6DF2D49115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6540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3D12EE2-BDE3-046D-763E-A74A0501E4B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DE2052C-D1D7-5B74-732B-F04972BFE3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5C0A2CC-A20A-9C95-9503-A033C37CED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172912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A04C34C-BD72-42B6-199C-F00818759FC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A1FA1A6-F424-5585-D38A-178AD8479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7994583-C520-F1BA-5798-ED3613E1FA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274794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C2AB9E8-D4EA-2488-938B-FF3892FC13B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7364ADE-3936-F1BF-96AD-ED0622446A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9DD7843-25C2-ED33-53C6-2207EB34BE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27434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47652A5-0DC7-FCDF-D0A4-0E9ADE98B28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2B22406-9432-FD98-344A-6A9EB3D397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6779DBE-6E17-AC28-0ADF-C6D4CBE6D4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74257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CC3E149-BC3B-6783-99B7-B6CD60FB413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C7C7D56-FC33-806F-611C-6D9ED5606C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958832C-A034-3F18-42E9-0BA5719FE7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691905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1772309-EF43-65E1-200B-39EEE066642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46B8BC2-F44E-EADC-E94B-8777088F9C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C9D36AA-A18E-1D22-AD3C-C8471A6CA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872303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F72CD88-7246-536F-9106-AA4EDA1EAB9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2D44A14-83D0-0A9E-61B7-6BA7A4E40D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947F5F9-BD2E-B663-B913-B8ECA84A4F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212191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61D23248-6AAD-A8DB-3240-4460C94AEB0B}"/>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D23DA9FD-F2FF-56AE-C3A2-3305933AB8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31CA3F4F-0178-2180-7162-2C19B138E2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871013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82FEE3C-7437-F180-E0B3-BEB551C94CF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22C8E10-2400-64D4-B23A-6883978520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BF76BDB-9F3C-F55C-B72B-AFAF2B8127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723473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63AE7A9-217C-CA3E-67F0-96E72CAB7E2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9F10CD5-FD1C-AE8F-3DA8-F4D55511C3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2E5A0DB-877F-CC43-EB25-D7D2101DDD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22479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CD4B8F2-6DF4-BAA3-6982-3392593F493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C2574F9-1B56-042B-0C38-7E2327C2CF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B2912C1-35B3-332F-0F7A-3DDD0DE949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52770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7A5E3FAF-CE38-6D25-56C7-14FC968F7866}"/>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3097054D-3D09-2146-DC41-7042928F33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02E99604-0EBA-08FD-D7CE-A74004E2C1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056816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99C8178-D05B-A5F9-7698-A5EB852409D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1FAEC27-3BA2-89A5-37C1-44C87F66DF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CE3799F-8B4D-655E-12DA-163EC9C2D4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573173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B627ABF-F267-1077-6875-7BA83E19F67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B7A5883-E17D-290D-6572-39DF3E682F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B71118B-E4D2-0A05-2615-C97E3C80D0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144527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5037A85-374B-40EE-0969-B151D8FE91A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E679080-18D5-6D62-28AA-713B2A4A28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F7BCD2C-2203-6E09-3D64-BF0EA03E32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982494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9500614-EFC6-40AF-998C-C3AB9652A53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A7551A5-A00E-1004-36ED-EF594CF44C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B307E29-5280-0908-28D2-5BD164A62D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492112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D87A8F1-D680-D139-76C2-AB3C4CBB1F5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B1B4CB3-484F-00D8-6226-D20E2D28A6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C8E8ABD7-A66D-207A-7518-CDA4C2A659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450797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8DBB940-82B9-5F3D-E4EC-3A3A192FA0A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3B0FADE-CAE0-6C9B-2E57-50A694A5C7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3BF6BC8-D4AF-D112-348E-07E87F195E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835471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A4A5FA5-912F-2651-F953-19880EFD57C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F89E378-D81A-3F6E-F85B-5B9CEA52FA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E8C5405-D956-AE5D-90A5-A7FC66EDE2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946638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83DFD7D-0B33-B266-552C-3E7223584C8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38D6706-D23D-4FAF-197B-C8F8A03932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D87D04F-5FF2-E2D2-9CA2-3F9052AE99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458983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28179906-6B1A-3E63-A94B-18973D5EDC97}"/>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7B341691-09A0-B640-1497-21D8AD5345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3693296B-31E6-A964-C8B8-24FE8FC227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053599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E693D5E4-43E3-469D-D98B-D7AF5AAE4927}"/>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CA3C8DB4-1AA8-EA18-91BB-471F1A2DEB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2C780483-02A6-ADAA-0883-4DB6D1FF51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400385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6B1DF8BB-E0E8-0129-5620-22D64434BD7C}"/>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645E4A49-B58E-0193-35DF-C596852A44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32D94C6D-1814-D61D-9ABD-EC7C5738BB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193608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6E128E5-1CAD-C7A7-C708-F775D91D277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244C2DE-0C4C-7E8E-26E5-E6A02BE725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4156F8E-786B-3EE4-0B22-943BF2EBD4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206393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07F41B2-BD5B-FCA8-5A05-AB3DB76A313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1E143A1-640F-B554-144D-B63E9353B6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CC321253-F9D2-3737-A834-F0AEDEE681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729940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FA97DFA-E8FF-AC08-E1DD-107282B35F2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772B340-AA7A-F38E-1F96-F35A4ED003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F10396D-455D-721E-4254-C750A8F669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068177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F873DEB-7CB0-BC8F-8040-104FE8CD7A3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6A86443-12E0-C54E-94F2-C184B68B32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0F11686-5F80-7BAB-C8E6-8F46B3B1EA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779119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F90A893-1CE8-F3CD-4647-CE213BD6FDD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248AC02-C361-1916-445E-3277EE46A3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D401CC6-FA5E-AEDD-C1A6-44581FDBAB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4373317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B57C7E3-AD2E-E9BD-5754-595543DFC21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3C5AD04-D42C-8DA0-B64F-C2D875F218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EA122B8-E25B-8694-C775-EFBBFB7AAC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2864492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9E33354-6252-A981-9317-63DE3090F1E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A8F6E2D-2C1E-A56F-DB51-B844AA93BF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79E44E2-58DB-9B83-8FA9-AFF2FD66A6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1216092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089704C-1682-BEBE-6130-F5F88CC065CC}"/>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2DDE88E2-A9FD-A27F-0B94-F28AD73B7E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18A12DAE-E66D-EB91-50FD-F98C18C60D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604328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40CEBF2-2B51-9B64-2B39-68A2DA490F0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680E73B-F49F-3FDC-4FA8-3BBBDFEE82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169B8EC-2273-E411-3CCA-5114A5EA7D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451888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2FB7BBF-45B1-5D2B-75CC-A4753764B3D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2D28E30-E3CB-67C8-7B46-42DF6CBFB6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22AE71B-CAD8-97F5-5416-732518F20A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8983015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2042CE1C-1805-B67B-487F-3E673C5A4AFA}"/>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5343E67E-7DAB-EA4B-26F6-6D434D9223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192F3C39-03E2-5A58-D536-C35428FDB8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536976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BED9BF97-7620-FF83-7FB5-DE55DD25EA17}"/>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ACA8373C-B441-347C-499D-3F3B066E09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C15BEC90-C406-DAE7-DE5C-AAA0004741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488665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60227E3D-32D8-1423-C4C9-599028BDEFD9}"/>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D4408413-D116-2174-D9A4-9B17EA45FE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0BD06C78-782D-AC2B-0BC5-C054FE0365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535297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B583621-DD9D-E34B-74BC-262551D5F10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5DF1444-B2BE-9903-2996-36C9BF9E69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655C70D-3ACC-0664-CB31-94C6FC974E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920422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E5EBC4B-5CAC-5369-CA87-316E22FBF50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27E2724-9C49-4713-8D05-E3AA79010E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B35348C-1920-9F70-BD14-5E7DD33590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662514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4DD537C-FA99-2864-3959-05D4F32EC1B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993ECD0-73A2-771D-82B5-B8EA20ECC2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1551A82-7FAF-3D44-7819-05DD544E5E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284586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5642D77-F26D-4011-2BDF-2FC2175B3F8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43A0412-25A3-7E79-8D4E-5C1910F2CA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6A8F1CE-7E63-806D-94E1-3C21F7FE30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291697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DC640CB-0672-2394-C488-E62B69953C2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A44A51F-D531-C118-EB19-7420E99145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ED4D6C2-0A67-DA34-21A1-1A21A88A72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9264863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DD55A77-C691-16E2-BBCD-987C3A8C689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576C28C-5AF4-CA5C-24F2-FA86014B96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1FBB687-EE96-4FFB-3F9A-AE79EA79FB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635914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2143B98-6252-B9FC-2B28-B6A47C3114D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C4C8652-2692-C0D6-EB16-75170908BC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C84E9D3-E8B2-A96D-B892-84017FC867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786242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567D448-4D93-12AD-495F-53228A2AF99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EE12CBD-888F-AED1-EC41-77AA1AB085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3E0209E-9688-FCC9-D5D3-7340A090CC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549710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A1BAFC9-5815-14BE-4990-E956B1249DC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0A5CCC0-EE34-E025-A7D6-A3FABC37E9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EE49D62-C90A-7B3B-B00C-2413D3FC7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052744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A2B4020-61C7-3FAB-DF53-FA6422CAEEF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3C558DA-295B-F149-76AF-719929BF65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44510D4-DBC4-CE0A-DEFE-FFBDE2D6C6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849479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92FBFA3-568A-87A4-ED11-75E95E1910A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9032063-DC87-9283-312D-91ACD4F11C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CE83695E-61FE-C000-F654-ECEAA29C4E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407795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42BA998-9DDF-0FD2-5A01-5D41CD272B4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343665C-3BDA-CA15-DA92-0289C564F4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A251AF7-7DB0-CBEB-2DC1-2F29D18359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405879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C79A31E-B05E-CF65-9CC6-22CF753B948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4055762-6B1E-1C11-3D2F-F530428E1A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F814004-80FC-1A05-D7A5-E7A91CED07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432481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35F968A-5B10-10DA-1BE1-A0FAAC4B7A6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1EE4C06-C40C-CBAF-FF23-8C35A76A6B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28A5BE2-C8A1-9758-A5D9-499769E17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998105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64219A0-F979-A31A-35E4-7D2E954D0FF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0333A3B-0320-3F89-845B-265F42B509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2752164-8F73-6D8D-F778-F024D671AB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657747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DBD517A-C95A-212C-7B22-B5DB37A01D0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41970DA-9CE9-475B-A916-1068A9870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C780B44-705F-017F-93C7-F1898B467A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740357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6D5A0A3-891F-0D32-0E1C-7293D6B1339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4F315DB-62B1-521C-A7FF-8EA6E9D9E2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CE19FB8-9546-F948-A50A-E21205A3BF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431731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E1907EF-6748-48B3-7722-66BB1B8650F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CB8C287-A94D-5FB9-3196-E9AE77A32F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2F2B6D3-F84D-5083-E774-8B0A333EFD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409862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DF02070-F497-117B-02B6-0DB6E64A00A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FFD5C71-63AD-EAB1-3466-59D14A2C52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954EFE3-2241-A0C4-13A8-C1AF90C8DA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037228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8C2EFA6-47D2-6B8A-CB7D-36265DC7FD7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DA69F47-A237-2D14-323D-B2E87A775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ED85442-8C95-8C6E-AB5D-6309E1E5AC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2491760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5A5114E-0B07-65ED-C790-246681FB9EA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F667EBE-FF5E-E689-4A55-C878D670F3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98C724A-E3E0-661B-09E9-B401FF5987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83255640"/>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3253830-9AF7-641E-428B-34DA8BFC237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FBA8755-5ADB-00B4-392E-16A86E9AE6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B4A1167-3750-B617-EF85-C6591BE331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961710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FBC52E74-B2D6-51EC-FDBD-30FA5B91D8A3}"/>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16A1AB32-72CE-6112-2B6F-E44C1948FB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0AB02784-6368-AF11-513B-878FD7DBA1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914347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197D212-5D91-1710-C785-0C3F972D9F3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2407AD5-79AA-7172-5F63-F060866E29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C7A3FF8-FED1-A136-5DB9-420796819F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040951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91404EC-B5B0-9E00-3620-A966EE6297E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7141426-FEF0-6083-A48F-63080EA34B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BB81726-C6B6-67E5-B414-8A0CE2DEA7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333838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61C11F3-690B-E420-194A-331590E11AF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A14C0C4-F025-E27C-35F3-1E7A613382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ED5185F-D238-274A-FE82-409E206BAF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449357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2DC0428-0F9C-7B9A-CFA4-35B837163FE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D92872D-D6A3-9304-D784-21CEF11F6C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5FF2B55-6279-F9A1-7F42-B6FE77152D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162733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E553B16-6C08-7B4E-60F1-A3CA1286271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7BFD223-0718-3ECD-06B4-A22FCE835F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C0A0BA6-2C31-C694-3E22-5591E6319C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858220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2652DCE4-A0C3-95F1-5FEF-4A6033870BC7}"/>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896A50E3-A4AA-4F16-8D5D-34F8306374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2D03EBD4-6C5B-3D32-C9CE-BD5EE58121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787285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C01D3376-611B-BFC9-72CD-DA95723643FB}"/>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2222AEDD-A7A1-A794-0687-8347517C2E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1E5F8A10-348E-F258-5145-6C8435E04F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262391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F83CF4C5-8DBB-737F-9248-79DB802FA3E4}"/>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0109CA7E-CAA4-181A-1B94-12BCE87F58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8150CD6E-6C34-D383-D1E7-2162588DA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152990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1884D85-815F-E864-9367-DD0B85C731A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7FA7F12-F3D9-B6CA-1D77-5BFD588A4F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0088272-7F77-CF7B-B7A6-9C730D9705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9506999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576AC7A-7D5D-C7C8-E22D-DB3BCDF05B5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47A7F5F-0D27-0F48-4652-702A91245F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B80FC29-0E83-5EE9-AFAE-1D8C91F05B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204975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83998B4-271F-F0D5-D808-00C2C6E84AC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AA01EA7-4146-C048-1AB9-681516E01D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1CB0AE2-4BA5-AE28-6EA7-7E2CA91F69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225335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256C026-F68C-0854-89B0-90109ADFB5E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C3C798D-03FB-1833-CC89-F1E1D4D3C5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CA139D75-106F-6777-BDF3-6E95C4F6C0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413117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13AD277-5CEC-3020-0819-26CB7A2C42E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2A70E62-506E-4377-266E-54D1A3DF92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39CD720-23D1-74DF-EE18-4B79810740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4262334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F992600-9EE0-8BF0-4748-FF508924EE6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1C49D38-0A00-BC77-FD86-011DE3F663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D153C39-B4ED-CD33-7982-DD9717F0A3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7935853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9F3D1C6-4A73-BCF5-32F5-C4C8461DCD9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D093D70-F9F2-0494-CC50-6FB57295CA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4CA758C-AC69-53E4-06B2-4E03A841D6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901354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04678E2-DA00-045A-39F8-B16FF0865F5D}"/>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2B17ED9-B0B6-8315-669C-FCF92B5ACD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7D22EA5-DB09-B05D-6CCE-6F57F7694C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2099637"/>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D764289-4858-9812-1CBD-BCD3EF3BCD3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37B8A6B-9E9B-4616-062C-0A758FAE58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9D2AD39-A686-EDAD-5318-BB8B3BC6AA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930151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E963533-B009-835D-CA93-0F35F07FD75D}"/>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534BE78-E807-93DF-2F26-BC51F38CCB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3CC9C74-1041-E86F-37DD-C95FADBF6D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200521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D632B70-943F-66A1-DC3B-F7F40A0CF02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9782234-F02B-C3D0-AED4-2129EF18FF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BE19029-B10C-D7DC-28C1-61CCEB8C1C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9281172"/>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99B3A91B-EB48-4EC0-B197-164ED505BF50}"/>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D28DFDBE-981A-0AFF-E2E4-ED0E067737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5693FC36-FD81-14CC-D201-1A61C67C7B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8737535"/>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55F61C3-0C73-2370-FD98-0B92F9432FDD}"/>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AD3B31E-5C00-B55B-D9DD-C259487315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395A26D-48BC-4DDC-94F2-AFDBFB450D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5382314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CB6D0AD-D5A4-C884-6FF5-2AB553C15D8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0DEB47F-E094-0DEF-EB99-C2857D087F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A9B17F9-FB60-E6F1-693D-F6C7228636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224819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797104F-4D08-213A-3433-C1350A1A9D7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6D574BA-6B70-D944-8DA3-CEC0648015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1168B19-444A-668A-0536-15C560797D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6855757"/>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4203DC6-A460-71C0-FFDF-B07A9EAE609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3786A27-9744-0F67-B224-DC17093F44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90A13D0-ED54-13D5-4103-22FD08E9C3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8535418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32F80D5-D325-C8A4-AB90-25443C839CC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B093194-227F-ECB5-6638-A20BA779DE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61FEF92-69F7-08E5-E6B9-5563586CCA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4077695"/>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FE6C60F-71EC-C4C2-4AEA-58AAE5EA94D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353B271-0539-F0E0-0DE6-62F9313CF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F10D54E-73B8-F83A-331D-F596446DF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84131245"/>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D5E94DB-5717-ABC9-DF5A-9CAD99A0072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E0B464C-743F-03F9-79E6-307BD15B0A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CB89F26-FA12-B819-C761-542FE58CAD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613887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64C111A-6C8F-5FFA-1195-1C6E6658BCB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912F964-2F00-D9A0-F1EC-5FE7B5358E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062AC25-F017-289A-60B8-8AF9C5F982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3408954"/>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125475F-D434-E6B0-5CAA-B7C57A5A2E7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1FC1B97-D113-5E03-C2D2-0E21BD04A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DD13C64-B126-EB80-7043-CD799E0D27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848818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2F4DD7F-6485-5B54-AAB7-5B5642303F1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2E93488-CE75-0CDF-6E25-CD015D8D5E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2D1213C-1B05-436A-6492-61B97DF8A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8118367"/>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91A38CE-50C5-CE56-BE0A-740371DE8AC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2DA3888-7CBB-3589-A803-D6669BE473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2508CCC-D171-C6C6-486F-FDA433CCA7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47917272"/>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456A853-0831-FA3F-7783-01E30D6F7EE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990D3F3-61CF-5513-5AD8-0BCBC6D781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3A0C567-FF20-577D-E003-C1E540524F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4103652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675235A-AF8D-0FCE-A159-274D0A46FB6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E331DD5-AD88-48FC-5820-C42A063F4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DCBFF16-AA45-39C8-093D-2B97F8B6BB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0494342"/>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A278A56-C661-B0D6-F9BA-7A1513B819C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8143ED2-F7B7-945A-E2B0-66BBE59671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6910AD1-C3FA-8ED1-E6AB-D8F2125D1E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89965438"/>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B1AB4A8-8B69-481A-AD6D-2F14FE05CC5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ABB05EC-258E-9E02-225B-59DECFB515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CD2BCD2-E248-0E64-C274-7D08AC6508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6963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EFAA5CB-B8C1-25F2-7EBB-E108CA023FE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4EB60F6-BF46-D19C-024E-0EF28DBB4D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08CC2E3-3D03-CD2E-D8B9-00A9FECE9F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490391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3E56E2D5-84FB-B652-1210-F37D7D7120DD}"/>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DB1AE8FC-8F14-FA21-E7F7-7B89FCAC8A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FD97D01F-BCB9-FED2-DA2A-542CAF1780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7929717"/>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CC964EB-FDFF-876A-A010-95BC570C7C5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0E4CC9C-4443-FA47-5104-F7DEFF5B1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1E4F2A5-6DA8-9EFA-FB85-BC81A8D1A8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866150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DB84D8F-0EE2-AEC4-CF8E-6430287AD18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ABC2100-2E2C-8AA1-101C-86DB8B37BF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9AF85527-03AB-6D85-9CC5-CD07B947B6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9967043"/>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3EEC20D-BAE0-5621-874C-54BEF9112F2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686D74B-5D56-A655-360F-2BDEF93DDD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1C483AA-D7BF-85EE-1F0E-E3540131A6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9034983"/>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0E03F3C-368B-FB9C-6B8F-A51EE58419F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4C45A96-72AA-95E1-8ACA-F2933F9FDD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7D9BA2F-F76E-895E-CFE8-168128D7E6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7488484"/>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6F0F6AD-2261-28CD-E89F-53FE9A9CBDF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43CB09D-C003-C146-C143-5C4C8B7859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64EBFD1-5656-875F-9A59-D6D4B85B0B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2857641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5A88637-3813-BE45-65EE-E4986D33C67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40A2D28-112D-55E5-0FF4-F4C6A71B29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E3A713D-3B74-A63E-EB76-1277B82CEE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0302523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A6A04CE-82A7-AA85-868F-7D2130CBDBA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7C978AD-520A-0CE8-694A-330C428B0F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8C6D93D-731A-E3CD-BB20-8428F895B6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4806659"/>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7C4E8AF-62FB-0E16-5D54-C30E92906D7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3259636-B0BE-4D4A-D0D3-0098BDAB3C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3EDDD50-F9EC-F3CB-A59B-5EF16A27C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9510426"/>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CA1736C-90F4-F122-9BC8-A2B541AA992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8EAB208-A224-05E6-39C8-445482B394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18372A7-24F3-B4CA-27AA-15222D1062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9516725"/>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7803758D-E604-4A08-F1A8-760805A25900}"/>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36F9CB60-867F-A320-2FAB-796D2C2037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B54F733B-6C64-2115-ED80-ED32DC28A6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2066644"/>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9D2C4118-737C-62E9-B786-FEE7BC947C79}"/>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21E505B8-0756-37A2-2CBD-B5BEBD2C8E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B64E535C-C83F-7D56-C802-ADBB4FD0E1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8298349"/>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B7235E8-7B2A-9951-0A1F-F7C40167AB4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87D27A6-CFF3-8497-798F-DB24F729A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EF8F95C-E175-63E6-EC91-F6DD941BCD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726463"/>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B65B71B-F865-8FA4-8AD0-59D1EFD3DBE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91BFE14-082F-C62B-4F4B-8FDEC511AE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047031F-D708-6FB9-31C3-9F7952AC43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5452050"/>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8ACC78F-F238-340B-214A-36BF44C3909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BBCE873-7567-69F6-CB5D-EF40B6E685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1C3841A-FA8D-5CC6-F0FE-F976923CDE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6718019"/>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DBF998C-8CCB-DDCF-BC3C-295173C299D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349513D-C686-915A-63EE-B2AD26A012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41939C0-A7A0-9CE8-7387-CFD0188012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1215028"/>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DB5DF1B-8093-D03C-0EA4-8C5FF72A973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ECBEFD5-53E5-8F54-6458-06B3B8F87F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43B186C-416F-73F8-B2FC-3D46F51A26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349706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97F9F17-B53B-22DF-5BA6-A5B95C806C8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50EBC87-FC80-3050-5847-7AEEC2E29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824211D-7292-ADB0-D83B-3625B6D837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8557539"/>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6977EF4-4631-D7A3-BEA9-F620D47C779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8388725-3436-5422-BB69-AE378EC95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23EB520-C8EF-CEE6-B952-BF427329CD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085812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E227F5D-B7D8-9D44-2244-0F75EA68456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BDC8CFC-2D94-B482-321F-799D77F680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CF7D907-E3C2-206A-59BD-3C509150E9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2459855"/>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5624E4A-A0F3-DB44-7AF9-1922F1F55F5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18DBE29-51A7-077C-C5D8-4EF0C14A3C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BBA1360-0153-F50A-80CA-96FAB4D585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2752040"/>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817A6D7-CE79-8F35-BF3A-BE17E6E5D38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11FD5DF-9FD4-47BA-6169-F2C0A1C87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C9914EB-DF15-7292-A7B0-A493CE7E47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51672203"/>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D909EA2-8D5A-4714-11B8-E006B7CA885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3817297-B8E1-0CA6-0A5B-4631399B0F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4E46D47-6A72-A105-D7E0-EE6F5C3657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4905208"/>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4060187-A644-6313-3F85-F3794C5D6D1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6FA4896-5051-58E9-D713-2AACCE8BA7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311C70E-9109-A55D-E66F-B4C785F2D3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22324722"/>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ECE5C79-785B-3470-10B6-24F4675F322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EB2B344-71D1-5D0F-93BF-425F4BFC35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E410D2F-3EC0-F1D0-419A-08F57BAB56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6836670"/>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BF088FF-9951-AB0A-D07D-85936C3B18D2}"/>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09AF158D-8CF1-597C-AF9D-421391410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E6768517-B0A6-2F0A-98B2-53A82255E0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5645825"/>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85CE637-0C25-549E-94AF-1FC570D36EE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63397BA-7539-A4FD-AA18-8C810F8894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54A342F-08F3-05AD-0252-9CBD96B013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8614387"/>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5E5FBF2-B4C7-1FD5-F374-2033E1F4BD1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D3EA96D-4B0A-C807-E50A-8841D57448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73DEDAB-E9CA-2FE0-0090-70E6258EF2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2826849"/>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B5100BE-1AE1-55C6-8654-760F260FA8B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C9EEF50-8E7D-B247-4E3F-E8055E932A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358218D-900C-DC4A-F806-A3C5143934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7269386"/>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E6DFDED-0D0C-5D8B-D72A-72924ECE8B3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7230B6A-E962-FC3C-D131-49805E81DB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0037483-C7FB-7B20-2E63-94CD14FCF1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7045674"/>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17B485B-151D-C12A-A255-DCA4DA5F838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BF9382E-F07E-3AC7-2704-7BE2071D50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0C475D8E-9783-3058-6D35-09D73750AF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861534"/>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0207569-3359-6BCE-A883-3B4A9DC59A7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082E210-F1D0-0DC8-039B-222849BFB7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5213411-5584-7358-2D14-4D5473DB5F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2067395"/>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2BAEA1F-B6BF-2166-287F-80F7201AD27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3D66650-2C59-6AB6-A1D4-CE2CBADF69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4B11A41-1F6E-C4B7-6FED-A5B7E4D305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5701096"/>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49AD0F5-BF28-7646-7F89-6C20280B40C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3D39A5F-DB8A-7503-9B82-447DFC2753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80A37C62-A1A3-934D-419B-1B76D27743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4137374"/>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588028D-2DF0-387C-4FE9-EE9580E74C4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1007359-C4BC-DEC6-1E9E-277B0AD71E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D3B7F25-C0A0-3979-1255-8E4DE091F7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5008813"/>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901773F-384B-57A1-29DF-046DDBCB614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06DB4F5-727A-C8C9-89E1-11469907BE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6F09A2C-DAC1-4FB1-1321-DA11EEC7E2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8637686"/>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2473934-E994-C3AE-2761-456E25D8D6B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272360A-C941-8213-2EC1-20CC5FC85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CE6F4C79-DEF5-67E5-1F26-7380DFCCD3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4641946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DD8F807-794A-BDB4-5360-5880E212B32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A8586EE-BF2A-03CD-2959-E9E60DA51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6E73D5A-1DD9-F89E-8382-90B4300A6C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2355536"/>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18786D6-3D63-356B-A52B-EA0C19E5F26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F220486-E7BD-CF91-B467-A86BA6F9B2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6A11D928-ECC2-66D3-4648-8AEA81EF64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9793237"/>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A0DF24D-590E-8071-EC7D-074398C6D07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45CC330-0249-CE3E-2B25-DB149F63AF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BB435566-583A-AEE7-79FB-B2B03184D0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9009398"/>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E1BCBD8-737F-9C9A-11A9-8987F730746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567FB57-F2BB-32C2-58CD-E4D97F4DA4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BD65EC2-72A1-336A-6DA3-ECF924A691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9662973"/>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B9E8284-2E77-09E0-D379-6F19495657D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9B79838-6B7F-A6A6-5730-C7D813C0B1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B8FED10-3DC8-38BC-F907-CCD7056195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49052355"/>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16A6118-8612-3CF4-B4BD-722B3D3C215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5A35308-B705-9100-D1FC-4712DF5107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5DB9A6BC-03D3-383A-FC62-132E46A3BE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9444539"/>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1F42135-94B3-B43D-9428-14375E7733C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4C68D98-3905-ABFA-8050-717CFDAD0A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4F7869BE-C9FD-2F11-9997-0898B9A19C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8103072"/>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8711EC2-7FB3-562E-4A72-5747CE81B48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5A5A667-5D5A-32EA-6A2D-70AC09E7F5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09F1C1A-A72A-3633-8E8C-38BA31F824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399466"/>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0ECE070-FF16-B106-DBEA-2AA2762C702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D0CDFF2-8792-1FA9-0EB4-2A6136F733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F166F865-35C4-054E-85D4-B46D5B31DD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6249673"/>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30E886B0-6884-C927-6855-DCDB48917DBB}"/>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7A3EC553-200A-5E6C-3C06-43C6A70253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0" name="Google Shape;230;g33816d269fb_0_209:notes">
            <a:extLst>
              <a:ext uri="{FF2B5EF4-FFF2-40B4-BE49-F238E27FC236}">
                <a16:creationId xmlns:a16="http://schemas.microsoft.com/office/drawing/2014/main" id="{1814E6FE-A016-3903-503A-80B0AA3ED8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319237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D480A6E-5877-1A27-8484-31AF89A16BA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A353AB6-2F59-4F96-1B25-9C8B094695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E12BE1D-A524-C870-D9F9-FF4FD6356B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81603"/>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EEFB0F83-8BF1-20B4-8D4E-DDF7C45606BC}"/>
            </a:ext>
          </a:extLst>
        </p:cNvPr>
        <p:cNvGrpSpPr/>
        <p:nvPr/>
      </p:nvGrpSpPr>
      <p:grpSpPr>
        <a:xfrm>
          <a:off x="0" y="0"/>
          <a:ext cx="0" cy="0"/>
          <a:chOff x="0" y="0"/>
          <a:chExt cx="0" cy="0"/>
        </a:xfrm>
      </p:grpSpPr>
      <p:sp>
        <p:nvSpPr>
          <p:cNvPr id="369" name="Google Shape;369;g332ce345db5_0_168:notes">
            <a:extLst>
              <a:ext uri="{FF2B5EF4-FFF2-40B4-BE49-F238E27FC236}">
                <a16:creationId xmlns:a16="http://schemas.microsoft.com/office/drawing/2014/main" id="{195B6E9D-732D-05FC-8CE2-E22F7C7F7B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70" name="Google Shape;370;g332ce345db5_0_168:notes">
            <a:extLst>
              <a:ext uri="{FF2B5EF4-FFF2-40B4-BE49-F238E27FC236}">
                <a16:creationId xmlns:a16="http://schemas.microsoft.com/office/drawing/2014/main" id="{68E723A4-D0F1-B213-D398-0887A301C7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latin typeface="Helvetica Neue"/>
                <a:ea typeface="Helvetica Neue"/>
                <a:cs typeface="Helvetica Neue"/>
                <a:sym typeface="Helvetica Neue"/>
              </a:rPr>
              <a:t>Yugabyte was founded on the belief that the next decade will see a major change in the systems of record that enterprises use to run their businesses and offer digital services. We are the company behind YugabyteDB, a distributed SQL database built first and foremost for transactional applications and to support enterprises as they move into a cloud-native, digital-led world. The database is 100% open source and designed to run on any cloud: private, public, hybrid, multi-cloud — flexibility and openness are essential to our customers and position us uniquely in the distributed SQL market. YugabyteDB is used by both small companies and by the Fortune 500 alike  - by retailers, advertisers, financial services companies, telecom and others.</a:t>
            </a:r>
            <a:endParaRPr sz="1000" dirty="0">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581234713"/>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F7053A4-C48C-589F-4DAA-DEFFE565A15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6A9E73A-A091-C813-7E22-126B50D880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4549140-CEF7-7A2D-1579-7FAEA24C0C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153787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49D444A-C94B-3421-D90B-D43BBC43C8A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F838A33-17BF-2AA0-AC41-BF7D2D3210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1144DF3-E432-6260-7E1F-12DCFE52BA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00016283"/>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0A4BC5C-588F-0FED-542D-A53239EE528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E7E3E40-04CF-C14F-B669-358747095A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277692EB-3BF9-D801-45D1-39A6251E7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0532640"/>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52BED5C-24D3-57B7-4086-1CA8E4D62C5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29053E2-C034-767D-D6C2-7F860F8068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B664690-6B95-7D89-CFF3-08D9129794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8376010"/>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D7A1D42-3713-C8E3-853F-9723255726D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EACB3A4-4223-EC69-2D55-8583DF9185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D743ED4-461A-DB5D-F5BE-3048A2E148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8425145"/>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BBF6FD4-9B25-740D-530D-11C685EF18F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137667F-D634-0440-2838-3BA1DA686C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7645AE52-E41B-628E-5D2C-EAD01827AA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1212016"/>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29A5CF2-5F6A-6B2F-A905-3E4D80D644F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D57A756-9BE8-C130-74B6-E64A5C2D91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30D2EF66-495A-6B16-B2F1-DE0E63741E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7215835"/>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5D921FA-DBCD-D7E0-B513-09C554B5B09D}"/>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99E29E8-FE18-7C4E-C8C6-D03C9DAD89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123646D4-410A-C90D-4DDA-8092E9C0BE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81226292"/>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DB5A541-ABA6-C51B-9A88-3F6F07FBB64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8BA4702-D5E4-8514-DAD3-5536C3EDB6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DF83F94-C05F-E52B-6BD8-BD3979BE40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8881144"/>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DD3591C-9457-C2D2-307D-505972D8E120}"/>
              </a:ext>
            </a:extLst>
          </p:cNvPr>
          <p:cNvSpPr>
            <a:spLocks noGrp="1" noRot="1" noChangeAspect="1" noChangeArrowheads="1" noTextEdit="1"/>
          </p:cNvSpPr>
          <p:nvPr>
            <p:ph type="sldImg"/>
          </p:nvPr>
        </p:nvSpPr>
        <p:spPr>
          <a:ln cap="flat"/>
        </p:spPr>
      </p:sp>
      <p:sp>
        <p:nvSpPr>
          <p:cNvPr id="39939" name="Rectangle 3">
            <a:extLst>
              <a:ext uri="{FF2B5EF4-FFF2-40B4-BE49-F238E27FC236}">
                <a16:creationId xmlns:a16="http://schemas.microsoft.com/office/drawing/2014/main" id="{811AA482-B026-30D0-7430-205A4891A695}"/>
              </a:ext>
            </a:extLst>
          </p:cNvPr>
          <p:cNvSpPr>
            <a:spLocks noGrp="1" noChangeArrowheads="1"/>
          </p:cNvSpPr>
          <p:nvPr>
            <p:ph type="body" idx="1"/>
          </p:nvPr>
        </p:nvSpPr>
        <p:spPr bwMode="auto">
          <a:xfrm>
            <a:off x="914400" y="4359275"/>
            <a:ext cx="5029200" cy="41322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ltLang="en-US"/>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A51344D5-6720-5E23-8777-69DB6EBF8920}"/>
              </a:ext>
            </a:extLst>
          </p:cNvPr>
          <p:cNvSpPr>
            <a:spLocks noGrp="1" noRot="1" noChangeAspect="1" noChangeArrowheads="1" noTextEdit="1"/>
          </p:cNvSpPr>
          <p:nvPr>
            <p:ph type="sldImg"/>
          </p:nvPr>
        </p:nvSpPr>
        <p:spPr>
          <a:ln cap="flat"/>
        </p:spPr>
      </p:sp>
      <p:sp>
        <p:nvSpPr>
          <p:cNvPr id="50179" name="Rectangle 3">
            <a:extLst>
              <a:ext uri="{FF2B5EF4-FFF2-40B4-BE49-F238E27FC236}">
                <a16:creationId xmlns:a16="http://schemas.microsoft.com/office/drawing/2014/main" id="{62D9CA67-4B0E-EDC3-47CB-38A09562F2D5}"/>
              </a:ext>
            </a:extLst>
          </p:cNvPr>
          <p:cNvSpPr>
            <a:spLocks noGrp="1" noChangeArrowheads="1"/>
          </p:cNvSpPr>
          <p:nvPr>
            <p:ph type="body" idx="1"/>
          </p:nvPr>
        </p:nvSpPr>
        <p:spPr bwMode="auto">
          <a:xfrm>
            <a:off x="914400" y="4359275"/>
            <a:ext cx="5029200" cy="41322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ltLang="en-US"/>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88ED37C-C7E6-7F53-0C25-A2D13C44F21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5ED1962-9EB3-8868-333F-46BAD8A0B6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EF8CAC60-0A0E-53E4-4E30-56E687DBD9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9251339"/>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127585F-A7B0-E495-F3F1-1ACF35ECB52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B59B3AE-A307-1A7D-D052-7ECA5ED622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ABA5E1DC-894C-F263-E1F9-4FD144A82F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800393"/>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4DBE8A4-EBB1-17D5-413E-18289BEC958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4AD5993-1F3C-2B50-537C-909FB4CD60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D2E6843B-3ACB-C1DD-28D8-EEAC6F0417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55357890"/>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42E32D6-B149-8379-F78C-5E40EDC0657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60A1A35-7DA4-89F6-D64E-A9E99C04EF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39" name="Google Shape;239;g332ce345db5_0_96:notes">
            <a:extLst>
              <a:ext uri="{FF2B5EF4-FFF2-40B4-BE49-F238E27FC236}">
                <a16:creationId xmlns:a16="http://schemas.microsoft.com/office/drawing/2014/main" id="{C9E1386A-0173-D4D6-4762-3E470542A9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3799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sz="80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sp>
        <p:nvSpPr>
          <p:cNvPr id="55" name="Google Shape;55;p14"/>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dirty="0"/>
          </a:p>
        </p:txBody>
      </p:sp>
      <p:sp>
        <p:nvSpPr>
          <p:cNvPr id="56" name="Google Shape;56;p14"/>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57" name="Google Shape;57;p14"/>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58" name="Google Shape;5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59"/>
        <p:cNvGrpSpPr/>
        <p:nvPr/>
      </p:nvGrpSpPr>
      <p:grpSpPr>
        <a:xfrm>
          <a:off x="0" y="0"/>
          <a:ext cx="0" cy="0"/>
          <a:chOff x="0" y="0"/>
          <a:chExt cx="0" cy="0"/>
        </a:xfrm>
      </p:grpSpPr>
      <p:sp>
        <p:nvSpPr>
          <p:cNvPr id="60" name="Google Shape;60;p15"/>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dirty="0"/>
          </a:p>
        </p:txBody>
      </p:sp>
      <p:sp>
        <p:nvSpPr>
          <p:cNvPr id="61" name="Google Shape;61;p15"/>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txBody>
          <a:bodyPr/>
          <a:lstStyle/>
          <a:p>
            <a:endParaRPr lang="en-US" dirty="0"/>
          </a:p>
        </p:txBody>
      </p:sp>
      <p:sp>
        <p:nvSpPr>
          <p:cNvPr id="62" name="Google Shape;62;p15"/>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63" name="Google Shape;6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4"/>
        <p:cNvGrpSpPr/>
        <p:nvPr/>
      </p:nvGrpSpPr>
      <p:grpSpPr>
        <a:xfrm>
          <a:off x="0" y="0"/>
          <a:ext cx="0" cy="0"/>
          <a:chOff x="0" y="0"/>
          <a:chExt cx="0" cy="0"/>
        </a:xfrm>
      </p:grpSpPr>
      <p:sp>
        <p:nvSpPr>
          <p:cNvPr id="65" name="Google Shape;65;p1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16"/>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txBody>
          <a:bodyPr/>
          <a:lstStyle/>
          <a:p>
            <a:endParaRPr lang="en-US" dirty="0"/>
          </a:p>
        </p:txBody>
      </p:sp>
      <p:sp>
        <p:nvSpPr>
          <p:cNvPr id="67" name="Google Shape;67;p16"/>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dirty="0"/>
          </a:p>
        </p:txBody>
      </p:sp>
      <p:sp>
        <p:nvSpPr>
          <p:cNvPr id="68" name="Google Shape;68;p16"/>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0" name="Google Shape;7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74" name="Google Shape;74;p17"/>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5" name="Google Shape;75;p17"/>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18"/>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79;p1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80" name="Google Shape;80;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Google Shape;82;p19"/>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83;p19"/>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84" name="Google Shape;84;p19"/>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85" name="Google Shape;8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88" name="Google Shape;8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9"/>
        <p:cNvGrpSpPr/>
        <p:nvPr/>
      </p:nvGrpSpPr>
      <p:grpSpPr>
        <a:xfrm>
          <a:off x="0" y="0"/>
          <a:ext cx="0" cy="0"/>
          <a:chOff x="0" y="0"/>
          <a:chExt cx="0" cy="0"/>
        </a:xfrm>
      </p:grpSpPr>
      <p:sp>
        <p:nvSpPr>
          <p:cNvPr id="90" name="Google Shape;90;p21"/>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91;p21"/>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92" name="Google Shape;92;p21"/>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93" name="Google Shape;93;p21"/>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4" name="Google Shape;9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5"/>
        <p:cNvGrpSpPr/>
        <p:nvPr/>
      </p:nvGrpSpPr>
      <p:grpSpPr>
        <a:xfrm>
          <a:off x="0" y="0"/>
          <a:ext cx="0" cy="0"/>
          <a:chOff x="0" y="0"/>
          <a:chExt cx="0" cy="0"/>
        </a:xfrm>
      </p:grpSpPr>
      <p:sp>
        <p:nvSpPr>
          <p:cNvPr id="96" name="Google Shape;96;p22"/>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97;p22"/>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98" name="Google Shape;9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99"/>
        <p:cNvGrpSpPr/>
        <p:nvPr/>
      </p:nvGrpSpPr>
      <p:grpSpPr>
        <a:xfrm>
          <a:off x="0" y="0"/>
          <a:ext cx="0" cy="0"/>
          <a:chOff x="0" y="0"/>
          <a:chExt cx="0" cy="0"/>
        </a:xfrm>
      </p:grpSpPr>
      <p:sp>
        <p:nvSpPr>
          <p:cNvPr id="100" name="Google Shape;100;p23"/>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101" name="Google Shape;101;p23"/>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102" name="Google Shape;10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
        <p:cNvGrpSpPr/>
        <p:nvPr/>
      </p:nvGrpSpPr>
      <p:grpSpPr>
        <a:xfrm>
          <a:off x="0" y="0"/>
          <a:ext cx="0" cy="0"/>
          <a:chOff x="0" y="0"/>
          <a:chExt cx="0" cy="0"/>
        </a:xfrm>
      </p:grpSpPr>
      <p:sp>
        <p:nvSpPr>
          <p:cNvPr id="104" name="Google Shape;10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Blank Slide">
  <p:cSld name="TITLE_AND_BODY_1">
    <p:bg>
      <p:bgPr>
        <a:solidFill>
          <a:srgbClr val="F6F9FA"/>
        </a:solidFill>
        <a:effectLst/>
      </p:bgPr>
    </p:bg>
    <p:spTree>
      <p:nvGrpSpPr>
        <p:cNvPr id="1" name="Shape 105"/>
        <p:cNvGrpSpPr/>
        <p:nvPr/>
      </p:nvGrpSpPr>
      <p:grpSpPr>
        <a:xfrm>
          <a:off x="0" y="0"/>
          <a:ext cx="0" cy="0"/>
          <a:chOff x="0" y="0"/>
          <a:chExt cx="0" cy="0"/>
        </a:xfrm>
      </p:grpSpPr>
      <p:sp>
        <p:nvSpPr>
          <p:cNvPr id="106" name="Google Shape;106;p25"/>
          <p:cNvSpPr txBox="1">
            <a:spLocks noGrp="1"/>
          </p:cNvSpPr>
          <p:nvPr>
            <p:ph type="sldNum" idx="12"/>
          </p:nvPr>
        </p:nvSpPr>
        <p:spPr>
          <a:xfrm>
            <a:off x="6553200" y="4580573"/>
            <a:ext cx="364200" cy="373200"/>
          </a:xfrm>
          <a:prstGeom prst="rect">
            <a:avLst/>
          </a:prstGeom>
          <a:noFill/>
          <a:ln>
            <a:noFill/>
          </a:ln>
        </p:spPr>
        <p:txBody>
          <a:bodyPr spcFirstLastPara="1" wrap="square" lIns="34275" tIns="34275" rIns="34275" bIns="34275" anchor="ctr" anchorCtr="0">
            <a:normAutofit fontScale="92500"/>
          </a:bodyPr>
          <a:lstStyle>
            <a:lvl1pPr marL="0" lvl="0"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1pPr>
            <a:lvl2pPr marL="0" lvl="1"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2pPr>
            <a:lvl3pPr marL="0" lvl="2"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3pPr>
            <a:lvl4pPr marL="0" lvl="3"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4pPr>
            <a:lvl5pPr marL="0" lvl="4"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5pPr>
            <a:lvl6pPr marL="0" lvl="5"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6pPr>
            <a:lvl7pPr marL="0" lvl="6"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7pPr>
            <a:lvl8pPr marL="0" lvl="7"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8pPr>
            <a:lvl9pPr marL="0" lvl="8"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1" name="Shape 107"/>
        <p:cNvGrpSpPr/>
        <p:nvPr/>
      </p:nvGrpSpPr>
      <p:grpSpPr>
        <a:xfrm>
          <a:off x="0" y="0"/>
          <a:ext cx="0" cy="0"/>
          <a:chOff x="0" y="0"/>
          <a:chExt cx="0" cy="0"/>
        </a:xfrm>
      </p:grpSpPr>
      <p:sp>
        <p:nvSpPr>
          <p:cNvPr id="108" name="Google Shape;108;p26"/>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rm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109" name="Google Shape;109;p26"/>
          <p:cNvCxnSpPr/>
          <p:nvPr/>
        </p:nvCxnSpPr>
        <p:spPr>
          <a:xfrm>
            <a:off x="366450" y="716450"/>
            <a:ext cx="8411100" cy="8700"/>
          </a:xfrm>
          <a:prstGeom prst="straightConnector1">
            <a:avLst/>
          </a:prstGeom>
          <a:noFill/>
          <a:ln w="9525" cap="flat" cmpd="sng">
            <a:solidFill>
              <a:schemeClr val="dk2"/>
            </a:solidFill>
            <a:prstDash val="solid"/>
            <a:round/>
            <a:headEnd type="none" w="med" len="med"/>
            <a:tailEnd type="none" w="med" len="med"/>
          </a:ln>
        </p:spPr>
      </p:cxnSp>
      <p:sp>
        <p:nvSpPr>
          <p:cNvPr id="110" name="Google Shape;110;p26"/>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rm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1" name="Shape 111"/>
        <p:cNvGrpSpPr/>
        <p:nvPr/>
      </p:nvGrpSpPr>
      <p:grpSpPr>
        <a:xfrm>
          <a:off x="0" y="0"/>
          <a:ext cx="0" cy="0"/>
          <a:chOff x="0" y="0"/>
          <a:chExt cx="0" cy="0"/>
        </a:xfrm>
      </p:grpSpPr>
      <p:sp>
        <p:nvSpPr>
          <p:cNvPr id="112" name="Google Shape;112;p27"/>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rm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113" name="Google Shape;113;p27"/>
          <p:cNvCxnSpPr/>
          <p:nvPr/>
        </p:nvCxnSpPr>
        <p:spPr>
          <a:xfrm>
            <a:off x="366450" y="716450"/>
            <a:ext cx="8411100" cy="8700"/>
          </a:xfrm>
          <a:prstGeom prst="straightConnector1">
            <a:avLst/>
          </a:prstGeom>
          <a:noFill/>
          <a:ln w="9525" cap="flat" cmpd="sng">
            <a:solidFill>
              <a:schemeClr val="dk2"/>
            </a:solidFill>
            <a:prstDash val="solid"/>
            <a:round/>
            <a:headEnd type="none" w="med" len="med"/>
            <a:tailEnd type="none" w="med" len="med"/>
          </a:ln>
        </p:spPr>
      </p:cxnSp>
      <p:sp>
        <p:nvSpPr>
          <p:cNvPr id="114" name="Google Shape;114;p27"/>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rm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29" name="Google Shape;129;p30"/>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4"/>
        <p:cNvGrpSpPr/>
        <p:nvPr/>
      </p:nvGrpSpPr>
      <p:grpSpPr>
        <a:xfrm>
          <a:off x="0" y="0"/>
          <a:ext cx="0" cy="0"/>
          <a:chOff x="0" y="0"/>
          <a:chExt cx="0" cy="0"/>
        </a:xfrm>
      </p:grpSpPr>
      <p:sp>
        <p:nvSpPr>
          <p:cNvPr id="135" name="Google Shape;135;p32"/>
          <p:cNvSpPr txBox="1">
            <a:spLocks noGrp="1"/>
          </p:cNvSpPr>
          <p:nvPr>
            <p:ph type="title"/>
          </p:nvPr>
        </p:nvSpPr>
        <p:spPr>
          <a:xfrm>
            <a:off x="311700" y="18610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6" name="Google Shape;136;p3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37" name="Google Shape;137;p3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38" name="Google Shape;138;p32"/>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9"/>
        <p:cNvGrpSpPr/>
        <p:nvPr/>
      </p:nvGrpSpPr>
      <p:grpSpPr>
        <a:xfrm>
          <a:off x="0" y="0"/>
          <a:ext cx="0" cy="0"/>
          <a:chOff x="0" y="0"/>
          <a:chExt cx="0" cy="0"/>
        </a:xfrm>
      </p:grpSpPr>
      <p:sp>
        <p:nvSpPr>
          <p:cNvPr id="140" name="Google Shape;140;p33"/>
          <p:cNvSpPr txBox="1">
            <a:spLocks noGrp="1"/>
          </p:cNvSpPr>
          <p:nvPr>
            <p:ph type="title"/>
          </p:nvPr>
        </p:nvSpPr>
        <p:spPr>
          <a:xfrm>
            <a:off x="311700" y="18610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1" name="Google Shape;141;p33"/>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latin typeface="Comfortaa Medium"/>
                <a:ea typeface="Comfortaa Medium"/>
                <a:cs typeface="Comfortaa Medium"/>
                <a:sym typeface="Comfortaa Medium"/>
              </a:defRPr>
            </a:lvl1pPr>
            <a:lvl2pPr lvl="1" algn="r">
              <a:buNone/>
              <a:defRPr sz="1200">
                <a:solidFill>
                  <a:srgbClr val="FF6E42"/>
                </a:solidFill>
                <a:latin typeface="Comfortaa Medium"/>
                <a:ea typeface="Comfortaa Medium"/>
                <a:cs typeface="Comfortaa Medium"/>
                <a:sym typeface="Comfortaa Medium"/>
              </a:defRPr>
            </a:lvl2pPr>
            <a:lvl3pPr lvl="2" algn="r">
              <a:buNone/>
              <a:defRPr sz="1200">
                <a:solidFill>
                  <a:srgbClr val="FF6E42"/>
                </a:solidFill>
                <a:latin typeface="Comfortaa Medium"/>
                <a:ea typeface="Comfortaa Medium"/>
                <a:cs typeface="Comfortaa Medium"/>
                <a:sym typeface="Comfortaa Medium"/>
              </a:defRPr>
            </a:lvl3pPr>
            <a:lvl4pPr lvl="3" algn="r">
              <a:buNone/>
              <a:defRPr sz="1200">
                <a:solidFill>
                  <a:srgbClr val="FF6E42"/>
                </a:solidFill>
                <a:latin typeface="Comfortaa Medium"/>
                <a:ea typeface="Comfortaa Medium"/>
                <a:cs typeface="Comfortaa Medium"/>
                <a:sym typeface="Comfortaa Medium"/>
              </a:defRPr>
            </a:lvl4pPr>
            <a:lvl5pPr lvl="4" algn="r">
              <a:buNone/>
              <a:defRPr sz="1200">
                <a:solidFill>
                  <a:srgbClr val="FF6E42"/>
                </a:solidFill>
                <a:latin typeface="Comfortaa Medium"/>
                <a:ea typeface="Comfortaa Medium"/>
                <a:cs typeface="Comfortaa Medium"/>
                <a:sym typeface="Comfortaa Medium"/>
              </a:defRPr>
            </a:lvl5pPr>
            <a:lvl6pPr lvl="5" algn="r">
              <a:buNone/>
              <a:defRPr sz="1200">
                <a:solidFill>
                  <a:srgbClr val="FF6E42"/>
                </a:solidFill>
                <a:latin typeface="Comfortaa Medium"/>
                <a:ea typeface="Comfortaa Medium"/>
                <a:cs typeface="Comfortaa Medium"/>
                <a:sym typeface="Comfortaa Medium"/>
              </a:defRPr>
            </a:lvl6pPr>
            <a:lvl7pPr lvl="6" algn="r">
              <a:buNone/>
              <a:defRPr sz="1200">
                <a:solidFill>
                  <a:srgbClr val="FF6E42"/>
                </a:solidFill>
                <a:latin typeface="Comfortaa Medium"/>
                <a:ea typeface="Comfortaa Medium"/>
                <a:cs typeface="Comfortaa Medium"/>
                <a:sym typeface="Comfortaa Medium"/>
              </a:defRPr>
            </a:lvl7pPr>
            <a:lvl8pPr lvl="7" algn="r">
              <a:buNone/>
              <a:defRPr sz="1200">
                <a:solidFill>
                  <a:srgbClr val="FF6E42"/>
                </a:solidFill>
                <a:latin typeface="Comfortaa Medium"/>
                <a:ea typeface="Comfortaa Medium"/>
                <a:cs typeface="Comfortaa Medium"/>
                <a:sym typeface="Comfortaa Medium"/>
              </a:defRPr>
            </a:lvl8pPr>
            <a:lvl9pPr lvl="8" algn="r">
              <a:buNone/>
              <a:defRPr sz="1200">
                <a:solidFill>
                  <a:srgbClr val="FF6E42"/>
                </a:solidFill>
                <a:latin typeface="Comfortaa Medium"/>
                <a:ea typeface="Comfortaa Medium"/>
                <a:cs typeface="Comfortaa Medium"/>
                <a:sym typeface="Comfortaa Medium"/>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2"/>
        <p:cNvGrpSpPr/>
        <p:nvPr/>
      </p:nvGrpSpPr>
      <p:grpSpPr>
        <a:xfrm>
          <a:off x="0" y="0"/>
          <a:ext cx="0" cy="0"/>
          <a:chOff x="0" y="0"/>
          <a:chExt cx="0" cy="0"/>
        </a:xfrm>
      </p:grpSpPr>
      <p:sp>
        <p:nvSpPr>
          <p:cNvPr id="143" name="Google Shape;143;p3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44" name="Google Shape;144;p3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45" name="Google Shape;145;p34"/>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latin typeface="Comfortaa Medium"/>
                <a:ea typeface="Comfortaa Medium"/>
                <a:cs typeface="Comfortaa Medium"/>
                <a:sym typeface="Comfortaa Medium"/>
              </a:defRPr>
            </a:lvl1pPr>
            <a:lvl2pPr lvl="1" algn="r">
              <a:buNone/>
              <a:defRPr sz="1200">
                <a:solidFill>
                  <a:srgbClr val="FF6E42"/>
                </a:solidFill>
                <a:latin typeface="Comfortaa Medium"/>
                <a:ea typeface="Comfortaa Medium"/>
                <a:cs typeface="Comfortaa Medium"/>
                <a:sym typeface="Comfortaa Medium"/>
              </a:defRPr>
            </a:lvl2pPr>
            <a:lvl3pPr lvl="2" algn="r">
              <a:buNone/>
              <a:defRPr sz="1200">
                <a:solidFill>
                  <a:srgbClr val="FF6E42"/>
                </a:solidFill>
                <a:latin typeface="Comfortaa Medium"/>
                <a:ea typeface="Comfortaa Medium"/>
                <a:cs typeface="Comfortaa Medium"/>
                <a:sym typeface="Comfortaa Medium"/>
              </a:defRPr>
            </a:lvl3pPr>
            <a:lvl4pPr lvl="3" algn="r">
              <a:buNone/>
              <a:defRPr sz="1200">
                <a:solidFill>
                  <a:srgbClr val="FF6E42"/>
                </a:solidFill>
                <a:latin typeface="Comfortaa Medium"/>
                <a:ea typeface="Comfortaa Medium"/>
                <a:cs typeface="Comfortaa Medium"/>
                <a:sym typeface="Comfortaa Medium"/>
              </a:defRPr>
            </a:lvl4pPr>
            <a:lvl5pPr lvl="4" algn="r">
              <a:buNone/>
              <a:defRPr sz="1200">
                <a:solidFill>
                  <a:srgbClr val="FF6E42"/>
                </a:solidFill>
                <a:latin typeface="Comfortaa Medium"/>
                <a:ea typeface="Comfortaa Medium"/>
                <a:cs typeface="Comfortaa Medium"/>
                <a:sym typeface="Comfortaa Medium"/>
              </a:defRPr>
            </a:lvl5pPr>
            <a:lvl6pPr lvl="5" algn="r">
              <a:buNone/>
              <a:defRPr sz="1200">
                <a:solidFill>
                  <a:srgbClr val="FF6E42"/>
                </a:solidFill>
                <a:latin typeface="Comfortaa Medium"/>
                <a:ea typeface="Comfortaa Medium"/>
                <a:cs typeface="Comfortaa Medium"/>
                <a:sym typeface="Comfortaa Medium"/>
              </a:defRPr>
            </a:lvl6pPr>
            <a:lvl7pPr lvl="6" algn="r">
              <a:buNone/>
              <a:defRPr sz="1200">
                <a:solidFill>
                  <a:srgbClr val="FF6E42"/>
                </a:solidFill>
                <a:latin typeface="Comfortaa Medium"/>
                <a:ea typeface="Comfortaa Medium"/>
                <a:cs typeface="Comfortaa Medium"/>
                <a:sym typeface="Comfortaa Medium"/>
              </a:defRPr>
            </a:lvl7pPr>
            <a:lvl8pPr lvl="7" algn="r">
              <a:buNone/>
              <a:defRPr sz="1200">
                <a:solidFill>
                  <a:srgbClr val="FF6E42"/>
                </a:solidFill>
                <a:latin typeface="Comfortaa Medium"/>
                <a:ea typeface="Comfortaa Medium"/>
                <a:cs typeface="Comfortaa Medium"/>
                <a:sym typeface="Comfortaa Medium"/>
              </a:defRPr>
            </a:lvl8pPr>
            <a:lvl9pPr lvl="8" algn="r">
              <a:buNone/>
              <a:defRPr sz="1200">
                <a:solidFill>
                  <a:srgbClr val="FF6E42"/>
                </a:solidFill>
                <a:latin typeface="Comfortaa Medium"/>
                <a:ea typeface="Comfortaa Medium"/>
                <a:cs typeface="Comfortaa Medium"/>
                <a:sym typeface="Comfortaa Medium"/>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6"/>
        <p:cNvGrpSpPr/>
        <p:nvPr/>
      </p:nvGrpSpPr>
      <p:grpSpPr>
        <a:xfrm>
          <a:off x="0" y="0"/>
          <a:ext cx="0" cy="0"/>
          <a:chOff x="0" y="0"/>
          <a:chExt cx="0" cy="0"/>
        </a:xfrm>
      </p:grpSpPr>
      <p:sp>
        <p:nvSpPr>
          <p:cNvPr id="147" name="Google Shape;147;p3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48" name="Google Shape;148;p35"/>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9"/>
        <p:cNvGrpSpPr/>
        <p:nvPr/>
      </p:nvGrpSpPr>
      <p:grpSpPr>
        <a:xfrm>
          <a:off x="0" y="0"/>
          <a:ext cx="0" cy="0"/>
          <a:chOff x="0" y="0"/>
          <a:chExt cx="0" cy="0"/>
        </a:xfrm>
      </p:grpSpPr>
      <p:sp>
        <p:nvSpPr>
          <p:cNvPr id="150" name="Google Shape;150;p36"/>
          <p:cNvSpPr/>
          <p:nvPr/>
        </p:nvSpPr>
        <p:spPr>
          <a:xfrm>
            <a:off x="4572000" y="-125"/>
            <a:ext cx="4572000" cy="4773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 name="Google Shape;151;p36"/>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52" name="Google Shape;152;p3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3" name="Google Shape;153;p3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54" name="Google Shape;154;p36"/>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5"/>
        <p:cNvGrpSpPr/>
        <p:nvPr/>
      </p:nvGrpSpPr>
      <p:grpSpPr>
        <a:xfrm>
          <a:off x="0" y="0"/>
          <a:ext cx="0" cy="0"/>
          <a:chOff x="0" y="0"/>
          <a:chExt cx="0" cy="0"/>
        </a:xfrm>
      </p:grpSpPr>
      <p:sp>
        <p:nvSpPr>
          <p:cNvPr id="156" name="Google Shape;156;p37"/>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57"/>
        <p:cNvGrpSpPr/>
        <p:nvPr/>
      </p:nvGrpSpPr>
      <p:grpSpPr>
        <a:xfrm>
          <a:off x="0" y="0"/>
          <a:ext cx="0" cy="0"/>
          <a:chOff x="0" y="0"/>
          <a:chExt cx="0" cy="0"/>
        </a:xfrm>
      </p:grpSpPr>
      <p:sp>
        <p:nvSpPr>
          <p:cNvPr id="158" name="Google Shape;158;p3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59" name="Google Shape;159;p38"/>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160" name="Google Shape;160;p38"/>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3 1">
  <p:cSld name="TITLE_AND_BODY_4_1">
    <p:spTree>
      <p:nvGrpSpPr>
        <p:cNvPr id="1" name="Shape 163"/>
        <p:cNvGrpSpPr/>
        <p:nvPr/>
      </p:nvGrpSpPr>
      <p:grpSpPr>
        <a:xfrm>
          <a:off x="0" y="0"/>
          <a:ext cx="0" cy="0"/>
          <a:chOff x="0" y="0"/>
          <a:chExt cx="0" cy="0"/>
        </a:xfrm>
      </p:grpSpPr>
      <p:sp>
        <p:nvSpPr>
          <p:cNvPr id="164" name="Google Shape;164;p40"/>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165" name="Google Shape;165;p40"/>
          <p:cNvCxnSpPr/>
          <p:nvPr/>
        </p:nvCxnSpPr>
        <p:spPr>
          <a:xfrm>
            <a:off x="366450" y="716450"/>
            <a:ext cx="8411100" cy="8700"/>
          </a:xfrm>
          <a:prstGeom prst="straightConnector1">
            <a:avLst/>
          </a:prstGeom>
          <a:noFill/>
          <a:ln w="9525" cap="flat" cmpd="sng">
            <a:solidFill>
              <a:schemeClr val="dk2"/>
            </a:solidFill>
            <a:prstDash val="solid"/>
            <a:round/>
            <a:headEnd type="none" w="med" len="med"/>
            <a:tailEnd type="none" w="med" len="med"/>
          </a:ln>
        </p:spPr>
      </p:cxnSp>
      <p:sp>
        <p:nvSpPr>
          <p:cNvPr id="166" name="Google Shape;166;p40"/>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Dark">
  <p:cSld name="SECTION_HEADER_1_1">
    <p:bg>
      <p:bgPr>
        <a:solidFill>
          <a:schemeClr val="dk1"/>
        </a:solidFill>
        <a:effectLst/>
      </p:bgPr>
    </p:bg>
    <p:spTree>
      <p:nvGrpSpPr>
        <p:cNvPr id="1" name="Shape 172"/>
        <p:cNvGrpSpPr/>
        <p:nvPr/>
      </p:nvGrpSpPr>
      <p:grpSpPr>
        <a:xfrm>
          <a:off x="0" y="0"/>
          <a:ext cx="0" cy="0"/>
          <a:chOff x="0" y="0"/>
          <a:chExt cx="0" cy="0"/>
        </a:xfrm>
      </p:grpSpPr>
      <p:sp>
        <p:nvSpPr>
          <p:cNvPr id="173" name="Google Shape;173;p42"/>
          <p:cNvSpPr txBox="1">
            <a:spLocks noGrp="1"/>
          </p:cNvSpPr>
          <p:nvPr>
            <p:ph type="subTitle" idx="1"/>
          </p:nvPr>
        </p:nvSpPr>
        <p:spPr>
          <a:xfrm>
            <a:off x="914400" y="2834640"/>
            <a:ext cx="7315200" cy="91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DB5028"/>
              </a:buClr>
              <a:buSzPts val="2300"/>
              <a:buFont typeface="Inter Medium"/>
              <a:buNone/>
              <a:defRPr sz="2300">
                <a:solidFill>
                  <a:srgbClr val="DB5028"/>
                </a:solidFill>
                <a:latin typeface="Inter Medium"/>
                <a:ea typeface="Inter Medium"/>
                <a:cs typeface="Inter Medium"/>
                <a:sym typeface="Inter Medium"/>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74" name="Google Shape;174;p42"/>
          <p:cNvSpPr txBox="1">
            <a:spLocks noGrp="1"/>
          </p:cNvSpPr>
          <p:nvPr>
            <p:ph type="title"/>
          </p:nvPr>
        </p:nvSpPr>
        <p:spPr>
          <a:xfrm>
            <a:off x="914400" y="838200"/>
            <a:ext cx="7315200" cy="182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500"/>
              <a:buNone/>
              <a:defRPr sz="3500">
                <a:solidFill>
                  <a:schemeClr val="lt1"/>
                </a:solidFill>
              </a:defRPr>
            </a:lvl1pPr>
            <a:lvl2pPr lvl="1">
              <a:spcBef>
                <a:spcPts val="0"/>
              </a:spcBef>
              <a:spcAft>
                <a:spcPts val="0"/>
              </a:spcAft>
              <a:buClr>
                <a:schemeClr val="lt1"/>
              </a:buClr>
              <a:buSzPts val="3500"/>
              <a:buNone/>
              <a:defRPr sz="3500">
                <a:solidFill>
                  <a:schemeClr val="lt1"/>
                </a:solidFill>
              </a:defRPr>
            </a:lvl2pPr>
            <a:lvl3pPr lvl="2">
              <a:spcBef>
                <a:spcPts val="0"/>
              </a:spcBef>
              <a:spcAft>
                <a:spcPts val="0"/>
              </a:spcAft>
              <a:buClr>
                <a:schemeClr val="lt1"/>
              </a:buClr>
              <a:buSzPts val="3500"/>
              <a:buNone/>
              <a:defRPr sz="3500">
                <a:solidFill>
                  <a:schemeClr val="lt1"/>
                </a:solidFill>
              </a:defRPr>
            </a:lvl3pPr>
            <a:lvl4pPr lvl="3">
              <a:spcBef>
                <a:spcPts val="0"/>
              </a:spcBef>
              <a:spcAft>
                <a:spcPts val="0"/>
              </a:spcAft>
              <a:buClr>
                <a:schemeClr val="lt1"/>
              </a:buClr>
              <a:buSzPts val="3500"/>
              <a:buNone/>
              <a:defRPr sz="3500">
                <a:solidFill>
                  <a:schemeClr val="lt1"/>
                </a:solidFill>
              </a:defRPr>
            </a:lvl4pPr>
            <a:lvl5pPr lvl="4">
              <a:spcBef>
                <a:spcPts val="0"/>
              </a:spcBef>
              <a:spcAft>
                <a:spcPts val="0"/>
              </a:spcAft>
              <a:buClr>
                <a:schemeClr val="lt1"/>
              </a:buClr>
              <a:buSzPts val="3500"/>
              <a:buNone/>
              <a:defRPr sz="3500">
                <a:solidFill>
                  <a:schemeClr val="lt1"/>
                </a:solidFill>
              </a:defRPr>
            </a:lvl5pPr>
            <a:lvl6pPr lvl="5">
              <a:spcBef>
                <a:spcPts val="0"/>
              </a:spcBef>
              <a:spcAft>
                <a:spcPts val="0"/>
              </a:spcAft>
              <a:buClr>
                <a:schemeClr val="lt1"/>
              </a:buClr>
              <a:buSzPts val="3500"/>
              <a:buNone/>
              <a:defRPr sz="3500">
                <a:solidFill>
                  <a:schemeClr val="lt1"/>
                </a:solidFill>
              </a:defRPr>
            </a:lvl6pPr>
            <a:lvl7pPr lvl="6">
              <a:spcBef>
                <a:spcPts val="0"/>
              </a:spcBef>
              <a:spcAft>
                <a:spcPts val="0"/>
              </a:spcAft>
              <a:buClr>
                <a:schemeClr val="lt1"/>
              </a:buClr>
              <a:buSzPts val="3500"/>
              <a:buNone/>
              <a:defRPr sz="3500">
                <a:solidFill>
                  <a:schemeClr val="lt1"/>
                </a:solidFill>
              </a:defRPr>
            </a:lvl7pPr>
            <a:lvl8pPr lvl="7">
              <a:spcBef>
                <a:spcPts val="0"/>
              </a:spcBef>
              <a:spcAft>
                <a:spcPts val="0"/>
              </a:spcAft>
              <a:buClr>
                <a:schemeClr val="lt1"/>
              </a:buClr>
              <a:buSzPts val="3500"/>
              <a:buNone/>
              <a:defRPr sz="3500">
                <a:solidFill>
                  <a:schemeClr val="lt1"/>
                </a:solidFill>
              </a:defRPr>
            </a:lvl8pPr>
            <a:lvl9pPr lvl="8">
              <a:spcBef>
                <a:spcPts val="0"/>
              </a:spcBef>
              <a:spcAft>
                <a:spcPts val="0"/>
              </a:spcAft>
              <a:buClr>
                <a:schemeClr val="lt1"/>
              </a:buClr>
              <a:buSzPts val="3500"/>
              <a:buNone/>
              <a:defRPr sz="3500">
                <a:solidFill>
                  <a:schemeClr val="lt1"/>
                </a:solidFill>
              </a:defRPr>
            </a:lvl9pPr>
          </a:lstStyle>
          <a:p>
            <a:endParaRPr/>
          </a:p>
        </p:txBody>
      </p:sp>
      <p:sp>
        <p:nvSpPr>
          <p:cNvPr id="175" name="Google Shape;175;p42"/>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b="1">
                <a:solidFill>
                  <a:srgbClr val="B7B7B7"/>
                </a:solidFill>
                <a:latin typeface="Comfortaa"/>
                <a:ea typeface="Comfortaa"/>
                <a:cs typeface="Comfortaa"/>
                <a:sym typeface="Comfortaa"/>
              </a:defRPr>
            </a:lvl1pPr>
            <a:lvl2pPr lvl="1" algn="r">
              <a:buNone/>
              <a:defRPr sz="1200" b="1">
                <a:solidFill>
                  <a:srgbClr val="B7B7B7"/>
                </a:solidFill>
                <a:latin typeface="Comfortaa"/>
                <a:ea typeface="Comfortaa"/>
                <a:cs typeface="Comfortaa"/>
                <a:sym typeface="Comfortaa"/>
              </a:defRPr>
            </a:lvl2pPr>
            <a:lvl3pPr lvl="2" algn="r">
              <a:buNone/>
              <a:defRPr sz="1200" b="1">
                <a:solidFill>
                  <a:srgbClr val="B7B7B7"/>
                </a:solidFill>
                <a:latin typeface="Comfortaa"/>
                <a:ea typeface="Comfortaa"/>
                <a:cs typeface="Comfortaa"/>
                <a:sym typeface="Comfortaa"/>
              </a:defRPr>
            </a:lvl3pPr>
            <a:lvl4pPr lvl="3" algn="r">
              <a:buNone/>
              <a:defRPr sz="1200" b="1">
                <a:solidFill>
                  <a:srgbClr val="B7B7B7"/>
                </a:solidFill>
                <a:latin typeface="Comfortaa"/>
                <a:ea typeface="Comfortaa"/>
                <a:cs typeface="Comfortaa"/>
                <a:sym typeface="Comfortaa"/>
              </a:defRPr>
            </a:lvl4pPr>
            <a:lvl5pPr lvl="4" algn="r">
              <a:buNone/>
              <a:defRPr sz="1200" b="1">
                <a:solidFill>
                  <a:srgbClr val="B7B7B7"/>
                </a:solidFill>
                <a:latin typeface="Comfortaa"/>
                <a:ea typeface="Comfortaa"/>
                <a:cs typeface="Comfortaa"/>
                <a:sym typeface="Comfortaa"/>
              </a:defRPr>
            </a:lvl5pPr>
            <a:lvl6pPr lvl="5" algn="r">
              <a:buNone/>
              <a:defRPr sz="1200" b="1">
                <a:solidFill>
                  <a:srgbClr val="B7B7B7"/>
                </a:solidFill>
                <a:latin typeface="Comfortaa"/>
                <a:ea typeface="Comfortaa"/>
                <a:cs typeface="Comfortaa"/>
                <a:sym typeface="Comfortaa"/>
              </a:defRPr>
            </a:lvl6pPr>
            <a:lvl7pPr lvl="6" algn="r">
              <a:buNone/>
              <a:defRPr sz="1200" b="1">
                <a:solidFill>
                  <a:srgbClr val="B7B7B7"/>
                </a:solidFill>
                <a:latin typeface="Comfortaa"/>
                <a:ea typeface="Comfortaa"/>
                <a:cs typeface="Comfortaa"/>
                <a:sym typeface="Comfortaa"/>
              </a:defRPr>
            </a:lvl7pPr>
            <a:lvl8pPr lvl="7" algn="r">
              <a:buNone/>
              <a:defRPr sz="1200" b="1">
                <a:solidFill>
                  <a:srgbClr val="B7B7B7"/>
                </a:solidFill>
                <a:latin typeface="Comfortaa"/>
                <a:ea typeface="Comfortaa"/>
                <a:cs typeface="Comfortaa"/>
                <a:sym typeface="Comfortaa"/>
              </a:defRPr>
            </a:lvl8pPr>
            <a:lvl9pPr lvl="8" algn="r">
              <a:buNone/>
              <a:defRPr sz="1200" b="1">
                <a:solidFill>
                  <a:srgbClr val="B7B7B7"/>
                </a:solidFill>
                <a:latin typeface="Comfortaa"/>
                <a:ea typeface="Comfortaa"/>
                <a:cs typeface="Comfortaa"/>
                <a:sym typeface="Comfortaa"/>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ogos 1">
  <p:cSld name="TITLE_AND_TWO_COLUMNS_2_2">
    <p:spTree>
      <p:nvGrpSpPr>
        <p:cNvPr id="1" name="Shape 180"/>
        <p:cNvGrpSpPr/>
        <p:nvPr/>
      </p:nvGrpSpPr>
      <p:grpSpPr>
        <a:xfrm>
          <a:off x="0" y="0"/>
          <a:ext cx="0" cy="0"/>
          <a:chOff x="0" y="0"/>
          <a:chExt cx="0" cy="0"/>
        </a:xfrm>
      </p:grpSpPr>
      <p:sp>
        <p:nvSpPr>
          <p:cNvPr id="181" name="Google Shape;181;p44"/>
          <p:cNvSpPr txBox="1">
            <a:spLocks noGrp="1"/>
          </p:cNvSpPr>
          <p:nvPr>
            <p:ph type="title"/>
          </p:nvPr>
        </p:nvSpPr>
        <p:spPr>
          <a:xfrm>
            <a:off x="311700" y="182880"/>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200"/>
              <a:buNone/>
              <a:defRPr sz="2200"/>
            </a:lvl1pPr>
            <a:lvl2pPr lvl="1">
              <a:spcBef>
                <a:spcPts val="0"/>
              </a:spcBef>
              <a:spcAft>
                <a:spcPts val="0"/>
              </a:spcAft>
              <a:buClr>
                <a:srgbClr val="27496A"/>
              </a:buClr>
              <a:buSzPts val="2800"/>
              <a:buNone/>
              <a:defRPr>
                <a:solidFill>
                  <a:srgbClr val="27496A"/>
                </a:solidFill>
              </a:defRPr>
            </a:lvl2pPr>
            <a:lvl3pPr lvl="2">
              <a:spcBef>
                <a:spcPts val="0"/>
              </a:spcBef>
              <a:spcAft>
                <a:spcPts val="0"/>
              </a:spcAft>
              <a:buClr>
                <a:srgbClr val="27496A"/>
              </a:buClr>
              <a:buSzPts val="2800"/>
              <a:buNone/>
              <a:defRPr>
                <a:solidFill>
                  <a:srgbClr val="27496A"/>
                </a:solidFill>
              </a:defRPr>
            </a:lvl3pPr>
            <a:lvl4pPr lvl="3">
              <a:spcBef>
                <a:spcPts val="0"/>
              </a:spcBef>
              <a:spcAft>
                <a:spcPts val="0"/>
              </a:spcAft>
              <a:buClr>
                <a:srgbClr val="27496A"/>
              </a:buClr>
              <a:buSzPts val="2800"/>
              <a:buNone/>
              <a:defRPr>
                <a:solidFill>
                  <a:srgbClr val="27496A"/>
                </a:solidFill>
              </a:defRPr>
            </a:lvl4pPr>
            <a:lvl5pPr lvl="4">
              <a:spcBef>
                <a:spcPts val="0"/>
              </a:spcBef>
              <a:spcAft>
                <a:spcPts val="0"/>
              </a:spcAft>
              <a:buClr>
                <a:srgbClr val="27496A"/>
              </a:buClr>
              <a:buSzPts val="2800"/>
              <a:buNone/>
              <a:defRPr>
                <a:solidFill>
                  <a:srgbClr val="27496A"/>
                </a:solidFill>
              </a:defRPr>
            </a:lvl5pPr>
            <a:lvl6pPr lvl="5">
              <a:spcBef>
                <a:spcPts val="0"/>
              </a:spcBef>
              <a:spcAft>
                <a:spcPts val="0"/>
              </a:spcAft>
              <a:buClr>
                <a:srgbClr val="27496A"/>
              </a:buClr>
              <a:buSzPts val="2800"/>
              <a:buNone/>
              <a:defRPr>
                <a:solidFill>
                  <a:srgbClr val="27496A"/>
                </a:solidFill>
              </a:defRPr>
            </a:lvl6pPr>
            <a:lvl7pPr lvl="6">
              <a:spcBef>
                <a:spcPts val="0"/>
              </a:spcBef>
              <a:spcAft>
                <a:spcPts val="0"/>
              </a:spcAft>
              <a:buClr>
                <a:srgbClr val="27496A"/>
              </a:buClr>
              <a:buSzPts val="2800"/>
              <a:buNone/>
              <a:defRPr>
                <a:solidFill>
                  <a:srgbClr val="27496A"/>
                </a:solidFill>
              </a:defRPr>
            </a:lvl7pPr>
            <a:lvl8pPr lvl="7">
              <a:spcBef>
                <a:spcPts val="0"/>
              </a:spcBef>
              <a:spcAft>
                <a:spcPts val="0"/>
              </a:spcAft>
              <a:buClr>
                <a:srgbClr val="27496A"/>
              </a:buClr>
              <a:buSzPts val="2800"/>
              <a:buNone/>
              <a:defRPr>
                <a:solidFill>
                  <a:srgbClr val="27496A"/>
                </a:solidFill>
              </a:defRPr>
            </a:lvl8pPr>
            <a:lvl9pPr lvl="8">
              <a:spcBef>
                <a:spcPts val="0"/>
              </a:spcBef>
              <a:spcAft>
                <a:spcPts val="0"/>
              </a:spcAft>
              <a:buClr>
                <a:srgbClr val="27496A"/>
              </a:buClr>
              <a:buSzPts val="2800"/>
              <a:buNone/>
              <a:defRPr>
                <a:solidFill>
                  <a:srgbClr val="27496A"/>
                </a:solidFill>
              </a:defRPr>
            </a:lvl9pPr>
          </a:lstStyle>
          <a:p>
            <a:endParaRPr/>
          </a:p>
        </p:txBody>
      </p:sp>
      <p:sp>
        <p:nvSpPr>
          <p:cNvPr id="182" name="Google Shape;182;p44"/>
          <p:cNvSpPr txBox="1">
            <a:spLocks noGrp="1"/>
          </p:cNvSpPr>
          <p:nvPr>
            <p:ph type="sldNum" idx="12"/>
          </p:nvPr>
        </p:nvSpPr>
        <p:spPr>
          <a:xfrm>
            <a:off x="8472458" y="4773017"/>
            <a:ext cx="548700" cy="393600"/>
          </a:xfrm>
          <a:prstGeom prst="rect">
            <a:avLst/>
          </a:prstGeom>
        </p:spPr>
        <p:txBody>
          <a:bodyPr spcFirstLastPara="1" wrap="square" lIns="91425" tIns="91425" rIns="91425" bIns="91425" anchor="ctr" anchorCtr="0">
            <a:noAutofit/>
          </a:bodyPr>
          <a:lstStyle>
            <a:lvl1pPr lvl="0" algn="r">
              <a:buNone/>
              <a:defRPr sz="1200" b="1">
                <a:solidFill>
                  <a:srgbClr val="735AF5"/>
                </a:solidFill>
                <a:latin typeface="Lato"/>
                <a:ea typeface="Lato"/>
                <a:cs typeface="Lato"/>
                <a:sym typeface="Lato"/>
              </a:defRPr>
            </a:lvl1pPr>
            <a:lvl2pPr lvl="1" algn="r">
              <a:buNone/>
              <a:defRPr sz="1200" b="1">
                <a:solidFill>
                  <a:srgbClr val="735AF5"/>
                </a:solidFill>
                <a:latin typeface="Lato"/>
                <a:ea typeface="Lato"/>
                <a:cs typeface="Lato"/>
                <a:sym typeface="Lato"/>
              </a:defRPr>
            </a:lvl2pPr>
            <a:lvl3pPr lvl="2" algn="r">
              <a:buNone/>
              <a:defRPr sz="1200" b="1">
                <a:solidFill>
                  <a:srgbClr val="735AF5"/>
                </a:solidFill>
                <a:latin typeface="Lato"/>
                <a:ea typeface="Lato"/>
                <a:cs typeface="Lato"/>
                <a:sym typeface="Lato"/>
              </a:defRPr>
            </a:lvl3pPr>
            <a:lvl4pPr lvl="3" algn="r">
              <a:buNone/>
              <a:defRPr sz="1200" b="1">
                <a:solidFill>
                  <a:srgbClr val="735AF5"/>
                </a:solidFill>
                <a:latin typeface="Lato"/>
                <a:ea typeface="Lato"/>
                <a:cs typeface="Lato"/>
                <a:sym typeface="Lato"/>
              </a:defRPr>
            </a:lvl4pPr>
            <a:lvl5pPr lvl="4" algn="r">
              <a:buNone/>
              <a:defRPr sz="1200" b="1">
                <a:solidFill>
                  <a:srgbClr val="735AF5"/>
                </a:solidFill>
                <a:latin typeface="Lato"/>
                <a:ea typeface="Lato"/>
                <a:cs typeface="Lato"/>
                <a:sym typeface="Lato"/>
              </a:defRPr>
            </a:lvl5pPr>
            <a:lvl6pPr lvl="5" algn="r">
              <a:buNone/>
              <a:defRPr sz="1200" b="1">
                <a:solidFill>
                  <a:srgbClr val="735AF5"/>
                </a:solidFill>
                <a:latin typeface="Lato"/>
                <a:ea typeface="Lato"/>
                <a:cs typeface="Lato"/>
                <a:sym typeface="Lato"/>
              </a:defRPr>
            </a:lvl6pPr>
            <a:lvl7pPr lvl="6" algn="r">
              <a:buNone/>
              <a:defRPr sz="1200" b="1">
                <a:solidFill>
                  <a:srgbClr val="735AF5"/>
                </a:solidFill>
                <a:latin typeface="Lato"/>
                <a:ea typeface="Lato"/>
                <a:cs typeface="Lato"/>
                <a:sym typeface="Lato"/>
              </a:defRPr>
            </a:lvl7pPr>
            <a:lvl8pPr lvl="7" algn="r">
              <a:buNone/>
              <a:defRPr sz="1200" b="1">
                <a:solidFill>
                  <a:srgbClr val="735AF5"/>
                </a:solidFill>
                <a:latin typeface="Lato"/>
                <a:ea typeface="Lato"/>
                <a:cs typeface="Lato"/>
                <a:sym typeface="Lato"/>
              </a:defRPr>
            </a:lvl8pPr>
            <a:lvl9pPr lvl="8" algn="r">
              <a:buNone/>
              <a:defRPr sz="1200" b="1">
                <a:solidFill>
                  <a:srgbClr val="735AF5"/>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1">
  <p:cSld name="TITLE_AND_BODY_23_1">
    <p:spTree>
      <p:nvGrpSpPr>
        <p:cNvPr id="1" name="Shape 192"/>
        <p:cNvGrpSpPr/>
        <p:nvPr/>
      </p:nvGrpSpPr>
      <p:grpSpPr>
        <a:xfrm>
          <a:off x="0" y="0"/>
          <a:ext cx="0" cy="0"/>
          <a:chOff x="0" y="0"/>
          <a:chExt cx="0" cy="0"/>
        </a:xfrm>
      </p:grpSpPr>
      <p:sp>
        <p:nvSpPr>
          <p:cNvPr id="193" name="Google Shape;193;p47"/>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b="1">
                <a:solidFill>
                  <a:srgbClr val="B7B7B7"/>
                </a:solidFill>
                <a:latin typeface="Comfortaa"/>
                <a:ea typeface="Comfortaa"/>
                <a:cs typeface="Comfortaa"/>
                <a:sym typeface="Comfortaa"/>
              </a:defRPr>
            </a:lvl1pPr>
            <a:lvl2pPr lvl="1" algn="r">
              <a:buNone/>
              <a:defRPr sz="1200" b="1">
                <a:solidFill>
                  <a:srgbClr val="B7B7B7"/>
                </a:solidFill>
                <a:latin typeface="Comfortaa"/>
                <a:ea typeface="Comfortaa"/>
                <a:cs typeface="Comfortaa"/>
                <a:sym typeface="Comfortaa"/>
              </a:defRPr>
            </a:lvl2pPr>
            <a:lvl3pPr lvl="2" algn="r">
              <a:buNone/>
              <a:defRPr sz="1200" b="1">
                <a:solidFill>
                  <a:srgbClr val="B7B7B7"/>
                </a:solidFill>
                <a:latin typeface="Comfortaa"/>
                <a:ea typeface="Comfortaa"/>
                <a:cs typeface="Comfortaa"/>
                <a:sym typeface="Comfortaa"/>
              </a:defRPr>
            </a:lvl3pPr>
            <a:lvl4pPr lvl="3" algn="r">
              <a:buNone/>
              <a:defRPr sz="1200" b="1">
                <a:solidFill>
                  <a:srgbClr val="B7B7B7"/>
                </a:solidFill>
                <a:latin typeface="Comfortaa"/>
                <a:ea typeface="Comfortaa"/>
                <a:cs typeface="Comfortaa"/>
                <a:sym typeface="Comfortaa"/>
              </a:defRPr>
            </a:lvl4pPr>
            <a:lvl5pPr lvl="4" algn="r">
              <a:buNone/>
              <a:defRPr sz="1200" b="1">
                <a:solidFill>
                  <a:srgbClr val="B7B7B7"/>
                </a:solidFill>
                <a:latin typeface="Comfortaa"/>
                <a:ea typeface="Comfortaa"/>
                <a:cs typeface="Comfortaa"/>
                <a:sym typeface="Comfortaa"/>
              </a:defRPr>
            </a:lvl5pPr>
            <a:lvl6pPr lvl="5" algn="r">
              <a:buNone/>
              <a:defRPr sz="1200" b="1">
                <a:solidFill>
                  <a:srgbClr val="B7B7B7"/>
                </a:solidFill>
                <a:latin typeface="Comfortaa"/>
                <a:ea typeface="Comfortaa"/>
                <a:cs typeface="Comfortaa"/>
                <a:sym typeface="Comfortaa"/>
              </a:defRPr>
            </a:lvl6pPr>
            <a:lvl7pPr lvl="6" algn="r">
              <a:buNone/>
              <a:defRPr sz="1200" b="1">
                <a:solidFill>
                  <a:srgbClr val="B7B7B7"/>
                </a:solidFill>
                <a:latin typeface="Comfortaa"/>
                <a:ea typeface="Comfortaa"/>
                <a:cs typeface="Comfortaa"/>
                <a:sym typeface="Comfortaa"/>
              </a:defRPr>
            </a:lvl7pPr>
            <a:lvl8pPr lvl="7" algn="r">
              <a:buNone/>
              <a:defRPr sz="1200" b="1">
                <a:solidFill>
                  <a:srgbClr val="B7B7B7"/>
                </a:solidFill>
                <a:latin typeface="Comfortaa"/>
                <a:ea typeface="Comfortaa"/>
                <a:cs typeface="Comfortaa"/>
                <a:sym typeface="Comfortaa"/>
              </a:defRPr>
            </a:lvl8pPr>
            <a:lvl9pPr lvl="8" algn="r">
              <a:buNone/>
              <a:defRPr sz="1200" b="1">
                <a:solidFill>
                  <a:srgbClr val="B7B7B7"/>
                </a:solidFill>
                <a:latin typeface="Comfortaa"/>
                <a:ea typeface="Comfortaa"/>
                <a:cs typeface="Comfortaa"/>
                <a:sym typeface="Comfortaa"/>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sz="80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sz="800"/>
          </a:p>
        </p:txBody>
      </p:sp>
    </p:spTree>
    <p:extLst>
      <p:ext uri="{BB962C8B-B14F-4D97-AF65-F5344CB8AC3E}">
        <p14:creationId xmlns:p14="http://schemas.microsoft.com/office/powerpoint/2010/main" val="25925359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3554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pn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a:off x="311700" y="186100"/>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400"/>
              <a:buFont typeface="Rubik"/>
              <a:buNone/>
              <a:defRPr sz="2400">
                <a:solidFill>
                  <a:schemeClr val="dk1"/>
                </a:solidFill>
                <a:latin typeface="Rubik"/>
                <a:ea typeface="Rubik"/>
                <a:cs typeface="Rubik"/>
                <a:sym typeface="Rubi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17" name="Google Shape;11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Inter"/>
              <a:buChar char="●"/>
              <a:defRPr sz="1800">
                <a:solidFill>
                  <a:schemeClr val="dk2"/>
                </a:solidFill>
                <a:latin typeface="Inter"/>
                <a:ea typeface="Inter"/>
                <a:cs typeface="Inter"/>
                <a:sym typeface="Inter"/>
              </a:defRPr>
            </a:lvl1pPr>
            <a:lvl2pPr marL="914400" lvl="1"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15000"/>
              </a:lnSpc>
              <a:spcBef>
                <a:spcPts val="1600"/>
              </a:spcBef>
              <a:spcAft>
                <a:spcPts val="1600"/>
              </a:spcAft>
              <a:buClr>
                <a:schemeClr val="dk2"/>
              </a:buClr>
              <a:buSzPts val="1400"/>
              <a:buFont typeface="Inter"/>
              <a:buChar char="■"/>
              <a:defRPr>
                <a:solidFill>
                  <a:schemeClr val="dk2"/>
                </a:solidFill>
                <a:latin typeface="Inter"/>
                <a:ea typeface="Inter"/>
                <a:cs typeface="Inter"/>
                <a:sym typeface="Inter"/>
              </a:defRPr>
            </a:lvl9pPr>
          </a:lstStyle>
          <a:p>
            <a:endParaRPr dirty="0"/>
          </a:p>
        </p:txBody>
      </p:sp>
      <p:sp>
        <p:nvSpPr>
          <p:cNvPr id="118" name="Google Shape;118;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sp>
        <p:nvSpPr>
          <p:cNvPr id="119" name="Google Shape;119;p28"/>
          <p:cNvSpPr/>
          <p:nvPr/>
        </p:nvSpPr>
        <p:spPr>
          <a:xfrm>
            <a:off x="-5094" y="4773850"/>
            <a:ext cx="9154200" cy="393600"/>
          </a:xfrm>
          <a:prstGeom prst="rect">
            <a:avLst/>
          </a:prstGeom>
          <a:solidFill>
            <a:srgbClr val="1210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120;p28"/>
          <p:cNvSpPr txBox="1">
            <a:spLocks noGrp="1"/>
          </p:cNvSpPr>
          <p:nvPr>
            <p:ph type="sldNum" idx="2"/>
          </p:nvPr>
        </p:nvSpPr>
        <p:spPr>
          <a:xfrm>
            <a:off x="8472450" y="4773850"/>
            <a:ext cx="548700" cy="393600"/>
          </a:xfrm>
          <a:prstGeom prst="rect">
            <a:avLst/>
          </a:prstGeom>
          <a:noFill/>
          <a:ln>
            <a:noFill/>
          </a:ln>
        </p:spPr>
        <p:txBody>
          <a:bodyPr spcFirstLastPara="1" wrap="square" lIns="91425" tIns="91425" rIns="91425" bIns="91425" anchor="ctr" anchorCtr="0">
            <a:noAutofit/>
          </a:bodyPr>
          <a:lstStyle>
            <a:lvl1pPr lvl="0" algn="r">
              <a:buNone/>
              <a:defRPr sz="1200">
                <a:solidFill>
                  <a:srgbClr val="FF6E42"/>
                </a:solidFill>
                <a:latin typeface="Inter Medium"/>
                <a:ea typeface="Inter Medium"/>
                <a:cs typeface="Inter Medium"/>
                <a:sym typeface="Inter Medium"/>
              </a:defRPr>
            </a:lvl1pPr>
            <a:lvl2pPr lvl="1" algn="r">
              <a:buNone/>
              <a:defRPr sz="1200">
                <a:solidFill>
                  <a:srgbClr val="FF6E42"/>
                </a:solidFill>
                <a:latin typeface="Inter Medium"/>
                <a:ea typeface="Inter Medium"/>
                <a:cs typeface="Inter Medium"/>
                <a:sym typeface="Inter Medium"/>
              </a:defRPr>
            </a:lvl2pPr>
            <a:lvl3pPr lvl="2" algn="r">
              <a:buNone/>
              <a:defRPr sz="1200">
                <a:solidFill>
                  <a:srgbClr val="FF6E42"/>
                </a:solidFill>
                <a:latin typeface="Inter Medium"/>
                <a:ea typeface="Inter Medium"/>
                <a:cs typeface="Inter Medium"/>
                <a:sym typeface="Inter Medium"/>
              </a:defRPr>
            </a:lvl3pPr>
            <a:lvl4pPr lvl="3" algn="r">
              <a:buNone/>
              <a:defRPr sz="1200">
                <a:solidFill>
                  <a:srgbClr val="FF6E42"/>
                </a:solidFill>
                <a:latin typeface="Inter Medium"/>
                <a:ea typeface="Inter Medium"/>
                <a:cs typeface="Inter Medium"/>
                <a:sym typeface="Inter Medium"/>
              </a:defRPr>
            </a:lvl4pPr>
            <a:lvl5pPr lvl="4" algn="r">
              <a:buNone/>
              <a:defRPr sz="1200">
                <a:solidFill>
                  <a:srgbClr val="FF6E42"/>
                </a:solidFill>
                <a:latin typeface="Inter Medium"/>
                <a:ea typeface="Inter Medium"/>
                <a:cs typeface="Inter Medium"/>
                <a:sym typeface="Inter Medium"/>
              </a:defRPr>
            </a:lvl5pPr>
            <a:lvl6pPr lvl="5" algn="r">
              <a:buNone/>
              <a:defRPr sz="1200">
                <a:solidFill>
                  <a:srgbClr val="FF6E42"/>
                </a:solidFill>
                <a:latin typeface="Inter Medium"/>
                <a:ea typeface="Inter Medium"/>
                <a:cs typeface="Inter Medium"/>
                <a:sym typeface="Inter Medium"/>
              </a:defRPr>
            </a:lvl6pPr>
            <a:lvl7pPr lvl="6" algn="r">
              <a:buNone/>
              <a:defRPr sz="1200">
                <a:solidFill>
                  <a:srgbClr val="FF6E42"/>
                </a:solidFill>
                <a:latin typeface="Inter Medium"/>
                <a:ea typeface="Inter Medium"/>
                <a:cs typeface="Inter Medium"/>
                <a:sym typeface="Inter Medium"/>
              </a:defRPr>
            </a:lvl7pPr>
            <a:lvl8pPr lvl="7" algn="r">
              <a:buNone/>
              <a:defRPr sz="1200">
                <a:solidFill>
                  <a:srgbClr val="FF6E42"/>
                </a:solidFill>
                <a:latin typeface="Inter Medium"/>
                <a:ea typeface="Inter Medium"/>
                <a:cs typeface="Inter Medium"/>
                <a:sym typeface="Inter Medium"/>
              </a:defRPr>
            </a:lvl8pPr>
            <a:lvl9pPr lvl="8" algn="r">
              <a:buNone/>
              <a:defRPr sz="1200">
                <a:solidFill>
                  <a:srgbClr val="FF6E42"/>
                </a:solidFill>
                <a:latin typeface="Inter Medium"/>
                <a:ea typeface="Inter Medium"/>
                <a:cs typeface="Inter Medium"/>
                <a:sym typeface="Inter Medium"/>
              </a:defRPr>
            </a:lvl9pPr>
          </a:lstStyle>
          <a:p>
            <a:pPr marL="0" lvl="0" indent="0" algn="r" rtl="0">
              <a:spcBef>
                <a:spcPts val="0"/>
              </a:spcBef>
              <a:spcAft>
                <a:spcPts val="0"/>
              </a:spcAft>
              <a:buNone/>
            </a:pPr>
            <a:fld id="{00000000-1234-1234-1234-123412341234}" type="slidenum">
              <a:rPr lang="en"/>
              <a:t>‹#›</a:t>
            </a:fld>
            <a:endParaRPr dirty="0"/>
          </a:p>
        </p:txBody>
      </p:sp>
      <p:sp>
        <p:nvSpPr>
          <p:cNvPr id="121" name="Google Shape;121;p28"/>
          <p:cNvSpPr txBox="1"/>
          <p:nvPr/>
        </p:nvSpPr>
        <p:spPr>
          <a:xfrm>
            <a:off x="6923600" y="4775650"/>
            <a:ext cx="1899900" cy="3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dirty="0">
                <a:solidFill>
                  <a:schemeClr val="lt1"/>
                </a:solidFill>
                <a:latin typeface="Inter Medium"/>
                <a:ea typeface="Inter Medium"/>
                <a:cs typeface="Inter Medium"/>
                <a:sym typeface="Inter Medium"/>
              </a:rPr>
              <a:t>© 2026 All Rights Reserved</a:t>
            </a:r>
            <a:endParaRPr sz="800" dirty="0">
              <a:solidFill>
                <a:schemeClr val="lt1"/>
              </a:solidFill>
              <a:latin typeface="Inter Medium"/>
              <a:ea typeface="Inter Medium"/>
              <a:cs typeface="Inter Medium"/>
              <a:sym typeface="Inter Medium"/>
            </a:endParaRPr>
          </a:p>
        </p:txBody>
      </p:sp>
      <p:pic>
        <p:nvPicPr>
          <p:cNvPr id="122" name="Google Shape;122;p28"/>
          <p:cNvPicPr preferRelativeResize="0"/>
          <p:nvPr/>
        </p:nvPicPr>
        <p:blipFill>
          <a:blip r:embed="rId16">
            <a:alphaModFix/>
          </a:blip>
          <a:stretch>
            <a:fillRect/>
          </a:stretch>
        </p:blipFill>
        <p:spPr>
          <a:xfrm>
            <a:off x="248800" y="4751713"/>
            <a:ext cx="875750" cy="437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4" r:id="rId1"/>
    <p:sldLayoutId id="2147483676" r:id="rId2"/>
    <p:sldLayoutId id="2147483677" r:id="rId3"/>
    <p:sldLayoutId id="2147483678" r:id="rId4"/>
    <p:sldLayoutId id="2147483679" r:id="rId5"/>
    <p:sldLayoutId id="2147483680" r:id="rId6"/>
    <p:sldLayoutId id="2147483681" r:id="rId7"/>
    <p:sldLayoutId id="2147483682" r:id="rId8"/>
    <p:sldLayoutId id="2147483684" r:id="rId9"/>
    <p:sldLayoutId id="2147483686" r:id="rId10"/>
    <p:sldLayoutId id="2147483688" r:id="rId11"/>
    <p:sldLayoutId id="2147483691" r:id="rId12"/>
    <p:sldLayoutId id="2147483702" r:id="rId13"/>
    <p:sldLayoutId id="214748370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mailto:dan.farrell@yugabyte.com"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4.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4.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34.xml"/><Relationship Id="rId5" Type="http://schemas.openxmlformats.org/officeDocument/2006/relationships/image" Target="../media/image4.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34.xml"/><Relationship Id="rId5" Type="http://schemas.openxmlformats.org/officeDocument/2006/relationships/image" Target="../media/image25.png"/><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4.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3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0.xml"/><Relationship Id="rId1" Type="http://schemas.openxmlformats.org/officeDocument/2006/relationships/slideLayout" Target="../slideLayouts/slideLayout3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4.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3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4.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3.xml"/><Relationship Id="rId1" Type="http://schemas.openxmlformats.org/officeDocument/2006/relationships/slideLayout" Target="../slideLayouts/slideLayout3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4.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38.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38.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3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4.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38.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4.xml"/></Relationships>
</file>

<file path=ppt/slides/_rels/slide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9.xml"/><Relationship Id="rId1" Type="http://schemas.openxmlformats.org/officeDocument/2006/relationships/slideLayout" Target="../slideLayouts/slideLayout34.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3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4.xml"/></Relationships>
</file>

<file path=ppt/slides/_rels/slide9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2.xml"/><Relationship Id="rId1" Type="http://schemas.openxmlformats.org/officeDocument/2006/relationships/slideLayout" Target="../slideLayouts/slideLayout3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4.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38.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38.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38.xml"/></Relationships>
</file>

<file path=ppt/slides/_rels/slide10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2.xml"/><Relationship Id="rId1" Type="http://schemas.openxmlformats.org/officeDocument/2006/relationships/slideLayout" Target="../slideLayouts/slideLayout34.xml"/></Relationships>
</file>

<file path=ppt/slides/_rels/slide10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3.xml"/><Relationship Id="rId1" Type="http://schemas.openxmlformats.org/officeDocument/2006/relationships/slideLayout" Target="../slideLayouts/slideLayout34.xml"/><Relationship Id="rId4" Type="http://schemas.openxmlformats.org/officeDocument/2006/relationships/image" Target="../media/image28.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4.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3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4.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2.xml"/><Relationship Id="rId1" Type="http://schemas.openxmlformats.org/officeDocument/2006/relationships/slideLayout" Target="../slideLayouts/slideLayout38.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38.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38.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4.xml"/></Relationships>
</file>

<file path=ppt/slides/_rels/slide1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9.xml"/><Relationship Id="rId1" Type="http://schemas.openxmlformats.org/officeDocument/2006/relationships/slideLayout" Target="../slideLayouts/slideLayout34.xml"/></Relationships>
</file>

<file path=ppt/slides/_rels/slide1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0.xml"/><Relationship Id="rId1" Type="http://schemas.openxmlformats.org/officeDocument/2006/relationships/slideLayout" Target="../slideLayouts/slideLayout3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3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4.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3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4.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34.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3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34.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34.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3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34.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3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34.xml"/></Relationships>
</file>

<file path=ppt/slides/_rels/slide1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6.xml"/><Relationship Id="rId1" Type="http://schemas.openxmlformats.org/officeDocument/2006/relationships/slideLayout" Target="../slideLayouts/slideLayout34.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7.xml"/><Relationship Id="rId1" Type="http://schemas.openxmlformats.org/officeDocument/2006/relationships/slideLayout" Target="../slideLayouts/slideLayout38.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34.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34.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34.xml"/></Relationships>
</file>

<file path=ppt/slides/_rels/slide1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1.xml"/><Relationship Id="rId1" Type="http://schemas.openxmlformats.org/officeDocument/2006/relationships/slideLayout" Target="../slideLayouts/slideLayout3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4.xml"/></Relationships>
</file>

<file path=ppt/slides/_rels/slide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3.xml"/><Relationship Id="rId1" Type="http://schemas.openxmlformats.org/officeDocument/2006/relationships/slideLayout" Target="../slideLayouts/slideLayout38.xml"/></Relationships>
</file>

<file path=ppt/slides/_rels/slide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4.xml"/><Relationship Id="rId1" Type="http://schemas.openxmlformats.org/officeDocument/2006/relationships/slideLayout" Target="../slideLayouts/slideLayout38.xml"/></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5.xml"/><Relationship Id="rId1" Type="http://schemas.openxmlformats.org/officeDocument/2006/relationships/slideLayout" Target="../slideLayouts/slideLayout38.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34.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34.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34.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34.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34.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3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34.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34.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34.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34.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34.xml"/></Relationships>
</file>

<file path=ppt/slides/_rels/slide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7.xml"/><Relationship Id="rId1" Type="http://schemas.openxmlformats.org/officeDocument/2006/relationships/slideLayout" Target="../slideLayouts/slideLayout38.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34.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34.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34.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34.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34.xml"/></Relationships>
</file>

<file path=ppt/slides/_rels/slide1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3.xml"/><Relationship Id="rId1" Type="http://schemas.openxmlformats.org/officeDocument/2006/relationships/slideLayout" Target="../slideLayouts/slideLayout34.xml"/><Relationship Id="rId6" Type="http://schemas.openxmlformats.org/officeDocument/2006/relationships/image" Target="../media/image32.png"/><Relationship Id="rId5" Type="http://schemas.openxmlformats.org/officeDocument/2006/relationships/image" Target="../media/image5.png"/><Relationship Id="rId4" Type="http://schemas.openxmlformats.org/officeDocument/2006/relationships/image" Target="../media/image31.png"/></Relationships>
</file>

<file path=ppt/slides/_rels/slide1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4.xml"/><Relationship Id="rId1" Type="http://schemas.openxmlformats.org/officeDocument/2006/relationships/slideLayout" Target="../slideLayouts/slideLayout34.xml"/></Relationships>
</file>

<file path=ppt/slides/_rels/slide1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5.xml"/><Relationship Id="rId1" Type="http://schemas.openxmlformats.org/officeDocument/2006/relationships/slideLayout" Target="../slideLayouts/slideLayout34.xml"/><Relationship Id="rId4" Type="http://schemas.openxmlformats.org/officeDocument/2006/relationships/image" Target="../media/image5.png"/></Relationships>
</file>

<file path=ppt/slides/_rels/slide1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6.xml"/><Relationship Id="rId1" Type="http://schemas.openxmlformats.org/officeDocument/2006/relationships/slideLayout" Target="../slideLayouts/slideLayout34.xml"/><Relationship Id="rId4" Type="http://schemas.openxmlformats.org/officeDocument/2006/relationships/image" Target="../media/image33.png"/></Relationships>
</file>

<file path=ppt/slides/_rels/slide1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7.xml"/><Relationship Id="rId1" Type="http://schemas.openxmlformats.org/officeDocument/2006/relationships/slideLayout" Target="../slideLayouts/slideLayout34.xml"/></Relationships>
</file>

<file path=ppt/slides/_rels/slide16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8.xml"/><Relationship Id="rId1" Type="http://schemas.openxmlformats.org/officeDocument/2006/relationships/slideLayout" Target="../slideLayouts/slideLayout34.xml"/></Relationships>
</file>

<file path=ppt/slides/_rels/slide16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9.xml"/><Relationship Id="rId1" Type="http://schemas.openxmlformats.org/officeDocument/2006/relationships/slideLayout" Target="../slideLayouts/slideLayout34.xml"/><Relationship Id="rId4" Type="http://schemas.openxmlformats.org/officeDocument/2006/relationships/image" Target="../media/image37.png"/></Relationships>
</file>

<file path=ppt/slides/_rels/slide17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0.xml"/><Relationship Id="rId1" Type="http://schemas.openxmlformats.org/officeDocument/2006/relationships/slideLayout" Target="../slideLayouts/slideLayout34.xml"/></Relationships>
</file>

<file path=ppt/slides/_rels/slide17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1.xml"/><Relationship Id="rId1" Type="http://schemas.openxmlformats.org/officeDocument/2006/relationships/slideLayout" Target="../slideLayouts/slideLayout34.xml"/><Relationship Id="rId4" Type="http://schemas.openxmlformats.org/officeDocument/2006/relationships/image" Target="../media/image37.png"/></Relationships>
</file>

<file path=ppt/slides/_rels/slide1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2.xml"/><Relationship Id="rId1" Type="http://schemas.openxmlformats.org/officeDocument/2006/relationships/slideLayout" Target="../slideLayouts/slideLayout34.xml"/></Relationships>
</file>

<file path=ppt/slides/_rels/slide17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3.xml"/><Relationship Id="rId1" Type="http://schemas.openxmlformats.org/officeDocument/2006/relationships/slideLayout" Target="../slideLayouts/slideLayout34.xml"/></Relationships>
</file>

<file path=ppt/slides/_rels/slide1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4.xml"/><Relationship Id="rId1" Type="http://schemas.openxmlformats.org/officeDocument/2006/relationships/slideLayout" Target="../slideLayouts/slideLayout38.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34.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34.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34.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34.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34.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34.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34.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34.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34.xml"/></Relationships>
</file>

<file path=ppt/slides/_rels/slide1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4.xml"/><Relationship Id="rId1" Type="http://schemas.openxmlformats.org/officeDocument/2006/relationships/slideLayout" Target="../slideLayouts/slideLayout38.xml"/></Relationships>
</file>

<file path=ppt/slides/_rels/slide1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5.xml"/><Relationship Id="rId1" Type="http://schemas.openxmlformats.org/officeDocument/2006/relationships/slideLayout" Target="../slideLayouts/slideLayout38.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34.xml"/></Relationships>
</file>

<file path=ppt/slides/_rels/slide1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7.xml"/><Relationship Id="rId1" Type="http://schemas.openxmlformats.org/officeDocument/2006/relationships/slideLayout" Target="../slideLayouts/slideLayout34.xml"/></Relationships>
</file>

<file path=ppt/slides/_rels/slide1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8.xml"/><Relationship Id="rId1" Type="http://schemas.openxmlformats.org/officeDocument/2006/relationships/slideLayout" Target="../slideLayouts/slideLayout34.xml"/><Relationship Id="rId4" Type="http://schemas.openxmlformats.org/officeDocument/2006/relationships/image" Target="../media/image37.png"/></Relationships>
</file>

<file path=ppt/slides/_rels/slide189.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emf"/><Relationship Id="rId2" Type="http://schemas.openxmlformats.org/officeDocument/2006/relationships/notesSlide" Target="../notesSlides/notesSlide189.xml"/><Relationship Id="rId1" Type="http://schemas.openxmlformats.org/officeDocument/2006/relationships/slideLayout" Target="../slideLayouts/slideLayout34.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34.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34.xml"/></Relationships>
</file>

<file path=ppt/slides/_rels/slide19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2.xml"/><Relationship Id="rId1" Type="http://schemas.openxmlformats.org/officeDocument/2006/relationships/slideLayout" Target="../slideLayouts/slideLayout34.xml"/><Relationship Id="rId4" Type="http://schemas.openxmlformats.org/officeDocument/2006/relationships/image" Target="../media/image48.png"/></Relationships>
</file>

<file path=ppt/slides/_rels/slide19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3.xml"/><Relationship Id="rId1" Type="http://schemas.openxmlformats.org/officeDocument/2006/relationships/slideLayout" Target="../slideLayouts/slideLayout34.xml"/><Relationship Id="rId4" Type="http://schemas.openxmlformats.org/officeDocument/2006/relationships/image" Target="../media/image50.png"/></Relationships>
</file>

<file path=ppt/slides/_rels/slide1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4.xml"/><Relationship Id="rId1" Type="http://schemas.openxmlformats.org/officeDocument/2006/relationships/slideLayout" Target="../slideLayouts/slideLayout34.xml"/><Relationship Id="rId4" Type="http://schemas.openxmlformats.org/officeDocument/2006/relationships/image" Target="../media/image51.png"/></Relationships>
</file>

<file path=ppt/slides/_rels/slide19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5.xml"/><Relationship Id="rId1" Type="http://schemas.openxmlformats.org/officeDocument/2006/relationships/slideLayout" Target="../slideLayouts/slideLayout34.xml"/></Relationships>
</file>

<file path=ppt/slides/_rels/slide19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6.xml"/><Relationship Id="rId1" Type="http://schemas.openxmlformats.org/officeDocument/2006/relationships/slideLayout" Target="../slideLayouts/slideLayout34.xml"/></Relationships>
</file>

<file path=ppt/slides/_rels/slide19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7.xml"/><Relationship Id="rId1" Type="http://schemas.openxmlformats.org/officeDocument/2006/relationships/slideLayout" Target="../slideLayouts/slideLayout34.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34.xml"/></Relationships>
</file>

<file path=ppt/slides/_rels/slide1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9.xml"/><Relationship Id="rId1" Type="http://schemas.openxmlformats.org/officeDocument/2006/relationships/slideLayout" Target="../slideLayouts/slideLayout38.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34.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34.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34.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34.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34.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34.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34.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34.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34.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34.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34.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34.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34.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34.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34.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34.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34.xml"/></Relationships>
</file>

<file path=ppt/slides/_rels/slide2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7.xml"/><Relationship Id="rId1" Type="http://schemas.openxmlformats.org/officeDocument/2006/relationships/slideLayout" Target="../slideLayouts/slideLayout34.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34.xml"/></Relationships>
</file>

<file path=ppt/slides/_rels/slide2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9.xml"/><Relationship Id="rId1" Type="http://schemas.openxmlformats.org/officeDocument/2006/relationships/slideLayout" Target="../slideLayouts/slideLayout34.xml"/></Relationships>
</file>

<file path=ppt/slides/_rels/slide2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0.xml"/><Relationship Id="rId1" Type="http://schemas.openxmlformats.org/officeDocument/2006/relationships/slideLayout" Target="../slideLayouts/slideLayout38.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34.xml"/></Relationships>
</file>

<file path=ppt/slides/_rels/slide2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2.xml"/><Relationship Id="rId1" Type="http://schemas.openxmlformats.org/officeDocument/2006/relationships/slideLayout" Target="../slideLayouts/slideLayout35.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34.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34.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34.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34.xml"/></Relationships>
</file>

<file path=ppt/slides/_rels/slide2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7.xml"/><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34.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34.xml"/></Relationships>
</file>

<file path=ppt/slides/_rels/slide2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0.xml"/><Relationship Id="rId1" Type="http://schemas.openxmlformats.org/officeDocument/2006/relationships/slideLayout" Target="../slideLayouts/slideLayout34.xml"/></Relationships>
</file>

<file path=ppt/slides/_rels/slide2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1.xml"/><Relationship Id="rId1" Type="http://schemas.openxmlformats.org/officeDocument/2006/relationships/slideLayout" Target="../slideLayouts/slideLayout34.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39.xml"/></Relationships>
</file>

<file path=ppt/slides/_rels/slide2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33.xml"/><Relationship Id="rId1" Type="http://schemas.openxmlformats.org/officeDocument/2006/relationships/slideLayout" Target="../slideLayouts/slideLayout39.xml"/><Relationship Id="rId4" Type="http://schemas.openxmlformats.org/officeDocument/2006/relationships/image" Target="../media/image59.wmf"/></Relationships>
</file>

<file path=ppt/slides/_rels/slide2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4.xml"/><Relationship Id="rId1" Type="http://schemas.openxmlformats.org/officeDocument/2006/relationships/slideLayout" Target="../slideLayouts/slideLayout34.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34.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34.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55"/>
          <p:cNvSpPr/>
          <p:nvPr/>
        </p:nvSpPr>
        <p:spPr>
          <a:xfrm>
            <a:off x="-25" y="0"/>
            <a:ext cx="9144000" cy="5175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Inter"/>
                <a:ea typeface="Inter"/>
                <a:cs typeface="Inter"/>
                <a:sym typeface="Inter"/>
              </a:rPr>
              <a:t>   </a:t>
            </a:r>
            <a:endParaRPr dirty="0">
              <a:solidFill>
                <a:schemeClr val="dk1"/>
              </a:solidFill>
              <a:latin typeface="Inter"/>
              <a:ea typeface="Inter"/>
              <a:cs typeface="Inter"/>
              <a:sym typeface="Inter"/>
            </a:endParaRPr>
          </a:p>
        </p:txBody>
      </p:sp>
      <p:sp>
        <p:nvSpPr>
          <p:cNvPr id="233" name="Google Shape;233;p55"/>
          <p:cNvSpPr txBox="1"/>
          <p:nvPr/>
        </p:nvSpPr>
        <p:spPr>
          <a:xfrm>
            <a:off x="260239" y="613012"/>
            <a:ext cx="4540361" cy="2214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2800" dirty="0">
                <a:solidFill>
                  <a:schemeClr val="lt1"/>
                </a:solidFill>
                <a:latin typeface="Rubik"/>
                <a:ea typeface="Rubik"/>
                <a:cs typeface="Rubik"/>
                <a:sym typeface="Rubik"/>
              </a:rPr>
              <a:t>yugabyteDB query plan management (qpm)</a:t>
            </a:r>
            <a:endParaRPr sz="2800" dirty="0">
              <a:solidFill>
                <a:schemeClr val="lt1"/>
              </a:solidFill>
              <a:latin typeface="Rubik"/>
              <a:ea typeface="Rubik"/>
              <a:cs typeface="Rubik"/>
              <a:sym typeface="Rubik"/>
            </a:endParaRPr>
          </a:p>
          <a:p>
            <a:pPr marL="0" lvl="0" indent="0" algn="l" rtl="0">
              <a:lnSpc>
                <a:spcPct val="100000"/>
              </a:lnSpc>
              <a:spcBef>
                <a:spcPts val="0"/>
              </a:spcBef>
              <a:spcAft>
                <a:spcPts val="0"/>
              </a:spcAft>
              <a:buNone/>
            </a:pPr>
            <a:endParaRPr sz="2800" dirty="0">
              <a:solidFill>
                <a:schemeClr val="lt1"/>
              </a:solidFill>
              <a:latin typeface="Rubik"/>
              <a:ea typeface="Rubik"/>
              <a:cs typeface="Rubik"/>
              <a:sym typeface="Rubik"/>
            </a:endParaRPr>
          </a:p>
        </p:txBody>
      </p:sp>
      <p:pic>
        <p:nvPicPr>
          <p:cNvPr id="234" name="Google Shape;234;p55"/>
          <p:cNvPicPr preferRelativeResize="0"/>
          <p:nvPr/>
        </p:nvPicPr>
        <p:blipFill>
          <a:blip r:embed="rId3">
            <a:alphaModFix/>
          </a:blip>
          <a:stretch>
            <a:fillRect/>
          </a:stretch>
        </p:blipFill>
        <p:spPr>
          <a:xfrm>
            <a:off x="381000" y="4306251"/>
            <a:ext cx="1547225" cy="773625"/>
          </a:xfrm>
          <a:prstGeom prst="rect">
            <a:avLst/>
          </a:prstGeom>
          <a:noFill/>
          <a:ln>
            <a:noFill/>
          </a:ln>
        </p:spPr>
      </p:pic>
      <p:pic>
        <p:nvPicPr>
          <p:cNvPr id="235" name="Google Shape;235;p55"/>
          <p:cNvPicPr preferRelativeResize="0"/>
          <p:nvPr/>
        </p:nvPicPr>
        <p:blipFill rotWithShape="1">
          <a:blip r:embed="rId4">
            <a:alphaModFix/>
          </a:blip>
          <a:srcRect l="-9169" r="25585"/>
          <a:stretch/>
        </p:blipFill>
        <p:spPr>
          <a:xfrm>
            <a:off x="4388627" y="0"/>
            <a:ext cx="4755300" cy="5175600"/>
          </a:xfrm>
          <a:prstGeom prst="rect">
            <a:avLst/>
          </a:prstGeom>
          <a:noFill/>
          <a:ln>
            <a:noFill/>
          </a:ln>
        </p:spPr>
      </p:pic>
      <p:sp>
        <p:nvSpPr>
          <p:cNvPr id="2" name="Google Shape;233;p55">
            <a:extLst>
              <a:ext uri="{FF2B5EF4-FFF2-40B4-BE49-F238E27FC236}">
                <a16:creationId xmlns:a16="http://schemas.microsoft.com/office/drawing/2014/main" id="{9B63FAD4-0860-5233-B4B3-7A2072687D53}"/>
              </a:ext>
            </a:extLst>
          </p:cNvPr>
          <p:cNvSpPr txBox="1"/>
          <p:nvPr/>
        </p:nvSpPr>
        <p:spPr>
          <a:xfrm>
            <a:off x="314668" y="3370624"/>
            <a:ext cx="5929378" cy="93562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800" dirty="0">
                <a:solidFill>
                  <a:srgbClr val="FF5F3B"/>
                </a:solidFill>
                <a:latin typeface="Rubik"/>
                <a:ea typeface="Rubik"/>
                <a:cs typeface="Rubik"/>
                <a:sym typeface="Rubik"/>
                <a:hlinkClick r:id="rId5">
                  <a:extLst>
                    <a:ext uri="{A12FA001-AC4F-418D-AE19-62706E023703}">
                      <ahyp:hlinkClr xmlns:ahyp="http://schemas.microsoft.com/office/drawing/2018/hyperlinkcolor" val="tx"/>
                    </a:ext>
                  </a:extLst>
                </a:hlinkClick>
              </a:rPr>
              <a:t>sales.person@yugabyte.com</a:t>
            </a:r>
          </a:p>
          <a:p>
            <a:pPr marL="0" lvl="0" indent="0" algn="l" rtl="0">
              <a:lnSpc>
                <a:spcPct val="100000"/>
              </a:lnSpc>
              <a:spcBef>
                <a:spcPts val="0"/>
              </a:spcBef>
              <a:spcAft>
                <a:spcPts val="0"/>
              </a:spcAft>
              <a:buNone/>
            </a:pPr>
            <a:r>
              <a:rPr lang="en-US" sz="1800" dirty="0">
                <a:solidFill>
                  <a:srgbClr val="FF5F3B"/>
                </a:solidFill>
                <a:latin typeface="Rubik"/>
                <a:ea typeface="Rubik"/>
                <a:cs typeface="Rubik"/>
                <a:sym typeface="Rubik"/>
                <a:hlinkClick r:id="rId5">
                  <a:extLst>
                    <a:ext uri="{A12FA001-AC4F-418D-AE19-62706E023703}">
                      <ahyp:hlinkClr xmlns:ahyp="http://schemas.microsoft.com/office/drawing/2018/hyperlinkcolor" val="tx"/>
                    </a:ext>
                  </a:extLst>
                </a:hlinkClick>
              </a:rPr>
              <a:t>dan.farrell@yugabyte.com</a:t>
            </a:r>
            <a:endParaRPr lang="en-US" sz="1800" dirty="0">
              <a:solidFill>
                <a:srgbClr val="FF5F3B"/>
              </a:solidFill>
              <a:latin typeface="Rubik"/>
              <a:ea typeface="Rubik"/>
              <a:cs typeface="Rubik"/>
              <a:sym typeface="Rubik"/>
            </a:endParaRPr>
          </a:p>
          <a:p>
            <a:pPr marL="0" lvl="0" indent="0" algn="l" rtl="0">
              <a:lnSpc>
                <a:spcPct val="100000"/>
              </a:lnSpc>
              <a:spcBef>
                <a:spcPts val="0"/>
              </a:spcBef>
              <a:spcAft>
                <a:spcPts val="0"/>
              </a:spcAft>
              <a:buNone/>
            </a:pPr>
            <a:r>
              <a:rPr lang="en-US" sz="800" dirty="0">
                <a:solidFill>
                  <a:srgbClr val="FF5F3B"/>
                </a:solidFill>
                <a:latin typeface="Rubik"/>
                <a:ea typeface="Rubik"/>
                <a:cs typeface="Rubik"/>
                <a:sym typeface="Rubik"/>
              </a:rPr>
              <a:t>   version 0.03</a:t>
            </a:r>
            <a:r>
              <a:rPr lang="en-US" sz="1800" dirty="0">
                <a:solidFill>
                  <a:srgbClr val="FF5F3B"/>
                </a:solidFill>
                <a:latin typeface="Rubik"/>
                <a:ea typeface="Rubik"/>
                <a:cs typeface="Rubik"/>
                <a:sym typeface="Rubik"/>
              </a:rPr>
              <a:t> </a:t>
            </a:r>
            <a:endParaRPr sz="1800" dirty="0">
              <a:solidFill>
                <a:srgbClr val="FF5F3B"/>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BC7A6AC-B096-8102-15D3-7991076D460F}"/>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3296C798-A403-7FA6-D2FA-3D51B593ED72}"/>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5922E9FE-C717-FAD9-9D73-769F074F5711}"/>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Objectives for today; query plan mgmt</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28B49EBA-F77B-5D40-0602-6C43BE9A78BF}"/>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45B252F8-BA65-296F-70CA-133BF59D186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8EAB520-FBB0-96F6-AC09-B21E40B3836C}"/>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2" name="Google Shape;248;p56">
            <a:extLst>
              <a:ext uri="{FF2B5EF4-FFF2-40B4-BE49-F238E27FC236}">
                <a16:creationId xmlns:a16="http://schemas.microsoft.com/office/drawing/2014/main" id="{D20BE8CD-6369-59E9-98E6-DC9617FC2CC1}"/>
              </a:ext>
            </a:extLst>
          </p:cNvPr>
          <p:cNvSpPr txBox="1"/>
          <p:nvPr/>
        </p:nvSpPr>
        <p:spPr>
          <a:xfrm>
            <a:off x="3737857" y="268552"/>
            <a:ext cx="4810720" cy="821733"/>
          </a:xfrm>
          <a:prstGeom prst="rect">
            <a:avLst/>
          </a:prstGeom>
          <a:noFill/>
          <a:ln>
            <a:noFill/>
          </a:ln>
        </p:spPr>
        <p:txBody>
          <a:bodyPr spcFirstLastPara="1" wrap="square" lIns="91425" tIns="91425" rIns="91425" bIns="91425" anchor="t" anchorCtr="0">
            <a:spAutoFit/>
          </a:bodyPr>
          <a:lstStyle/>
          <a:p>
            <a:pPr marL="228600" lvl="0" indent="-228600">
              <a:lnSpc>
                <a:spcPct val="115000"/>
              </a:lnSpc>
              <a:buFont typeface="Arial" panose="020B0604020202020204" pitchFamily="34" charset="0"/>
              <a:buChar char="•"/>
              <a:defRPr/>
            </a:pPr>
            <a:r>
              <a:rPr lang="en-US" sz="1200" dirty="0"/>
              <a:t>the dark arts, secret sauce, voodoo magic of relational databases</a:t>
            </a:r>
          </a:p>
          <a:p>
            <a:pPr marL="228600" lvl="0" indent="-228600">
              <a:lnSpc>
                <a:spcPct val="115000"/>
              </a:lnSpc>
              <a:buFont typeface="Arial" panose="020B0604020202020204" pitchFamily="34" charset="0"/>
              <a:buChar char="•"/>
              <a:defRPr/>
            </a:pPr>
            <a:r>
              <a:rPr lang="en-US" sz="1200" dirty="0">
                <a:latin typeface="Lato"/>
                <a:ea typeface="Lato"/>
                <a:cs typeface="Lato"/>
                <a:sym typeface="Lato"/>
              </a:rPr>
              <a:t>regularly move queries from 5 minutes to sub-second</a:t>
            </a:r>
          </a:p>
          <a:p>
            <a:pPr marL="228600" lvl="0" indent="-228600">
              <a:lnSpc>
                <a:spcPct val="115000"/>
              </a:lnSpc>
              <a:buFont typeface="Arial" panose="020B0604020202020204" pitchFamily="34" charset="0"/>
              <a:buChar char="•"/>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big (and distributed) systems  ..  </a:t>
            </a:r>
            <a:r>
              <a:rPr lang="en-US" sz="1200" dirty="0">
                <a:latin typeface="Lato"/>
                <a:ea typeface="Lato"/>
                <a:cs typeface="Lato"/>
                <a:sym typeface="Lato"/>
              </a:rPr>
              <a:t>issues </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get hidden</a:t>
            </a:r>
          </a:p>
        </p:txBody>
      </p:sp>
      <p:sp>
        <p:nvSpPr>
          <p:cNvPr id="6" name="Google Shape;248;p56">
            <a:extLst>
              <a:ext uri="{FF2B5EF4-FFF2-40B4-BE49-F238E27FC236}">
                <a16:creationId xmlns:a16="http://schemas.microsoft.com/office/drawing/2014/main" id="{CB0AA0D4-95D8-9919-BC97-6051C23BF193}"/>
              </a:ext>
            </a:extLst>
          </p:cNvPr>
          <p:cNvSpPr txBox="1"/>
          <p:nvPr/>
        </p:nvSpPr>
        <p:spPr>
          <a:xfrm>
            <a:off x="2570497" y="334045"/>
            <a:ext cx="979815" cy="432396"/>
          </a:xfrm>
          <a:prstGeom prst="rect">
            <a:avLst/>
          </a:prstGeom>
          <a:noFill/>
          <a:ln>
            <a:noFill/>
          </a:ln>
        </p:spPr>
        <p:txBody>
          <a:bodyPr spcFirstLastPara="1" wrap="square" lIns="91425" tIns="91425" rIns="91425" bIns="91425" anchor="t" anchorCtr="0">
            <a:spAutoFit/>
          </a:bodyPr>
          <a:lstStyle/>
          <a:p>
            <a:pPr lvl="0" algn="r">
              <a:lnSpc>
                <a:spcPct val="115000"/>
              </a:lnSpc>
              <a:defRPr/>
            </a:pPr>
            <a:r>
              <a:rPr lang="en-US" dirty="0"/>
              <a:t>why:</a:t>
            </a:r>
            <a:endParaRPr kumimoji="0" lang="en-US"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BF1C6CAC-59D7-19A0-9E32-D73C15F432DB}"/>
              </a:ext>
            </a:extLst>
          </p:cNvPr>
          <p:cNvSpPr txBox="1"/>
          <p:nvPr/>
        </p:nvSpPr>
        <p:spPr>
          <a:xfrm>
            <a:off x="2158304" y="3473399"/>
            <a:ext cx="1392008" cy="432396"/>
          </a:xfrm>
          <a:prstGeom prst="rect">
            <a:avLst/>
          </a:prstGeom>
          <a:noFill/>
          <a:ln>
            <a:noFill/>
          </a:ln>
        </p:spPr>
        <p:txBody>
          <a:bodyPr spcFirstLastPara="1" wrap="square" lIns="91425" tIns="91425" rIns="91425" bIns="91425" anchor="t" anchorCtr="0">
            <a:spAutoFit/>
          </a:bodyPr>
          <a:lstStyle/>
          <a:p>
            <a:pPr lvl="0" algn="r">
              <a:lnSpc>
                <a:spcPct val="115000"/>
              </a:lnSpc>
              <a:defRPr/>
            </a:pPr>
            <a:r>
              <a:rPr lang="en-US" dirty="0"/>
              <a:t>demonstration:</a:t>
            </a:r>
            <a:endParaRPr kumimoji="0" lang="en-US"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0" name="Google Shape;248;p56">
            <a:extLst>
              <a:ext uri="{FF2B5EF4-FFF2-40B4-BE49-F238E27FC236}">
                <a16:creationId xmlns:a16="http://schemas.microsoft.com/office/drawing/2014/main" id="{F82E9E99-6140-D480-4AE1-23C336FB247D}"/>
              </a:ext>
            </a:extLst>
          </p:cNvPr>
          <p:cNvSpPr txBox="1"/>
          <p:nvPr/>
        </p:nvSpPr>
        <p:spPr>
          <a:xfrm>
            <a:off x="2570497" y="1391137"/>
            <a:ext cx="979815" cy="432396"/>
          </a:xfrm>
          <a:prstGeom prst="rect">
            <a:avLst/>
          </a:prstGeom>
          <a:noFill/>
          <a:ln>
            <a:noFill/>
          </a:ln>
        </p:spPr>
        <p:txBody>
          <a:bodyPr spcFirstLastPara="1" wrap="square" lIns="91425" tIns="91425" rIns="91425" bIns="91425" anchor="t" anchorCtr="0">
            <a:spAutoFit/>
          </a:bodyPr>
          <a:lstStyle/>
          <a:p>
            <a:pPr lvl="0" algn="r">
              <a:lnSpc>
                <a:spcPct val="115000"/>
              </a:lnSpc>
              <a:defRPr/>
            </a:pPr>
            <a:r>
              <a:rPr lang="en-US" dirty="0"/>
              <a:t>what:</a:t>
            </a:r>
            <a:endParaRPr kumimoji="0" lang="en-US"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2" name="Google Shape;248;p56">
            <a:extLst>
              <a:ext uri="{FF2B5EF4-FFF2-40B4-BE49-F238E27FC236}">
                <a16:creationId xmlns:a16="http://schemas.microsoft.com/office/drawing/2014/main" id="{38B061F1-9F51-A4AD-53D2-EB0309A4ECD7}"/>
              </a:ext>
            </a:extLst>
          </p:cNvPr>
          <p:cNvSpPr txBox="1"/>
          <p:nvPr/>
        </p:nvSpPr>
        <p:spPr>
          <a:xfrm>
            <a:off x="3728484" y="1302651"/>
            <a:ext cx="5063303" cy="2095928"/>
          </a:xfrm>
          <a:prstGeom prst="rect">
            <a:avLst/>
          </a:prstGeom>
          <a:noFill/>
          <a:ln>
            <a:noFill/>
          </a:ln>
        </p:spPr>
        <p:txBody>
          <a:bodyPr spcFirstLastPara="1" wrap="square" lIns="91425" tIns="91425" rIns="91425" bIns="91425" anchor="t" anchorCtr="0">
            <a:spAutoFit/>
          </a:bodyPr>
          <a:lstStyle/>
          <a:p>
            <a:pPr marL="228600" lvl="0" indent="-228600">
              <a:lnSpc>
                <a:spcPct val="115000"/>
              </a:lnSpc>
              <a:buFont typeface="Arial" panose="020B0604020202020204" pitchFamily="34" charset="0"/>
              <a:buChar char="•"/>
              <a:defRPr/>
            </a:pPr>
            <a:r>
              <a:rPr lang="en-US" sz="1200" dirty="0"/>
              <a:t>where this fits in performance tuning</a:t>
            </a:r>
          </a:p>
          <a:p>
            <a:pPr marL="228600" lvl="0" indent="-228600">
              <a:lnSpc>
                <a:spcPct val="115000"/>
              </a:lnSpc>
              <a:buFont typeface="Arial" panose="020B0604020202020204" pitchFamily="34" charset="0"/>
              <a:buChar char="•"/>
              <a:defRPr/>
            </a:pPr>
            <a:r>
              <a:rPr lang="en-US" sz="1200" b="1" dirty="0"/>
              <a:t>a full query optimizer primer; no pre-requisites, [ any database ]</a:t>
            </a:r>
          </a:p>
          <a:p>
            <a:pPr marL="460375" lvl="0" indent="-230188">
              <a:lnSpc>
                <a:spcPct val="115000"/>
              </a:lnSpc>
              <a:buFont typeface="Arial" panose="020B0604020202020204" pitchFamily="34" charset="0"/>
              <a:buChar char="•"/>
              <a:defRPr/>
            </a:pPr>
            <a:r>
              <a:rPr lang="en-US" sz="1200" dirty="0"/>
              <a:t>the 4 stage backend</a:t>
            </a:r>
          </a:p>
          <a:p>
            <a:pPr marL="460375" lvl="0" indent="-230188">
              <a:lnSpc>
                <a:spcPct val="115000"/>
              </a:lnSpc>
              <a:buFont typeface="Arial" panose="020B0604020202020204" pitchFamily="34" charset="0"/>
              <a:buChar char="•"/>
              <a:defRPr/>
            </a:pPr>
            <a:r>
              <a:rPr lang="en-US" sz="1200" dirty="0"/>
              <a:t>rules based optimizers, cost based</a:t>
            </a:r>
          </a:p>
          <a:p>
            <a:pPr marL="460375" lvl="0" indent="-230188">
              <a:lnSpc>
                <a:spcPct val="115000"/>
              </a:lnSpc>
              <a:buFont typeface="Arial" panose="020B0604020202020204" pitchFamily="34" charset="0"/>
              <a:buChar char="•"/>
              <a:defRPr/>
            </a:pPr>
            <a:r>
              <a:rPr lang="en-US" sz="1200" dirty="0"/>
              <a:t>examples</a:t>
            </a:r>
          </a:p>
          <a:p>
            <a:pPr marL="460375" lvl="0" indent="-230188">
              <a:lnSpc>
                <a:spcPct val="115000"/>
              </a:lnSpc>
              <a:buFont typeface="Arial" panose="020B0604020202020204" pitchFamily="34" charset="0"/>
              <a:buChar char="•"/>
              <a:defRPr/>
            </a:pPr>
            <a:r>
              <a:rPr lang="en-US" sz="1200" dirty="0"/>
              <a:t>negations, rewrites</a:t>
            </a:r>
          </a:p>
          <a:p>
            <a:pPr marL="460375" lvl="0" indent="-230188">
              <a:lnSpc>
                <a:spcPct val="115000"/>
              </a:lnSpc>
              <a:buFont typeface="Arial" panose="020B0604020202020204" pitchFamily="34" charset="0"/>
              <a:buChar char="•"/>
              <a:defRPr/>
            </a:pPr>
            <a:r>
              <a:rPr lang="en-US" sz="1200" dirty="0"/>
              <a:t>should know basic SQL SELECT</a:t>
            </a:r>
          </a:p>
          <a:p>
            <a:pPr lvl="0">
              <a:lnSpc>
                <a:spcPct val="115000"/>
              </a:lnSpc>
              <a:defRPr/>
            </a:pPr>
            <a:endParaRPr lang="en-US" sz="1200" dirty="0"/>
          </a:p>
          <a:p>
            <a:pPr marL="228600" lvl="0" indent="-228600">
              <a:lnSpc>
                <a:spcPct val="115000"/>
              </a:lnSpc>
              <a:buFont typeface="Arial" panose="020B0604020202020204" pitchFamily="34" charset="0"/>
              <a:buChar char="•"/>
              <a:defRPr/>
            </a:pPr>
            <a:r>
              <a:rPr kumimoji="0" lang="en-US" sz="1200" b="1" i="0" u="none" strike="noStrike" kern="0" cap="none" spc="0" normalizeH="0" baseline="0" noProof="0" dirty="0">
                <a:ln>
                  <a:noFill/>
                </a:ln>
                <a:solidFill>
                  <a:srgbClr val="000000"/>
                </a:solidFill>
                <a:effectLst/>
                <a:uLnTx/>
                <a:uFillTx/>
                <a:latin typeface="Lato"/>
                <a:ea typeface="Lato"/>
                <a:cs typeface="Lato"/>
                <a:sym typeface="Lato"/>
              </a:rPr>
              <a:t>finally, query plan management</a:t>
            </a:r>
          </a:p>
        </p:txBody>
      </p:sp>
      <p:sp>
        <p:nvSpPr>
          <p:cNvPr id="14" name="Google Shape;248;p56">
            <a:extLst>
              <a:ext uri="{FF2B5EF4-FFF2-40B4-BE49-F238E27FC236}">
                <a16:creationId xmlns:a16="http://schemas.microsoft.com/office/drawing/2014/main" id="{84CED7C0-41AF-9A88-913A-7BD84469506A}"/>
              </a:ext>
            </a:extLst>
          </p:cNvPr>
          <p:cNvSpPr txBox="1"/>
          <p:nvPr/>
        </p:nvSpPr>
        <p:spPr>
          <a:xfrm>
            <a:off x="3728484" y="3508794"/>
            <a:ext cx="5063303" cy="397001"/>
          </a:xfrm>
          <a:prstGeom prst="rect">
            <a:avLst/>
          </a:prstGeom>
          <a:noFill/>
          <a:ln>
            <a:noFill/>
          </a:ln>
        </p:spPr>
        <p:txBody>
          <a:bodyPr spcFirstLastPara="1" wrap="square" lIns="91425" tIns="91425" rIns="91425" bIns="91425" anchor="t" anchorCtr="0">
            <a:spAutoFit/>
          </a:bodyPr>
          <a:lstStyle/>
          <a:p>
            <a:pPr marL="228600" lvl="0" indent="-228600">
              <a:lnSpc>
                <a:spcPct val="115000"/>
              </a:lnSpc>
              <a:buFont typeface="Arial" panose="020B0604020202020204" pitchFamily="34" charset="0"/>
              <a:buChar char="•"/>
              <a:defRPr/>
            </a:pPr>
            <a:r>
              <a:rPr lang="en-US" sz="1200" dirty="0"/>
              <a:t>alerting on regressions</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531287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E39D1EF-172E-2EED-74B3-D67AB143DEF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2DF088D-8A3F-41EF-A845-AE2D4EAB062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where this fits in performance tuning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E05D9A5-6EC2-A4F8-0939-BF2174BB8A6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B1E437B-7F98-6F66-33A2-626500DB58B6}"/>
              </a:ext>
            </a:extLst>
          </p:cNvPr>
          <p:cNvSpPr txBox="1"/>
          <p:nvPr/>
        </p:nvSpPr>
        <p:spPr>
          <a:xfrm>
            <a:off x="4491599" y="810276"/>
            <a:ext cx="4526816" cy="750945"/>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bad predicates, missing WHERE-clause </a:t>
            </a:r>
            <a:r>
              <a:rPr lang="en-US" sz="1200" b="1" dirty="0">
                <a:latin typeface="Lato"/>
                <a:ea typeface="Lato"/>
                <a:cs typeface="Lato"/>
                <a:sym typeface="Lato"/>
              </a:rPr>
              <a:t>sargability</a:t>
            </a:r>
            <a:r>
              <a:rPr lang="en-US" sz="1000" dirty="0">
                <a:latin typeface="Lato"/>
                <a:ea typeface="Lato"/>
                <a:cs typeface="Lato"/>
                <a:sym typeface="Lato"/>
              </a:rPr>
              <a:t>, unnecessary subqueries, wrong join strategy. consistently the single biggest lever. a single bad query can dominate total load regardless of how well everything else is tuned</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2241130D-A733-9716-3FC2-29756BA07B17}"/>
              </a:ext>
            </a:extLst>
          </p:cNvPr>
          <p:cNvPicPr>
            <a:picLocks noChangeAspect="1"/>
          </p:cNvPicPr>
          <p:nvPr/>
        </p:nvPicPr>
        <p:blipFill>
          <a:blip r:embed="rId3"/>
          <a:stretch>
            <a:fillRect/>
          </a:stretch>
        </p:blipFill>
        <p:spPr>
          <a:xfrm>
            <a:off x="867111" y="1332481"/>
            <a:ext cx="2745804" cy="2616372"/>
          </a:xfrm>
          <a:prstGeom prst="rect">
            <a:avLst/>
          </a:prstGeom>
        </p:spPr>
      </p:pic>
      <p:sp>
        <p:nvSpPr>
          <p:cNvPr id="7" name="Rectangle 6">
            <a:extLst>
              <a:ext uri="{FF2B5EF4-FFF2-40B4-BE49-F238E27FC236}">
                <a16:creationId xmlns:a16="http://schemas.microsoft.com/office/drawing/2014/main" id="{973261AD-7EB3-62CF-E237-FDAACDC7835E}"/>
              </a:ext>
            </a:extLst>
          </p:cNvPr>
          <p:cNvSpPr/>
          <p:nvPr/>
        </p:nvSpPr>
        <p:spPr>
          <a:xfrm>
            <a:off x="4177770" y="1030298"/>
            <a:ext cx="169333" cy="169333"/>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4BBF3FF-C11B-683E-48BC-E37D6F9E70C7}"/>
              </a:ext>
            </a:extLst>
          </p:cNvPr>
          <p:cNvSpPr/>
          <p:nvPr/>
        </p:nvSpPr>
        <p:spPr>
          <a:xfrm>
            <a:off x="4177770" y="1896953"/>
            <a:ext cx="169333" cy="1693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46727F2-B21C-4410-4100-0AC09D99A69C}"/>
              </a:ext>
            </a:extLst>
          </p:cNvPr>
          <p:cNvSpPr/>
          <p:nvPr/>
        </p:nvSpPr>
        <p:spPr>
          <a:xfrm>
            <a:off x="4177770" y="3182013"/>
            <a:ext cx="169333" cy="16933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67B0924-29F2-F5B2-3569-27055965C6F3}"/>
              </a:ext>
            </a:extLst>
          </p:cNvPr>
          <p:cNvSpPr/>
          <p:nvPr/>
        </p:nvSpPr>
        <p:spPr>
          <a:xfrm>
            <a:off x="4177770" y="3645290"/>
            <a:ext cx="169333" cy="16933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FB4531-380A-F839-816F-8885168CD55E}"/>
              </a:ext>
            </a:extLst>
          </p:cNvPr>
          <p:cNvSpPr/>
          <p:nvPr/>
        </p:nvSpPr>
        <p:spPr>
          <a:xfrm>
            <a:off x="4175829" y="4027399"/>
            <a:ext cx="169333" cy="169333"/>
          </a:xfrm>
          <a:prstGeom prst="rect">
            <a:avLst/>
          </a:prstGeom>
          <a:solidFill>
            <a:srgbClr val="B08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Google Shape;248;p56">
            <a:extLst>
              <a:ext uri="{FF2B5EF4-FFF2-40B4-BE49-F238E27FC236}">
                <a16:creationId xmlns:a16="http://schemas.microsoft.com/office/drawing/2014/main" id="{5AA53A40-E42A-C017-34C4-DF7C429E390E}"/>
              </a:ext>
            </a:extLst>
          </p:cNvPr>
          <p:cNvSpPr txBox="1"/>
          <p:nvPr/>
        </p:nvSpPr>
        <p:spPr>
          <a:xfrm>
            <a:off x="2357518" y="1927884"/>
            <a:ext cx="1186672"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45% SQL statement tuning</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9" name="Google Shape;248;p56">
            <a:extLst>
              <a:ext uri="{FF2B5EF4-FFF2-40B4-BE49-F238E27FC236}">
                <a16:creationId xmlns:a16="http://schemas.microsoft.com/office/drawing/2014/main" id="{8803FB23-35FA-03A5-5849-AD9C6EFC6598}"/>
              </a:ext>
            </a:extLst>
          </p:cNvPr>
          <p:cNvSpPr txBox="1"/>
          <p:nvPr/>
        </p:nvSpPr>
        <p:spPr>
          <a:xfrm>
            <a:off x="1170846" y="3018908"/>
            <a:ext cx="1186672"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25% schema, index design</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1" name="Google Shape;248;p56">
            <a:extLst>
              <a:ext uri="{FF2B5EF4-FFF2-40B4-BE49-F238E27FC236}">
                <a16:creationId xmlns:a16="http://schemas.microsoft.com/office/drawing/2014/main" id="{80E520D9-42F6-4D97-C5C9-5B868FE59D8F}"/>
              </a:ext>
            </a:extLst>
          </p:cNvPr>
          <p:cNvSpPr txBox="1"/>
          <p:nvPr/>
        </p:nvSpPr>
        <p:spPr>
          <a:xfrm>
            <a:off x="765864" y="2254110"/>
            <a:ext cx="1186672" cy="71555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15% application data-access patterns</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3" name="Google Shape;248;p56">
            <a:extLst>
              <a:ext uri="{FF2B5EF4-FFF2-40B4-BE49-F238E27FC236}">
                <a16:creationId xmlns:a16="http://schemas.microsoft.com/office/drawing/2014/main" id="{01F6183C-D940-95CD-E49F-8088E2D24EF3}"/>
              </a:ext>
            </a:extLst>
          </p:cNvPr>
          <p:cNvSpPr txBox="1"/>
          <p:nvPr/>
        </p:nvSpPr>
        <p:spPr>
          <a:xfrm>
            <a:off x="-112820" y="1433509"/>
            <a:ext cx="1186672"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10% DB server instance tuning</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5" name="Google Shape;248;p56">
            <a:extLst>
              <a:ext uri="{FF2B5EF4-FFF2-40B4-BE49-F238E27FC236}">
                <a16:creationId xmlns:a16="http://schemas.microsoft.com/office/drawing/2014/main" id="{755963FE-F39D-2468-12DB-95931BE0CA40}"/>
              </a:ext>
            </a:extLst>
          </p:cNvPr>
          <p:cNvSpPr txBox="1"/>
          <p:nvPr/>
        </p:nvSpPr>
        <p:spPr>
          <a:xfrm>
            <a:off x="125585" y="803539"/>
            <a:ext cx="1896534"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5% HW, OS, infrastructure tuning </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cxnSp>
        <p:nvCxnSpPr>
          <p:cNvPr id="27" name="Straight Connector 26">
            <a:extLst>
              <a:ext uri="{FF2B5EF4-FFF2-40B4-BE49-F238E27FC236}">
                <a16:creationId xmlns:a16="http://schemas.microsoft.com/office/drawing/2014/main" id="{45B14F85-02F9-3113-7DFE-974F7329AE1A}"/>
              </a:ext>
            </a:extLst>
          </p:cNvPr>
          <p:cNvCxnSpPr/>
          <p:nvPr/>
        </p:nvCxnSpPr>
        <p:spPr>
          <a:xfrm flipV="1">
            <a:off x="1952536" y="1244428"/>
            <a:ext cx="0" cy="279572"/>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38C041C-8BFF-2E82-2C6D-AB4B5397F270}"/>
              </a:ext>
            </a:extLst>
          </p:cNvPr>
          <p:cNvCxnSpPr>
            <a:cxnSpLocks/>
          </p:cNvCxnSpPr>
          <p:nvPr/>
        </p:nvCxnSpPr>
        <p:spPr>
          <a:xfrm>
            <a:off x="1566612" y="1175127"/>
            <a:ext cx="385924" cy="76389"/>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701B04E-D8C8-7363-5C5E-273A7F8C9BD0}"/>
              </a:ext>
            </a:extLst>
          </p:cNvPr>
          <p:cNvCxnSpPr>
            <a:cxnSpLocks/>
          </p:cNvCxnSpPr>
          <p:nvPr/>
        </p:nvCxnSpPr>
        <p:spPr>
          <a:xfrm>
            <a:off x="999464" y="1677962"/>
            <a:ext cx="233916"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F4A141-D8BD-7ED2-75FF-BD9BDB2AF8CA}"/>
              </a:ext>
            </a:extLst>
          </p:cNvPr>
          <p:cNvCxnSpPr>
            <a:cxnSpLocks/>
          </p:cNvCxnSpPr>
          <p:nvPr/>
        </p:nvCxnSpPr>
        <p:spPr>
          <a:xfrm flipH="1" flipV="1">
            <a:off x="1226292" y="1676400"/>
            <a:ext cx="160947" cy="127172"/>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6" name="Google Shape;248;p56">
            <a:extLst>
              <a:ext uri="{FF2B5EF4-FFF2-40B4-BE49-F238E27FC236}">
                <a16:creationId xmlns:a16="http://schemas.microsoft.com/office/drawing/2014/main" id="{9932CEA0-A426-57E5-4F3C-542931ED84D3}"/>
              </a:ext>
            </a:extLst>
          </p:cNvPr>
          <p:cNvSpPr txBox="1"/>
          <p:nvPr/>
        </p:nvSpPr>
        <p:spPr>
          <a:xfrm>
            <a:off x="4491599" y="3940058"/>
            <a:ext cx="4526816" cy="361607"/>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b="1" dirty="0">
                <a:latin typeface="Lato"/>
                <a:ea typeface="Lato"/>
                <a:cs typeface="Lato"/>
                <a:sym typeface="Lato"/>
              </a:rPr>
              <a:t>storage IOPs, network latency, CPU/RAM sizing</a:t>
            </a:r>
            <a:r>
              <a:rPr lang="en-US" sz="1000" dirty="0">
                <a:latin typeface="Lato"/>
                <a:ea typeface="Lato"/>
                <a:cs typeface="Lato"/>
                <a:sym typeface="Lato"/>
              </a:rPr>
              <a:t>, OS-level tuning</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38" name="Google Shape;248;p56">
            <a:extLst>
              <a:ext uri="{FF2B5EF4-FFF2-40B4-BE49-F238E27FC236}">
                <a16:creationId xmlns:a16="http://schemas.microsoft.com/office/drawing/2014/main" id="{567BC842-7176-F90F-A667-7C9DDAB62F64}"/>
              </a:ext>
            </a:extLst>
          </p:cNvPr>
          <p:cNvSpPr txBox="1"/>
          <p:nvPr/>
        </p:nvSpPr>
        <p:spPr>
          <a:xfrm>
            <a:off x="4491599" y="1659046"/>
            <a:ext cx="4526816" cy="715550"/>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normalization level, missing/redundant indexes, partitioning strategy, data types sized appropriately. you can't fix a full table scan with a better-written query if the index simply doesn't exist</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0" name="Google Shape;248;p56">
            <a:extLst>
              <a:ext uri="{FF2B5EF4-FFF2-40B4-BE49-F238E27FC236}">
                <a16:creationId xmlns:a16="http://schemas.microsoft.com/office/drawing/2014/main" id="{74F64971-FCB1-C866-4A10-A96D11FCEAD9}"/>
              </a:ext>
            </a:extLst>
          </p:cNvPr>
          <p:cNvSpPr txBox="1"/>
          <p:nvPr/>
        </p:nvSpPr>
        <p:spPr>
          <a:xfrm>
            <a:off x="4491599" y="3018010"/>
            <a:ext cx="4526816" cy="538579"/>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N+1 query patterns from ORMs, missing connection pooling, chatty round-trips, lack of batching/caching, wrong isolation level for the workload</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2" name="Google Shape;248;p56">
            <a:extLst>
              <a:ext uri="{FF2B5EF4-FFF2-40B4-BE49-F238E27FC236}">
                <a16:creationId xmlns:a16="http://schemas.microsoft.com/office/drawing/2014/main" id="{EC7EC22A-CA09-8BEF-E9FA-B36FDED9D566}"/>
              </a:ext>
            </a:extLst>
          </p:cNvPr>
          <p:cNvSpPr txBox="1"/>
          <p:nvPr/>
        </p:nvSpPr>
        <p:spPr>
          <a:xfrm>
            <a:off x="4491599" y="3460668"/>
            <a:ext cx="4526816" cy="538579"/>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memory allocation, buffer/cache sizing, background process config, checkpoint/vacuum tuning, cost-based optimizer settings</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cxnSp>
        <p:nvCxnSpPr>
          <p:cNvPr id="46" name="Straight Connector 45">
            <a:extLst>
              <a:ext uri="{FF2B5EF4-FFF2-40B4-BE49-F238E27FC236}">
                <a16:creationId xmlns:a16="http://schemas.microsoft.com/office/drawing/2014/main" id="{C18B4D31-76DC-4DB8-4D4B-3BC382A43ED4}"/>
              </a:ext>
            </a:extLst>
          </p:cNvPr>
          <p:cNvCxnSpPr/>
          <p:nvPr/>
        </p:nvCxnSpPr>
        <p:spPr>
          <a:xfrm>
            <a:off x="4911958" y="2969660"/>
            <a:ext cx="316878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8" name="Google Shape;248;p56">
            <a:extLst>
              <a:ext uri="{FF2B5EF4-FFF2-40B4-BE49-F238E27FC236}">
                <a16:creationId xmlns:a16="http://schemas.microsoft.com/office/drawing/2014/main" id="{198FB447-F255-877D-786E-9B43BD00C28C}"/>
              </a:ext>
            </a:extLst>
          </p:cNvPr>
          <p:cNvSpPr txBox="1"/>
          <p:nvPr/>
        </p:nvSpPr>
        <p:spPr>
          <a:xfrm>
            <a:off x="4491599" y="2307028"/>
            <a:ext cx="1896534" cy="361607"/>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45% + 25% = 70%</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611270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6B7C243-4995-2109-FB3A-871EED81C28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BD5C194-15EC-8C62-7771-7C83BCFD06A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sargability – </a:t>
            </a:r>
            <a:r>
              <a:rPr lang="en" u="sng" dirty="0">
                <a:solidFill>
                  <a:schemeClr val="accent2"/>
                </a:solidFill>
                <a:latin typeface="Lato"/>
                <a:ea typeface="Lato"/>
                <a:cs typeface="Lato"/>
                <a:sym typeface="Lato"/>
              </a:rPr>
              <a:t>S</a:t>
            </a:r>
            <a:r>
              <a:rPr lang="en" dirty="0">
                <a:solidFill>
                  <a:schemeClr val="accent2"/>
                </a:solidFill>
                <a:latin typeface="Lato"/>
                <a:ea typeface="Lato"/>
                <a:cs typeface="Lato"/>
                <a:sym typeface="Lato"/>
              </a:rPr>
              <a:t>earch </a:t>
            </a:r>
            <a:r>
              <a:rPr lang="en" u="sng" dirty="0">
                <a:solidFill>
                  <a:schemeClr val="accent2"/>
                </a:solidFill>
                <a:latin typeface="Lato"/>
                <a:ea typeface="Lato"/>
                <a:cs typeface="Lato"/>
                <a:sym typeface="Lato"/>
              </a:rPr>
              <a:t>ARG</a:t>
            </a:r>
            <a:r>
              <a:rPr lang="en" dirty="0">
                <a:solidFill>
                  <a:schemeClr val="accent2"/>
                </a:solidFill>
                <a:latin typeface="Lato"/>
                <a:ea typeface="Lato"/>
                <a:cs typeface="Lato"/>
                <a:sym typeface="Lato"/>
              </a:rPr>
              <a:t>ument avail</a:t>
            </a:r>
            <a:r>
              <a:rPr lang="en" u="sng" dirty="0">
                <a:solidFill>
                  <a:schemeClr val="accent2"/>
                </a:solidFill>
                <a:latin typeface="Lato"/>
                <a:ea typeface="Lato"/>
                <a:cs typeface="Lato"/>
                <a:sym typeface="Lato"/>
              </a:rPr>
              <a:t>ABLE</a:t>
            </a:r>
            <a:endParaRPr u="sng"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B7E6740-C7B8-9929-154F-7112E0990EC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26B45C8-499B-B3D6-AE3D-9A390A4419C8}"/>
              </a:ext>
            </a:extLst>
          </p:cNvPr>
          <p:cNvSpPr txBox="1"/>
          <p:nvPr/>
        </p:nvSpPr>
        <p:spPr>
          <a:xfrm>
            <a:off x="315981" y="982159"/>
            <a:ext cx="8272606" cy="273302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0" i="0" u="none" strike="noStrike" kern="0" cap="none" spc="0" normalizeH="0" baseline="0" noProof="0" dirty="0">
                <a:ln>
                  <a:noFill/>
                </a:ln>
                <a:solidFill>
                  <a:srgbClr val="000000"/>
                </a:solidFill>
                <a:effectLst/>
                <a:uLnTx/>
                <a:uFillTx/>
                <a:latin typeface="Lato"/>
                <a:ea typeface="Lato"/>
                <a:cs typeface="Lato"/>
                <a:sym typeface="Lato"/>
              </a:rPr>
              <a:t>Examples;</a:t>
            </a:r>
            <a:br>
              <a:rPr kumimoji="0" lang="en" sz="1600" b="0" i="0" u="none" strike="noStrike" kern="0" cap="none" spc="0" normalizeH="0" baseline="0" noProof="0" dirty="0">
                <a:ln>
                  <a:noFill/>
                </a:ln>
                <a:solidFill>
                  <a:srgbClr val="000000"/>
                </a:solidFill>
                <a:effectLst/>
                <a:uLnTx/>
                <a:uFillTx/>
                <a:latin typeface="Lato"/>
                <a:ea typeface="Lato"/>
                <a:cs typeface="Lato"/>
                <a:sym typeface="Lato"/>
              </a:rPr>
            </a:br>
            <a:endParaRPr kumimoji="0" lang="en" sz="16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0000"/>
                </a:solidFill>
                <a:latin typeface="Lato"/>
                <a:ea typeface="Lato"/>
                <a:cs typeface="Lato"/>
                <a:sym typeface="Lato"/>
              </a:rPr>
              <a:t>.. WHERE YEAR(order_date) = 2026</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B0F0"/>
                </a:solidFill>
                <a:effectLst/>
                <a:uLnTx/>
                <a:uFillTx/>
                <a:latin typeface="Lato"/>
                <a:ea typeface="Lato"/>
                <a:cs typeface="Lato"/>
                <a:sym typeface="Lato"/>
              </a:rPr>
              <a:t>.. WHERE order_date &gt;= '2026-01-01' AND order_date &lt; '2027-01-01'</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endParaRPr lang="en" dirty="0">
              <a:latin typeface="Lato"/>
              <a:ea typeface="Lato"/>
              <a:cs typeface="Lato"/>
              <a:sym typeface="Lato"/>
            </a:endParaRP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FF0000"/>
                </a:solidFill>
                <a:effectLst/>
                <a:uLnTx/>
                <a:uFillTx/>
                <a:latin typeface="Lato"/>
                <a:ea typeface="Lato"/>
                <a:cs typeface="Lato"/>
                <a:sym typeface="Lato"/>
              </a:rPr>
              <a:t>.. WHERE price * 1.08 &gt; 100</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 WHERE price &gt; 100 / 1.08</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0000"/>
                </a:solidFill>
                <a:latin typeface="Lato"/>
                <a:ea typeface="Lato"/>
                <a:cs typeface="Lato"/>
                <a:sym typeface="Lato"/>
              </a:rPr>
              <a:t>..  WHERE cust_id = '1234'         </a:t>
            </a:r>
            <a:r>
              <a:rPr lang="en" dirty="0">
                <a:solidFill>
                  <a:schemeClr val="tx1"/>
                </a:solidFill>
                <a:latin typeface="Lato"/>
                <a:ea typeface="Lato"/>
                <a:cs typeface="Lato"/>
                <a:sym typeface="Lato"/>
              </a:rPr>
              <a:t>-- implicit type cast conversion</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B0F0"/>
                </a:solidFill>
                <a:effectLst/>
                <a:uLnTx/>
                <a:uFillTx/>
                <a:latin typeface="Lato"/>
                <a:ea typeface="Lato"/>
                <a:cs typeface="Lato"/>
                <a:sym typeface="Lato"/>
              </a:rPr>
              <a:t>..  WHERE cust_id =  1234</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2B325048-6D5B-01A8-FBCB-B64046EAA777}"/>
              </a:ext>
            </a:extLst>
          </p:cNvPr>
          <p:cNvPicPr>
            <a:picLocks noChangeAspect="1"/>
          </p:cNvPicPr>
          <p:nvPr/>
        </p:nvPicPr>
        <p:blipFill>
          <a:blip r:embed="rId3"/>
          <a:stretch>
            <a:fillRect/>
          </a:stretch>
        </p:blipFill>
        <p:spPr>
          <a:xfrm>
            <a:off x="6237619" y="465110"/>
            <a:ext cx="2772173" cy="3696231"/>
          </a:xfrm>
          <a:prstGeom prst="rect">
            <a:avLst/>
          </a:prstGeom>
        </p:spPr>
      </p:pic>
      <p:sp>
        <p:nvSpPr>
          <p:cNvPr id="4" name="Google Shape;248;p56">
            <a:extLst>
              <a:ext uri="{FF2B5EF4-FFF2-40B4-BE49-F238E27FC236}">
                <a16:creationId xmlns:a16="http://schemas.microsoft.com/office/drawing/2014/main" id="{405A6056-8802-5332-66C5-A6A58FEC1AD7}"/>
              </a:ext>
            </a:extLst>
          </p:cNvPr>
          <p:cNvSpPr txBox="1"/>
          <p:nvPr/>
        </p:nvSpPr>
        <p:spPr>
          <a:xfrm rot="424681">
            <a:off x="6612679" y="1527978"/>
            <a:ext cx="1776286" cy="1883562"/>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sz="1600" b="1" dirty="0">
                <a:solidFill>
                  <a:srgbClr val="FFC000"/>
                </a:solidFill>
                <a:latin typeface="Lato"/>
                <a:ea typeface="Lato"/>
                <a:cs typeface="Lato"/>
                <a:sym typeface="Lato"/>
              </a:rPr>
              <a:t>a</a:t>
            </a:r>
            <a:r>
              <a:rPr kumimoji="0" lang="en" sz="1600" b="1" i="0" u="none" strike="noStrike" kern="0" cap="none" spc="0" normalizeH="0" baseline="0" noProof="0" dirty="0">
                <a:ln>
                  <a:noFill/>
                </a:ln>
                <a:solidFill>
                  <a:srgbClr val="FFC000"/>
                </a:solidFill>
                <a:effectLst/>
                <a:uLnTx/>
                <a:uFillTx/>
                <a:latin typeface="Lato"/>
                <a:ea typeface="Lato"/>
                <a:cs typeface="Lato"/>
                <a:sym typeface="Lato"/>
              </a:rPr>
              <a:t>ll  </a:t>
            </a:r>
            <a:r>
              <a:rPr kumimoji="0" lang="en" sz="1600" b="1" i="1" u="none" strike="noStrike" kern="0" cap="none" spc="0" normalizeH="0" baseline="0" noProof="0" dirty="0">
                <a:ln>
                  <a:noFill/>
                </a:ln>
                <a:solidFill>
                  <a:srgbClr val="FFC000"/>
                </a:solidFill>
                <a:effectLst/>
                <a:uLnTx/>
                <a:uFillTx/>
                <a:latin typeface="Lato"/>
                <a:ea typeface="Lato"/>
                <a:cs typeface="Lato"/>
                <a:sym typeface="Lato"/>
              </a:rPr>
              <a:t>potential</a:t>
            </a:r>
            <a:r>
              <a:rPr kumimoji="0" lang="en" sz="1600" b="1" i="0" u="none" strike="noStrike" kern="0" cap="none" spc="0" normalizeH="0" baseline="0" noProof="0" dirty="0">
                <a:ln>
                  <a:noFill/>
                </a:ln>
                <a:solidFill>
                  <a:srgbClr val="FFC000"/>
                </a:solidFill>
                <a:effectLst/>
                <a:uLnTx/>
                <a:uFillTx/>
                <a:latin typeface="Lato"/>
                <a:ea typeface="Lato"/>
                <a:cs typeface="Lato"/>
                <a:sym typeface="Lato"/>
              </a:rPr>
              <a:t> forms of        "index negation", an abstraction (topic) </a:t>
            </a:r>
            <a:r>
              <a:rPr kumimoji="0" lang="en" sz="1600" b="1" i="0" u="sng" strike="noStrike" kern="0" cap="none" spc="0" normalizeH="0" baseline="0" noProof="0" dirty="0">
                <a:ln>
                  <a:noFill/>
                </a:ln>
                <a:solidFill>
                  <a:srgbClr val="FFC000"/>
                </a:solidFill>
                <a:effectLst/>
                <a:uLnTx/>
                <a:uFillTx/>
                <a:latin typeface="Lato"/>
                <a:ea typeface="Lato"/>
                <a:cs typeface="Lato"/>
                <a:sym typeface="Lato"/>
              </a:rPr>
              <a:t>we will revisit later</a:t>
            </a:r>
            <a:endParaRPr kumimoji="0" sz="1600" b="1" i="0" u="sng" strike="noStrike" kern="0" cap="none" spc="0" normalizeH="0" baseline="0" noProof="0" dirty="0">
              <a:ln>
                <a:noFill/>
              </a:ln>
              <a:solidFill>
                <a:srgbClr val="FFC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555B6A0A-CA22-67EC-7305-4BA71008C075}"/>
              </a:ext>
            </a:extLst>
          </p:cNvPr>
          <p:cNvSpPr txBox="1"/>
          <p:nvPr/>
        </p:nvSpPr>
        <p:spPr>
          <a:xfrm>
            <a:off x="1394889" y="4161341"/>
            <a:ext cx="5863604"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solidFill>
                  <a:schemeClr val="tx1"/>
                </a:solidFill>
                <a:latin typeface="Lato"/>
                <a:ea typeface="Lato"/>
                <a:cs typeface="Lato"/>
                <a:sym typeface="Lato"/>
              </a:rPr>
              <a:t>index negation</a:t>
            </a:r>
            <a:r>
              <a:rPr kumimoji="0" lang="en" sz="1200" i="0" u="none" strike="noStrike" kern="0" cap="none" spc="0" normalizeH="0" baseline="0" noProof="0" dirty="0">
                <a:ln>
                  <a:noFill/>
                </a:ln>
                <a:solidFill>
                  <a:schemeClr val="tx1"/>
                </a:solidFill>
                <a:effectLst/>
                <a:uLnTx/>
                <a:uFillTx/>
                <a:latin typeface="Lato"/>
                <a:ea typeface="Lato"/>
                <a:cs typeface="Lato"/>
                <a:sym typeface="Lato"/>
              </a:rPr>
              <a:t>: an existing, perfectably good index can not, or should not be used</a:t>
            </a:r>
            <a:endParaRPr kumimoji="0" sz="120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1345289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43DAAF0-29FF-8798-6088-1B6E62FB12C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EBFD55F-82DA-C5F7-D37B-F381FDAA171D}"/>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which of these-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267F0D6-D706-C70A-B112-C0726F07C43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6" name="Rectangle: Rounded Corners 5">
            <a:extLst>
              <a:ext uri="{FF2B5EF4-FFF2-40B4-BE49-F238E27FC236}">
                <a16:creationId xmlns:a16="http://schemas.microsoft.com/office/drawing/2014/main" id="{EF90D3E7-5059-EFB7-DBF4-FEC8C8166368}"/>
              </a:ext>
            </a:extLst>
          </p:cNvPr>
          <p:cNvSpPr/>
          <p:nvPr/>
        </p:nvSpPr>
        <p:spPr>
          <a:xfrm>
            <a:off x="747928" y="1552776"/>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BBC9A4F4-6335-CE99-4B74-5CF70DBAC357}"/>
              </a:ext>
            </a:extLst>
          </p:cNvPr>
          <p:cNvSpPr/>
          <p:nvPr/>
        </p:nvSpPr>
        <p:spPr>
          <a:xfrm>
            <a:off x="747928" y="1997872"/>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8A7DC696-3AF8-7B9A-4F8A-A903E123606A}"/>
              </a:ext>
            </a:extLst>
          </p:cNvPr>
          <p:cNvSpPr/>
          <p:nvPr/>
        </p:nvSpPr>
        <p:spPr>
          <a:xfrm>
            <a:off x="747928" y="2442968"/>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C7CE756E-F965-EBDC-18DE-672594D1573B}"/>
              </a:ext>
            </a:extLst>
          </p:cNvPr>
          <p:cNvSpPr/>
          <p:nvPr/>
        </p:nvSpPr>
        <p:spPr>
          <a:xfrm>
            <a:off x="747928" y="2888063"/>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Google Shape;248;p56">
            <a:extLst>
              <a:ext uri="{FF2B5EF4-FFF2-40B4-BE49-F238E27FC236}">
                <a16:creationId xmlns:a16="http://schemas.microsoft.com/office/drawing/2014/main" id="{D0F478A2-9EB5-720A-209C-CF03B9F4491D}"/>
              </a:ext>
            </a:extLst>
          </p:cNvPr>
          <p:cNvSpPr txBox="1"/>
          <p:nvPr/>
        </p:nvSpPr>
        <p:spPr>
          <a:xfrm>
            <a:off x="840076" y="1518594"/>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SELECT</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14" name="Google Shape;248;p56">
            <a:extLst>
              <a:ext uri="{FF2B5EF4-FFF2-40B4-BE49-F238E27FC236}">
                <a16:creationId xmlns:a16="http://schemas.microsoft.com/office/drawing/2014/main" id="{54B59AC7-E342-D622-D167-4365F739AB51}"/>
              </a:ext>
            </a:extLst>
          </p:cNvPr>
          <p:cNvSpPr txBox="1"/>
          <p:nvPr/>
        </p:nvSpPr>
        <p:spPr>
          <a:xfrm>
            <a:off x="840074" y="1930725"/>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INSERT</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16" name="Google Shape;248;p56">
            <a:extLst>
              <a:ext uri="{FF2B5EF4-FFF2-40B4-BE49-F238E27FC236}">
                <a16:creationId xmlns:a16="http://schemas.microsoft.com/office/drawing/2014/main" id="{8A904313-FC96-42C9-08F6-8A8ED1F366CE}"/>
              </a:ext>
            </a:extLst>
          </p:cNvPr>
          <p:cNvSpPr txBox="1"/>
          <p:nvPr/>
        </p:nvSpPr>
        <p:spPr>
          <a:xfrm>
            <a:off x="840074" y="2389736"/>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UPDATE</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18" name="Google Shape;248;p56">
            <a:extLst>
              <a:ext uri="{FF2B5EF4-FFF2-40B4-BE49-F238E27FC236}">
                <a16:creationId xmlns:a16="http://schemas.microsoft.com/office/drawing/2014/main" id="{7779F04C-A25D-AED5-2A76-04EAAFC4E36E}"/>
              </a:ext>
            </a:extLst>
          </p:cNvPr>
          <p:cNvSpPr txBox="1"/>
          <p:nvPr/>
        </p:nvSpPr>
        <p:spPr>
          <a:xfrm>
            <a:off x="840075" y="2847530"/>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DELETE</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20" name="Rectangle: Rounded Corners 19">
            <a:extLst>
              <a:ext uri="{FF2B5EF4-FFF2-40B4-BE49-F238E27FC236}">
                <a16:creationId xmlns:a16="http://schemas.microsoft.com/office/drawing/2014/main" id="{7955D447-8165-E480-8242-7F1FF20085FE}"/>
              </a:ext>
            </a:extLst>
          </p:cNvPr>
          <p:cNvSpPr/>
          <p:nvPr/>
        </p:nvSpPr>
        <p:spPr>
          <a:xfrm>
            <a:off x="3154430" y="1552776"/>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Rounded Corners 21">
            <a:extLst>
              <a:ext uri="{FF2B5EF4-FFF2-40B4-BE49-F238E27FC236}">
                <a16:creationId xmlns:a16="http://schemas.microsoft.com/office/drawing/2014/main" id="{135586BC-E702-8A0D-7278-EB74552A77DA}"/>
              </a:ext>
            </a:extLst>
          </p:cNvPr>
          <p:cNvSpPr/>
          <p:nvPr/>
        </p:nvSpPr>
        <p:spPr>
          <a:xfrm>
            <a:off x="3154430" y="1997872"/>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Rounded Corners 23">
            <a:extLst>
              <a:ext uri="{FF2B5EF4-FFF2-40B4-BE49-F238E27FC236}">
                <a16:creationId xmlns:a16="http://schemas.microsoft.com/office/drawing/2014/main" id="{937F1B05-C46B-7D5A-800B-007526550ADD}"/>
              </a:ext>
            </a:extLst>
          </p:cNvPr>
          <p:cNvSpPr/>
          <p:nvPr/>
        </p:nvSpPr>
        <p:spPr>
          <a:xfrm>
            <a:off x="3154430" y="2442968"/>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4ED8FABF-9CD5-C3D9-F922-C5F7B102E9FF}"/>
              </a:ext>
            </a:extLst>
          </p:cNvPr>
          <p:cNvSpPr/>
          <p:nvPr/>
        </p:nvSpPr>
        <p:spPr>
          <a:xfrm>
            <a:off x="3154430" y="2888063"/>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2DBBD0A0-0DF1-6FBE-EBE2-7D2E1DF64BCD}"/>
              </a:ext>
            </a:extLst>
          </p:cNvPr>
          <p:cNvSpPr/>
          <p:nvPr/>
        </p:nvSpPr>
        <p:spPr>
          <a:xfrm>
            <a:off x="5249044" y="1552776"/>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C2269661-DCF0-DEF3-DC05-2C010E11A719}"/>
              </a:ext>
            </a:extLst>
          </p:cNvPr>
          <p:cNvSpPr/>
          <p:nvPr/>
        </p:nvSpPr>
        <p:spPr>
          <a:xfrm>
            <a:off x="5249044" y="1997872"/>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Rounded Corners 31">
            <a:extLst>
              <a:ext uri="{FF2B5EF4-FFF2-40B4-BE49-F238E27FC236}">
                <a16:creationId xmlns:a16="http://schemas.microsoft.com/office/drawing/2014/main" id="{C61264C7-028F-C5BE-CB6D-33875927681A}"/>
              </a:ext>
            </a:extLst>
          </p:cNvPr>
          <p:cNvSpPr/>
          <p:nvPr/>
        </p:nvSpPr>
        <p:spPr>
          <a:xfrm>
            <a:off x="5249044" y="2442968"/>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57821012-5A48-B41B-42D9-83340C8A64DC}"/>
              </a:ext>
            </a:extLst>
          </p:cNvPr>
          <p:cNvSpPr/>
          <p:nvPr/>
        </p:nvSpPr>
        <p:spPr>
          <a:xfrm>
            <a:off x="5249044" y="2888063"/>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Google Shape;248;p56">
            <a:extLst>
              <a:ext uri="{FF2B5EF4-FFF2-40B4-BE49-F238E27FC236}">
                <a16:creationId xmlns:a16="http://schemas.microsoft.com/office/drawing/2014/main" id="{0B7278DD-2AF3-B26C-9C9F-2A15EC13B49A}"/>
              </a:ext>
            </a:extLst>
          </p:cNvPr>
          <p:cNvSpPr txBox="1"/>
          <p:nvPr/>
        </p:nvSpPr>
        <p:spPr>
          <a:xfrm>
            <a:off x="3200502" y="982589"/>
            <a:ext cx="1768447" cy="50318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800" b="1" dirty="0">
                <a:solidFill>
                  <a:schemeClr val="tx1"/>
                </a:solidFill>
                <a:latin typeface="Lato"/>
                <a:ea typeface="Lato"/>
                <a:cs typeface="Lato"/>
                <a:sym typeface="Lato"/>
              </a:rPr>
              <a:t>r</a:t>
            </a:r>
            <a:r>
              <a:rPr kumimoji="0" lang="en" sz="1800" b="1" i="0" u="none" strike="noStrike" kern="0" cap="none" spc="0" normalizeH="0" baseline="0" noProof="0" dirty="0">
                <a:ln>
                  <a:noFill/>
                </a:ln>
                <a:solidFill>
                  <a:schemeClr val="tx1"/>
                </a:solidFill>
                <a:effectLst/>
                <a:uLnTx/>
                <a:uFillTx/>
                <a:latin typeface="Lato"/>
                <a:ea typeface="Lato"/>
                <a:cs typeface="Lato"/>
                <a:sym typeface="Lato"/>
              </a:rPr>
              <a:t>eads ?</a:t>
            </a:r>
            <a:endParaRPr kumimoji="0" sz="1800" b="1" i="0" u="none" strike="noStrike" kern="0" cap="none" spc="0" normalizeH="0" baseline="0" noProof="0" dirty="0">
              <a:ln>
                <a:noFill/>
              </a:ln>
              <a:solidFill>
                <a:schemeClr val="tx1"/>
              </a:solidFill>
              <a:effectLst/>
              <a:uLnTx/>
              <a:uFillTx/>
              <a:latin typeface="Lato"/>
              <a:ea typeface="Lato"/>
              <a:cs typeface="Lato"/>
              <a:sym typeface="Lato"/>
            </a:endParaRPr>
          </a:p>
        </p:txBody>
      </p:sp>
      <p:sp>
        <p:nvSpPr>
          <p:cNvPr id="38" name="Google Shape;248;p56">
            <a:extLst>
              <a:ext uri="{FF2B5EF4-FFF2-40B4-BE49-F238E27FC236}">
                <a16:creationId xmlns:a16="http://schemas.microsoft.com/office/drawing/2014/main" id="{4AF57FF8-3BC3-3822-9E14-A93B401B5EF9}"/>
              </a:ext>
            </a:extLst>
          </p:cNvPr>
          <p:cNvSpPr txBox="1"/>
          <p:nvPr/>
        </p:nvSpPr>
        <p:spPr>
          <a:xfrm>
            <a:off x="5249044" y="982589"/>
            <a:ext cx="1768447" cy="50318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800" b="1" dirty="0">
                <a:solidFill>
                  <a:schemeClr val="tx1"/>
                </a:solidFill>
                <a:latin typeface="Lato"/>
                <a:ea typeface="Lato"/>
                <a:cs typeface="Lato"/>
                <a:sym typeface="Lato"/>
              </a:rPr>
              <a:t>writes ?</a:t>
            </a:r>
            <a:endParaRPr kumimoji="0" sz="1800" b="1" i="0" u="none" strike="noStrike" kern="0" cap="none" spc="0" normalizeH="0" baseline="0" noProof="0" dirty="0">
              <a:ln>
                <a:noFill/>
              </a:ln>
              <a:solidFill>
                <a:schemeClr val="tx1"/>
              </a:solidFill>
              <a:effectLst/>
              <a:uLnTx/>
              <a:uFillTx/>
              <a:latin typeface="Lato"/>
              <a:ea typeface="Lato"/>
              <a:cs typeface="Lato"/>
              <a:sym typeface="Lato"/>
            </a:endParaRPr>
          </a:p>
        </p:txBody>
      </p:sp>
      <p:sp>
        <p:nvSpPr>
          <p:cNvPr id="40" name="Google Shape;248;p56">
            <a:extLst>
              <a:ext uri="{FF2B5EF4-FFF2-40B4-BE49-F238E27FC236}">
                <a16:creationId xmlns:a16="http://schemas.microsoft.com/office/drawing/2014/main" id="{0B87691F-0908-A873-8D7D-A7CD62D21F45}"/>
              </a:ext>
            </a:extLst>
          </p:cNvPr>
          <p:cNvSpPr txBox="1"/>
          <p:nvPr/>
        </p:nvSpPr>
        <p:spPr>
          <a:xfrm>
            <a:off x="1533014" y="3523789"/>
            <a:ext cx="4699489"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solidFill>
                  <a:schemeClr val="tx1"/>
                </a:solidFill>
                <a:latin typeface="Lato"/>
                <a:ea typeface="Lato"/>
                <a:cs typeface="Lato"/>
                <a:sym typeface="Lato"/>
              </a:rPr>
              <a:t>r</a:t>
            </a:r>
            <a:r>
              <a:rPr kumimoji="0" lang="en" sz="1200" i="0" u="none" strike="noStrike" kern="0" cap="none" spc="0" normalizeH="0" baseline="0" noProof="0" dirty="0">
                <a:ln>
                  <a:noFill/>
                </a:ln>
                <a:solidFill>
                  <a:schemeClr val="tx1"/>
                </a:solidFill>
                <a:effectLst/>
                <a:uLnTx/>
                <a:uFillTx/>
                <a:latin typeface="Lato"/>
                <a:ea typeface="Lato"/>
                <a:cs typeface="Lato"/>
                <a:sym typeface="Lato"/>
              </a:rPr>
              <a:t>eads: processing, identifying data that is already present</a:t>
            </a:r>
            <a:endParaRPr kumimoji="0" sz="120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629321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ED5A5C3-77DC-CF6D-3584-11B37AE3CABE}"/>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178B95AE-2605-1786-D742-ECAA8AFCED57}"/>
              </a:ext>
            </a:extLst>
          </p:cNvPr>
          <p:cNvSpPr/>
          <p:nvPr/>
        </p:nvSpPr>
        <p:spPr>
          <a:xfrm>
            <a:off x="3143798" y="3020069"/>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Google Shape;248;p56">
            <a:extLst>
              <a:ext uri="{FF2B5EF4-FFF2-40B4-BE49-F238E27FC236}">
                <a16:creationId xmlns:a16="http://schemas.microsoft.com/office/drawing/2014/main" id="{16F5A1DB-4BDC-5371-1D2F-351369E86955}"/>
              </a:ext>
            </a:extLst>
          </p:cNvPr>
          <p:cNvSpPr txBox="1"/>
          <p:nvPr/>
        </p:nvSpPr>
        <p:spPr>
          <a:xfrm>
            <a:off x="3166561" y="2948763"/>
            <a:ext cx="207174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4.)  [ run time libraries ]</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cxnSp>
        <p:nvCxnSpPr>
          <p:cNvPr id="5" name="Straight Connector 4">
            <a:extLst>
              <a:ext uri="{FF2B5EF4-FFF2-40B4-BE49-F238E27FC236}">
                <a16:creationId xmlns:a16="http://schemas.microsoft.com/office/drawing/2014/main" id="{1882AE5E-E227-8317-AD8D-0A77DCE75466}"/>
              </a:ext>
            </a:extLst>
          </p:cNvPr>
          <p:cNvCxnSpPr>
            <a:cxnSpLocks/>
          </p:cNvCxnSpPr>
          <p:nvPr/>
        </p:nvCxnSpPr>
        <p:spPr>
          <a:xfrm>
            <a:off x="2456871" y="1342154"/>
            <a:ext cx="0" cy="2343799"/>
          </a:xfrm>
          <a:prstGeom prst="line">
            <a:avLst/>
          </a:prstGeom>
          <a:ln>
            <a:solidFill>
              <a:srgbClr val="FFC000"/>
            </a:solidFill>
            <a:prstDash val="dash"/>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3FAF8087-5B57-CB51-29DB-74396690CF40}"/>
              </a:ext>
            </a:extLst>
          </p:cNvPr>
          <p:cNvPicPr>
            <a:picLocks noChangeAspect="1"/>
          </p:cNvPicPr>
          <p:nvPr/>
        </p:nvPicPr>
        <p:blipFill>
          <a:blip r:embed="rId3"/>
          <a:stretch>
            <a:fillRect/>
          </a:stretch>
        </p:blipFill>
        <p:spPr>
          <a:xfrm rot="10800000">
            <a:off x="2005389" y="1864988"/>
            <a:ext cx="1070343" cy="293424"/>
          </a:xfrm>
          <a:prstGeom prst="rect">
            <a:avLst/>
          </a:prstGeom>
        </p:spPr>
      </p:pic>
      <p:sp>
        <p:nvSpPr>
          <p:cNvPr id="14" name="Rectangle: Rounded Corners 13">
            <a:extLst>
              <a:ext uri="{FF2B5EF4-FFF2-40B4-BE49-F238E27FC236}">
                <a16:creationId xmlns:a16="http://schemas.microsoft.com/office/drawing/2014/main" id="{25F96784-1F8C-8F15-93F5-72AA533550AA}"/>
              </a:ext>
            </a:extLst>
          </p:cNvPr>
          <p:cNvSpPr/>
          <p:nvPr/>
        </p:nvSpPr>
        <p:spPr>
          <a:xfrm>
            <a:off x="3143798" y="1752158"/>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248;p56">
            <a:extLst>
              <a:ext uri="{FF2B5EF4-FFF2-40B4-BE49-F238E27FC236}">
                <a16:creationId xmlns:a16="http://schemas.microsoft.com/office/drawing/2014/main" id="{D838FC28-15DF-5624-1A95-025BC56E1EBF}"/>
              </a:ext>
            </a:extLst>
          </p:cNvPr>
          <p:cNvSpPr txBox="1"/>
          <p:nvPr/>
        </p:nvSpPr>
        <p:spPr>
          <a:xfrm>
            <a:off x="3166561" y="1706746"/>
            <a:ext cx="207174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1.) parser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242" name="Google Shape;242;p56">
            <a:extLst>
              <a:ext uri="{FF2B5EF4-FFF2-40B4-BE49-F238E27FC236}">
                <a16:creationId xmlns:a16="http://schemas.microsoft.com/office/drawing/2014/main" id="{B112C290-EC26-FFC9-4C40-2328C9555C5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the 4 stage backend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A94332B8-2BBC-8FB0-58AB-B05C54A6AA8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3B2EF883-4CBE-AAE5-17BD-215F3FE157F0}"/>
              </a:ext>
            </a:extLst>
          </p:cNvPr>
          <p:cNvPicPr>
            <a:picLocks noChangeAspect="1"/>
          </p:cNvPicPr>
          <p:nvPr/>
        </p:nvPicPr>
        <p:blipFill>
          <a:blip r:embed="rId4"/>
          <a:stretch>
            <a:fillRect/>
          </a:stretch>
        </p:blipFill>
        <p:spPr>
          <a:xfrm>
            <a:off x="9674" y="1696441"/>
            <a:ext cx="1705106" cy="1144316"/>
          </a:xfrm>
          <a:prstGeom prst="rect">
            <a:avLst/>
          </a:prstGeom>
        </p:spPr>
      </p:pic>
      <p:sp>
        <p:nvSpPr>
          <p:cNvPr id="13" name="Google Shape;248;p56">
            <a:extLst>
              <a:ext uri="{FF2B5EF4-FFF2-40B4-BE49-F238E27FC236}">
                <a16:creationId xmlns:a16="http://schemas.microsoft.com/office/drawing/2014/main" id="{2561C5E8-C24F-22C2-53C7-145121972634}"/>
              </a:ext>
            </a:extLst>
          </p:cNvPr>
          <p:cNvSpPr txBox="1"/>
          <p:nvPr/>
        </p:nvSpPr>
        <p:spPr>
          <a:xfrm>
            <a:off x="615580" y="2823487"/>
            <a:ext cx="1562438"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client app</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6" name="Rectangle: Rounded Corners 15">
            <a:extLst>
              <a:ext uri="{FF2B5EF4-FFF2-40B4-BE49-F238E27FC236}">
                <a16:creationId xmlns:a16="http://schemas.microsoft.com/office/drawing/2014/main" id="{BE61A234-4A95-CB27-33CB-A7CA1FA02C27}"/>
              </a:ext>
            </a:extLst>
          </p:cNvPr>
          <p:cNvSpPr/>
          <p:nvPr/>
        </p:nvSpPr>
        <p:spPr>
          <a:xfrm>
            <a:off x="3143798" y="2174795"/>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7F058B38-3276-C02B-CFA0-32018D6CF202}"/>
              </a:ext>
            </a:extLst>
          </p:cNvPr>
          <p:cNvSpPr/>
          <p:nvPr/>
        </p:nvSpPr>
        <p:spPr>
          <a:xfrm>
            <a:off x="3143798" y="2597432"/>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Google Shape;248;p56">
            <a:extLst>
              <a:ext uri="{FF2B5EF4-FFF2-40B4-BE49-F238E27FC236}">
                <a16:creationId xmlns:a16="http://schemas.microsoft.com/office/drawing/2014/main" id="{C2B04B19-673D-4787-5852-BD3A7FBADC97}"/>
              </a:ext>
            </a:extLst>
          </p:cNvPr>
          <p:cNvSpPr txBox="1"/>
          <p:nvPr/>
        </p:nvSpPr>
        <p:spPr>
          <a:xfrm>
            <a:off x="3166561" y="2129383"/>
            <a:ext cx="207174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2.) query optimizer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26" name="Google Shape;248;p56">
            <a:extLst>
              <a:ext uri="{FF2B5EF4-FFF2-40B4-BE49-F238E27FC236}">
                <a16:creationId xmlns:a16="http://schemas.microsoft.com/office/drawing/2014/main" id="{D4C5F2CB-D4D2-4BE6-D3FA-D426E3D7627A}"/>
              </a:ext>
            </a:extLst>
          </p:cNvPr>
          <p:cNvSpPr txBox="1"/>
          <p:nvPr/>
        </p:nvSpPr>
        <p:spPr>
          <a:xfrm>
            <a:off x="3166561" y="2539638"/>
            <a:ext cx="207174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3.) query processor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pic>
        <p:nvPicPr>
          <p:cNvPr id="30" name="Picture 29">
            <a:extLst>
              <a:ext uri="{FF2B5EF4-FFF2-40B4-BE49-F238E27FC236}">
                <a16:creationId xmlns:a16="http://schemas.microsoft.com/office/drawing/2014/main" id="{59E29AE8-D875-9D38-A51F-42E745A690C8}"/>
              </a:ext>
            </a:extLst>
          </p:cNvPr>
          <p:cNvPicPr>
            <a:picLocks noChangeAspect="1"/>
          </p:cNvPicPr>
          <p:nvPr/>
        </p:nvPicPr>
        <p:blipFill>
          <a:blip r:embed="rId3"/>
          <a:stretch>
            <a:fillRect/>
          </a:stretch>
        </p:blipFill>
        <p:spPr>
          <a:xfrm>
            <a:off x="2028616" y="2870195"/>
            <a:ext cx="1070343" cy="651801"/>
          </a:xfrm>
          <a:prstGeom prst="rect">
            <a:avLst/>
          </a:prstGeom>
        </p:spPr>
      </p:pic>
      <p:sp>
        <p:nvSpPr>
          <p:cNvPr id="32" name="Google Shape;248;p56">
            <a:extLst>
              <a:ext uri="{FF2B5EF4-FFF2-40B4-BE49-F238E27FC236}">
                <a16:creationId xmlns:a16="http://schemas.microsoft.com/office/drawing/2014/main" id="{DFC4F113-4DD1-8A3B-7350-4295640E0A2F}"/>
              </a:ext>
            </a:extLst>
          </p:cNvPr>
          <p:cNvSpPr txBox="1"/>
          <p:nvPr/>
        </p:nvSpPr>
        <p:spPr>
          <a:xfrm>
            <a:off x="2479635" y="1565787"/>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SQL</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37" name="Google Shape;248;p56">
            <a:extLst>
              <a:ext uri="{FF2B5EF4-FFF2-40B4-BE49-F238E27FC236}">
                <a16:creationId xmlns:a16="http://schemas.microsoft.com/office/drawing/2014/main" id="{E66F1C95-D86C-FAA3-EBA0-D2DFD68C89FB}"/>
              </a:ext>
            </a:extLst>
          </p:cNvPr>
          <p:cNvSpPr txBox="1"/>
          <p:nvPr/>
        </p:nvSpPr>
        <p:spPr>
          <a:xfrm>
            <a:off x="2374755" y="2979898"/>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data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1" name="Picture 40">
            <a:extLst>
              <a:ext uri="{FF2B5EF4-FFF2-40B4-BE49-F238E27FC236}">
                <a16:creationId xmlns:a16="http://schemas.microsoft.com/office/drawing/2014/main" id="{3131E61C-C55E-4442-FBDB-44517674E468}"/>
              </a:ext>
            </a:extLst>
          </p:cNvPr>
          <p:cNvPicPr>
            <a:picLocks noChangeAspect="1"/>
          </p:cNvPicPr>
          <p:nvPr/>
        </p:nvPicPr>
        <p:blipFill>
          <a:blip r:embed="rId5"/>
          <a:stretch>
            <a:fillRect/>
          </a:stretch>
        </p:blipFill>
        <p:spPr>
          <a:xfrm rot="15969966" flipV="1">
            <a:off x="5099727" y="1898885"/>
            <a:ext cx="504616" cy="417756"/>
          </a:xfrm>
          <a:prstGeom prst="rect">
            <a:avLst/>
          </a:prstGeom>
        </p:spPr>
      </p:pic>
      <p:pic>
        <p:nvPicPr>
          <p:cNvPr id="43" name="Picture 42">
            <a:extLst>
              <a:ext uri="{FF2B5EF4-FFF2-40B4-BE49-F238E27FC236}">
                <a16:creationId xmlns:a16="http://schemas.microsoft.com/office/drawing/2014/main" id="{E6C9DF0D-E92F-59EE-E5AE-1376F68D2C5E}"/>
              </a:ext>
            </a:extLst>
          </p:cNvPr>
          <p:cNvPicPr>
            <a:picLocks noChangeAspect="1"/>
          </p:cNvPicPr>
          <p:nvPr/>
        </p:nvPicPr>
        <p:blipFill>
          <a:blip r:embed="rId5"/>
          <a:stretch>
            <a:fillRect/>
          </a:stretch>
        </p:blipFill>
        <p:spPr>
          <a:xfrm rot="15969966" flipV="1">
            <a:off x="5099727" y="2878242"/>
            <a:ext cx="504616" cy="417756"/>
          </a:xfrm>
          <a:prstGeom prst="rect">
            <a:avLst/>
          </a:prstGeom>
        </p:spPr>
      </p:pic>
      <p:pic>
        <p:nvPicPr>
          <p:cNvPr id="45" name="Picture 44">
            <a:extLst>
              <a:ext uri="{FF2B5EF4-FFF2-40B4-BE49-F238E27FC236}">
                <a16:creationId xmlns:a16="http://schemas.microsoft.com/office/drawing/2014/main" id="{4646CD11-B289-1B93-8BFA-AA89074F3370}"/>
              </a:ext>
            </a:extLst>
          </p:cNvPr>
          <p:cNvPicPr>
            <a:picLocks noChangeAspect="1"/>
          </p:cNvPicPr>
          <p:nvPr/>
        </p:nvPicPr>
        <p:blipFill>
          <a:blip r:embed="rId5"/>
          <a:stretch>
            <a:fillRect/>
          </a:stretch>
        </p:blipFill>
        <p:spPr>
          <a:xfrm rot="15969966" flipV="1">
            <a:off x="5032124" y="2380125"/>
            <a:ext cx="504616" cy="417756"/>
          </a:xfrm>
          <a:prstGeom prst="rect">
            <a:avLst/>
          </a:prstGeom>
        </p:spPr>
      </p:pic>
      <p:pic>
        <p:nvPicPr>
          <p:cNvPr id="49" name="Picture 48">
            <a:extLst>
              <a:ext uri="{FF2B5EF4-FFF2-40B4-BE49-F238E27FC236}">
                <a16:creationId xmlns:a16="http://schemas.microsoft.com/office/drawing/2014/main" id="{9AE0AF06-1934-A40C-BF31-5F05DECA60E8}"/>
              </a:ext>
            </a:extLst>
          </p:cNvPr>
          <p:cNvPicPr>
            <a:picLocks noChangeAspect="1"/>
          </p:cNvPicPr>
          <p:nvPr/>
        </p:nvPicPr>
        <p:blipFill>
          <a:blip r:embed="rId5">
            <a:duotone>
              <a:schemeClr val="accent2">
                <a:shade val="45000"/>
                <a:satMod val="135000"/>
              </a:schemeClr>
              <a:prstClr val="white"/>
            </a:duotone>
          </a:blip>
          <a:stretch>
            <a:fillRect/>
          </a:stretch>
        </p:blipFill>
        <p:spPr>
          <a:xfrm rot="15969966" flipV="1">
            <a:off x="5352184" y="2224427"/>
            <a:ext cx="1390809" cy="849451"/>
          </a:xfrm>
          <a:prstGeom prst="rect">
            <a:avLst/>
          </a:prstGeom>
        </p:spPr>
      </p:pic>
      <p:sp>
        <p:nvSpPr>
          <p:cNvPr id="51" name="Google Shape;248;p56">
            <a:extLst>
              <a:ext uri="{FF2B5EF4-FFF2-40B4-BE49-F238E27FC236}">
                <a16:creationId xmlns:a16="http://schemas.microsoft.com/office/drawing/2014/main" id="{A63C464A-B05E-BFBC-DC4D-2258E92122BF}"/>
              </a:ext>
            </a:extLst>
          </p:cNvPr>
          <p:cNvSpPr txBox="1"/>
          <p:nvPr/>
        </p:nvSpPr>
        <p:spPr>
          <a:xfrm>
            <a:off x="6735918" y="964090"/>
            <a:ext cx="2285230" cy="3370123"/>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SQL, declarative</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CREATE TABLE (</a:t>
            </a:r>
            <a:r>
              <a:rPr lang="en-US" sz="1200" dirty="0">
                <a:latin typeface="Lato"/>
                <a:ea typeface="Lato"/>
                <a:cs typeface="Lato"/>
                <a:sym typeface="Lato"/>
              </a:rPr>
              <a:t>e</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tc) ..</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or,</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 WHERE</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UPDATE .. WHERE</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DELETE   .. WHERE</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PREPARE</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or the driver, automatic preparation</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Parsing phase ?</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c</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an be 85% catalog work</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Lato"/>
                <a:ea typeface="Lato"/>
                <a:cs typeface="Lato"/>
                <a:sym typeface="Lato"/>
              </a:rPr>
              <a:t>authenticate, </a:t>
            </a:r>
            <a:r>
              <a:rPr lang="en-US" sz="1000" u="sng" dirty="0">
                <a:latin typeface="Lato"/>
                <a:ea typeface="Lato"/>
                <a:cs typeface="Lato"/>
                <a:sym typeface="Lato"/>
              </a:rPr>
              <a:t>authorize</a:t>
            </a:r>
            <a:endParaRPr kumimoji="0" sz="1000" b="0" i="0" u="sng" strike="noStrike" kern="0" cap="none" spc="0" normalizeH="0" baseline="0" noProof="0" dirty="0">
              <a:ln>
                <a:noFill/>
              </a:ln>
              <a:solidFill>
                <a:srgbClr val="000000"/>
              </a:solidFill>
              <a:effectLst/>
              <a:uLnTx/>
              <a:uFillTx/>
              <a:latin typeface="Lato"/>
              <a:ea typeface="Lato"/>
              <a:cs typeface="Lato"/>
              <a:sym typeface="Lato"/>
            </a:endParaRPr>
          </a:p>
        </p:txBody>
      </p:sp>
      <p:sp>
        <p:nvSpPr>
          <p:cNvPr id="53" name="Google Shape;248;p56">
            <a:extLst>
              <a:ext uri="{FF2B5EF4-FFF2-40B4-BE49-F238E27FC236}">
                <a16:creationId xmlns:a16="http://schemas.microsoft.com/office/drawing/2014/main" id="{3BB541F9-D2D4-56C2-4141-88AEE6E03501}"/>
              </a:ext>
            </a:extLst>
          </p:cNvPr>
          <p:cNvSpPr txBox="1"/>
          <p:nvPr/>
        </p:nvSpPr>
        <p:spPr>
          <a:xfrm>
            <a:off x="5059151" y="1399898"/>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FFC000"/>
                </a:solidFill>
                <a:effectLst/>
                <a:uLnTx/>
                <a:uFillTx/>
                <a:latin typeface="Lato"/>
                <a:ea typeface="Lato"/>
                <a:cs typeface="Lato"/>
                <a:sym typeface="Lato"/>
              </a:rPr>
              <a:t>read</a:t>
            </a:r>
            <a:endParaRPr kumimoji="0" b="0" i="0" u="none" strike="noStrike" kern="0" cap="none" spc="0" normalizeH="0" baseline="0" noProof="0" dirty="0">
              <a:ln>
                <a:noFill/>
              </a:ln>
              <a:solidFill>
                <a:srgbClr val="FFC000"/>
              </a:solidFill>
              <a:effectLst/>
              <a:uLnTx/>
              <a:uFillTx/>
              <a:latin typeface="Lato"/>
              <a:ea typeface="Lato"/>
              <a:cs typeface="Lato"/>
              <a:sym typeface="Lato"/>
            </a:endParaRPr>
          </a:p>
        </p:txBody>
      </p:sp>
      <p:sp>
        <p:nvSpPr>
          <p:cNvPr id="55" name="Google Shape;248;p56">
            <a:extLst>
              <a:ext uri="{FF2B5EF4-FFF2-40B4-BE49-F238E27FC236}">
                <a16:creationId xmlns:a16="http://schemas.microsoft.com/office/drawing/2014/main" id="{F128353E-BB94-435E-7C95-CD52DE71825A}"/>
              </a:ext>
            </a:extLst>
          </p:cNvPr>
          <p:cNvSpPr txBox="1"/>
          <p:nvPr/>
        </p:nvSpPr>
        <p:spPr>
          <a:xfrm>
            <a:off x="5795372" y="1516901"/>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lumMod val="50000"/>
                  </a:schemeClr>
                </a:solidFill>
                <a:effectLst/>
                <a:uLnTx/>
                <a:uFillTx/>
                <a:latin typeface="Lato"/>
                <a:ea typeface="Lato"/>
                <a:cs typeface="Lato"/>
                <a:sym typeface="Lato"/>
              </a:rPr>
              <a:t>write</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4246945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DFD122F-FA89-C026-BCD0-7479F26E417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3F1CBE5-6AB9-3431-C4D3-BCA90942D6E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seeing parsing overhead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5588FD4-EFEF-4AAD-A94D-7848311C4B9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3" name="Picture 2">
            <a:extLst>
              <a:ext uri="{FF2B5EF4-FFF2-40B4-BE49-F238E27FC236}">
                <a16:creationId xmlns:a16="http://schemas.microsoft.com/office/drawing/2014/main" id="{8CF932E4-17E5-7562-1DE7-A24BAD837906}"/>
              </a:ext>
            </a:extLst>
          </p:cNvPr>
          <p:cNvPicPr>
            <a:picLocks noChangeAspect="1"/>
          </p:cNvPicPr>
          <p:nvPr/>
        </p:nvPicPr>
        <p:blipFill>
          <a:blip r:embed="rId3"/>
          <a:stretch>
            <a:fillRect/>
          </a:stretch>
        </p:blipFill>
        <p:spPr>
          <a:xfrm>
            <a:off x="86277" y="2019371"/>
            <a:ext cx="1105568" cy="741959"/>
          </a:xfrm>
          <a:prstGeom prst="rect">
            <a:avLst/>
          </a:prstGeom>
        </p:spPr>
      </p:pic>
      <p:cxnSp>
        <p:nvCxnSpPr>
          <p:cNvPr id="4" name="Straight Connector 3">
            <a:extLst>
              <a:ext uri="{FF2B5EF4-FFF2-40B4-BE49-F238E27FC236}">
                <a16:creationId xmlns:a16="http://schemas.microsoft.com/office/drawing/2014/main" id="{08224E63-8D52-B6A6-2615-1A93F79596D4}"/>
              </a:ext>
            </a:extLst>
          </p:cNvPr>
          <p:cNvCxnSpPr>
            <a:cxnSpLocks/>
          </p:cNvCxnSpPr>
          <p:nvPr/>
        </p:nvCxnSpPr>
        <p:spPr>
          <a:xfrm>
            <a:off x="3110214" y="1342154"/>
            <a:ext cx="0" cy="1697531"/>
          </a:xfrm>
          <a:prstGeom prst="line">
            <a:avLst/>
          </a:prstGeom>
          <a:ln>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5" name="Google Shape;248;p56">
            <a:extLst>
              <a:ext uri="{FF2B5EF4-FFF2-40B4-BE49-F238E27FC236}">
                <a16:creationId xmlns:a16="http://schemas.microsoft.com/office/drawing/2014/main" id="{DAB76B0C-C1D1-4C64-AEF6-6D6D196B4D87}"/>
              </a:ext>
            </a:extLst>
          </p:cNvPr>
          <p:cNvSpPr txBox="1"/>
          <p:nvPr/>
        </p:nvSpPr>
        <p:spPr>
          <a:xfrm>
            <a:off x="336296" y="2726882"/>
            <a:ext cx="1562438"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client app</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7" name="Picture 6">
            <a:extLst>
              <a:ext uri="{FF2B5EF4-FFF2-40B4-BE49-F238E27FC236}">
                <a16:creationId xmlns:a16="http://schemas.microsoft.com/office/drawing/2014/main" id="{099EFEFE-5F95-B236-915D-41EC14AAB204}"/>
              </a:ext>
            </a:extLst>
          </p:cNvPr>
          <p:cNvPicPr>
            <a:picLocks noChangeAspect="1"/>
          </p:cNvPicPr>
          <p:nvPr/>
        </p:nvPicPr>
        <p:blipFill>
          <a:blip r:embed="rId4"/>
          <a:stretch>
            <a:fillRect/>
          </a:stretch>
        </p:blipFill>
        <p:spPr>
          <a:xfrm>
            <a:off x="2353833" y="2733085"/>
            <a:ext cx="1070343" cy="242683"/>
          </a:xfrm>
          <a:prstGeom prst="rect">
            <a:avLst/>
          </a:prstGeom>
        </p:spPr>
      </p:pic>
      <p:pic>
        <p:nvPicPr>
          <p:cNvPr id="11" name="Picture 10">
            <a:extLst>
              <a:ext uri="{FF2B5EF4-FFF2-40B4-BE49-F238E27FC236}">
                <a16:creationId xmlns:a16="http://schemas.microsoft.com/office/drawing/2014/main" id="{71FB3574-4F3F-777B-676E-36A91B47AF66}"/>
              </a:ext>
            </a:extLst>
          </p:cNvPr>
          <p:cNvPicPr>
            <a:picLocks noChangeAspect="1"/>
          </p:cNvPicPr>
          <p:nvPr/>
        </p:nvPicPr>
        <p:blipFill>
          <a:blip r:embed="rId4"/>
          <a:stretch>
            <a:fillRect/>
          </a:stretch>
        </p:blipFill>
        <p:spPr>
          <a:xfrm rot="10800000">
            <a:off x="2986639" y="1384477"/>
            <a:ext cx="1070342" cy="518275"/>
          </a:xfrm>
          <a:prstGeom prst="rect">
            <a:avLst/>
          </a:prstGeom>
        </p:spPr>
      </p:pic>
      <p:sp>
        <p:nvSpPr>
          <p:cNvPr id="15" name="Google Shape;248;p56">
            <a:extLst>
              <a:ext uri="{FF2B5EF4-FFF2-40B4-BE49-F238E27FC236}">
                <a16:creationId xmlns:a16="http://schemas.microsoft.com/office/drawing/2014/main" id="{1F88E2B2-409C-BA0F-68EE-402E846005BE}"/>
              </a:ext>
            </a:extLst>
          </p:cNvPr>
          <p:cNvSpPr txBox="1"/>
          <p:nvPr/>
        </p:nvSpPr>
        <p:spPr>
          <a:xfrm>
            <a:off x="1678028" y="836684"/>
            <a:ext cx="2893972" cy="68015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FF0000"/>
                </a:solidFill>
                <a:effectLst/>
                <a:uLnTx/>
                <a:uFillTx/>
                <a:latin typeface="Lato"/>
                <a:ea typeface="Lato"/>
                <a:cs typeface="Lato"/>
                <a:sym typeface="Lato"/>
              </a:rPr>
              <a:t>FOR </a:t>
            </a:r>
            <a:r>
              <a:rPr lang="en-US" dirty="0">
                <a:solidFill>
                  <a:srgbClr val="FF0000"/>
                </a:solidFill>
                <a:latin typeface="Lato"/>
                <a:ea typeface="Lato"/>
                <a:cs typeface="Lato"/>
                <a:sym typeface="Lato"/>
              </a:rPr>
              <a:t>i =</a:t>
            </a:r>
            <a:r>
              <a:rPr kumimoji="0" lang="en" b="0" i="0" u="none" strike="noStrike" kern="0" cap="none" spc="0" normalizeH="0" baseline="0" noProof="0" dirty="0">
                <a:ln>
                  <a:noFill/>
                </a:ln>
                <a:solidFill>
                  <a:srgbClr val="FF0000"/>
                </a:solidFill>
                <a:effectLst/>
                <a:uLnTx/>
                <a:uFillTx/>
                <a:latin typeface="Lato"/>
                <a:ea typeface="Lato"/>
                <a:cs typeface="Lato"/>
                <a:sym typeface="Lato"/>
              </a:rPr>
              <a:t> 1 TO 10M</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0000"/>
                </a:solidFill>
                <a:latin typeface="Lato"/>
                <a:ea typeface="Lato"/>
                <a:cs typeface="Lato"/>
                <a:sym typeface="Lato"/>
              </a:rPr>
              <a:t>      </a:t>
            </a:r>
            <a:r>
              <a:rPr lang="en" b="1" dirty="0">
                <a:solidFill>
                  <a:srgbClr val="FF0000"/>
                </a:solidFill>
                <a:latin typeface="Lato"/>
                <a:ea typeface="Lato"/>
                <a:cs typeface="Lato"/>
                <a:sym typeface="Lato"/>
              </a:rPr>
              <a:t>INSERT</a:t>
            </a:r>
            <a:r>
              <a:rPr lang="en" dirty="0">
                <a:solidFill>
                  <a:srgbClr val="FF0000"/>
                </a:solidFill>
                <a:latin typeface="Lato"/>
                <a:ea typeface="Lato"/>
                <a:cs typeface="Lato"/>
                <a:sym typeface="Lato"/>
              </a:rPr>
              <a:t> …</a:t>
            </a:r>
            <a:endParaRPr kumimoji="0" b="0" i="0" u="none" strike="noStrike" kern="0" cap="none" spc="0" normalizeH="0" baseline="0" noProof="0" dirty="0">
              <a:ln>
                <a:noFill/>
              </a:ln>
              <a:solidFill>
                <a:srgbClr val="FF0000"/>
              </a:solidFill>
              <a:effectLst/>
              <a:uLnTx/>
              <a:uFillTx/>
              <a:latin typeface="Lato"/>
              <a:ea typeface="Lato"/>
              <a:cs typeface="Lato"/>
              <a:sym typeface="Lato"/>
            </a:endParaRPr>
          </a:p>
        </p:txBody>
      </p:sp>
      <p:pic>
        <p:nvPicPr>
          <p:cNvPr id="20" name="Picture 19">
            <a:extLst>
              <a:ext uri="{FF2B5EF4-FFF2-40B4-BE49-F238E27FC236}">
                <a16:creationId xmlns:a16="http://schemas.microsoft.com/office/drawing/2014/main" id="{6CE729C3-1655-860E-BE1E-710E9FF09B67}"/>
              </a:ext>
            </a:extLst>
          </p:cNvPr>
          <p:cNvPicPr>
            <a:picLocks noChangeAspect="1"/>
          </p:cNvPicPr>
          <p:nvPr/>
        </p:nvPicPr>
        <p:blipFill>
          <a:blip r:embed="rId5"/>
          <a:stretch>
            <a:fillRect/>
          </a:stretch>
        </p:blipFill>
        <p:spPr>
          <a:xfrm>
            <a:off x="1675305" y="1879527"/>
            <a:ext cx="1095528" cy="181000"/>
          </a:xfrm>
          <a:prstGeom prst="rect">
            <a:avLst/>
          </a:prstGeom>
        </p:spPr>
      </p:pic>
      <p:sp>
        <p:nvSpPr>
          <p:cNvPr id="22" name="Google Shape;248;p56">
            <a:extLst>
              <a:ext uri="{FF2B5EF4-FFF2-40B4-BE49-F238E27FC236}">
                <a16:creationId xmlns:a16="http://schemas.microsoft.com/office/drawing/2014/main" id="{B6CFEC0D-C827-E7F0-625C-E523990A71F7}"/>
              </a:ext>
            </a:extLst>
          </p:cNvPr>
          <p:cNvSpPr txBox="1"/>
          <p:nvPr/>
        </p:nvSpPr>
        <p:spPr>
          <a:xfrm>
            <a:off x="2087313" y="1995077"/>
            <a:ext cx="635567" cy="36160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or</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24" name="Picture 23">
            <a:extLst>
              <a:ext uri="{FF2B5EF4-FFF2-40B4-BE49-F238E27FC236}">
                <a16:creationId xmlns:a16="http://schemas.microsoft.com/office/drawing/2014/main" id="{A55AAF9C-ECDD-9ADD-CA04-85162D4031D0}"/>
              </a:ext>
            </a:extLst>
          </p:cNvPr>
          <p:cNvPicPr>
            <a:picLocks noChangeAspect="1"/>
          </p:cNvPicPr>
          <p:nvPr/>
        </p:nvPicPr>
        <p:blipFill>
          <a:blip r:embed="rId5"/>
          <a:stretch>
            <a:fillRect/>
          </a:stretch>
        </p:blipFill>
        <p:spPr>
          <a:xfrm>
            <a:off x="2703071" y="2310740"/>
            <a:ext cx="1095528" cy="181000"/>
          </a:xfrm>
          <a:prstGeom prst="rect">
            <a:avLst/>
          </a:prstGeom>
        </p:spPr>
      </p:pic>
      <p:pic>
        <p:nvPicPr>
          <p:cNvPr id="26" name="Picture 25">
            <a:extLst>
              <a:ext uri="{FF2B5EF4-FFF2-40B4-BE49-F238E27FC236}">
                <a16:creationId xmlns:a16="http://schemas.microsoft.com/office/drawing/2014/main" id="{1B741E84-A764-6965-B8F2-75909A44E401}"/>
              </a:ext>
            </a:extLst>
          </p:cNvPr>
          <p:cNvPicPr>
            <a:picLocks noChangeAspect="1"/>
          </p:cNvPicPr>
          <p:nvPr/>
        </p:nvPicPr>
        <p:blipFill>
          <a:blip r:embed="rId6"/>
          <a:stretch>
            <a:fillRect/>
          </a:stretch>
        </p:blipFill>
        <p:spPr>
          <a:xfrm>
            <a:off x="2150544" y="2305786"/>
            <a:ext cx="552527" cy="181000"/>
          </a:xfrm>
          <a:prstGeom prst="rect">
            <a:avLst/>
          </a:prstGeom>
        </p:spPr>
      </p:pic>
      <p:pic>
        <p:nvPicPr>
          <p:cNvPr id="28" name="Picture 27">
            <a:extLst>
              <a:ext uri="{FF2B5EF4-FFF2-40B4-BE49-F238E27FC236}">
                <a16:creationId xmlns:a16="http://schemas.microsoft.com/office/drawing/2014/main" id="{E407AA1E-C1A4-9D77-AD20-F15A684935F9}"/>
              </a:ext>
            </a:extLst>
          </p:cNvPr>
          <p:cNvPicPr>
            <a:picLocks noChangeAspect="1"/>
          </p:cNvPicPr>
          <p:nvPr/>
        </p:nvPicPr>
        <p:blipFill>
          <a:blip r:embed="rId6"/>
          <a:stretch>
            <a:fillRect/>
          </a:stretch>
        </p:blipFill>
        <p:spPr>
          <a:xfrm>
            <a:off x="1588919" y="2310740"/>
            <a:ext cx="552527" cy="181000"/>
          </a:xfrm>
          <a:prstGeom prst="rect">
            <a:avLst/>
          </a:prstGeom>
        </p:spPr>
      </p:pic>
      <p:pic>
        <p:nvPicPr>
          <p:cNvPr id="32" name="Picture 3">
            <a:extLst>
              <a:ext uri="{FF2B5EF4-FFF2-40B4-BE49-F238E27FC236}">
                <a16:creationId xmlns:a16="http://schemas.microsoft.com/office/drawing/2014/main" id="{27F7CFB0-0861-9AE5-64B6-E6CB8334E8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12082" y="1243006"/>
            <a:ext cx="875001" cy="547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2">
            <a:extLst>
              <a:ext uri="{FF2B5EF4-FFF2-40B4-BE49-F238E27FC236}">
                <a16:creationId xmlns:a16="http://schemas.microsoft.com/office/drawing/2014/main" id="{16909AE0-0A64-DE5C-C1A2-DF1AA07423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0368" y="1625879"/>
            <a:ext cx="374248" cy="25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3">
            <a:extLst>
              <a:ext uri="{FF2B5EF4-FFF2-40B4-BE49-F238E27FC236}">
                <a16:creationId xmlns:a16="http://schemas.microsoft.com/office/drawing/2014/main" id="{99B6220F-6E89-B362-FEC7-A8512C96C00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4926" y="1401161"/>
            <a:ext cx="356076" cy="25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9">
            <a:extLst>
              <a:ext uri="{FF2B5EF4-FFF2-40B4-BE49-F238E27FC236}">
                <a16:creationId xmlns:a16="http://schemas.microsoft.com/office/drawing/2014/main" id="{B7CA58C4-DA47-6AEE-780A-27BB880696D7}"/>
              </a:ext>
            </a:extLst>
          </p:cNvPr>
          <p:cNvPicPr>
            <a:picLocks noChangeAspect="1"/>
          </p:cNvPicPr>
          <p:nvPr/>
        </p:nvPicPr>
        <p:blipFill>
          <a:blip r:embed="rId10"/>
          <a:stretch>
            <a:fillRect/>
          </a:stretch>
        </p:blipFill>
        <p:spPr>
          <a:xfrm>
            <a:off x="5539387" y="910017"/>
            <a:ext cx="760981" cy="845067"/>
          </a:xfrm>
          <a:prstGeom prst="rect">
            <a:avLst/>
          </a:prstGeom>
        </p:spPr>
      </p:pic>
      <p:pic>
        <p:nvPicPr>
          <p:cNvPr id="34" name="Picture 6">
            <a:extLst>
              <a:ext uri="{FF2B5EF4-FFF2-40B4-BE49-F238E27FC236}">
                <a16:creationId xmlns:a16="http://schemas.microsoft.com/office/drawing/2014/main" id="{4CE8330E-3A53-ACD8-3BD0-C0BECA79D630}"/>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4455" y="1326086"/>
            <a:ext cx="702581" cy="56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 name="Picture 41">
            <a:extLst>
              <a:ext uri="{FF2B5EF4-FFF2-40B4-BE49-F238E27FC236}">
                <a16:creationId xmlns:a16="http://schemas.microsoft.com/office/drawing/2014/main" id="{E40A1301-63FB-B5DF-F02D-5B54E04C601C}"/>
              </a:ext>
            </a:extLst>
          </p:cNvPr>
          <p:cNvPicPr>
            <a:picLocks noChangeAspect="1"/>
          </p:cNvPicPr>
          <p:nvPr/>
        </p:nvPicPr>
        <p:blipFill>
          <a:blip r:embed="rId10"/>
          <a:stretch>
            <a:fillRect/>
          </a:stretch>
        </p:blipFill>
        <p:spPr>
          <a:xfrm>
            <a:off x="7661064" y="1996737"/>
            <a:ext cx="760981" cy="845067"/>
          </a:xfrm>
          <a:prstGeom prst="rect">
            <a:avLst/>
          </a:prstGeom>
        </p:spPr>
      </p:pic>
      <p:pic>
        <p:nvPicPr>
          <p:cNvPr id="30" name="Picture 5">
            <a:extLst>
              <a:ext uri="{FF2B5EF4-FFF2-40B4-BE49-F238E27FC236}">
                <a16:creationId xmlns:a16="http://schemas.microsoft.com/office/drawing/2014/main" id="{E190F658-5F6E-2D9B-205A-18E4F89B7279}"/>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13789" y="1707786"/>
            <a:ext cx="868561" cy="747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 name="Rectangle: Rounded Corners 47">
            <a:extLst>
              <a:ext uri="{FF2B5EF4-FFF2-40B4-BE49-F238E27FC236}">
                <a16:creationId xmlns:a16="http://schemas.microsoft.com/office/drawing/2014/main" id="{81122F09-73EF-EB8C-8C0C-2B5D1335973C}"/>
              </a:ext>
            </a:extLst>
          </p:cNvPr>
          <p:cNvSpPr/>
          <p:nvPr/>
        </p:nvSpPr>
        <p:spPr>
          <a:xfrm>
            <a:off x="5725127" y="2574642"/>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Rounded Corners 49">
            <a:extLst>
              <a:ext uri="{FF2B5EF4-FFF2-40B4-BE49-F238E27FC236}">
                <a16:creationId xmlns:a16="http://schemas.microsoft.com/office/drawing/2014/main" id="{9985F263-7C4B-00DB-BF97-005C466E9D9C}"/>
              </a:ext>
            </a:extLst>
          </p:cNvPr>
          <p:cNvSpPr/>
          <p:nvPr/>
        </p:nvSpPr>
        <p:spPr>
          <a:xfrm>
            <a:off x="5725127" y="3088550"/>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Google Shape;248;p56">
            <a:extLst>
              <a:ext uri="{FF2B5EF4-FFF2-40B4-BE49-F238E27FC236}">
                <a16:creationId xmlns:a16="http://schemas.microsoft.com/office/drawing/2014/main" id="{F09077F7-86D3-9CB0-229D-48C1D9EB0DE2}"/>
              </a:ext>
            </a:extLst>
          </p:cNvPr>
          <p:cNvSpPr txBox="1"/>
          <p:nvPr/>
        </p:nvSpPr>
        <p:spPr>
          <a:xfrm>
            <a:off x="5725129" y="3047867"/>
            <a:ext cx="207174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4.)  [ run time libraries ]</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44" name="Google Shape;248;p56">
            <a:extLst>
              <a:ext uri="{FF2B5EF4-FFF2-40B4-BE49-F238E27FC236}">
                <a16:creationId xmlns:a16="http://schemas.microsoft.com/office/drawing/2014/main" id="{18CB4DBE-E048-B13F-2663-A5E411D8D584}"/>
              </a:ext>
            </a:extLst>
          </p:cNvPr>
          <p:cNvSpPr txBox="1"/>
          <p:nvPr/>
        </p:nvSpPr>
        <p:spPr>
          <a:xfrm>
            <a:off x="5725129" y="2534201"/>
            <a:ext cx="207174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1.) parser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52" name="Google Shape;248;p56">
            <a:extLst>
              <a:ext uri="{FF2B5EF4-FFF2-40B4-BE49-F238E27FC236}">
                <a16:creationId xmlns:a16="http://schemas.microsoft.com/office/drawing/2014/main" id="{CDA7CA68-8D0A-3D6F-FF16-B5FA6E540BBC}"/>
              </a:ext>
            </a:extLst>
          </p:cNvPr>
          <p:cNvSpPr txBox="1"/>
          <p:nvPr/>
        </p:nvSpPr>
        <p:spPr>
          <a:xfrm>
            <a:off x="1759312" y="2983553"/>
            <a:ext cx="2893972" cy="82173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1" i="0" u="none" strike="noStrike" kern="0" cap="none" spc="0" normalizeH="0" baseline="0" noProof="0" dirty="0">
                <a:ln>
                  <a:noFill/>
                </a:ln>
                <a:solidFill>
                  <a:srgbClr val="00B0F0"/>
                </a:solidFill>
                <a:effectLst/>
                <a:uLnTx/>
                <a:uFillTx/>
                <a:latin typeface="Lato"/>
                <a:ea typeface="Lato"/>
                <a:cs typeface="Lato"/>
                <a:sym typeface="Lato"/>
              </a:rPr>
              <a:t>PREPARE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B0F0"/>
                </a:solidFill>
                <a:effectLst/>
                <a:uLnTx/>
                <a:uFillTx/>
                <a:latin typeface="Lato"/>
                <a:ea typeface="Lato"/>
                <a:cs typeface="Lato"/>
                <a:sym typeface="Lato"/>
              </a:rPr>
              <a:t>FOR </a:t>
            </a:r>
            <a:r>
              <a:rPr lang="en-US" sz="1200" dirty="0">
                <a:solidFill>
                  <a:srgbClr val="00B0F0"/>
                </a:solidFill>
                <a:latin typeface="Lato"/>
                <a:ea typeface="Lato"/>
                <a:cs typeface="Lato"/>
                <a:sym typeface="Lato"/>
              </a:rPr>
              <a:t>i =</a:t>
            </a:r>
            <a:r>
              <a:rPr kumimoji="0" lang="en" sz="1200" b="0" i="0" u="none" strike="noStrike" kern="0" cap="none" spc="0" normalizeH="0" baseline="0" noProof="0" dirty="0">
                <a:ln>
                  <a:noFill/>
                </a:ln>
                <a:solidFill>
                  <a:srgbClr val="00B0F0"/>
                </a:solidFill>
                <a:effectLst/>
                <a:uLnTx/>
                <a:uFillTx/>
                <a:latin typeface="Lato"/>
                <a:ea typeface="Lato"/>
                <a:cs typeface="Lato"/>
                <a:sym typeface="Lato"/>
              </a:rPr>
              <a:t> 1 TO 10M</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solidFill>
                  <a:srgbClr val="00B0F0"/>
                </a:solidFill>
                <a:latin typeface="Lato"/>
                <a:ea typeface="Lato"/>
                <a:cs typeface="Lato"/>
                <a:sym typeface="Lato"/>
              </a:rPr>
              <a:t>      </a:t>
            </a:r>
            <a:r>
              <a:rPr lang="en" sz="1200" b="1" dirty="0">
                <a:solidFill>
                  <a:srgbClr val="00B0F0"/>
                </a:solidFill>
                <a:latin typeface="Lato"/>
                <a:ea typeface="Lato"/>
                <a:cs typeface="Lato"/>
                <a:sym typeface="Lato"/>
              </a:rPr>
              <a:t>EXECUTE</a:t>
            </a:r>
            <a:r>
              <a:rPr lang="en" sz="1200" dirty="0">
                <a:solidFill>
                  <a:srgbClr val="00B0F0"/>
                </a:solidFill>
                <a:latin typeface="Lato"/>
                <a:ea typeface="Lato"/>
                <a:cs typeface="Lato"/>
                <a:sym typeface="Lato"/>
              </a:rPr>
              <a:t> …</a:t>
            </a:r>
            <a:endParaRPr kumimoji="0" sz="120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54" name="Google Shape;248;p56">
            <a:extLst>
              <a:ext uri="{FF2B5EF4-FFF2-40B4-BE49-F238E27FC236}">
                <a16:creationId xmlns:a16="http://schemas.microsoft.com/office/drawing/2014/main" id="{94E80FA7-84D9-68E4-169F-0E4E0F4D6EB9}"/>
              </a:ext>
            </a:extLst>
          </p:cNvPr>
          <p:cNvSpPr txBox="1"/>
          <p:nvPr/>
        </p:nvSpPr>
        <p:spPr>
          <a:xfrm>
            <a:off x="3732021" y="952044"/>
            <a:ext cx="135556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FF0000"/>
                </a:solidFill>
                <a:effectLst/>
                <a:uLnTx/>
                <a:uFillTx/>
                <a:latin typeface="Lato"/>
                <a:ea typeface="Lato"/>
                <a:cs typeface="Lato"/>
                <a:sym typeface="Lato"/>
              </a:rPr>
              <a:t>120 seconds ?</a:t>
            </a:r>
            <a:endParaRPr kumimoji="0" b="0" i="0" u="none" strike="noStrike" kern="0" cap="none" spc="0" normalizeH="0" baseline="0" noProof="0" dirty="0">
              <a:ln>
                <a:noFill/>
              </a:ln>
              <a:solidFill>
                <a:srgbClr val="FF0000"/>
              </a:solidFill>
              <a:effectLst/>
              <a:uLnTx/>
              <a:uFillTx/>
              <a:latin typeface="Lato"/>
              <a:ea typeface="Lato"/>
              <a:cs typeface="Lato"/>
              <a:sym typeface="Lato"/>
            </a:endParaRPr>
          </a:p>
        </p:txBody>
      </p:sp>
      <p:sp>
        <p:nvSpPr>
          <p:cNvPr id="56" name="Google Shape;248;p56">
            <a:extLst>
              <a:ext uri="{FF2B5EF4-FFF2-40B4-BE49-F238E27FC236}">
                <a16:creationId xmlns:a16="http://schemas.microsoft.com/office/drawing/2014/main" id="{1CFBB829-4EF3-2260-034E-5169B9B1877F}"/>
              </a:ext>
            </a:extLst>
          </p:cNvPr>
          <p:cNvSpPr txBox="1"/>
          <p:nvPr/>
        </p:nvSpPr>
        <p:spPr>
          <a:xfrm>
            <a:off x="3688291" y="3178221"/>
            <a:ext cx="135556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rgbClr val="00B0F0"/>
                </a:solidFill>
                <a:latin typeface="Lato"/>
                <a:ea typeface="Lato"/>
                <a:cs typeface="Lato"/>
                <a:sym typeface="Lato"/>
              </a:rPr>
              <a:t>8  </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seconds ?</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Tree>
    <p:extLst>
      <p:ext uri="{BB962C8B-B14F-4D97-AF65-F5344CB8AC3E}">
        <p14:creationId xmlns:p14="http://schemas.microsoft.com/office/powerpoint/2010/main" val="242834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4B93E2D-8EC6-ACE9-134B-3572C0B3B70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3D437E1-3EBA-90A3-9861-9055D282E38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what constitutes a query (execution)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D8ADFEE-5350-5312-EFE2-457E4F9390C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C7FA8E97-07D4-2D9C-D03A-9FC7CD6CDF75}"/>
              </a:ext>
            </a:extLst>
          </p:cNvPr>
          <p:cNvSpPr txBox="1"/>
          <p:nvPr/>
        </p:nvSpPr>
        <p:spPr>
          <a:xfrm>
            <a:off x="258000" y="932539"/>
            <a:ext cx="8272606" cy="3086969"/>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1"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solidFill>
                  <a:srgbClr val="00B0F0"/>
                </a:solidFill>
                <a:latin typeface="Lato"/>
                <a:ea typeface="Lato"/>
                <a:cs typeface="Lato"/>
                <a:sym typeface="Lato"/>
              </a:rPr>
              <a:t>join method  </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i="1" dirty="0">
                <a:solidFill>
                  <a:srgbClr val="00B0F0"/>
                </a:solidFill>
                <a:latin typeface="Lato"/>
                <a:ea typeface="Lato"/>
                <a:cs typeface="Lato"/>
                <a:sym typeface="Lato"/>
              </a:rPr>
              <a:t>t</a:t>
            </a:r>
            <a:r>
              <a:rPr kumimoji="0" lang="en" b="0" i="1" u="none" strike="noStrike" kern="0" cap="none" spc="0" normalizeH="0" baseline="0" noProof="0" dirty="0">
                <a:ln>
                  <a:noFill/>
                </a:ln>
                <a:solidFill>
                  <a:srgbClr val="00B0F0"/>
                </a:solidFill>
                <a:effectLst/>
                <a:uLnTx/>
                <a:uFillTx/>
                <a:latin typeface="Lato"/>
                <a:ea typeface="Lato"/>
                <a:cs typeface="Lato"/>
                <a:sym typeface="Lato"/>
              </a:rPr>
              <a:t>able order</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 dirty="0">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predicate pushdown, filter placement</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aggregation strategy</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sort elimination  (sort pipelining)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subquery transformation</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materialization versus pi</a:t>
            </a:r>
            <a:r>
              <a:rPr lang="en-US" sz="1200" dirty="0">
                <a:solidFill>
                  <a:schemeClr val="bg1">
                    <a:lumMod val="50000"/>
                  </a:schemeClr>
                </a:solidFill>
                <a:latin typeface="Lato"/>
                <a:ea typeface="Lato"/>
                <a:cs typeface="Lato"/>
                <a:sym typeface="Lato"/>
              </a:rPr>
              <a:t>pe lining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parallel execution planning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partition pruning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constants folding, expression simplification</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view/CTE inlining</a:t>
            </a:r>
            <a:endParaRPr kumimoji="0" sz="120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4046421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A0D5C05-42D1-9DED-0855-918185829794}"/>
            </a:ext>
          </a:extLst>
        </p:cNvPr>
        <p:cNvGrpSpPr/>
        <p:nvPr/>
      </p:nvGrpSpPr>
      <p:grpSpPr>
        <a:xfrm>
          <a:off x="0" y="0"/>
          <a:ext cx="0" cy="0"/>
          <a:chOff x="0" y="0"/>
          <a:chExt cx="0" cy="0"/>
        </a:xfrm>
      </p:grpSpPr>
      <p:sp>
        <p:nvSpPr>
          <p:cNvPr id="305" name="Google Shape;248;p56">
            <a:extLst>
              <a:ext uri="{FF2B5EF4-FFF2-40B4-BE49-F238E27FC236}">
                <a16:creationId xmlns:a16="http://schemas.microsoft.com/office/drawing/2014/main" id="{47CDDE15-8099-D2D9-8DBA-6550455EBB4E}"/>
              </a:ext>
            </a:extLst>
          </p:cNvPr>
          <p:cNvSpPr txBox="1"/>
          <p:nvPr/>
        </p:nvSpPr>
        <p:spPr>
          <a:xfrm>
            <a:off x="4107233" y="3299552"/>
            <a:ext cx="5036767" cy="1600408"/>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index types:</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b-tree+, (implied above) the oldest sql index type, volatile data, equality and range </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hash, second oldest, most performant, equality yes, range no</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lsm, log structured merge-tree, modern choice (index ordered tables)</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gin</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bitmap</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   (other)</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000" b="0" i="1"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42" name="Google Shape;242;p56">
            <a:extLst>
              <a:ext uri="{FF2B5EF4-FFF2-40B4-BE49-F238E27FC236}">
                <a16:creationId xmlns:a16="http://schemas.microsoft.com/office/drawing/2014/main" id="{4E2A3958-6104-F951-1739-2F7DA1D00E2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file access methods, (traditionally, all databases)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950D459-8BA6-7B12-75A4-134442C3E70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CF6ED86-DA53-3D9E-3159-D82C12EC8CC3}"/>
              </a:ext>
            </a:extLst>
          </p:cNvPr>
          <p:cNvSpPr txBox="1"/>
          <p:nvPr/>
        </p:nvSpPr>
        <p:spPr>
          <a:xfrm>
            <a:off x="315981" y="1244428"/>
            <a:ext cx="3908689"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rgbClr val="000000"/>
                </a:solidFill>
                <a:effectLst/>
                <a:uLnTx/>
                <a:uFillTx/>
                <a:latin typeface="Lato"/>
                <a:ea typeface="Lato"/>
                <a:cs typeface="Lato"/>
                <a:sym typeface="Lato"/>
              </a:rPr>
              <a:t>sequential scan   </a:t>
            </a:r>
            <a:r>
              <a:rPr kumimoji="0" lang="en" b="0" i="0" u="none" strike="noStrike" kern="0" cap="none" spc="0" normalizeH="0" baseline="0" noProof="0" dirty="0">
                <a:ln>
                  <a:noFill/>
                </a:ln>
                <a:solidFill>
                  <a:srgbClr val="000000"/>
                </a:solidFill>
                <a:effectLst/>
                <a:uLnTx/>
                <a:uFillTx/>
                <a:latin typeface="Lato"/>
                <a:ea typeface="Lato"/>
                <a:cs typeface="Lato"/>
                <a:sym typeface="Lato"/>
              </a:rPr>
              <a:t>( O ( n ))</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14AA88AF-4CAB-5676-FFD7-98A9673EB908}"/>
              </a:ext>
            </a:extLst>
          </p:cNvPr>
          <p:cNvSpPr txBox="1"/>
          <p:nvPr/>
        </p:nvSpPr>
        <p:spPr>
          <a:xfrm>
            <a:off x="4179311" y="996348"/>
            <a:ext cx="3908689"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rgbClr val="000000"/>
                </a:solidFill>
                <a:effectLst/>
                <a:uLnTx/>
                <a:uFillTx/>
                <a:latin typeface="Lato"/>
                <a:ea typeface="Lato"/>
                <a:cs typeface="Lato"/>
                <a:sym typeface="Lato"/>
              </a:rPr>
              <a:t>index lookup   </a:t>
            </a:r>
            <a:r>
              <a:rPr kumimoji="0" lang="en" b="0" i="0" u="none" strike="noStrike" kern="0" cap="none" spc="0" normalizeH="0" baseline="0" noProof="0" dirty="0">
                <a:ln>
                  <a:noFill/>
                </a:ln>
                <a:solidFill>
                  <a:srgbClr val="000000"/>
                </a:solidFill>
                <a:effectLst/>
                <a:uLnTx/>
                <a:uFillTx/>
                <a:latin typeface="Lato"/>
                <a:ea typeface="Lato"/>
                <a:cs typeface="Lato"/>
                <a:sym typeface="Lato"/>
              </a:rPr>
              <a:t>( O ( log n ))    </a:t>
            </a:r>
            <a:r>
              <a:rPr kumimoji="0" lang="en" sz="1200" b="0" i="1" u="none" strike="noStrike" kern="0" cap="none" spc="0" normalizeH="0" baseline="0" noProof="0" dirty="0">
                <a:ln>
                  <a:noFill/>
                </a:ln>
                <a:solidFill>
                  <a:srgbClr val="000000"/>
                </a:solidFill>
                <a:effectLst/>
                <a:uLnTx/>
                <a:uFillTx/>
                <a:latin typeface="Lato"/>
                <a:ea typeface="Lato"/>
                <a:cs typeface="Lato"/>
                <a:sym typeface="Lato"/>
              </a:rPr>
              <a:t>much better at scale</a:t>
            </a:r>
            <a:endParaRPr kumimoji="0" sz="1200" b="0" i="1"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22E16BC9-D0B9-E89D-5197-C045E7E0CA17}"/>
              </a:ext>
            </a:extLst>
          </p:cNvPr>
          <p:cNvSpPr txBox="1"/>
          <p:nvPr/>
        </p:nvSpPr>
        <p:spPr>
          <a:xfrm>
            <a:off x="663311" y="679628"/>
            <a:ext cx="3908689" cy="50318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1" i="0" u="none" strike="noStrike" kern="0" cap="none" spc="0" normalizeH="0" baseline="0" noProof="0" dirty="0">
                <a:ln>
                  <a:noFill/>
                </a:ln>
                <a:solidFill>
                  <a:srgbClr val="000000"/>
                </a:solidFill>
                <a:effectLst/>
                <a:uLnTx/>
                <a:uFillTx/>
                <a:latin typeface="Lato"/>
                <a:ea typeface="Lato"/>
                <a:cs typeface="Lato"/>
                <a:sym typeface="Lato"/>
              </a:rPr>
              <a:t>.. WHERE prod_name = 'Mustard'</a:t>
            </a:r>
            <a:endParaRPr kumimoji="0" sz="1800" b="1"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Rectangle 7">
            <a:extLst>
              <a:ext uri="{FF2B5EF4-FFF2-40B4-BE49-F238E27FC236}">
                <a16:creationId xmlns:a16="http://schemas.microsoft.com/office/drawing/2014/main" id="{AE63787B-6FE9-85A6-0291-7DA11F92A5E9}"/>
              </a:ext>
            </a:extLst>
          </p:cNvPr>
          <p:cNvSpPr/>
          <p:nvPr/>
        </p:nvSpPr>
        <p:spPr>
          <a:xfrm>
            <a:off x="557455" y="1676076"/>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25D5F95-EE36-C1C1-2BC1-CD7CBE31AA60}"/>
              </a:ext>
            </a:extLst>
          </p:cNvPr>
          <p:cNvCxnSpPr/>
          <p:nvPr/>
        </p:nvCxnSpPr>
        <p:spPr>
          <a:xfrm>
            <a:off x="557455" y="219168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8542B8D-0A35-4E08-D0A9-3E40831A5331}"/>
              </a:ext>
            </a:extLst>
          </p:cNvPr>
          <p:cNvCxnSpPr/>
          <p:nvPr/>
        </p:nvCxnSpPr>
        <p:spPr>
          <a:xfrm>
            <a:off x="557455" y="182724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125165B-624E-A78A-67A8-4CA172940136}"/>
              </a:ext>
            </a:extLst>
          </p:cNvPr>
          <p:cNvCxnSpPr/>
          <p:nvPr/>
        </p:nvCxnSpPr>
        <p:spPr>
          <a:xfrm>
            <a:off x="557455" y="200946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871082-5858-26E2-2223-0E46CC0308D4}"/>
              </a:ext>
            </a:extLst>
          </p:cNvPr>
          <p:cNvCxnSpPr/>
          <p:nvPr/>
        </p:nvCxnSpPr>
        <p:spPr>
          <a:xfrm>
            <a:off x="557455" y="2373902"/>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F73F66-5F9D-6215-AE86-E49838783C00}"/>
              </a:ext>
            </a:extLst>
          </p:cNvPr>
          <p:cNvCxnSpPr/>
          <p:nvPr/>
        </p:nvCxnSpPr>
        <p:spPr>
          <a:xfrm>
            <a:off x="557455" y="310277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BB388A-67CC-AD6E-7F39-C47568E26B34}"/>
              </a:ext>
            </a:extLst>
          </p:cNvPr>
          <p:cNvCxnSpPr/>
          <p:nvPr/>
        </p:nvCxnSpPr>
        <p:spPr>
          <a:xfrm>
            <a:off x="557455" y="292055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4CCF38-5245-0A3D-89E0-63AA1C9F5DA7}"/>
              </a:ext>
            </a:extLst>
          </p:cNvPr>
          <p:cNvCxnSpPr/>
          <p:nvPr/>
        </p:nvCxnSpPr>
        <p:spPr>
          <a:xfrm>
            <a:off x="557455" y="273833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F60D7AB-CCC5-C9B1-AFDC-DB7FE19A7B00}"/>
              </a:ext>
            </a:extLst>
          </p:cNvPr>
          <p:cNvCxnSpPr/>
          <p:nvPr/>
        </p:nvCxnSpPr>
        <p:spPr>
          <a:xfrm>
            <a:off x="2109888" y="1669088"/>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89E3495-FC80-E406-76EA-F5B00015E19A}"/>
              </a:ext>
            </a:extLst>
          </p:cNvPr>
          <p:cNvSpPr txBox="1"/>
          <p:nvPr/>
        </p:nvSpPr>
        <p:spPr>
          <a:xfrm>
            <a:off x="2365728" y="30744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18" name="TextBox 17">
            <a:extLst>
              <a:ext uri="{FF2B5EF4-FFF2-40B4-BE49-F238E27FC236}">
                <a16:creationId xmlns:a16="http://schemas.microsoft.com/office/drawing/2014/main" id="{8CF274F9-68DA-4E51-907A-C6805EEC9B52}"/>
              </a:ext>
            </a:extLst>
          </p:cNvPr>
          <p:cNvSpPr txBox="1"/>
          <p:nvPr/>
        </p:nvSpPr>
        <p:spPr>
          <a:xfrm>
            <a:off x="2109888" y="2157972"/>
            <a:ext cx="638316" cy="246221"/>
          </a:xfrm>
          <a:prstGeom prst="rect">
            <a:avLst/>
          </a:prstGeom>
          <a:noFill/>
        </p:spPr>
        <p:txBody>
          <a:bodyPr wrap="none" rtlCol="0">
            <a:spAutoFit/>
          </a:bodyPr>
          <a:lstStyle/>
          <a:p>
            <a:r>
              <a:rPr lang="en-US" sz="1000" b="1" dirty="0">
                <a:solidFill>
                  <a:schemeClr val="bg1">
                    <a:lumMod val="50000"/>
                  </a:schemeClr>
                </a:solidFill>
              </a:rPr>
              <a:t>Cheese</a:t>
            </a:r>
          </a:p>
        </p:txBody>
      </p:sp>
      <p:sp>
        <p:nvSpPr>
          <p:cNvPr id="19" name="TextBox 18">
            <a:extLst>
              <a:ext uri="{FF2B5EF4-FFF2-40B4-BE49-F238E27FC236}">
                <a16:creationId xmlns:a16="http://schemas.microsoft.com/office/drawing/2014/main" id="{6012A129-8FDB-2E1E-DD5A-960C4147C95C}"/>
              </a:ext>
            </a:extLst>
          </p:cNvPr>
          <p:cNvSpPr txBox="1"/>
          <p:nvPr/>
        </p:nvSpPr>
        <p:spPr>
          <a:xfrm>
            <a:off x="2109888" y="1974669"/>
            <a:ext cx="546945" cy="246221"/>
          </a:xfrm>
          <a:prstGeom prst="rect">
            <a:avLst/>
          </a:prstGeom>
          <a:noFill/>
        </p:spPr>
        <p:txBody>
          <a:bodyPr wrap="none" rtlCol="0">
            <a:spAutoFit/>
          </a:bodyPr>
          <a:lstStyle/>
          <a:p>
            <a:r>
              <a:rPr lang="en-US" sz="1000" b="1" dirty="0">
                <a:solidFill>
                  <a:schemeClr val="bg1">
                    <a:lumMod val="50000"/>
                  </a:schemeClr>
                </a:solidFill>
              </a:rPr>
              <a:t>Bread</a:t>
            </a:r>
          </a:p>
        </p:txBody>
      </p:sp>
      <p:sp>
        <p:nvSpPr>
          <p:cNvPr id="20" name="TextBox 19">
            <a:extLst>
              <a:ext uri="{FF2B5EF4-FFF2-40B4-BE49-F238E27FC236}">
                <a16:creationId xmlns:a16="http://schemas.microsoft.com/office/drawing/2014/main" id="{EA3E1286-0814-50E3-9E7C-EA5C7D370958}"/>
              </a:ext>
            </a:extLst>
          </p:cNvPr>
          <p:cNvSpPr txBox="1"/>
          <p:nvPr/>
        </p:nvSpPr>
        <p:spPr>
          <a:xfrm>
            <a:off x="2109888" y="1791366"/>
            <a:ext cx="433132" cy="246221"/>
          </a:xfrm>
          <a:prstGeom prst="rect">
            <a:avLst/>
          </a:prstGeom>
          <a:noFill/>
        </p:spPr>
        <p:txBody>
          <a:bodyPr wrap="none" rtlCol="0">
            <a:spAutoFit/>
          </a:bodyPr>
          <a:lstStyle/>
          <a:p>
            <a:r>
              <a:rPr lang="en-US" sz="1000" b="1" dirty="0">
                <a:solidFill>
                  <a:schemeClr val="bg1">
                    <a:lumMod val="50000"/>
                  </a:schemeClr>
                </a:solidFill>
              </a:rPr>
              <a:t>Milk</a:t>
            </a:r>
          </a:p>
        </p:txBody>
      </p:sp>
      <p:sp>
        <p:nvSpPr>
          <p:cNvPr id="21" name="TextBox 20">
            <a:extLst>
              <a:ext uri="{FF2B5EF4-FFF2-40B4-BE49-F238E27FC236}">
                <a16:creationId xmlns:a16="http://schemas.microsoft.com/office/drawing/2014/main" id="{912CD33F-3913-A819-947F-58BF9E5FCC2F}"/>
              </a:ext>
            </a:extLst>
          </p:cNvPr>
          <p:cNvSpPr txBox="1"/>
          <p:nvPr/>
        </p:nvSpPr>
        <p:spPr>
          <a:xfrm>
            <a:off x="2109888" y="1608063"/>
            <a:ext cx="873957" cy="246221"/>
          </a:xfrm>
          <a:prstGeom prst="rect">
            <a:avLst/>
          </a:prstGeom>
          <a:noFill/>
        </p:spPr>
        <p:txBody>
          <a:bodyPr wrap="none" rtlCol="0">
            <a:spAutoFit/>
          </a:bodyPr>
          <a:lstStyle/>
          <a:p>
            <a:r>
              <a:rPr lang="en-US" sz="1000" b="1" dirty="0"/>
              <a:t>prod_name</a:t>
            </a:r>
          </a:p>
        </p:txBody>
      </p:sp>
      <p:sp>
        <p:nvSpPr>
          <p:cNvPr id="22" name="TextBox 21">
            <a:extLst>
              <a:ext uri="{FF2B5EF4-FFF2-40B4-BE49-F238E27FC236}">
                <a16:creationId xmlns:a16="http://schemas.microsoft.com/office/drawing/2014/main" id="{042B80DE-57EC-22DD-72B5-782D960367EE}"/>
              </a:ext>
            </a:extLst>
          </p:cNvPr>
          <p:cNvSpPr txBox="1"/>
          <p:nvPr/>
        </p:nvSpPr>
        <p:spPr>
          <a:xfrm>
            <a:off x="2109888" y="2891184"/>
            <a:ext cx="683200" cy="246221"/>
          </a:xfrm>
          <a:prstGeom prst="rect">
            <a:avLst/>
          </a:prstGeom>
          <a:noFill/>
        </p:spPr>
        <p:txBody>
          <a:bodyPr wrap="none" rtlCol="0">
            <a:spAutoFit/>
          </a:bodyPr>
          <a:lstStyle/>
          <a:p>
            <a:r>
              <a:rPr lang="en-US" sz="1000" b="1" dirty="0">
                <a:solidFill>
                  <a:schemeClr val="bg1">
                    <a:lumMod val="50000"/>
                  </a:schemeClr>
                </a:solidFill>
              </a:rPr>
              <a:t>Mustard</a:t>
            </a:r>
          </a:p>
        </p:txBody>
      </p:sp>
      <p:sp>
        <p:nvSpPr>
          <p:cNvPr id="23" name="TextBox 22">
            <a:extLst>
              <a:ext uri="{FF2B5EF4-FFF2-40B4-BE49-F238E27FC236}">
                <a16:creationId xmlns:a16="http://schemas.microsoft.com/office/drawing/2014/main" id="{84041B87-D89D-5B8D-C0D0-A87B5C1BF11F}"/>
              </a:ext>
            </a:extLst>
          </p:cNvPr>
          <p:cNvSpPr txBox="1"/>
          <p:nvPr/>
        </p:nvSpPr>
        <p:spPr>
          <a:xfrm>
            <a:off x="2109888" y="2707881"/>
            <a:ext cx="731290" cy="246221"/>
          </a:xfrm>
          <a:prstGeom prst="rect">
            <a:avLst/>
          </a:prstGeom>
          <a:noFill/>
        </p:spPr>
        <p:txBody>
          <a:bodyPr wrap="none" rtlCol="0">
            <a:spAutoFit/>
          </a:bodyPr>
          <a:lstStyle/>
          <a:p>
            <a:r>
              <a:rPr lang="en-US" sz="1000" b="1" dirty="0">
                <a:solidFill>
                  <a:schemeClr val="bg1">
                    <a:lumMod val="50000"/>
                  </a:schemeClr>
                </a:solidFill>
              </a:rPr>
              <a:t>Batteries</a:t>
            </a:r>
          </a:p>
        </p:txBody>
      </p:sp>
      <p:sp>
        <p:nvSpPr>
          <p:cNvPr id="24" name="TextBox 23">
            <a:extLst>
              <a:ext uri="{FF2B5EF4-FFF2-40B4-BE49-F238E27FC236}">
                <a16:creationId xmlns:a16="http://schemas.microsoft.com/office/drawing/2014/main" id="{49E56EAA-ED72-932F-79B1-9FECCEACAC6D}"/>
              </a:ext>
            </a:extLst>
          </p:cNvPr>
          <p:cNvSpPr txBox="1"/>
          <p:nvPr/>
        </p:nvSpPr>
        <p:spPr>
          <a:xfrm>
            <a:off x="2109888" y="2524578"/>
            <a:ext cx="497252" cy="246221"/>
          </a:xfrm>
          <a:prstGeom prst="rect">
            <a:avLst/>
          </a:prstGeom>
          <a:noFill/>
        </p:spPr>
        <p:txBody>
          <a:bodyPr wrap="none" rtlCol="0">
            <a:spAutoFit/>
          </a:bodyPr>
          <a:lstStyle/>
          <a:p>
            <a:r>
              <a:rPr lang="en-US" sz="1000" b="1" dirty="0">
                <a:solidFill>
                  <a:schemeClr val="bg1">
                    <a:lumMod val="50000"/>
                  </a:schemeClr>
                </a:solidFill>
              </a:rPr>
              <a:t>Eggs</a:t>
            </a:r>
          </a:p>
        </p:txBody>
      </p:sp>
      <p:sp>
        <p:nvSpPr>
          <p:cNvPr id="25" name="TextBox 24">
            <a:extLst>
              <a:ext uri="{FF2B5EF4-FFF2-40B4-BE49-F238E27FC236}">
                <a16:creationId xmlns:a16="http://schemas.microsoft.com/office/drawing/2014/main" id="{71136FCD-6583-4699-26C7-05FB01CDE80F}"/>
              </a:ext>
            </a:extLst>
          </p:cNvPr>
          <p:cNvSpPr txBox="1"/>
          <p:nvPr/>
        </p:nvSpPr>
        <p:spPr>
          <a:xfrm>
            <a:off x="2109888" y="2341275"/>
            <a:ext cx="476412" cy="246221"/>
          </a:xfrm>
          <a:prstGeom prst="rect">
            <a:avLst/>
          </a:prstGeom>
          <a:noFill/>
        </p:spPr>
        <p:txBody>
          <a:bodyPr wrap="none" rtlCol="0">
            <a:spAutoFit/>
          </a:bodyPr>
          <a:lstStyle/>
          <a:p>
            <a:r>
              <a:rPr lang="en-US" sz="1000" b="1" dirty="0">
                <a:solidFill>
                  <a:schemeClr val="bg1">
                    <a:lumMod val="50000"/>
                  </a:schemeClr>
                </a:solidFill>
              </a:rPr>
              <a:t>Meat</a:t>
            </a:r>
          </a:p>
        </p:txBody>
      </p:sp>
      <p:sp>
        <p:nvSpPr>
          <p:cNvPr id="26" name="TextBox 25">
            <a:extLst>
              <a:ext uri="{FF2B5EF4-FFF2-40B4-BE49-F238E27FC236}">
                <a16:creationId xmlns:a16="http://schemas.microsoft.com/office/drawing/2014/main" id="{D7AFA794-6D38-8F5C-216B-5F2BD5B57073}"/>
              </a:ext>
            </a:extLst>
          </p:cNvPr>
          <p:cNvSpPr txBox="1"/>
          <p:nvPr/>
        </p:nvSpPr>
        <p:spPr>
          <a:xfrm>
            <a:off x="1281043" y="30744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7" name="TextBox 26">
            <a:extLst>
              <a:ext uri="{FF2B5EF4-FFF2-40B4-BE49-F238E27FC236}">
                <a16:creationId xmlns:a16="http://schemas.microsoft.com/office/drawing/2014/main" id="{EE994418-76A3-931D-9B06-76C1046D0B4D}"/>
              </a:ext>
            </a:extLst>
          </p:cNvPr>
          <p:cNvSpPr txBox="1"/>
          <p:nvPr/>
        </p:nvSpPr>
        <p:spPr>
          <a:xfrm>
            <a:off x="1281043" y="2157972"/>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28" name="TextBox 27">
            <a:extLst>
              <a:ext uri="{FF2B5EF4-FFF2-40B4-BE49-F238E27FC236}">
                <a16:creationId xmlns:a16="http://schemas.microsoft.com/office/drawing/2014/main" id="{C1775EE7-A009-7F1E-FE8C-1A13FC156A2B}"/>
              </a:ext>
            </a:extLst>
          </p:cNvPr>
          <p:cNvSpPr txBox="1"/>
          <p:nvPr/>
        </p:nvSpPr>
        <p:spPr>
          <a:xfrm>
            <a:off x="1281043" y="1974669"/>
            <a:ext cx="396262" cy="246221"/>
          </a:xfrm>
          <a:prstGeom prst="rect">
            <a:avLst/>
          </a:prstGeom>
          <a:noFill/>
        </p:spPr>
        <p:txBody>
          <a:bodyPr wrap="none" rtlCol="0">
            <a:spAutoFit/>
          </a:bodyPr>
          <a:lstStyle/>
          <a:p>
            <a:r>
              <a:rPr lang="en-US" sz="1000" b="1" dirty="0">
                <a:solidFill>
                  <a:schemeClr val="bg1">
                    <a:lumMod val="50000"/>
                  </a:schemeClr>
                </a:solidFill>
              </a:rPr>
              <a:t>411</a:t>
            </a:r>
          </a:p>
        </p:txBody>
      </p:sp>
      <p:sp>
        <p:nvSpPr>
          <p:cNvPr id="29" name="TextBox 28">
            <a:extLst>
              <a:ext uri="{FF2B5EF4-FFF2-40B4-BE49-F238E27FC236}">
                <a16:creationId xmlns:a16="http://schemas.microsoft.com/office/drawing/2014/main" id="{BB7BB922-3771-69AF-AE7B-D2A225C00BFA}"/>
              </a:ext>
            </a:extLst>
          </p:cNvPr>
          <p:cNvSpPr txBox="1"/>
          <p:nvPr/>
        </p:nvSpPr>
        <p:spPr>
          <a:xfrm>
            <a:off x="1281043" y="1791366"/>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30" name="TextBox 29">
            <a:extLst>
              <a:ext uri="{FF2B5EF4-FFF2-40B4-BE49-F238E27FC236}">
                <a16:creationId xmlns:a16="http://schemas.microsoft.com/office/drawing/2014/main" id="{2E715EDC-270D-D219-47D4-74FF0E1DBA75}"/>
              </a:ext>
            </a:extLst>
          </p:cNvPr>
          <p:cNvSpPr txBox="1"/>
          <p:nvPr/>
        </p:nvSpPr>
        <p:spPr>
          <a:xfrm>
            <a:off x="1281043" y="1608063"/>
            <a:ext cx="811441" cy="246221"/>
          </a:xfrm>
          <a:prstGeom prst="rect">
            <a:avLst/>
          </a:prstGeom>
          <a:noFill/>
        </p:spPr>
        <p:txBody>
          <a:bodyPr wrap="none" rtlCol="0">
            <a:spAutoFit/>
          </a:bodyPr>
          <a:lstStyle/>
          <a:p>
            <a:r>
              <a:rPr lang="en-US" sz="1000" b="1" dirty="0"/>
              <a:t>prod_num</a:t>
            </a:r>
          </a:p>
        </p:txBody>
      </p:sp>
      <p:sp>
        <p:nvSpPr>
          <p:cNvPr id="31" name="TextBox 30">
            <a:extLst>
              <a:ext uri="{FF2B5EF4-FFF2-40B4-BE49-F238E27FC236}">
                <a16:creationId xmlns:a16="http://schemas.microsoft.com/office/drawing/2014/main" id="{DB0410FA-8934-182B-CC1A-42E89A055B96}"/>
              </a:ext>
            </a:extLst>
          </p:cNvPr>
          <p:cNvSpPr txBox="1"/>
          <p:nvPr/>
        </p:nvSpPr>
        <p:spPr>
          <a:xfrm>
            <a:off x="1281043" y="2891184"/>
            <a:ext cx="396262" cy="246221"/>
          </a:xfrm>
          <a:prstGeom prst="rect">
            <a:avLst/>
          </a:prstGeom>
          <a:noFill/>
        </p:spPr>
        <p:txBody>
          <a:bodyPr wrap="none" rtlCol="0">
            <a:spAutoFit/>
          </a:bodyPr>
          <a:lstStyle/>
          <a:p>
            <a:r>
              <a:rPr lang="en-US" sz="1000" b="1" dirty="0">
                <a:solidFill>
                  <a:schemeClr val="bg1">
                    <a:lumMod val="50000"/>
                  </a:schemeClr>
                </a:solidFill>
              </a:rPr>
              <a:t>444</a:t>
            </a:r>
          </a:p>
        </p:txBody>
      </p:sp>
      <p:sp>
        <p:nvSpPr>
          <p:cNvPr id="32" name="TextBox 31">
            <a:extLst>
              <a:ext uri="{FF2B5EF4-FFF2-40B4-BE49-F238E27FC236}">
                <a16:creationId xmlns:a16="http://schemas.microsoft.com/office/drawing/2014/main" id="{F1878151-2BEB-2C95-7292-FCB765D588F3}"/>
              </a:ext>
            </a:extLst>
          </p:cNvPr>
          <p:cNvSpPr txBox="1"/>
          <p:nvPr/>
        </p:nvSpPr>
        <p:spPr>
          <a:xfrm>
            <a:off x="1281043" y="2707881"/>
            <a:ext cx="396262" cy="246221"/>
          </a:xfrm>
          <a:prstGeom prst="rect">
            <a:avLst/>
          </a:prstGeom>
          <a:noFill/>
        </p:spPr>
        <p:txBody>
          <a:bodyPr wrap="none" rtlCol="0">
            <a:spAutoFit/>
          </a:bodyPr>
          <a:lstStyle/>
          <a:p>
            <a:r>
              <a:rPr lang="en-US" sz="1000" b="1" dirty="0">
                <a:solidFill>
                  <a:schemeClr val="bg1">
                    <a:lumMod val="50000"/>
                  </a:schemeClr>
                </a:solidFill>
              </a:rPr>
              <a:t>419</a:t>
            </a:r>
          </a:p>
        </p:txBody>
      </p:sp>
      <p:sp>
        <p:nvSpPr>
          <p:cNvPr id="33" name="TextBox 32">
            <a:extLst>
              <a:ext uri="{FF2B5EF4-FFF2-40B4-BE49-F238E27FC236}">
                <a16:creationId xmlns:a16="http://schemas.microsoft.com/office/drawing/2014/main" id="{F44D464A-4CBB-90F0-C27B-25F57D43B9EA}"/>
              </a:ext>
            </a:extLst>
          </p:cNvPr>
          <p:cNvSpPr txBox="1"/>
          <p:nvPr/>
        </p:nvSpPr>
        <p:spPr>
          <a:xfrm>
            <a:off x="1281043" y="2524578"/>
            <a:ext cx="396262" cy="246221"/>
          </a:xfrm>
          <a:prstGeom prst="rect">
            <a:avLst/>
          </a:prstGeom>
          <a:noFill/>
        </p:spPr>
        <p:txBody>
          <a:bodyPr wrap="none" rtlCol="0">
            <a:spAutoFit/>
          </a:bodyPr>
          <a:lstStyle/>
          <a:p>
            <a:r>
              <a:rPr lang="en-US" sz="1000" b="1" dirty="0">
                <a:solidFill>
                  <a:schemeClr val="bg1">
                    <a:lumMod val="50000"/>
                  </a:schemeClr>
                </a:solidFill>
              </a:rPr>
              <a:t>422</a:t>
            </a:r>
          </a:p>
        </p:txBody>
      </p:sp>
      <p:sp>
        <p:nvSpPr>
          <p:cNvPr id="34" name="TextBox 33">
            <a:extLst>
              <a:ext uri="{FF2B5EF4-FFF2-40B4-BE49-F238E27FC236}">
                <a16:creationId xmlns:a16="http://schemas.microsoft.com/office/drawing/2014/main" id="{2FD90F35-0B30-78EF-BAE9-91837BE86CE4}"/>
              </a:ext>
            </a:extLst>
          </p:cNvPr>
          <p:cNvSpPr txBox="1"/>
          <p:nvPr/>
        </p:nvSpPr>
        <p:spPr>
          <a:xfrm>
            <a:off x="1281043" y="2341275"/>
            <a:ext cx="396262" cy="246221"/>
          </a:xfrm>
          <a:prstGeom prst="rect">
            <a:avLst/>
          </a:prstGeom>
          <a:noFill/>
        </p:spPr>
        <p:txBody>
          <a:bodyPr wrap="none" rtlCol="0">
            <a:spAutoFit/>
          </a:bodyPr>
          <a:lstStyle/>
          <a:p>
            <a:r>
              <a:rPr lang="en-US" sz="1000" b="1" dirty="0">
                <a:solidFill>
                  <a:schemeClr val="bg1">
                    <a:lumMod val="50000"/>
                  </a:schemeClr>
                </a:solidFill>
              </a:rPr>
              <a:t>452</a:t>
            </a:r>
          </a:p>
        </p:txBody>
      </p:sp>
      <p:cxnSp>
        <p:nvCxnSpPr>
          <p:cNvPr id="35" name="Straight Connector 34">
            <a:extLst>
              <a:ext uri="{FF2B5EF4-FFF2-40B4-BE49-F238E27FC236}">
                <a16:creationId xmlns:a16="http://schemas.microsoft.com/office/drawing/2014/main" id="{76AB2997-AEF8-E6AB-8537-D47E15051989}"/>
              </a:ext>
            </a:extLst>
          </p:cNvPr>
          <p:cNvCxnSpPr/>
          <p:nvPr/>
        </p:nvCxnSpPr>
        <p:spPr>
          <a:xfrm>
            <a:off x="1211358" y="1672582"/>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E321C2F-3383-0AD9-F99F-069ABC8F06F0}"/>
              </a:ext>
            </a:extLst>
          </p:cNvPr>
          <p:cNvCxnSpPr/>
          <p:nvPr/>
        </p:nvCxnSpPr>
        <p:spPr>
          <a:xfrm>
            <a:off x="557455" y="2532109"/>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06EA967-C6D6-22EA-C1C6-84A89AA0661F}"/>
              </a:ext>
            </a:extLst>
          </p:cNvPr>
          <p:cNvCxnSpPr>
            <a:cxnSpLocks/>
          </p:cNvCxnSpPr>
          <p:nvPr/>
        </p:nvCxnSpPr>
        <p:spPr>
          <a:xfrm>
            <a:off x="3104708" y="1914476"/>
            <a:ext cx="0" cy="1814008"/>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2DF93BBE-C9F7-D3CE-181A-49083DE35309}"/>
              </a:ext>
            </a:extLst>
          </p:cNvPr>
          <p:cNvSpPr txBox="1"/>
          <p:nvPr/>
        </p:nvSpPr>
        <p:spPr>
          <a:xfrm>
            <a:off x="513529" y="1618381"/>
            <a:ext cx="526106" cy="246221"/>
          </a:xfrm>
          <a:prstGeom prst="rect">
            <a:avLst/>
          </a:prstGeom>
          <a:noFill/>
        </p:spPr>
        <p:txBody>
          <a:bodyPr wrap="none" rtlCol="0">
            <a:spAutoFit/>
          </a:bodyPr>
          <a:lstStyle/>
          <a:p>
            <a:r>
              <a:rPr lang="en-US" sz="1000" b="1" dirty="0"/>
              <a:t>rowid</a:t>
            </a:r>
          </a:p>
        </p:txBody>
      </p:sp>
      <p:sp>
        <p:nvSpPr>
          <p:cNvPr id="57" name="TextBox 56">
            <a:extLst>
              <a:ext uri="{FF2B5EF4-FFF2-40B4-BE49-F238E27FC236}">
                <a16:creationId xmlns:a16="http://schemas.microsoft.com/office/drawing/2014/main" id="{E17705AF-B017-33B7-9DB1-EB50F3429BA3}"/>
              </a:ext>
            </a:extLst>
          </p:cNvPr>
          <p:cNvSpPr txBox="1"/>
          <p:nvPr/>
        </p:nvSpPr>
        <p:spPr>
          <a:xfrm>
            <a:off x="552643" y="30744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59" name="TextBox 58">
            <a:extLst>
              <a:ext uri="{FF2B5EF4-FFF2-40B4-BE49-F238E27FC236}">
                <a16:creationId xmlns:a16="http://schemas.microsoft.com/office/drawing/2014/main" id="{2A473A8A-5F6C-B5FB-BB37-96E599D66BB6}"/>
              </a:ext>
            </a:extLst>
          </p:cNvPr>
          <p:cNvSpPr txBox="1"/>
          <p:nvPr/>
        </p:nvSpPr>
        <p:spPr>
          <a:xfrm>
            <a:off x="552643" y="2157972"/>
            <a:ext cx="466794" cy="246221"/>
          </a:xfrm>
          <a:prstGeom prst="rect">
            <a:avLst/>
          </a:prstGeom>
          <a:noFill/>
        </p:spPr>
        <p:txBody>
          <a:bodyPr wrap="none" rtlCol="0">
            <a:spAutoFit/>
          </a:bodyPr>
          <a:lstStyle/>
          <a:p>
            <a:r>
              <a:rPr lang="en-US" sz="1000" b="1" dirty="0">
                <a:solidFill>
                  <a:schemeClr val="bg1">
                    <a:lumMod val="50000"/>
                  </a:schemeClr>
                </a:solidFill>
              </a:rPr>
              <a:t>x0e1</a:t>
            </a:r>
          </a:p>
        </p:txBody>
      </p:sp>
      <p:sp>
        <p:nvSpPr>
          <p:cNvPr id="61" name="TextBox 60">
            <a:extLst>
              <a:ext uri="{FF2B5EF4-FFF2-40B4-BE49-F238E27FC236}">
                <a16:creationId xmlns:a16="http://schemas.microsoft.com/office/drawing/2014/main" id="{B13F1720-88A2-C0E9-619E-53FCB1D28A29}"/>
              </a:ext>
            </a:extLst>
          </p:cNvPr>
          <p:cNvSpPr txBox="1"/>
          <p:nvPr/>
        </p:nvSpPr>
        <p:spPr>
          <a:xfrm>
            <a:off x="552643" y="1974669"/>
            <a:ext cx="482824" cy="246221"/>
          </a:xfrm>
          <a:prstGeom prst="rect">
            <a:avLst/>
          </a:prstGeom>
          <a:noFill/>
        </p:spPr>
        <p:txBody>
          <a:bodyPr wrap="none" rtlCol="0">
            <a:spAutoFit/>
          </a:bodyPr>
          <a:lstStyle/>
          <a:p>
            <a:r>
              <a:rPr lang="en-US" sz="1000" b="1" dirty="0">
                <a:solidFill>
                  <a:schemeClr val="bg1">
                    <a:lumMod val="50000"/>
                  </a:schemeClr>
                </a:solidFill>
              </a:rPr>
              <a:t>xocd</a:t>
            </a:r>
          </a:p>
        </p:txBody>
      </p:sp>
      <p:sp>
        <p:nvSpPr>
          <p:cNvPr id="63" name="TextBox 62">
            <a:extLst>
              <a:ext uri="{FF2B5EF4-FFF2-40B4-BE49-F238E27FC236}">
                <a16:creationId xmlns:a16="http://schemas.microsoft.com/office/drawing/2014/main" id="{5F559F13-D198-C5C5-126A-AD014D5B25B2}"/>
              </a:ext>
            </a:extLst>
          </p:cNvPr>
          <p:cNvSpPr txBox="1"/>
          <p:nvPr/>
        </p:nvSpPr>
        <p:spPr>
          <a:xfrm>
            <a:off x="552643" y="1791366"/>
            <a:ext cx="466794" cy="246221"/>
          </a:xfrm>
          <a:prstGeom prst="rect">
            <a:avLst/>
          </a:prstGeom>
          <a:noFill/>
        </p:spPr>
        <p:txBody>
          <a:bodyPr wrap="none" rtlCol="0">
            <a:spAutoFit/>
          </a:bodyPr>
          <a:lstStyle/>
          <a:p>
            <a:r>
              <a:rPr lang="en-US" sz="1000" b="1" dirty="0">
                <a:solidFill>
                  <a:schemeClr val="bg1">
                    <a:lumMod val="50000"/>
                  </a:schemeClr>
                </a:solidFill>
              </a:rPr>
              <a:t>x0cc</a:t>
            </a:r>
          </a:p>
        </p:txBody>
      </p:sp>
      <p:sp>
        <p:nvSpPr>
          <p:cNvPr id="193" name="TextBox 192">
            <a:extLst>
              <a:ext uri="{FF2B5EF4-FFF2-40B4-BE49-F238E27FC236}">
                <a16:creationId xmlns:a16="http://schemas.microsoft.com/office/drawing/2014/main" id="{3634AF72-DE9C-08E6-CD4B-61225C33A720}"/>
              </a:ext>
            </a:extLst>
          </p:cNvPr>
          <p:cNvSpPr txBox="1"/>
          <p:nvPr/>
        </p:nvSpPr>
        <p:spPr>
          <a:xfrm>
            <a:off x="552643" y="2891184"/>
            <a:ext cx="482824" cy="246221"/>
          </a:xfrm>
          <a:prstGeom prst="rect">
            <a:avLst/>
          </a:prstGeom>
          <a:noFill/>
        </p:spPr>
        <p:txBody>
          <a:bodyPr wrap="none" rtlCol="0">
            <a:spAutoFit/>
          </a:bodyPr>
          <a:lstStyle/>
          <a:p>
            <a:r>
              <a:rPr lang="en-US" sz="1000" b="1" dirty="0">
                <a:solidFill>
                  <a:schemeClr val="bg1">
                    <a:lumMod val="50000"/>
                  </a:schemeClr>
                </a:solidFill>
              </a:rPr>
              <a:t>xon3</a:t>
            </a:r>
          </a:p>
        </p:txBody>
      </p:sp>
      <p:sp>
        <p:nvSpPr>
          <p:cNvPr id="195" name="TextBox 194">
            <a:extLst>
              <a:ext uri="{FF2B5EF4-FFF2-40B4-BE49-F238E27FC236}">
                <a16:creationId xmlns:a16="http://schemas.microsoft.com/office/drawing/2014/main" id="{0F8CD66E-4A4F-B3BD-B4B5-0A1AD82C1BF0}"/>
              </a:ext>
            </a:extLst>
          </p:cNvPr>
          <p:cNvSpPr txBox="1"/>
          <p:nvPr/>
        </p:nvSpPr>
        <p:spPr>
          <a:xfrm>
            <a:off x="552643" y="2707881"/>
            <a:ext cx="510076" cy="246221"/>
          </a:xfrm>
          <a:prstGeom prst="rect">
            <a:avLst/>
          </a:prstGeom>
          <a:noFill/>
        </p:spPr>
        <p:txBody>
          <a:bodyPr wrap="none" rtlCol="0">
            <a:spAutoFit/>
          </a:bodyPr>
          <a:lstStyle/>
          <a:p>
            <a:r>
              <a:rPr lang="en-US" sz="1000" b="1" dirty="0">
                <a:solidFill>
                  <a:schemeClr val="bg1">
                    <a:lumMod val="50000"/>
                  </a:schemeClr>
                </a:solidFill>
              </a:rPr>
              <a:t>x0m1</a:t>
            </a:r>
          </a:p>
        </p:txBody>
      </p:sp>
      <p:sp>
        <p:nvSpPr>
          <p:cNvPr id="197" name="TextBox 196">
            <a:extLst>
              <a:ext uri="{FF2B5EF4-FFF2-40B4-BE49-F238E27FC236}">
                <a16:creationId xmlns:a16="http://schemas.microsoft.com/office/drawing/2014/main" id="{0E78B03A-0260-9041-B8B2-A2D151A23815}"/>
              </a:ext>
            </a:extLst>
          </p:cNvPr>
          <p:cNvSpPr txBox="1"/>
          <p:nvPr/>
        </p:nvSpPr>
        <p:spPr>
          <a:xfrm>
            <a:off x="552643" y="2524578"/>
            <a:ext cx="439544" cy="246221"/>
          </a:xfrm>
          <a:prstGeom prst="rect">
            <a:avLst/>
          </a:prstGeom>
          <a:noFill/>
        </p:spPr>
        <p:txBody>
          <a:bodyPr wrap="none" rtlCol="0">
            <a:spAutoFit/>
          </a:bodyPr>
          <a:lstStyle/>
          <a:p>
            <a:r>
              <a:rPr lang="en-US" sz="1000" b="1" dirty="0">
                <a:solidFill>
                  <a:schemeClr val="bg1">
                    <a:lumMod val="50000"/>
                  </a:schemeClr>
                </a:solidFill>
              </a:rPr>
              <a:t>x0f6</a:t>
            </a:r>
          </a:p>
        </p:txBody>
      </p:sp>
      <p:sp>
        <p:nvSpPr>
          <p:cNvPr id="199" name="TextBox 198">
            <a:extLst>
              <a:ext uri="{FF2B5EF4-FFF2-40B4-BE49-F238E27FC236}">
                <a16:creationId xmlns:a16="http://schemas.microsoft.com/office/drawing/2014/main" id="{6E973869-774D-548F-DBFA-B4AD1B975CB6}"/>
              </a:ext>
            </a:extLst>
          </p:cNvPr>
          <p:cNvSpPr txBox="1"/>
          <p:nvPr/>
        </p:nvSpPr>
        <p:spPr>
          <a:xfrm>
            <a:off x="552643" y="2341275"/>
            <a:ext cx="439544" cy="246221"/>
          </a:xfrm>
          <a:prstGeom prst="rect">
            <a:avLst/>
          </a:prstGeom>
          <a:noFill/>
        </p:spPr>
        <p:txBody>
          <a:bodyPr wrap="none" rtlCol="0">
            <a:spAutoFit/>
          </a:bodyPr>
          <a:lstStyle/>
          <a:p>
            <a:r>
              <a:rPr lang="en-US" sz="1000" b="1" dirty="0">
                <a:solidFill>
                  <a:schemeClr val="bg1">
                    <a:lumMod val="50000"/>
                  </a:schemeClr>
                </a:solidFill>
              </a:rPr>
              <a:t>x0f2</a:t>
            </a:r>
          </a:p>
        </p:txBody>
      </p:sp>
      <p:sp>
        <p:nvSpPr>
          <p:cNvPr id="200" name="Rectangle 199">
            <a:extLst>
              <a:ext uri="{FF2B5EF4-FFF2-40B4-BE49-F238E27FC236}">
                <a16:creationId xmlns:a16="http://schemas.microsoft.com/office/drawing/2014/main" id="{948E40F0-08CB-19B5-ADD1-602CA60EFAE2}"/>
              </a:ext>
            </a:extLst>
          </p:cNvPr>
          <p:cNvSpPr/>
          <p:nvPr/>
        </p:nvSpPr>
        <p:spPr>
          <a:xfrm>
            <a:off x="6537773" y="1489012"/>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1" name="Straight Connector 200">
            <a:extLst>
              <a:ext uri="{FF2B5EF4-FFF2-40B4-BE49-F238E27FC236}">
                <a16:creationId xmlns:a16="http://schemas.microsoft.com/office/drawing/2014/main" id="{69CC6CF6-66A6-B8B6-A430-AB41B5DF5369}"/>
              </a:ext>
            </a:extLst>
          </p:cNvPr>
          <p:cNvCxnSpPr/>
          <p:nvPr/>
        </p:nvCxnSpPr>
        <p:spPr>
          <a:xfrm>
            <a:off x="6537773" y="2018799"/>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7FDFE744-F555-D51D-8A16-52A4D72DC53B}"/>
              </a:ext>
            </a:extLst>
          </p:cNvPr>
          <p:cNvCxnSpPr/>
          <p:nvPr/>
        </p:nvCxnSpPr>
        <p:spPr>
          <a:xfrm>
            <a:off x="6537773" y="1654363"/>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993293EF-E9CD-1253-A8C5-3FE3896FBA7E}"/>
              </a:ext>
            </a:extLst>
          </p:cNvPr>
          <p:cNvCxnSpPr/>
          <p:nvPr/>
        </p:nvCxnSpPr>
        <p:spPr>
          <a:xfrm>
            <a:off x="6537773" y="1836581"/>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F36A3E21-9B07-056A-FB14-360F2EF24108}"/>
              </a:ext>
            </a:extLst>
          </p:cNvPr>
          <p:cNvCxnSpPr/>
          <p:nvPr/>
        </p:nvCxnSpPr>
        <p:spPr>
          <a:xfrm>
            <a:off x="6537773" y="2201017"/>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722AF73E-A9C9-8100-2D10-CD3060A055B7}"/>
              </a:ext>
            </a:extLst>
          </p:cNvPr>
          <p:cNvCxnSpPr/>
          <p:nvPr/>
        </p:nvCxnSpPr>
        <p:spPr>
          <a:xfrm>
            <a:off x="6537773" y="2929889"/>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5D6CC400-DE22-8117-1750-4ED748C69327}"/>
              </a:ext>
            </a:extLst>
          </p:cNvPr>
          <p:cNvCxnSpPr/>
          <p:nvPr/>
        </p:nvCxnSpPr>
        <p:spPr>
          <a:xfrm>
            <a:off x="6537773" y="2747671"/>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FBAB2D6B-71EC-6257-B96E-E973431ACE35}"/>
              </a:ext>
            </a:extLst>
          </p:cNvPr>
          <p:cNvCxnSpPr/>
          <p:nvPr/>
        </p:nvCxnSpPr>
        <p:spPr>
          <a:xfrm>
            <a:off x="6537773" y="2565453"/>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9CED4451-D169-F2A6-D364-D6E65CE596B4}"/>
              </a:ext>
            </a:extLst>
          </p:cNvPr>
          <p:cNvCxnSpPr/>
          <p:nvPr/>
        </p:nvCxnSpPr>
        <p:spPr>
          <a:xfrm>
            <a:off x="8090206" y="1474948"/>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DA5852D9-2560-8CD0-85A7-1383727ADD30}"/>
              </a:ext>
            </a:extLst>
          </p:cNvPr>
          <p:cNvSpPr txBox="1"/>
          <p:nvPr/>
        </p:nvSpPr>
        <p:spPr>
          <a:xfrm>
            <a:off x="8346046" y="2887432"/>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10" name="TextBox 209">
            <a:extLst>
              <a:ext uri="{FF2B5EF4-FFF2-40B4-BE49-F238E27FC236}">
                <a16:creationId xmlns:a16="http://schemas.microsoft.com/office/drawing/2014/main" id="{1AFF022A-CD3D-C9FF-299A-F3AEF57B6B00}"/>
              </a:ext>
            </a:extLst>
          </p:cNvPr>
          <p:cNvSpPr txBox="1"/>
          <p:nvPr/>
        </p:nvSpPr>
        <p:spPr>
          <a:xfrm>
            <a:off x="8090206" y="1970917"/>
            <a:ext cx="638316" cy="246221"/>
          </a:xfrm>
          <a:prstGeom prst="rect">
            <a:avLst/>
          </a:prstGeom>
          <a:noFill/>
        </p:spPr>
        <p:txBody>
          <a:bodyPr wrap="none" rtlCol="0">
            <a:spAutoFit/>
          </a:bodyPr>
          <a:lstStyle/>
          <a:p>
            <a:r>
              <a:rPr lang="en-US" sz="1000" b="1" dirty="0">
                <a:solidFill>
                  <a:schemeClr val="bg1">
                    <a:lumMod val="50000"/>
                  </a:schemeClr>
                </a:solidFill>
              </a:rPr>
              <a:t>Cheese</a:t>
            </a:r>
          </a:p>
        </p:txBody>
      </p:sp>
      <p:sp>
        <p:nvSpPr>
          <p:cNvPr id="211" name="TextBox 210">
            <a:extLst>
              <a:ext uri="{FF2B5EF4-FFF2-40B4-BE49-F238E27FC236}">
                <a16:creationId xmlns:a16="http://schemas.microsoft.com/office/drawing/2014/main" id="{46D3EB7C-A88D-50AB-3301-69D659408F52}"/>
              </a:ext>
            </a:extLst>
          </p:cNvPr>
          <p:cNvSpPr txBox="1"/>
          <p:nvPr/>
        </p:nvSpPr>
        <p:spPr>
          <a:xfrm>
            <a:off x="8090206" y="1787614"/>
            <a:ext cx="546945" cy="246221"/>
          </a:xfrm>
          <a:prstGeom prst="rect">
            <a:avLst/>
          </a:prstGeom>
          <a:noFill/>
        </p:spPr>
        <p:txBody>
          <a:bodyPr wrap="none" rtlCol="0">
            <a:spAutoFit/>
          </a:bodyPr>
          <a:lstStyle/>
          <a:p>
            <a:r>
              <a:rPr lang="en-US" sz="1000" b="1" dirty="0">
                <a:solidFill>
                  <a:schemeClr val="bg1">
                    <a:lumMod val="50000"/>
                  </a:schemeClr>
                </a:solidFill>
              </a:rPr>
              <a:t>Bread</a:t>
            </a:r>
          </a:p>
        </p:txBody>
      </p:sp>
      <p:sp>
        <p:nvSpPr>
          <p:cNvPr id="212" name="TextBox 211">
            <a:extLst>
              <a:ext uri="{FF2B5EF4-FFF2-40B4-BE49-F238E27FC236}">
                <a16:creationId xmlns:a16="http://schemas.microsoft.com/office/drawing/2014/main" id="{1E5EBB97-B5A8-2BAF-E77D-81E8ABA8ED20}"/>
              </a:ext>
            </a:extLst>
          </p:cNvPr>
          <p:cNvSpPr txBox="1"/>
          <p:nvPr/>
        </p:nvSpPr>
        <p:spPr>
          <a:xfrm>
            <a:off x="8090206" y="1604311"/>
            <a:ext cx="433132" cy="246221"/>
          </a:xfrm>
          <a:prstGeom prst="rect">
            <a:avLst/>
          </a:prstGeom>
          <a:noFill/>
        </p:spPr>
        <p:txBody>
          <a:bodyPr wrap="none" rtlCol="0">
            <a:spAutoFit/>
          </a:bodyPr>
          <a:lstStyle/>
          <a:p>
            <a:r>
              <a:rPr lang="en-US" sz="1000" b="1" dirty="0">
                <a:solidFill>
                  <a:schemeClr val="bg1">
                    <a:lumMod val="50000"/>
                  </a:schemeClr>
                </a:solidFill>
              </a:rPr>
              <a:t>Milk</a:t>
            </a:r>
          </a:p>
        </p:txBody>
      </p:sp>
      <p:sp>
        <p:nvSpPr>
          <p:cNvPr id="213" name="TextBox 212">
            <a:extLst>
              <a:ext uri="{FF2B5EF4-FFF2-40B4-BE49-F238E27FC236}">
                <a16:creationId xmlns:a16="http://schemas.microsoft.com/office/drawing/2014/main" id="{862BCF95-D35D-77D8-4737-BABA4EC1FA77}"/>
              </a:ext>
            </a:extLst>
          </p:cNvPr>
          <p:cNvSpPr txBox="1"/>
          <p:nvPr/>
        </p:nvSpPr>
        <p:spPr>
          <a:xfrm>
            <a:off x="8090206" y="1421008"/>
            <a:ext cx="873957" cy="246221"/>
          </a:xfrm>
          <a:prstGeom prst="rect">
            <a:avLst/>
          </a:prstGeom>
          <a:noFill/>
        </p:spPr>
        <p:txBody>
          <a:bodyPr wrap="none" rtlCol="0">
            <a:spAutoFit/>
          </a:bodyPr>
          <a:lstStyle/>
          <a:p>
            <a:r>
              <a:rPr lang="en-US" sz="1000" b="1" dirty="0"/>
              <a:t>prod_name</a:t>
            </a:r>
          </a:p>
        </p:txBody>
      </p:sp>
      <p:sp>
        <p:nvSpPr>
          <p:cNvPr id="214" name="TextBox 213">
            <a:extLst>
              <a:ext uri="{FF2B5EF4-FFF2-40B4-BE49-F238E27FC236}">
                <a16:creationId xmlns:a16="http://schemas.microsoft.com/office/drawing/2014/main" id="{B26D59AB-2C1A-93D7-3ADB-02AD6D3C7031}"/>
              </a:ext>
            </a:extLst>
          </p:cNvPr>
          <p:cNvSpPr txBox="1"/>
          <p:nvPr/>
        </p:nvSpPr>
        <p:spPr>
          <a:xfrm>
            <a:off x="8090206" y="2704129"/>
            <a:ext cx="683200" cy="246221"/>
          </a:xfrm>
          <a:prstGeom prst="rect">
            <a:avLst/>
          </a:prstGeom>
          <a:noFill/>
        </p:spPr>
        <p:txBody>
          <a:bodyPr wrap="none" rtlCol="0">
            <a:spAutoFit/>
          </a:bodyPr>
          <a:lstStyle/>
          <a:p>
            <a:r>
              <a:rPr lang="en-US" sz="1000" b="1" dirty="0">
                <a:solidFill>
                  <a:schemeClr val="tx1">
                    <a:lumMod val="75000"/>
                    <a:lumOff val="25000"/>
                  </a:schemeClr>
                </a:solidFill>
              </a:rPr>
              <a:t>Mustard</a:t>
            </a:r>
          </a:p>
        </p:txBody>
      </p:sp>
      <p:sp>
        <p:nvSpPr>
          <p:cNvPr id="215" name="TextBox 214">
            <a:extLst>
              <a:ext uri="{FF2B5EF4-FFF2-40B4-BE49-F238E27FC236}">
                <a16:creationId xmlns:a16="http://schemas.microsoft.com/office/drawing/2014/main" id="{125440E1-F0D9-5360-8FD3-A7E8F1B2E35C}"/>
              </a:ext>
            </a:extLst>
          </p:cNvPr>
          <p:cNvSpPr txBox="1"/>
          <p:nvPr/>
        </p:nvSpPr>
        <p:spPr>
          <a:xfrm>
            <a:off x="8090206" y="2520826"/>
            <a:ext cx="731290" cy="246221"/>
          </a:xfrm>
          <a:prstGeom prst="rect">
            <a:avLst/>
          </a:prstGeom>
          <a:noFill/>
        </p:spPr>
        <p:txBody>
          <a:bodyPr wrap="none" rtlCol="0">
            <a:spAutoFit/>
          </a:bodyPr>
          <a:lstStyle/>
          <a:p>
            <a:r>
              <a:rPr lang="en-US" sz="1000" b="1" dirty="0">
                <a:solidFill>
                  <a:schemeClr val="bg1">
                    <a:lumMod val="50000"/>
                  </a:schemeClr>
                </a:solidFill>
              </a:rPr>
              <a:t>Batteries</a:t>
            </a:r>
          </a:p>
        </p:txBody>
      </p:sp>
      <p:sp>
        <p:nvSpPr>
          <p:cNvPr id="216" name="TextBox 215">
            <a:extLst>
              <a:ext uri="{FF2B5EF4-FFF2-40B4-BE49-F238E27FC236}">
                <a16:creationId xmlns:a16="http://schemas.microsoft.com/office/drawing/2014/main" id="{55ECAB7C-D26D-9E69-541F-045AFAC6181D}"/>
              </a:ext>
            </a:extLst>
          </p:cNvPr>
          <p:cNvSpPr txBox="1"/>
          <p:nvPr/>
        </p:nvSpPr>
        <p:spPr>
          <a:xfrm>
            <a:off x="8090206" y="2337523"/>
            <a:ext cx="497252" cy="246221"/>
          </a:xfrm>
          <a:prstGeom prst="rect">
            <a:avLst/>
          </a:prstGeom>
          <a:noFill/>
        </p:spPr>
        <p:txBody>
          <a:bodyPr wrap="none" rtlCol="0">
            <a:spAutoFit/>
          </a:bodyPr>
          <a:lstStyle/>
          <a:p>
            <a:r>
              <a:rPr lang="en-US" sz="1000" b="1" dirty="0">
                <a:solidFill>
                  <a:schemeClr val="bg1">
                    <a:lumMod val="50000"/>
                  </a:schemeClr>
                </a:solidFill>
              </a:rPr>
              <a:t>Eggs</a:t>
            </a:r>
          </a:p>
        </p:txBody>
      </p:sp>
      <p:sp>
        <p:nvSpPr>
          <p:cNvPr id="217" name="TextBox 216">
            <a:extLst>
              <a:ext uri="{FF2B5EF4-FFF2-40B4-BE49-F238E27FC236}">
                <a16:creationId xmlns:a16="http://schemas.microsoft.com/office/drawing/2014/main" id="{7A384AC2-09AE-6A14-2BE6-C040BF3379F3}"/>
              </a:ext>
            </a:extLst>
          </p:cNvPr>
          <p:cNvSpPr txBox="1"/>
          <p:nvPr/>
        </p:nvSpPr>
        <p:spPr>
          <a:xfrm>
            <a:off x="8090206" y="2154220"/>
            <a:ext cx="476412" cy="246221"/>
          </a:xfrm>
          <a:prstGeom prst="rect">
            <a:avLst/>
          </a:prstGeom>
          <a:noFill/>
        </p:spPr>
        <p:txBody>
          <a:bodyPr wrap="none" rtlCol="0">
            <a:spAutoFit/>
          </a:bodyPr>
          <a:lstStyle/>
          <a:p>
            <a:r>
              <a:rPr lang="en-US" sz="1000" b="1" dirty="0">
                <a:solidFill>
                  <a:schemeClr val="bg1">
                    <a:lumMod val="50000"/>
                  </a:schemeClr>
                </a:solidFill>
              </a:rPr>
              <a:t>Meat</a:t>
            </a:r>
          </a:p>
        </p:txBody>
      </p:sp>
      <p:sp>
        <p:nvSpPr>
          <p:cNvPr id="218" name="TextBox 217">
            <a:extLst>
              <a:ext uri="{FF2B5EF4-FFF2-40B4-BE49-F238E27FC236}">
                <a16:creationId xmlns:a16="http://schemas.microsoft.com/office/drawing/2014/main" id="{6032C2CF-3C08-6860-7816-E30A7A7A507F}"/>
              </a:ext>
            </a:extLst>
          </p:cNvPr>
          <p:cNvSpPr txBox="1"/>
          <p:nvPr/>
        </p:nvSpPr>
        <p:spPr>
          <a:xfrm>
            <a:off x="7261361" y="2887432"/>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19" name="TextBox 218">
            <a:extLst>
              <a:ext uri="{FF2B5EF4-FFF2-40B4-BE49-F238E27FC236}">
                <a16:creationId xmlns:a16="http://schemas.microsoft.com/office/drawing/2014/main" id="{FE0F69F4-0385-C803-26B0-91461F7AF0EF}"/>
              </a:ext>
            </a:extLst>
          </p:cNvPr>
          <p:cNvSpPr txBox="1"/>
          <p:nvPr/>
        </p:nvSpPr>
        <p:spPr>
          <a:xfrm>
            <a:off x="7261361" y="1970917"/>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220" name="TextBox 219">
            <a:extLst>
              <a:ext uri="{FF2B5EF4-FFF2-40B4-BE49-F238E27FC236}">
                <a16:creationId xmlns:a16="http://schemas.microsoft.com/office/drawing/2014/main" id="{73C0E10D-88FB-F20E-EBE8-6284713CE9C0}"/>
              </a:ext>
            </a:extLst>
          </p:cNvPr>
          <p:cNvSpPr txBox="1"/>
          <p:nvPr/>
        </p:nvSpPr>
        <p:spPr>
          <a:xfrm>
            <a:off x="7261361" y="1787614"/>
            <a:ext cx="396262" cy="246221"/>
          </a:xfrm>
          <a:prstGeom prst="rect">
            <a:avLst/>
          </a:prstGeom>
          <a:noFill/>
        </p:spPr>
        <p:txBody>
          <a:bodyPr wrap="none" rtlCol="0">
            <a:spAutoFit/>
          </a:bodyPr>
          <a:lstStyle/>
          <a:p>
            <a:r>
              <a:rPr lang="en-US" sz="1000" b="1" dirty="0">
                <a:solidFill>
                  <a:schemeClr val="bg1">
                    <a:lumMod val="50000"/>
                  </a:schemeClr>
                </a:solidFill>
              </a:rPr>
              <a:t>411</a:t>
            </a:r>
          </a:p>
        </p:txBody>
      </p:sp>
      <p:sp>
        <p:nvSpPr>
          <p:cNvPr id="221" name="TextBox 220">
            <a:extLst>
              <a:ext uri="{FF2B5EF4-FFF2-40B4-BE49-F238E27FC236}">
                <a16:creationId xmlns:a16="http://schemas.microsoft.com/office/drawing/2014/main" id="{490FB50D-43CA-28B6-18A2-25A10E57E1DA}"/>
              </a:ext>
            </a:extLst>
          </p:cNvPr>
          <p:cNvSpPr txBox="1"/>
          <p:nvPr/>
        </p:nvSpPr>
        <p:spPr>
          <a:xfrm>
            <a:off x="7261361" y="1604311"/>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222" name="TextBox 221">
            <a:extLst>
              <a:ext uri="{FF2B5EF4-FFF2-40B4-BE49-F238E27FC236}">
                <a16:creationId xmlns:a16="http://schemas.microsoft.com/office/drawing/2014/main" id="{FEE2A030-6903-85CA-AAEC-5028533BE476}"/>
              </a:ext>
            </a:extLst>
          </p:cNvPr>
          <p:cNvSpPr txBox="1"/>
          <p:nvPr/>
        </p:nvSpPr>
        <p:spPr>
          <a:xfrm>
            <a:off x="7261361" y="1421008"/>
            <a:ext cx="811441" cy="246221"/>
          </a:xfrm>
          <a:prstGeom prst="rect">
            <a:avLst/>
          </a:prstGeom>
          <a:noFill/>
        </p:spPr>
        <p:txBody>
          <a:bodyPr wrap="none" rtlCol="0">
            <a:spAutoFit/>
          </a:bodyPr>
          <a:lstStyle/>
          <a:p>
            <a:r>
              <a:rPr lang="en-US" sz="1000" b="1" dirty="0"/>
              <a:t>prod_num</a:t>
            </a:r>
          </a:p>
        </p:txBody>
      </p:sp>
      <p:sp>
        <p:nvSpPr>
          <p:cNvPr id="223" name="TextBox 222">
            <a:extLst>
              <a:ext uri="{FF2B5EF4-FFF2-40B4-BE49-F238E27FC236}">
                <a16:creationId xmlns:a16="http://schemas.microsoft.com/office/drawing/2014/main" id="{BD7C6494-30D0-07DB-EE98-41FB295F4993}"/>
              </a:ext>
            </a:extLst>
          </p:cNvPr>
          <p:cNvSpPr txBox="1"/>
          <p:nvPr/>
        </p:nvSpPr>
        <p:spPr>
          <a:xfrm>
            <a:off x="7261361" y="2704129"/>
            <a:ext cx="396262" cy="246221"/>
          </a:xfrm>
          <a:prstGeom prst="rect">
            <a:avLst/>
          </a:prstGeom>
          <a:noFill/>
        </p:spPr>
        <p:txBody>
          <a:bodyPr wrap="none" rtlCol="0">
            <a:spAutoFit/>
          </a:bodyPr>
          <a:lstStyle/>
          <a:p>
            <a:r>
              <a:rPr lang="en-US" sz="1000" b="1" dirty="0">
                <a:solidFill>
                  <a:schemeClr val="tx1">
                    <a:lumMod val="75000"/>
                    <a:lumOff val="25000"/>
                  </a:schemeClr>
                </a:solidFill>
              </a:rPr>
              <a:t>444</a:t>
            </a:r>
          </a:p>
        </p:txBody>
      </p:sp>
      <p:sp>
        <p:nvSpPr>
          <p:cNvPr id="224" name="TextBox 223">
            <a:extLst>
              <a:ext uri="{FF2B5EF4-FFF2-40B4-BE49-F238E27FC236}">
                <a16:creationId xmlns:a16="http://schemas.microsoft.com/office/drawing/2014/main" id="{8D7A7579-BCF3-2D31-B628-D080169674AB}"/>
              </a:ext>
            </a:extLst>
          </p:cNvPr>
          <p:cNvSpPr txBox="1"/>
          <p:nvPr/>
        </p:nvSpPr>
        <p:spPr>
          <a:xfrm>
            <a:off x="7261361" y="2520826"/>
            <a:ext cx="396262" cy="246221"/>
          </a:xfrm>
          <a:prstGeom prst="rect">
            <a:avLst/>
          </a:prstGeom>
          <a:noFill/>
        </p:spPr>
        <p:txBody>
          <a:bodyPr wrap="none" rtlCol="0">
            <a:spAutoFit/>
          </a:bodyPr>
          <a:lstStyle/>
          <a:p>
            <a:r>
              <a:rPr lang="en-US" sz="1000" b="1" dirty="0">
                <a:solidFill>
                  <a:schemeClr val="bg1">
                    <a:lumMod val="50000"/>
                  </a:schemeClr>
                </a:solidFill>
              </a:rPr>
              <a:t>419</a:t>
            </a:r>
          </a:p>
        </p:txBody>
      </p:sp>
      <p:sp>
        <p:nvSpPr>
          <p:cNvPr id="225" name="TextBox 224">
            <a:extLst>
              <a:ext uri="{FF2B5EF4-FFF2-40B4-BE49-F238E27FC236}">
                <a16:creationId xmlns:a16="http://schemas.microsoft.com/office/drawing/2014/main" id="{5D8057C5-9313-8935-65A3-5B16614CF0F4}"/>
              </a:ext>
            </a:extLst>
          </p:cNvPr>
          <p:cNvSpPr txBox="1"/>
          <p:nvPr/>
        </p:nvSpPr>
        <p:spPr>
          <a:xfrm>
            <a:off x="7261361" y="2337523"/>
            <a:ext cx="396262" cy="246221"/>
          </a:xfrm>
          <a:prstGeom prst="rect">
            <a:avLst/>
          </a:prstGeom>
          <a:noFill/>
        </p:spPr>
        <p:txBody>
          <a:bodyPr wrap="none" rtlCol="0">
            <a:spAutoFit/>
          </a:bodyPr>
          <a:lstStyle/>
          <a:p>
            <a:r>
              <a:rPr lang="en-US" sz="1000" b="1" dirty="0">
                <a:solidFill>
                  <a:schemeClr val="bg1">
                    <a:lumMod val="50000"/>
                  </a:schemeClr>
                </a:solidFill>
              </a:rPr>
              <a:t>422</a:t>
            </a:r>
          </a:p>
        </p:txBody>
      </p:sp>
      <p:sp>
        <p:nvSpPr>
          <p:cNvPr id="226" name="TextBox 225">
            <a:extLst>
              <a:ext uri="{FF2B5EF4-FFF2-40B4-BE49-F238E27FC236}">
                <a16:creationId xmlns:a16="http://schemas.microsoft.com/office/drawing/2014/main" id="{D759C070-334C-C6FC-8028-8F27059208DF}"/>
              </a:ext>
            </a:extLst>
          </p:cNvPr>
          <p:cNvSpPr txBox="1"/>
          <p:nvPr/>
        </p:nvSpPr>
        <p:spPr>
          <a:xfrm>
            <a:off x="7261361" y="2154220"/>
            <a:ext cx="396262" cy="246221"/>
          </a:xfrm>
          <a:prstGeom prst="rect">
            <a:avLst/>
          </a:prstGeom>
          <a:noFill/>
        </p:spPr>
        <p:txBody>
          <a:bodyPr wrap="none" rtlCol="0">
            <a:spAutoFit/>
          </a:bodyPr>
          <a:lstStyle/>
          <a:p>
            <a:r>
              <a:rPr lang="en-US" sz="1000" b="1" dirty="0">
                <a:solidFill>
                  <a:schemeClr val="bg1">
                    <a:lumMod val="50000"/>
                  </a:schemeClr>
                </a:solidFill>
              </a:rPr>
              <a:t>452</a:t>
            </a:r>
          </a:p>
        </p:txBody>
      </p:sp>
      <p:cxnSp>
        <p:nvCxnSpPr>
          <p:cNvPr id="227" name="Straight Connector 226">
            <a:extLst>
              <a:ext uri="{FF2B5EF4-FFF2-40B4-BE49-F238E27FC236}">
                <a16:creationId xmlns:a16="http://schemas.microsoft.com/office/drawing/2014/main" id="{08913695-85BB-BA64-E0E1-38A3BB2FD59F}"/>
              </a:ext>
            </a:extLst>
          </p:cNvPr>
          <p:cNvCxnSpPr/>
          <p:nvPr/>
        </p:nvCxnSpPr>
        <p:spPr>
          <a:xfrm>
            <a:off x="7191676" y="1478442"/>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C93EC2FB-86DA-E705-93C9-937D2E8D99D4}"/>
              </a:ext>
            </a:extLst>
          </p:cNvPr>
          <p:cNvCxnSpPr/>
          <p:nvPr/>
        </p:nvCxnSpPr>
        <p:spPr>
          <a:xfrm>
            <a:off x="6537773" y="235922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9" name="TextBox 228">
            <a:extLst>
              <a:ext uri="{FF2B5EF4-FFF2-40B4-BE49-F238E27FC236}">
                <a16:creationId xmlns:a16="http://schemas.microsoft.com/office/drawing/2014/main" id="{78BD0DCB-45A2-FEDE-3C88-C804F0FE6BA7}"/>
              </a:ext>
            </a:extLst>
          </p:cNvPr>
          <p:cNvSpPr txBox="1"/>
          <p:nvPr/>
        </p:nvSpPr>
        <p:spPr>
          <a:xfrm>
            <a:off x="6493847" y="1431326"/>
            <a:ext cx="526106" cy="246221"/>
          </a:xfrm>
          <a:prstGeom prst="rect">
            <a:avLst/>
          </a:prstGeom>
          <a:noFill/>
        </p:spPr>
        <p:txBody>
          <a:bodyPr wrap="none" rtlCol="0">
            <a:spAutoFit/>
          </a:bodyPr>
          <a:lstStyle/>
          <a:p>
            <a:r>
              <a:rPr lang="en-US" sz="1000" b="1" dirty="0"/>
              <a:t>rowid</a:t>
            </a:r>
          </a:p>
        </p:txBody>
      </p:sp>
      <p:sp>
        <p:nvSpPr>
          <p:cNvPr id="230" name="TextBox 229">
            <a:extLst>
              <a:ext uri="{FF2B5EF4-FFF2-40B4-BE49-F238E27FC236}">
                <a16:creationId xmlns:a16="http://schemas.microsoft.com/office/drawing/2014/main" id="{BDD46037-D7AD-7805-0D25-617C5EDADAE9}"/>
              </a:ext>
            </a:extLst>
          </p:cNvPr>
          <p:cNvSpPr txBox="1"/>
          <p:nvPr/>
        </p:nvSpPr>
        <p:spPr>
          <a:xfrm>
            <a:off x="6532961" y="2887432"/>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31" name="TextBox 230">
            <a:extLst>
              <a:ext uri="{FF2B5EF4-FFF2-40B4-BE49-F238E27FC236}">
                <a16:creationId xmlns:a16="http://schemas.microsoft.com/office/drawing/2014/main" id="{BE34B6FB-589E-5A14-9464-FDAE8C78AC56}"/>
              </a:ext>
            </a:extLst>
          </p:cNvPr>
          <p:cNvSpPr txBox="1"/>
          <p:nvPr/>
        </p:nvSpPr>
        <p:spPr>
          <a:xfrm>
            <a:off x="6532961" y="1970917"/>
            <a:ext cx="466794" cy="246221"/>
          </a:xfrm>
          <a:prstGeom prst="rect">
            <a:avLst/>
          </a:prstGeom>
          <a:noFill/>
        </p:spPr>
        <p:txBody>
          <a:bodyPr wrap="none" rtlCol="0">
            <a:spAutoFit/>
          </a:bodyPr>
          <a:lstStyle/>
          <a:p>
            <a:r>
              <a:rPr lang="en-US" sz="1000" b="1" dirty="0">
                <a:solidFill>
                  <a:schemeClr val="bg1">
                    <a:lumMod val="50000"/>
                  </a:schemeClr>
                </a:solidFill>
              </a:rPr>
              <a:t>x0e1</a:t>
            </a:r>
          </a:p>
        </p:txBody>
      </p:sp>
      <p:sp>
        <p:nvSpPr>
          <p:cNvPr id="232" name="TextBox 231">
            <a:extLst>
              <a:ext uri="{FF2B5EF4-FFF2-40B4-BE49-F238E27FC236}">
                <a16:creationId xmlns:a16="http://schemas.microsoft.com/office/drawing/2014/main" id="{095CE8AE-B189-8B11-CED4-16FDA54F667C}"/>
              </a:ext>
            </a:extLst>
          </p:cNvPr>
          <p:cNvSpPr txBox="1"/>
          <p:nvPr/>
        </p:nvSpPr>
        <p:spPr>
          <a:xfrm>
            <a:off x="6532961" y="1787614"/>
            <a:ext cx="482824" cy="246221"/>
          </a:xfrm>
          <a:prstGeom prst="rect">
            <a:avLst/>
          </a:prstGeom>
          <a:noFill/>
        </p:spPr>
        <p:txBody>
          <a:bodyPr wrap="none" rtlCol="0">
            <a:spAutoFit/>
          </a:bodyPr>
          <a:lstStyle/>
          <a:p>
            <a:r>
              <a:rPr lang="en-US" sz="1000" b="1" dirty="0">
                <a:solidFill>
                  <a:schemeClr val="bg1">
                    <a:lumMod val="50000"/>
                  </a:schemeClr>
                </a:solidFill>
              </a:rPr>
              <a:t>xocd</a:t>
            </a:r>
          </a:p>
        </p:txBody>
      </p:sp>
      <p:sp>
        <p:nvSpPr>
          <p:cNvPr id="233" name="TextBox 232">
            <a:extLst>
              <a:ext uri="{FF2B5EF4-FFF2-40B4-BE49-F238E27FC236}">
                <a16:creationId xmlns:a16="http://schemas.microsoft.com/office/drawing/2014/main" id="{31F6CA1A-05A8-B68E-04BA-A3A47C08260A}"/>
              </a:ext>
            </a:extLst>
          </p:cNvPr>
          <p:cNvSpPr txBox="1"/>
          <p:nvPr/>
        </p:nvSpPr>
        <p:spPr>
          <a:xfrm>
            <a:off x="6532961" y="1604311"/>
            <a:ext cx="466794" cy="246221"/>
          </a:xfrm>
          <a:prstGeom prst="rect">
            <a:avLst/>
          </a:prstGeom>
          <a:noFill/>
        </p:spPr>
        <p:txBody>
          <a:bodyPr wrap="none" rtlCol="0">
            <a:spAutoFit/>
          </a:bodyPr>
          <a:lstStyle/>
          <a:p>
            <a:r>
              <a:rPr lang="en-US" sz="1000" b="1" dirty="0">
                <a:solidFill>
                  <a:schemeClr val="bg1">
                    <a:lumMod val="50000"/>
                  </a:schemeClr>
                </a:solidFill>
              </a:rPr>
              <a:t>x0cc</a:t>
            </a:r>
          </a:p>
        </p:txBody>
      </p:sp>
      <p:sp>
        <p:nvSpPr>
          <p:cNvPr id="234" name="TextBox 233">
            <a:extLst>
              <a:ext uri="{FF2B5EF4-FFF2-40B4-BE49-F238E27FC236}">
                <a16:creationId xmlns:a16="http://schemas.microsoft.com/office/drawing/2014/main" id="{64738475-8879-6B55-E2DC-12F90D97C6FE}"/>
              </a:ext>
            </a:extLst>
          </p:cNvPr>
          <p:cNvSpPr txBox="1"/>
          <p:nvPr/>
        </p:nvSpPr>
        <p:spPr>
          <a:xfrm>
            <a:off x="6532961" y="2704129"/>
            <a:ext cx="482824" cy="246221"/>
          </a:xfrm>
          <a:prstGeom prst="rect">
            <a:avLst/>
          </a:prstGeom>
          <a:noFill/>
        </p:spPr>
        <p:txBody>
          <a:bodyPr wrap="none" rtlCol="0">
            <a:spAutoFit/>
          </a:bodyPr>
          <a:lstStyle/>
          <a:p>
            <a:r>
              <a:rPr lang="en-US" sz="1000" b="1" dirty="0">
                <a:solidFill>
                  <a:schemeClr val="tx1">
                    <a:lumMod val="75000"/>
                    <a:lumOff val="25000"/>
                  </a:schemeClr>
                </a:solidFill>
              </a:rPr>
              <a:t>xon3</a:t>
            </a:r>
          </a:p>
        </p:txBody>
      </p:sp>
      <p:sp>
        <p:nvSpPr>
          <p:cNvPr id="235" name="TextBox 234">
            <a:extLst>
              <a:ext uri="{FF2B5EF4-FFF2-40B4-BE49-F238E27FC236}">
                <a16:creationId xmlns:a16="http://schemas.microsoft.com/office/drawing/2014/main" id="{0A30AD35-D2D0-B6FB-36F2-8B688D63B68A}"/>
              </a:ext>
            </a:extLst>
          </p:cNvPr>
          <p:cNvSpPr txBox="1"/>
          <p:nvPr/>
        </p:nvSpPr>
        <p:spPr>
          <a:xfrm>
            <a:off x="6532961" y="2520826"/>
            <a:ext cx="510076" cy="246221"/>
          </a:xfrm>
          <a:prstGeom prst="rect">
            <a:avLst/>
          </a:prstGeom>
          <a:noFill/>
        </p:spPr>
        <p:txBody>
          <a:bodyPr wrap="none" rtlCol="0">
            <a:spAutoFit/>
          </a:bodyPr>
          <a:lstStyle/>
          <a:p>
            <a:r>
              <a:rPr lang="en-US" sz="1000" b="1" dirty="0">
                <a:solidFill>
                  <a:schemeClr val="bg1">
                    <a:lumMod val="50000"/>
                  </a:schemeClr>
                </a:solidFill>
              </a:rPr>
              <a:t>x0m1</a:t>
            </a:r>
          </a:p>
        </p:txBody>
      </p:sp>
      <p:sp>
        <p:nvSpPr>
          <p:cNvPr id="236" name="TextBox 235">
            <a:extLst>
              <a:ext uri="{FF2B5EF4-FFF2-40B4-BE49-F238E27FC236}">
                <a16:creationId xmlns:a16="http://schemas.microsoft.com/office/drawing/2014/main" id="{0D20D30A-F7DD-AB32-79D4-FF8FB9F77C88}"/>
              </a:ext>
            </a:extLst>
          </p:cNvPr>
          <p:cNvSpPr txBox="1"/>
          <p:nvPr/>
        </p:nvSpPr>
        <p:spPr>
          <a:xfrm>
            <a:off x="6532961" y="2337523"/>
            <a:ext cx="439544" cy="246221"/>
          </a:xfrm>
          <a:prstGeom prst="rect">
            <a:avLst/>
          </a:prstGeom>
          <a:noFill/>
        </p:spPr>
        <p:txBody>
          <a:bodyPr wrap="none" rtlCol="0">
            <a:spAutoFit/>
          </a:bodyPr>
          <a:lstStyle/>
          <a:p>
            <a:r>
              <a:rPr lang="en-US" sz="1000" b="1" dirty="0">
                <a:solidFill>
                  <a:schemeClr val="bg1">
                    <a:lumMod val="50000"/>
                  </a:schemeClr>
                </a:solidFill>
              </a:rPr>
              <a:t>x0f6</a:t>
            </a:r>
          </a:p>
        </p:txBody>
      </p:sp>
      <p:sp>
        <p:nvSpPr>
          <p:cNvPr id="237" name="TextBox 236">
            <a:extLst>
              <a:ext uri="{FF2B5EF4-FFF2-40B4-BE49-F238E27FC236}">
                <a16:creationId xmlns:a16="http://schemas.microsoft.com/office/drawing/2014/main" id="{1EA91D81-8137-8BD8-1443-30A3A6033E80}"/>
              </a:ext>
            </a:extLst>
          </p:cNvPr>
          <p:cNvSpPr txBox="1"/>
          <p:nvPr/>
        </p:nvSpPr>
        <p:spPr>
          <a:xfrm>
            <a:off x="6532961" y="2154220"/>
            <a:ext cx="439544" cy="246221"/>
          </a:xfrm>
          <a:prstGeom prst="rect">
            <a:avLst/>
          </a:prstGeom>
          <a:noFill/>
        </p:spPr>
        <p:txBody>
          <a:bodyPr wrap="none" rtlCol="0">
            <a:spAutoFit/>
          </a:bodyPr>
          <a:lstStyle/>
          <a:p>
            <a:r>
              <a:rPr lang="en-US" sz="1000" b="1" dirty="0">
                <a:solidFill>
                  <a:schemeClr val="bg1">
                    <a:lumMod val="50000"/>
                  </a:schemeClr>
                </a:solidFill>
              </a:rPr>
              <a:t>x0f2</a:t>
            </a:r>
          </a:p>
        </p:txBody>
      </p:sp>
      <p:sp>
        <p:nvSpPr>
          <p:cNvPr id="239" name="Rectangle 238">
            <a:extLst>
              <a:ext uri="{FF2B5EF4-FFF2-40B4-BE49-F238E27FC236}">
                <a16:creationId xmlns:a16="http://schemas.microsoft.com/office/drawing/2014/main" id="{5F7C2D36-956F-75BD-F0F5-936BC0FB4997}"/>
              </a:ext>
            </a:extLst>
          </p:cNvPr>
          <p:cNvSpPr/>
          <p:nvPr/>
        </p:nvSpPr>
        <p:spPr>
          <a:xfrm>
            <a:off x="4072229" y="2291008"/>
            <a:ext cx="489732" cy="37173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0" name="Straight Connector 239">
            <a:extLst>
              <a:ext uri="{FF2B5EF4-FFF2-40B4-BE49-F238E27FC236}">
                <a16:creationId xmlns:a16="http://schemas.microsoft.com/office/drawing/2014/main" id="{205E4076-9858-5500-91C1-B6FFB28E41AD}"/>
              </a:ext>
            </a:extLst>
          </p:cNvPr>
          <p:cNvCxnSpPr>
            <a:cxnSpLocks/>
            <a:endCxn id="239" idx="3"/>
          </p:cNvCxnSpPr>
          <p:nvPr/>
        </p:nvCxnSpPr>
        <p:spPr>
          <a:xfrm>
            <a:off x="4069937" y="2472356"/>
            <a:ext cx="492024"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4" name="TextBox 243">
            <a:extLst>
              <a:ext uri="{FF2B5EF4-FFF2-40B4-BE49-F238E27FC236}">
                <a16:creationId xmlns:a16="http://schemas.microsoft.com/office/drawing/2014/main" id="{B0EE6D88-C0AC-C2C0-7FCE-7801105851A5}"/>
              </a:ext>
            </a:extLst>
          </p:cNvPr>
          <p:cNvSpPr txBox="1"/>
          <p:nvPr/>
        </p:nvSpPr>
        <p:spPr>
          <a:xfrm>
            <a:off x="4048221" y="2261762"/>
            <a:ext cx="428322" cy="246221"/>
          </a:xfrm>
          <a:prstGeom prst="rect">
            <a:avLst/>
          </a:prstGeom>
          <a:noFill/>
        </p:spPr>
        <p:txBody>
          <a:bodyPr wrap="none" rtlCol="0">
            <a:spAutoFit/>
          </a:bodyPr>
          <a:lstStyle/>
          <a:p>
            <a:r>
              <a:rPr lang="en-US" sz="1000" b="1" dirty="0">
                <a:solidFill>
                  <a:schemeClr val="tx1">
                    <a:lumMod val="75000"/>
                    <a:lumOff val="25000"/>
                  </a:schemeClr>
                </a:solidFill>
              </a:rPr>
              <a:t>A-M</a:t>
            </a:r>
          </a:p>
        </p:txBody>
      </p:sp>
      <p:sp>
        <p:nvSpPr>
          <p:cNvPr id="246" name="TextBox 245">
            <a:extLst>
              <a:ext uri="{FF2B5EF4-FFF2-40B4-BE49-F238E27FC236}">
                <a16:creationId xmlns:a16="http://schemas.microsoft.com/office/drawing/2014/main" id="{351519C7-C5B0-1380-0339-25BB60261A12}"/>
              </a:ext>
            </a:extLst>
          </p:cNvPr>
          <p:cNvSpPr txBox="1"/>
          <p:nvPr/>
        </p:nvSpPr>
        <p:spPr>
          <a:xfrm>
            <a:off x="4048221" y="2443980"/>
            <a:ext cx="399468" cy="246221"/>
          </a:xfrm>
          <a:prstGeom prst="rect">
            <a:avLst/>
          </a:prstGeom>
          <a:noFill/>
        </p:spPr>
        <p:txBody>
          <a:bodyPr wrap="none" rtlCol="0">
            <a:spAutoFit/>
          </a:bodyPr>
          <a:lstStyle/>
          <a:p>
            <a:r>
              <a:rPr lang="en-US" sz="1000" b="1" dirty="0">
                <a:solidFill>
                  <a:schemeClr val="bg1">
                    <a:lumMod val="50000"/>
                  </a:schemeClr>
                </a:solidFill>
              </a:rPr>
              <a:t>N-Z</a:t>
            </a:r>
          </a:p>
        </p:txBody>
      </p:sp>
      <p:sp>
        <p:nvSpPr>
          <p:cNvPr id="251" name="Rectangle 250">
            <a:extLst>
              <a:ext uri="{FF2B5EF4-FFF2-40B4-BE49-F238E27FC236}">
                <a16:creationId xmlns:a16="http://schemas.microsoft.com/office/drawing/2014/main" id="{2BA9CE78-9B42-21E2-14E0-2D0FB38868BA}"/>
              </a:ext>
            </a:extLst>
          </p:cNvPr>
          <p:cNvSpPr/>
          <p:nvPr/>
        </p:nvSpPr>
        <p:spPr>
          <a:xfrm>
            <a:off x="4636346" y="2133631"/>
            <a:ext cx="489732" cy="37173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3" name="Rectangle 252">
            <a:extLst>
              <a:ext uri="{FF2B5EF4-FFF2-40B4-BE49-F238E27FC236}">
                <a16:creationId xmlns:a16="http://schemas.microsoft.com/office/drawing/2014/main" id="{6569C483-A265-C7F5-5126-47F7311DDB2C}"/>
              </a:ext>
            </a:extLst>
          </p:cNvPr>
          <p:cNvSpPr/>
          <p:nvPr/>
        </p:nvSpPr>
        <p:spPr>
          <a:xfrm>
            <a:off x="4636346" y="2549801"/>
            <a:ext cx="489732"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7" name="Straight Connector 256">
            <a:extLst>
              <a:ext uri="{FF2B5EF4-FFF2-40B4-BE49-F238E27FC236}">
                <a16:creationId xmlns:a16="http://schemas.microsoft.com/office/drawing/2014/main" id="{08637846-0173-3CCF-795E-1300AEF83AC4}"/>
              </a:ext>
            </a:extLst>
          </p:cNvPr>
          <p:cNvCxnSpPr>
            <a:cxnSpLocks/>
          </p:cNvCxnSpPr>
          <p:nvPr/>
        </p:nvCxnSpPr>
        <p:spPr>
          <a:xfrm>
            <a:off x="4636346" y="2333000"/>
            <a:ext cx="492024"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A1686FF-1D7E-B93A-C2E9-AA982EFFF41C}"/>
              </a:ext>
            </a:extLst>
          </p:cNvPr>
          <p:cNvCxnSpPr>
            <a:cxnSpLocks/>
          </p:cNvCxnSpPr>
          <p:nvPr/>
        </p:nvCxnSpPr>
        <p:spPr>
          <a:xfrm>
            <a:off x="4636346" y="2742909"/>
            <a:ext cx="492024"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0" name="Rectangle 259">
            <a:extLst>
              <a:ext uri="{FF2B5EF4-FFF2-40B4-BE49-F238E27FC236}">
                <a16:creationId xmlns:a16="http://schemas.microsoft.com/office/drawing/2014/main" id="{D318DFCF-D73D-D87A-D716-52D2961A4C55}"/>
              </a:ext>
            </a:extLst>
          </p:cNvPr>
          <p:cNvSpPr/>
          <p:nvPr/>
        </p:nvSpPr>
        <p:spPr>
          <a:xfrm>
            <a:off x="5299222" y="1463568"/>
            <a:ext cx="899529"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1" name="Rectangle 260">
            <a:extLst>
              <a:ext uri="{FF2B5EF4-FFF2-40B4-BE49-F238E27FC236}">
                <a16:creationId xmlns:a16="http://schemas.microsoft.com/office/drawing/2014/main" id="{22B8B1B1-7A15-997F-8B20-713634CB7959}"/>
              </a:ext>
            </a:extLst>
          </p:cNvPr>
          <p:cNvSpPr/>
          <p:nvPr/>
        </p:nvSpPr>
        <p:spPr>
          <a:xfrm>
            <a:off x="5299222" y="1879738"/>
            <a:ext cx="899532"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2" name="Rectangle 261">
            <a:extLst>
              <a:ext uri="{FF2B5EF4-FFF2-40B4-BE49-F238E27FC236}">
                <a16:creationId xmlns:a16="http://schemas.microsoft.com/office/drawing/2014/main" id="{CD472592-FE98-762F-7261-4E6E146043DB}"/>
              </a:ext>
            </a:extLst>
          </p:cNvPr>
          <p:cNvSpPr/>
          <p:nvPr/>
        </p:nvSpPr>
        <p:spPr>
          <a:xfrm>
            <a:off x="5299222" y="2295908"/>
            <a:ext cx="905834" cy="37173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3" name="Rectangle 262">
            <a:extLst>
              <a:ext uri="{FF2B5EF4-FFF2-40B4-BE49-F238E27FC236}">
                <a16:creationId xmlns:a16="http://schemas.microsoft.com/office/drawing/2014/main" id="{FED64059-942E-F50F-9924-14F17BC21291}"/>
              </a:ext>
            </a:extLst>
          </p:cNvPr>
          <p:cNvSpPr/>
          <p:nvPr/>
        </p:nvSpPr>
        <p:spPr>
          <a:xfrm>
            <a:off x="5299222" y="2712079"/>
            <a:ext cx="899529"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9" name="TextBox 268">
            <a:extLst>
              <a:ext uri="{FF2B5EF4-FFF2-40B4-BE49-F238E27FC236}">
                <a16:creationId xmlns:a16="http://schemas.microsoft.com/office/drawing/2014/main" id="{568BAFF5-EF34-CB97-AC40-347FDD702BF6}"/>
              </a:ext>
            </a:extLst>
          </p:cNvPr>
          <p:cNvSpPr txBox="1"/>
          <p:nvPr/>
        </p:nvSpPr>
        <p:spPr>
          <a:xfrm>
            <a:off x="4604181" y="2104147"/>
            <a:ext cx="420308" cy="246221"/>
          </a:xfrm>
          <a:prstGeom prst="rect">
            <a:avLst/>
          </a:prstGeom>
          <a:noFill/>
        </p:spPr>
        <p:txBody>
          <a:bodyPr wrap="none" rtlCol="0">
            <a:spAutoFit/>
          </a:bodyPr>
          <a:lstStyle/>
          <a:p>
            <a:r>
              <a:rPr lang="en-US" sz="1000" b="1" dirty="0">
                <a:solidFill>
                  <a:schemeClr val="bg1">
                    <a:lumMod val="50000"/>
                  </a:schemeClr>
                </a:solidFill>
              </a:rPr>
              <a:t>A-G</a:t>
            </a:r>
          </a:p>
        </p:txBody>
      </p:sp>
      <p:sp>
        <p:nvSpPr>
          <p:cNvPr id="271" name="TextBox 270">
            <a:extLst>
              <a:ext uri="{FF2B5EF4-FFF2-40B4-BE49-F238E27FC236}">
                <a16:creationId xmlns:a16="http://schemas.microsoft.com/office/drawing/2014/main" id="{71AB57D8-86D3-960F-112E-60BA8011505B}"/>
              </a:ext>
            </a:extLst>
          </p:cNvPr>
          <p:cNvSpPr txBox="1"/>
          <p:nvPr/>
        </p:nvSpPr>
        <p:spPr>
          <a:xfrm>
            <a:off x="4604181" y="2294981"/>
            <a:ext cx="428322" cy="246221"/>
          </a:xfrm>
          <a:prstGeom prst="rect">
            <a:avLst/>
          </a:prstGeom>
          <a:noFill/>
        </p:spPr>
        <p:txBody>
          <a:bodyPr wrap="none" rtlCol="0">
            <a:spAutoFit/>
          </a:bodyPr>
          <a:lstStyle/>
          <a:p>
            <a:r>
              <a:rPr lang="en-US" sz="1000" b="1" dirty="0">
                <a:solidFill>
                  <a:schemeClr val="tx1">
                    <a:lumMod val="75000"/>
                    <a:lumOff val="25000"/>
                  </a:schemeClr>
                </a:solidFill>
              </a:rPr>
              <a:t>H-M</a:t>
            </a:r>
          </a:p>
        </p:txBody>
      </p:sp>
      <p:sp>
        <p:nvSpPr>
          <p:cNvPr id="273" name="TextBox 272">
            <a:extLst>
              <a:ext uri="{FF2B5EF4-FFF2-40B4-BE49-F238E27FC236}">
                <a16:creationId xmlns:a16="http://schemas.microsoft.com/office/drawing/2014/main" id="{1794952F-CAD1-F0AA-7884-431FA2D82001}"/>
              </a:ext>
            </a:extLst>
          </p:cNvPr>
          <p:cNvSpPr txBox="1"/>
          <p:nvPr/>
        </p:nvSpPr>
        <p:spPr>
          <a:xfrm>
            <a:off x="4604181" y="2521326"/>
            <a:ext cx="399468" cy="246221"/>
          </a:xfrm>
          <a:prstGeom prst="rect">
            <a:avLst/>
          </a:prstGeom>
          <a:noFill/>
        </p:spPr>
        <p:txBody>
          <a:bodyPr wrap="none" rtlCol="0">
            <a:spAutoFit/>
          </a:bodyPr>
          <a:lstStyle/>
          <a:p>
            <a:r>
              <a:rPr lang="en-US" sz="1000" b="1" dirty="0">
                <a:solidFill>
                  <a:schemeClr val="bg1">
                    <a:lumMod val="50000"/>
                  </a:schemeClr>
                </a:solidFill>
              </a:rPr>
              <a:t>N-T</a:t>
            </a:r>
          </a:p>
        </p:txBody>
      </p:sp>
      <p:sp>
        <p:nvSpPr>
          <p:cNvPr id="276" name="TextBox 275">
            <a:extLst>
              <a:ext uri="{FF2B5EF4-FFF2-40B4-BE49-F238E27FC236}">
                <a16:creationId xmlns:a16="http://schemas.microsoft.com/office/drawing/2014/main" id="{A9BF607E-7DB7-EDAD-1943-A1DD7AEA6C5C}"/>
              </a:ext>
            </a:extLst>
          </p:cNvPr>
          <p:cNvSpPr txBox="1"/>
          <p:nvPr/>
        </p:nvSpPr>
        <p:spPr>
          <a:xfrm>
            <a:off x="4604181" y="2709342"/>
            <a:ext cx="399468" cy="246221"/>
          </a:xfrm>
          <a:prstGeom prst="rect">
            <a:avLst/>
          </a:prstGeom>
          <a:noFill/>
        </p:spPr>
        <p:txBody>
          <a:bodyPr wrap="none" rtlCol="0">
            <a:spAutoFit/>
          </a:bodyPr>
          <a:lstStyle/>
          <a:p>
            <a:r>
              <a:rPr lang="en-US" sz="1000" b="1" dirty="0">
                <a:solidFill>
                  <a:schemeClr val="bg1">
                    <a:lumMod val="50000"/>
                  </a:schemeClr>
                </a:solidFill>
              </a:rPr>
              <a:t>U-Z</a:t>
            </a:r>
          </a:p>
        </p:txBody>
      </p:sp>
      <p:sp>
        <p:nvSpPr>
          <p:cNvPr id="278" name="TextBox 277">
            <a:extLst>
              <a:ext uri="{FF2B5EF4-FFF2-40B4-BE49-F238E27FC236}">
                <a16:creationId xmlns:a16="http://schemas.microsoft.com/office/drawing/2014/main" id="{0EEF7A26-1044-4A7F-E8DC-9B429E32D7F5}"/>
              </a:ext>
            </a:extLst>
          </p:cNvPr>
          <p:cNvSpPr txBox="1"/>
          <p:nvPr/>
        </p:nvSpPr>
        <p:spPr>
          <a:xfrm>
            <a:off x="5267391" y="1441563"/>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80" name="TextBox 279">
            <a:extLst>
              <a:ext uri="{FF2B5EF4-FFF2-40B4-BE49-F238E27FC236}">
                <a16:creationId xmlns:a16="http://schemas.microsoft.com/office/drawing/2014/main" id="{63DDA964-4994-2220-BEF1-EAB203771632}"/>
              </a:ext>
            </a:extLst>
          </p:cNvPr>
          <p:cNvSpPr txBox="1"/>
          <p:nvPr/>
        </p:nvSpPr>
        <p:spPr>
          <a:xfrm>
            <a:off x="5267390" y="1626703"/>
            <a:ext cx="926548" cy="246221"/>
          </a:xfrm>
          <a:prstGeom prst="rect">
            <a:avLst/>
          </a:prstGeom>
          <a:noFill/>
        </p:spPr>
        <p:txBody>
          <a:bodyPr wrap="square" rtlCol="0">
            <a:spAutoFit/>
          </a:bodyPr>
          <a:lstStyle/>
          <a:p>
            <a:r>
              <a:rPr lang="en-US" sz="1000" b="1" dirty="0">
                <a:solidFill>
                  <a:schemeClr val="bg1">
                    <a:lumMod val="50000"/>
                  </a:schemeClr>
                </a:solidFill>
              </a:rPr>
              <a:t>H-I         x0j3</a:t>
            </a:r>
          </a:p>
        </p:txBody>
      </p:sp>
      <p:sp>
        <p:nvSpPr>
          <p:cNvPr id="282" name="TextBox 281">
            <a:extLst>
              <a:ext uri="{FF2B5EF4-FFF2-40B4-BE49-F238E27FC236}">
                <a16:creationId xmlns:a16="http://schemas.microsoft.com/office/drawing/2014/main" id="{A6949E4B-AC9D-5A20-7F1E-992CF112F82D}"/>
              </a:ext>
            </a:extLst>
          </p:cNvPr>
          <p:cNvSpPr txBox="1"/>
          <p:nvPr/>
        </p:nvSpPr>
        <p:spPr>
          <a:xfrm>
            <a:off x="5267390" y="1846974"/>
            <a:ext cx="926545" cy="246221"/>
          </a:xfrm>
          <a:prstGeom prst="rect">
            <a:avLst/>
          </a:prstGeom>
          <a:noFill/>
        </p:spPr>
        <p:txBody>
          <a:bodyPr wrap="square" rtlCol="0">
            <a:spAutoFit/>
          </a:bodyPr>
          <a:lstStyle/>
          <a:p>
            <a:r>
              <a:rPr lang="en-US" sz="1000" b="1" dirty="0">
                <a:solidFill>
                  <a:schemeClr val="bg1">
                    <a:lumMod val="50000"/>
                  </a:schemeClr>
                </a:solidFill>
              </a:rPr>
              <a:t>J-K        x0l1</a:t>
            </a:r>
          </a:p>
        </p:txBody>
      </p:sp>
      <p:sp>
        <p:nvSpPr>
          <p:cNvPr id="284" name="TextBox 283">
            <a:extLst>
              <a:ext uri="{FF2B5EF4-FFF2-40B4-BE49-F238E27FC236}">
                <a16:creationId xmlns:a16="http://schemas.microsoft.com/office/drawing/2014/main" id="{97234F44-5EDC-284B-B3CC-2A3DB15F832A}"/>
              </a:ext>
            </a:extLst>
          </p:cNvPr>
          <p:cNvSpPr txBox="1"/>
          <p:nvPr/>
        </p:nvSpPr>
        <p:spPr>
          <a:xfrm>
            <a:off x="5267389" y="2039432"/>
            <a:ext cx="1017919" cy="246221"/>
          </a:xfrm>
          <a:prstGeom prst="rect">
            <a:avLst/>
          </a:prstGeom>
          <a:noFill/>
        </p:spPr>
        <p:txBody>
          <a:bodyPr wrap="square" rtlCol="0">
            <a:spAutoFit/>
          </a:bodyPr>
          <a:lstStyle/>
          <a:p>
            <a:r>
              <a:rPr lang="en-US" sz="1000" b="1" dirty="0">
                <a:solidFill>
                  <a:schemeClr val="bg1">
                    <a:lumMod val="50000"/>
                  </a:schemeClr>
                </a:solidFill>
              </a:rPr>
              <a:t>L-Me     x0c5</a:t>
            </a:r>
          </a:p>
        </p:txBody>
      </p:sp>
      <p:sp>
        <p:nvSpPr>
          <p:cNvPr id="286" name="TextBox 285">
            <a:extLst>
              <a:ext uri="{FF2B5EF4-FFF2-40B4-BE49-F238E27FC236}">
                <a16:creationId xmlns:a16="http://schemas.microsoft.com/office/drawing/2014/main" id="{70CE3050-A835-D487-8AC8-6D16AB50098E}"/>
              </a:ext>
            </a:extLst>
          </p:cNvPr>
          <p:cNvSpPr txBox="1"/>
          <p:nvPr/>
        </p:nvSpPr>
        <p:spPr>
          <a:xfrm>
            <a:off x="5267390" y="2265518"/>
            <a:ext cx="1050329" cy="246221"/>
          </a:xfrm>
          <a:prstGeom prst="rect">
            <a:avLst/>
          </a:prstGeom>
          <a:noFill/>
        </p:spPr>
        <p:txBody>
          <a:bodyPr wrap="square" rtlCol="0">
            <a:spAutoFit/>
          </a:bodyPr>
          <a:lstStyle/>
          <a:p>
            <a:r>
              <a:rPr lang="en-US" sz="1000" b="1" dirty="0">
                <a:solidFill>
                  <a:schemeClr val="tx1">
                    <a:lumMod val="75000"/>
                    <a:lumOff val="25000"/>
                  </a:schemeClr>
                </a:solidFill>
              </a:rPr>
              <a:t>Mf-Mu   xon3</a:t>
            </a:r>
          </a:p>
        </p:txBody>
      </p:sp>
      <p:sp>
        <p:nvSpPr>
          <p:cNvPr id="288" name="TextBox 287">
            <a:extLst>
              <a:ext uri="{FF2B5EF4-FFF2-40B4-BE49-F238E27FC236}">
                <a16:creationId xmlns:a16="http://schemas.microsoft.com/office/drawing/2014/main" id="{BB3305CB-12BB-D091-5812-37B3B1A7AD9D}"/>
              </a:ext>
            </a:extLst>
          </p:cNvPr>
          <p:cNvSpPr txBox="1"/>
          <p:nvPr/>
        </p:nvSpPr>
        <p:spPr>
          <a:xfrm>
            <a:off x="5235014" y="2460633"/>
            <a:ext cx="1014413" cy="246221"/>
          </a:xfrm>
          <a:prstGeom prst="rect">
            <a:avLst/>
          </a:prstGeom>
          <a:noFill/>
        </p:spPr>
        <p:txBody>
          <a:bodyPr wrap="square" rtlCol="0">
            <a:spAutoFit/>
          </a:bodyPr>
          <a:lstStyle/>
          <a:p>
            <a:r>
              <a:rPr lang="en-US" sz="1000" b="1" dirty="0">
                <a:solidFill>
                  <a:schemeClr val="bg1">
                    <a:lumMod val="50000"/>
                  </a:schemeClr>
                </a:solidFill>
              </a:rPr>
              <a:t>Mv-Mz   x0e4</a:t>
            </a:r>
          </a:p>
        </p:txBody>
      </p:sp>
      <p:sp>
        <p:nvSpPr>
          <p:cNvPr id="290" name="TextBox 289">
            <a:extLst>
              <a:ext uri="{FF2B5EF4-FFF2-40B4-BE49-F238E27FC236}">
                <a16:creationId xmlns:a16="http://schemas.microsoft.com/office/drawing/2014/main" id="{8E4D9EDF-CDA7-9D52-CB16-F1B298024EF3}"/>
              </a:ext>
            </a:extLst>
          </p:cNvPr>
          <p:cNvSpPr txBox="1"/>
          <p:nvPr/>
        </p:nvSpPr>
        <p:spPr>
          <a:xfrm>
            <a:off x="5267391" y="2669498"/>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92" name="TextBox 291">
            <a:extLst>
              <a:ext uri="{FF2B5EF4-FFF2-40B4-BE49-F238E27FC236}">
                <a16:creationId xmlns:a16="http://schemas.microsoft.com/office/drawing/2014/main" id="{C02D0A8A-0534-8654-5231-C61B78CCCF1C}"/>
              </a:ext>
            </a:extLst>
          </p:cNvPr>
          <p:cNvSpPr txBox="1"/>
          <p:nvPr/>
        </p:nvSpPr>
        <p:spPr>
          <a:xfrm>
            <a:off x="5267391" y="2861287"/>
            <a:ext cx="312906" cy="246221"/>
          </a:xfrm>
          <a:prstGeom prst="rect">
            <a:avLst/>
          </a:prstGeom>
          <a:noFill/>
        </p:spPr>
        <p:txBody>
          <a:bodyPr wrap="none" rtlCol="0">
            <a:spAutoFit/>
          </a:bodyPr>
          <a:lstStyle/>
          <a:p>
            <a:r>
              <a:rPr lang="en-US" sz="1000" b="1" dirty="0">
                <a:solidFill>
                  <a:schemeClr val="bg1">
                    <a:lumMod val="50000"/>
                  </a:schemeClr>
                </a:solidFill>
              </a:rPr>
              <a:t>…</a:t>
            </a:r>
          </a:p>
        </p:txBody>
      </p:sp>
      <p:cxnSp>
        <p:nvCxnSpPr>
          <p:cNvPr id="293" name="Straight Arrow Connector 292">
            <a:extLst>
              <a:ext uri="{FF2B5EF4-FFF2-40B4-BE49-F238E27FC236}">
                <a16:creationId xmlns:a16="http://schemas.microsoft.com/office/drawing/2014/main" id="{FEBAFDCB-CFAE-6883-E0D5-4BE02982EC78}"/>
              </a:ext>
            </a:extLst>
          </p:cNvPr>
          <p:cNvCxnSpPr>
            <a:cxnSpLocks/>
            <a:stCxn id="244" idx="3"/>
          </p:cNvCxnSpPr>
          <p:nvPr/>
        </p:nvCxnSpPr>
        <p:spPr>
          <a:xfrm>
            <a:off x="4476543" y="2384873"/>
            <a:ext cx="235987" cy="26520"/>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7" name="Straight Arrow Connector 296">
            <a:extLst>
              <a:ext uri="{FF2B5EF4-FFF2-40B4-BE49-F238E27FC236}">
                <a16:creationId xmlns:a16="http://schemas.microsoft.com/office/drawing/2014/main" id="{40227106-5D7E-0301-DB05-D0DB06356D9F}"/>
              </a:ext>
            </a:extLst>
          </p:cNvPr>
          <p:cNvCxnSpPr>
            <a:cxnSpLocks/>
          </p:cNvCxnSpPr>
          <p:nvPr/>
        </p:nvCxnSpPr>
        <p:spPr>
          <a:xfrm flipV="1">
            <a:off x="5063263" y="2345054"/>
            <a:ext cx="280605" cy="55387"/>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9" name="Straight Arrow Connector 298">
            <a:extLst>
              <a:ext uri="{FF2B5EF4-FFF2-40B4-BE49-F238E27FC236}">
                <a16:creationId xmlns:a16="http://schemas.microsoft.com/office/drawing/2014/main" id="{2EB65C96-5F95-04C2-D32B-42EE985B591C}"/>
              </a:ext>
            </a:extLst>
          </p:cNvPr>
          <p:cNvCxnSpPr>
            <a:cxnSpLocks/>
          </p:cNvCxnSpPr>
          <p:nvPr/>
        </p:nvCxnSpPr>
        <p:spPr>
          <a:xfrm>
            <a:off x="6196914" y="2359224"/>
            <a:ext cx="411865" cy="400291"/>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B273F0BB-7B43-D1BC-415F-09FE8BBA2649}"/>
              </a:ext>
            </a:extLst>
          </p:cNvPr>
          <p:cNvCxnSpPr>
            <a:cxnSpLocks/>
          </p:cNvCxnSpPr>
          <p:nvPr/>
        </p:nvCxnSpPr>
        <p:spPr>
          <a:xfrm>
            <a:off x="5296948" y="1654363"/>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E29AA2AE-3A06-11AB-533B-32B665661168}"/>
              </a:ext>
            </a:extLst>
          </p:cNvPr>
          <p:cNvCxnSpPr>
            <a:cxnSpLocks/>
          </p:cNvCxnSpPr>
          <p:nvPr/>
        </p:nvCxnSpPr>
        <p:spPr>
          <a:xfrm>
            <a:off x="5300978" y="2066854"/>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836AA11-4522-2626-5043-39E72A33B648}"/>
              </a:ext>
            </a:extLst>
          </p:cNvPr>
          <p:cNvCxnSpPr>
            <a:cxnSpLocks/>
          </p:cNvCxnSpPr>
          <p:nvPr/>
        </p:nvCxnSpPr>
        <p:spPr>
          <a:xfrm>
            <a:off x="5299691" y="2481825"/>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828E8D2-A831-C1B7-B1CF-9D7F9C9603D0}"/>
              </a:ext>
            </a:extLst>
          </p:cNvPr>
          <p:cNvCxnSpPr>
            <a:cxnSpLocks/>
          </p:cNvCxnSpPr>
          <p:nvPr/>
        </p:nvCxnSpPr>
        <p:spPr>
          <a:xfrm>
            <a:off x="5300978" y="2890521"/>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195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B42CF45-8F5D-8954-D97D-018733E679B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C5E7707-C928-3517-8748-617CB516E76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join method,  </a:t>
            </a:r>
            <a:r>
              <a:rPr lang="en" i="1" dirty="0">
                <a:solidFill>
                  <a:schemeClr val="accent2"/>
                </a:solidFill>
                <a:latin typeface="Lato"/>
                <a:ea typeface="Lato"/>
                <a:cs typeface="Lato"/>
                <a:sym typeface="Lato"/>
              </a:rPr>
              <a:t>table order</a:t>
            </a:r>
            <a:endParaRPr i="1"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74310B2-7B5C-FAD8-8D58-472264ABAE5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8" name="Picture 7">
            <a:extLst>
              <a:ext uri="{FF2B5EF4-FFF2-40B4-BE49-F238E27FC236}">
                <a16:creationId xmlns:a16="http://schemas.microsoft.com/office/drawing/2014/main" id="{BE9DA563-3F3C-CC15-95DD-E14195AC23FA}"/>
              </a:ext>
            </a:extLst>
          </p:cNvPr>
          <p:cNvPicPr>
            <a:picLocks noChangeAspect="1"/>
          </p:cNvPicPr>
          <p:nvPr/>
        </p:nvPicPr>
        <p:blipFill>
          <a:blip r:embed="rId3"/>
          <a:stretch>
            <a:fillRect/>
          </a:stretch>
        </p:blipFill>
        <p:spPr>
          <a:xfrm>
            <a:off x="3839909" y="1399282"/>
            <a:ext cx="2015676" cy="1369319"/>
          </a:xfrm>
          <a:prstGeom prst="rect">
            <a:avLst/>
          </a:prstGeom>
        </p:spPr>
      </p:pic>
      <p:grpSp>
        <p:nvGrpSpPr>
          <p:cNvPr id="26" name="Group 25">
            <a:extLst>
              <a:ext uri="{FF2B5EF4-FFF2-40B4-BE49-F238E27FC236}">
                <a16:creationId xmlns:a16="http://schemas.microsoft.com/office/drawing/2014/main" id="{BA7428B1-5D55-E95C-6470-74CC76C024F8}"/>
              </a:ext>
            </a:extLst>
          </p:cNvPr>
          <p:cNvGrpSpPr/>
          <p:nvPr/>
        </p:nvGrpSpPr>
        <p:grpSpPr>
          <a:xfrm>
            <a:off x="5925177" y="2108053"/>
            <a:ext cx="609600" cy="1334915"/>
            <a:chOff x="4990214" y="2571750"/>
            <a:chExt cx="609600" cy="1334915"/>
          </a:xfrm>
        </p:grpSpPr>
        <p:cxnSp>
          <p:nvCxnSpPr>
            <p:cNvPr id="13" name="Straight Connector 12">
              <a:extLst>
                <a:ext uri="{FF2B5EF4-FFF2-40B4-BE49-F238E27FC236}">
                  <a16:creationId xmlns:a16="http://schemas.microsoft.com/office/drawing/2014/main" id="{95D433FB-5D71-C128-84CD-9908B33E13C4}"/>
                </a:ext>
              </a:extLst>
            </p:cNvPr>
            <p:cNvCxnSpPr/>
            <p:nvPr/>
          </p:nvCxnSpPr>
          <p:spPr>
            <a:xfrm>
              <a:off x="4990214" y="2571750"/>
              <a:ext cx="48909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394A29-6DD6-7374-3603-61F5E1F93B68}"/>
                </a:ext>
              </a:extLst>
            </p:cNvPr>
            <p:cNvCxnSpPr/>
            <p:nvPr/>
          </p:nvCxnSpPr>
          <p:spPr>
            <a:xfrm>
              <a:off x="5465135" y="2571750"/>
              <a:ext cx="0" cy="6605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E0E799C-F11B-8733-1151-3D71023BBB01}"/>
                </a:ext>
              </a:extLst>
            </p:cNvPr>
            <p:cNvCxnSpPr/>
            <p:nvPr/>
          </p:nvCxnSpPr>
          <p:spPr>
            <a:xfrm flipH="1">
              <a:off x="5160335" y="3239386"/>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DF0C9A4-376A-B76E-4737-1FA17C90A403}"/>
                </a:ext>
              </a:extLst>
            </p:cNvPr>
            <p:cNvCxnSpPr/>
            <p:nvPr/>
          </p:nvCxnSpPr>
          <p:spPr>
            <a:xfrm flipV="1">
              <a:off x="5167423" y="2824083"/>
              <a:ext cx="0" cy="42239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C1017DA-ECF9-D0EC-21D5-2336E917341D}"/>
                </a:ext>
              </a:extLst>
            </p:cNvPr>
            <p:cNvCxnSpPr/>
            <p:nvPr/>
          </p:nvCxnSpPr>
          <p:spPr>
            <a:xfrm>
              <a:off x="5160335" y="2824083"/>
              <a:ext cx="439479"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47183C7-B8A2-3345-7D13-FA9998A8C876}"/>
                </a:ext>
              </a:extLst>
            </p:cNvPr>
            <p:cNvCxnSpPr/>
            <p:nvPr/>
          </p:nvCxnSpPr>
          <p:spPr>
            <a:xfrm>
              <a:off x="5592726" y="2809907"/>
              <a:ext cx="0" cy="1096758"/>
            </a:xfrm>
            <a:prstGeom prst="line">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grpSp>
      <p:pic>
        <p:nvPicPr>
          <p:cNvPr id="25" name="Picture 24">
            <a:extLst>
              <a:ext uri="{FF2B5EF4-FFF2-40B4-BE49-F238E27FC236}">
                <a16:creationId xmlns:a16="http://schemas.microsoft.com/office/drawing/2014/main" id="{80BD00D3-C085-9E91-CB1C-415378F06A66}"/>
              </a:ext>
            </a:extLst>
          </p:cNvPr>
          <p:cNvPicPr>
            <a:picLocks noChangeAspect="1"/>
          </p:cNvPicPr>
          <p:nvPr/>
        </p:nvPicPr>
        <p:blipFill>
          <a:blip r:embed="rId4"/>
          <a:stretch>
            <a:fillRect/>
          </a:stretch>
        </p:blipFill>
        <p:spPr>
          <a:xfrm>
            <a:off x="6683634" y="2604031"/>
            <a:ext cx="2015672" cy="1437611"/>
          </a:xfrm>
          <a:prstGeom prst="rect">
            <a:avLst/>
          </a:prstGeom>
        </p:spPr>
      </p:pic>
      <p:sp>
        <p:nvSpPr>
          <p:cNvPr id="28" name="Google Shape;248;p56">
            <a:extLst>
              <a:ext uri="{FF2B5EF4-FFF2-40B4-BE49-F238E27FC236}">
                <a16:creationId xmlns:a16="http://schemas.microsoft.com/office/drawing/2014/main" id="{28AB6664-4860-9750-EA96-3542F3BBDFBE}"/>
              </a:ext>
            </a:extLst>
          </p:cNvPr>
          <p:cNvSpPr txBox="1"/>
          <p:nvPr/>
        </p:nvSpPr>
        <p:spPr>
          <a:xfrm>
            <a:off x="258001" y="1574637"/>
            <a:ext cx="3581908" cy="2166717"/>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join methods:</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nested loop join (implied here), the oldest</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batch nested loop join (optimized for distributed)</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hash join</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merge join (sort-merge)</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b="0" i="1"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609056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B097A79-56EB-169A-00FD-1E397A447366}"/>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14FC1AE-300A-5B7E-5608-CCE2B0DA616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rules based optimizer (rbo), cost based optimizer (cbo)</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E5F8621-C89F-0CAC-50DF-E27574A4596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05E29AB-665A-382F-4E18-03F62AA6A9A2}"/>
              </a:ext>
            </a:extLst>
          </p:cNvPr>
          <p:cNvSpPr txBox="1"/>
          <p:nvPr/>
        </p:nvSpPr>
        <p:spPr>
          <a:xfrm>
            <a:off x="315981" y="1549228"/>
            <a:ext cx="3958307" cy="255605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rules based optimizer</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original</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based on sound principles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Lato"/>
                <a:ea typeface="Lato"/>
                <a:cs typeface="Lato"/>
                <a:sym typeface="Lato"/>
              </a:rPr>
              <a:t>a decision tree</a:t>
            </a:r>
          </a:p>
          <a:p>
            <a:pPr marL="227012"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5 rules applied in order to determine query plan</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43D0F9E8-B9A1-8564-BA31-401FC2CF5A20}"/>
              </a:ext>
            </a:extLst>
          </p:cNvPr>
          <p:cNvSpPr txBox="1"/>
          <p:nvPr/>
        </p:nvSpPr>
        <p:spPr>
          <a:xfrm>
            <a:off x="4990762" y="1549228"/>
            <a:ext cx="3618145" cy="117567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cost based optimizer</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same principles (they were not broken</a:t>
            </a:r>
            <a:r>
              <a:rPr lang="en-US" dirty="0">
                <a:latin typeface="Lato"/>
                <a:ea typeface="Lato"/>
                <a:cs typeface="Lato"/>
                <a:sym typeface="Lato"/>
              </a:rPr>
              <a:t>)</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1" i="0" u="none" strike="noStrike" kern="0" cap="none" spc="0" normalizeH="0" baseline="0" noProof="0" dirty="0" err="1">
                <a:ln>
                  <a:noFill/>
                </a:ln>
                <a:solidFill>
                  <a:srgbClr val="000000"/>
                </a:solidFill>
                <a:effectLst/>
                <a:uLnTx/>
                <a:uFillTx/>
                <a:latin typeface="Lato"/>
                <a:ea typeface="Lato"/>
                <a:cs typeface="Lato"/>
                <a:sym typeface="Lato"/>
              </a:rPr>
              <a:t>rbo</a:t>
            </a:r>
            <a:r>
              <a:rPr kumimoji="0" lang="en-US" b="1" i="0" u="none" strike="noStrike" kern="0" cap="none" spc="0" normalizeH="0" baseline="0" noProof="0" dirty="0">
                <a:ln>
                  <a:noFill/>
                </a:ln>
                <a:solidFill>
                  <a:srgbClr val="000000"/>
                </a:solidFill>
                <a:effectLst/>
                <a:uLnTx/>
                <a:uFillTx/>
                <a:latin typeface="Lato"/>
                <a:ea typeface="Lato"/>
                <a:cs typeface="Lato"/>
                <a:sym typeface="Lato"/>
              </a:rPr>
              <a:t> truths, centered on cost and </a:t>
            </a:r>
            <a:r>
              <a:rPr kumimoji="0" lang="en-US" b="1" i="0" u="none" strike="noStrike" kern="0" cap="none" spc="0" normalizeH="0" baseline="0" noProof="0" dirty="0">
                <a:ln>
                  <a:noFill/>
                </a:ln>
                <a:solidFill>
                  <a:schemeClr val="tx1"/>
                </a:solidFill>
                <a:effectLst/>
                <a:uLnTx/>
                <a:uFillTx/>
                <a:latin typeface="Lato"/>
                <a:ea typeface="Lato"/>
                <a:cs typeface="Lato"/>
                <a:sym typeface="Lato"/>
              </a:rPr>
              <a:t>statistics about the data</a:t>
            </a:r>
          </a:p>
        </p:txBody>
      </p:sp>
      <p:pic>
        <p:nvPicPr>
          <p:cNvPr id="6" name="Picture 5">
            <a:extLst>
              <a:ext uri="{FF2B5EF4-FFF2-40B4-BE49-F238E27FC236}">
                <a16:creationId xmlns:a16="http://schemas.microsoft.com/office/drawing/2014/main" id="{9034E17F-E78C-5A0F-2D79-4EE6823C76DC}"/>
              </a:ext>
            </a:extLst>
          </p:cNvPr>
          <p:cNvPicPr>
            <a:picLocks noChangeAspect="1"/>
          </p:cNvPicPr>
          <p:nvPr/>
        </p:nvPicPr>
        <p:blipFill>
          <a:blip r:embed="rId3"/>
          <a:stretch>
            <a:fillRect/>
          </a:stretch>
        </p:blipFill>
        <p:spPr>
          <a:xfrm>
            <a:off x="4153239" y="1324900"/>
            <a:ext cx="548688" cy="1152244"/>
          </a:xfrm>
          <a:prstGeom prst="rect">
            <a:avLst/>
          </a:prstGeom>
        </p:spPr>
      </p:pic>
    </p:spTree>
    <p:extLst>
      <p:ext uri="{BB962C8B-B14F-4D97-AF65-F5344CB8AC3E}">
        <p14:creationId xmlns:p14="http://schemas.microsoft.com/office/powerpoint/2010/main" val="1888036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07F496C1-6521-76FA-AAB2-05BAE4BAB1F2}"/>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446DDA3E-BC38-44BE-C242-9F9A33C32F5B}"/>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6A89148D-BC59-5ADD-4C79-BB2C797CF69E}"/>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01</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DE783E59-7B74-DFB7-3341-2F6726973836}"/>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855374B8-C5C7-BABF-D7C5-A0238DAFCBF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14957252-855B-AF1D-D8BE-6B723C6DCE60}"/>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9BE603FA-2AEC-D4F8-688F-F5608F0A916D}"/>
              </a:ext>
            </a:extLst>
          </p:cNvPr>
          <p:cNvSpPr/>
          <p:nvPr/>
        </p:nvSpPr>
        <p:spPr>
          <a:xfrm>
            <a:off x="3136053"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E70C6C21-3302-E642-D391-56981E496DC8}"/>
              </a:ext>
            </a:extLst>
          </p:cNvPr>
          <p:cNvSpPr/>
          <p:nvPr/>
        </p:nvSpPr>
        <p:spPr>
          <a:xfrm>
            <a:off x="3544461"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7B5B2AA1-996D-753C-1745-3878F4AA9E33}"/>
              </a:ext>
            </a:extLst>
          </p:cNvPr>
          <p:cNvSpPr/>
          <p:nvPr/>
        </p:nvSpPr>
        <p:spPr>
          <a:xfrm>
            <a:off x="3952869"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258A7BA6-BD94-4D60-30F0-FFE4132E4566}"/>
              </a:ext>
            </a:extLst>
          </p:cNvPr>
          <p:cNvSpPr/>
          <p:nvPr/>
        </p:nvSpPr>
        <p:spPr>
          <a:xfrm>
            <a:off x="4361277" y="1754293"/>
            <a:ext cx="372533" cy="37253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B1D30825-CE41-3FD7-DD6D-F40F7CD07AA3}"/>
              </a:ext>
            </a:extLst>
          </p:cNvPr>
          <p:cNvSpPr/>
          <p:nvPr/>
        </p:nvSpPr>
        <p:spPr>
          <a:xfrm>
            <a:off x="5994909"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8768A626-161B-B8ED-20B7-081A6E542B3F}"/>
              </a:ext>
            </a:extLst>
          </p:cNvPr>
          <p:cNvSpPr/>
          <p:nvPr/>
        </p:nvSpPr>
        <p:spPr>
          <a:xfrm>
            <a:off x="5586501"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FB294805-1C0C-602E-D3F9-AA5B9BFADF9D}"/>
              </a:ext>
            </a:extLst>
          </p:cNvPr>
          <p:cNvSpPr/>
          <p:nvPr/>
        </p:nvSpPr>
        <p:spPr>
          <a:xfrm>
            <a:off x="6403317"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335799B7-0FBC-F292-7AC2-BE493D354D10}"/>
              </a:ext>
            </a:extLst>
          </p:cNvPr>
          <p:cNvSpPr/>
          <p:nvPr/>
        </p:nvSpPr>
        <p:spPr>
          <a:xfrm>
            <a:off x="4769685"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C28D2D58-55AE-EE27-5E30-77E87FFD6E96}"/>
              </a:ext>
            </a:extLst>
          </p:cNvPr>
          <p:cNvSpPr/>
          <p:nvPr/>
        </p:nvSpPr>
        <p:spPr>
          <a:xfrm>
            <a:off x="5178093"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0BF0E95A-81B1-9E6C-FCCE-840ED9689C64}"/>
              </a:ext>
            </a:extLst>
          </p:cNvPr>
          <p:cNvSpPr/>
          <p:nvPr/>
        </p:nvSpPr>
        <p:spPr>
          <a:xfrm>
            <a:off x="6811727" y="1754293"/>
            <a:ext cx="432589"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F2463AAE-1598-699F-F811-135B291259C3}"/>
              </a:ext>
            </a:extLst>
          </p:cNvPr>
          <p:cNvSpPr txBox="1"/>
          <p:nvPr/>
        </p:nvSpPr>
        <p:spPr>
          <a:xfrm>
            <a:off x="3351103" y="2253251"/>
            <a:ext cx="3958307"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      only because it has 3 simple things going 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      </a:t>
            </a:r>
            <a:r>
              <a:rPr lang="en-US" dirty="0">
                <a:solidFill>
                  <a:schemeClr val="bg1">
                    <a:lumMod val="50000"/>
                  </a:schemeClr>
                </a:solidFill>
                <a:latin typeface="Lato"/>
                <a:ea typeface="Lato"/>
                <a:cs typeface="Lato"/>
                <a:sym typeface="Lato"/>
              </a:rPr>
              <a:t>one join</a:t>
            </a: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 two predicates, one order by</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2836896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D00F9B6-73B9-E44A-51DA-8052A417C50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C17D401-4966-7AD2-C93D-D42DF3C0ABE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8B96CFF-87C7-8E45-83C4-6C03EDFCEA8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B271D7D-AE4D-AA07-103B-31DDA3E64E44}"/>
              </a:ext>
            </a:extLst>
          </p:cNvPr>
          <p:cNvSpPr txBox="1"/>
          <p:nvPr/>
        </p:nvSpPr>
        <p:spPr>
          <a:xfrm>
            <a:off x="315981" y="1244428"/>
            <a:ext cx="1905672"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34CF5993-DFC6-99B5-98FF-BB8C37B26FD3}"/>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36C6D01E-71A7-5646-D7A9-34AB76972D35}"/>
              </a:ext>
            </a:extLst>
          </p:cNvPr>
          <p:cNvSpPr txBox="1"/>
          <p:nvPr/>
        </p:nvSpPr>
        <p:spPr>
          <a:xfrm>
            <a:off x="6102002" y="2893099"/>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Tree>
    <p:extLst>
      <p:ext uri="{BB962C8B-B14F-4D97-AF65-F5344CB8AC3E}">
        <p14:creationId xmlns:p14="http://schemas.microsoft.com/office/powerpoint/2010/main" val="2531364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585AAD5-08CA-232A-8EF5-E805ECC33BE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B093E2F-E5E6-3375-9EA8-25752DB16D2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but first, 7'th grade algebra; the associative property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F645DED-E753-2D49-22DC-A65372D3FB9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6E26E90-E1B5-9362-6A28-346D2054BE59}"/>
              </a:ext>
            </a:extLst>
          </p:cNvPr>
          <p:cNvSpPr txBox="1"/>
          <p:nvPr/>
        </p:nvSpPr>
        <p:spPr>
          <a:xfrm>
            <a:off x="315981" y="1545431"/>
            <a:ext cx="2935219" cy="1671196"/>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applies to addition, multiplication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not subtraction, division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in this context,</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A = B,  B = C,   thus A = C</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07FC9364-CA5D-01D0-5936-E273F216ED14}"/>
              </a:ext>
            </a:extLst>
          </p:cNvPr>
          <p:cNvSpPr txBox="1"/>
          <p:nvPr/>
        </p:nvSpPr>
        <p:spPr>
          <a:xfrm>
            <a:off x="3184464" y="1240631"/>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282312B1-134B-68CF-F608-4B004741ABC7}"/>
              </a:ext>
            </a:extLst>
          </p:cNvPr>
          <p:cNvPicPr>
            <a:picLocks noChangeAspect="1"/>
          </p:cNvPicPr>
          <p:nvPr/>
        </p:nvPicPr>
        <p:blipFill>
          <a:blip r:embed="rId3"/>
          <a:stretch>
            <a:fillRect/>
          </a:stretch>
        </p:blipFill>
        <p:spPr>
          <a:xfrm>
            <a:off x="4914030" y="1995627"/>
            <a:ext cx="548688" cy="1152244"/>
          </a:xfrm>
          <a:prstGeom prst="rect">
            <a:avLst/>
          </a:prstGeom>
        </p:spPr>
      </p:pic>
      <p:sp>
        <p:nvSpPr>
          <p:cNvPr id="8" name="Google Shape;248;p56">
            <a:extLst>
              <a:ext uri="{FF2B5EF4-FFF2-40B4-BE49-F238E27FC236}">
                <a16:creationId xmlns:a16="http://schemas.microsoft.com/office/drawing/2014/main" id="{8D68D183-120E-A6CD-943E-A727E6866DDE}"/>
              </a:ext>
            </a:extLst>
          </p:cNvPr>
          <p:cNvSpPr txBox="1"/>
          <p:nvPr/>
        </p:nvSpPr>
        <p:spPr>
          <a:xfrm>
            <a:off x="5633000" y="1240631"/>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4048326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F070D2A-B96F-67A6-660C-8E773674250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98FE4B8-2AD8-8DC4-2E2C-DADFF96BA5E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also first; the "psuedo order by clause" (a query rewrite)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986C051-ED21-FA7A-597A-9E89642721A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73D2894C-06E8-87F5-B152-C95BDF2A25B1}"/>
              </a:ext>
            </a:extLst>
          </p:cNvPr>
          <p:cNvSpPr txBox="1"/>
          <p:nvPr/>
        </p:nvSpPr>
        <p:spPr>
          <a:xfrm>
            <a:off x="729106" y="939628"/>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      t2.col1,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0" name="Google Shape;248;p56">
            <a:extLst>
              <a:ext uri="{FF2B5EF4-FFF2-40B4-BE49-F238E27FC236}">
                <a16:creationId xmlns:a16="http://schemas.microsoft.com/office/drawing/2014/main" id="{A9E796CD-A345-80CB-1AD1-867CD70B7768}"/>
              </a:ext>
            </a:extLst>
          </p:cNvPr>
          <p:cNvSpPr txBox="1"/>
          <p:nvPr/>
        </p:nvSpPr>
        <p:spPr>
          <a:xfrm>
            <a:off x="3582874" y="1540809"/>
            <a:ext cx="3932691" cy="92791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why-</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one index   (from one table)</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pre-sorted data  ( "pipelined sort" )</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326358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22E1B25B-5F70-3E17-38D9-6AF069232D3E}"/>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A669A7DC-CDB1-0599-099D-24A475826331}"/>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B9DEC406-636D-348A-39C0-7D43AA686A48}"/>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01</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920D4D6C-2566-BE92-0049-1027DB5D19DD}"/>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8F8965DF-E685-B4AB-B531-BB6012215ED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244A309F-47A5-C350-1BC5-C1B0A3C55DAA}"/>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FDABD592-50C2-0E00-5A23-CC9AC7E458E7}"/>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921856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B14C5D0-9004-4C49-10FA-1B122CBE789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B19D199-0EBA-721C-EE00-938DEE471C9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determing the query plan, applying the rules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E818614-681A-7E3A-4630-E24E3FC82B6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E806C06A-21DC-E715-FBB6-3361254E8BEF}"/>
              </a:ext>
            </a:extLst>
          </p:cNvPr>
          <p:cNvSpPr txBox="1"/>
          <p:nvPr/>
        </p:nvSpPr>
        <p:spPr>
          <a:xfrm>
            <a:off x="729106" y="939628"/>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89268AB2-A0EC-80F5-4060-E7004832CEE0}"/>
              </a:ext>
            </a:extLst>
          </p:cNvPr>
          <p:cNvSpPr txBox="1"/>
          <p:nvPr/>
        </p:nvSpPr>
        <p:spPr>
          <a:xfrm>
            <a:off x="4191922" y="1041747"/>
            <a:ext cx="2195331" cy="1246465"/>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8757FBDB-573B-8A93-B949-9D6442F31C19}"/>
              </a:ext>
            </a:extLst>
          </p:cNvPr>
          <p:cNvSpPr txBox="1"/>
          <p:nvPr/>
        </p:nvSpPr>
        <p:spPr>
          <a:xfrm>
            <a:off x="5881868" y="1041747"/>
            <a:ext cx="3004132" cy="1246465"/>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present</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all tables joined    (common, 2</a:t>
            </a:r>
            <a:r>
              <a:rPr lang="en-US" sz="1200" baseline="30000" dirty="0">
                <a:solidFill>
                  <a:schemeClr val="bg1">
                    <a:lumMod val="50000"/>
                  </a:schemeClr>
                </a:solidFill>
                <a:latin typeface="Lato"/>
                <a:ea typeface="Lato"/>
                <a:cs typeface="Lato"/>
                <a:sym typeface="Lato"/>
              </a:rPr>
              <a:t>nd</a:t>
            </a:r>
            <a:r>
              <a:rPr lang="en-US" sz="1200" dirty="0">
                <a:solidFill>
                  <a:schemeClr val="bg1">
                    <a:lumMod val="50000"/>
                  </a:schemeClr>
                </a:solidFill>
                <a:latin typeface="Lato"/>
                <a:ea typeface="Lato"/>
                <a:cs typeface="Lato"/>
                <a:sym typeface="Lato"/>
              </a:rPr>
              <a:t> table+)</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98% of the time    (determines first table)</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(not needed)</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needed)</a:t>
            </a:r>
            <a:endParaRPr kumimoji="0" sz="120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
        <p:nvSpPr>
          <p:cNvPr id="10" name="Google Shape;248;p56">
            <a:extLst>
              <a:ext uri="{FF2B5EF4-FFF2-40B4-BE49-F238E27FC236}">
                <a16:creationId xmlns:a16="http://schemas.microsoft.com/office/drawing/2014/main" id="{EA0ACBF4-C16B-AB69-D5DA-27A92D47151C}"/>
              </a:ext>
            </a:extLst>
          </p:cNvPr>
          <p:cNvSpPr txBox="1"/>
          <p:nvPr/>
        </p:nvSpPr>
        <p:spPr>
          <a:xfrm>
            <a:off x="4865867" y="2458288"/>
            <a:ext cx="2195331" cy="397001"/>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1" i="0" strike="noStrike" kern="0" cap="none" spc="0" normalizeH="0" baseline="0" noProof="0" dirty="0">
                <a:ln>
                  <a:noFill/>
                </a:ln>
                <a:solidFill>
                  <a:srgbClr val="7030A0"/>
                </a:solidFill>
                <a:effectLst/>
                <a:uLnTx/>
                <a:uFillTx/>
                <a:latin typeface="Lato"/>
                <a:ea typeface="Lato"/>
                <a:cs typeface="Lato"/>
                <a:sym typeface="Lato"/>
              </a:rPr>
              <a:t>filter  </a:t>
            </a:r>
            <a:r>
              <a:rPr kumimoji="0" lang="en-US" sz="1200" b="1" i="0" strike="noStrike" kern="0" cap="none" spc="0" normalizeH="0" baseline="0" noProof="0" dirty="0">
                <a:ln>
                  <a:noFill/>
                </a:ln>
                <a:solidFill>
                  <a:srgbClr val="7030A0"/>
                </a:solidFill>
                <a:effectLst/>
                <a:uLnTx/>
                <a:uFillTx/>
                <a:latin typeface="Lato"/>
                <a:ea typeface="Lato"/>
                <a:cs typeface="Lato"/>
                <a:sym typeface="Wingdings" panose="05000000000000000000" pitchFamily="2" charset="2"/>
              </a:rPr>
              <a:t> join    sort</a:t>
            </a:r>
            <a:r>
              <a:rPr kumimoji="0" lang="en-US" sz="1200" b="1" i="0" u="none" strike="noStrike" kern="0" cap="none" spc="0" normalizeH="0" baseline="0" noProof="0" dirty="0">
                <a:ln>
                  <a:noFill/>
                </a:ln>
                <a:solidFill>
                  <a:srgbClr val="7030A0"/>
                </a:solidFill>
                <a:effectLst/>
                <a:uLnTx/>
                <a:uFillTx/>
                <a:latin typeface="Lato"/>
                <a:ea typeface="Lato"/>
                <a:cs typeface="Lato"/>
                <a:sym typeface="Wingdings" panose="05000000000000000000" pitchFamily="2" charset="2"/>
              </a:rPr>
              <a:t>      FJS</a:t>
            </a:r>
            <a:endParaRPr kumimoji="0" sz="1200" b="1" i="0" u="none" strike="noStrike" kern="0" cap="none" spc="0" normalizeH="0" baseline="0" noProof="0" dirty="0">
              <a:ln>
                <a:noFill/>
              </a:ln>
              <a:solidFill>
                <a:srgbClr val="7030A0"/>
              </a:solidFill>
              <a:effectLst/>
              <a:uLnTx/>
              <a:uFillTx/>
              <a:latin typeface="Lato"/>
              <a:ea typeface="Lato"/>
              <a:cs typeface="Lato"/>
              <a:sym typeface="Lato"/>
            </a:endParaRPr>
          </a:p>
        </p:txBody>
      </p:sp>
      <p:sp>
        <p:nvSpPr>
          <p:cNvPr id="12" name="Google Shape;248;p56">
            <a:extLst>
              <a:ext uri="{FF2B5EF4-FFF2-40B4-BE49-F238E27FC236}">
                <a16:creationId xmlns:a16="http://schemas.microsoft.com/office/drawing/2014/main" id="{5B5DBE02-FAC7-1E63-1025-02DF0C34D047}"/>
              </a:ext>
            </a:extLst>
          </p:cNvPr>
          <p:cNvSpPr txBox="1"/>
          <p:nvPr/>
        </p:nvSpPr>
        <p:spPr>
          <a:xfrm>
            <a:off x="4865867" y="2935529"/>
            <a:ext cx="4155283" cy="1423436"/>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000" b="1" i="0" u="none" strike="noStrike" kern="0" cap="none" spc="0" normalizeH="0" baseline="0" noProof="0" dirty="0">
                <a:ln>
                  <a:noFill/>
                </a:ln>
                <a:solidFill>
                  <a:srgbClr val="7030A0"/>
                </a:solidFill>
                <a:effectLst/>
                <a:uLnTx/>
                <a:uFillTx/>
                <a:latin typeface="Lato"/>
                <a:ea typeface="Lato"/>
                <a:cs typeface="Lato"/>
                <a:sym typeface="Lato"/>
              </a:rPr>
              <a:t>worse table first</a:t>
            </a:r>
          </a:p>
          <a:p>
            <a:pPr marL="115888" marR="0" lvl="0" defTabSz="914400" rtl="0" eaLnBrk="1" fontAlgn="auto" latinLnBrk="0" hangingPunct="1">
              <a:lnSpc>
                <a:spcPct val="115000"/>
              </a:lnSpc>
              <a:spcBef>
                <a:spcPts val="0"/>
              </a:spcBef>
              <a:spcAft>
                <a:spcPts val="0"/>
              </a:spcAft>
              <a:buClr>
                <a:srgbClr val="000000"/>
              </a:buClr>
              <a:buSzTx/>
              <a:tabLst/>
              <a:defRPr/>
            </a:pPr>
            <a:r>
              <a:rPr lang="en-US" sz="1000" b="1" dirty="0">
                <a:solidFill>
                  <a:srgbClr val="7030A0"/>
                </a:solidFill>
                <a:latin typeface="Lato"/>
                <a:ea typeface="Lato"/>
                <a:cs typeface="Lato"/>
                <a:sym typeface="Lato"/>
              </a:rPr>
              <a:t>      make the nested, repetitive action the most efficient</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000" b="1" i="0" u="none" strike="noStrike" kern="0" cap="none" spc="0" normalizeH="0" baseline="0" noProof="0" dirty="0">
                <a:ln>
                  <a:noFill/>
                </a:ln>
                <a:solidFill>
                  <a:srgbClr val="7030A0"/>
                </a:solidFill>
                <a:effectLst/>
                <a:uLnTx/>
                <a:uFillTx/>
                <a:latin typeface="Lato"/>
                <a:ea typeface="Lato"/>
                <a:cs typeface="Lato"/>
                <a:sym typeface="Lato"/>
              </a:rPr>
              <a:t>huh ?</a:t>
            </a:r>
          </a:p>
          <a:p>
            <a:pPr marL="115888" marR="0" lvl="0" defTabSz="914400" rtl="0" eaLnBrk="1" fontAlgn="auto" latinLnBrk="0" hangingPunct="1">
              <a:lnSpc>
                <a:spcPct val="115000"/>
              </a:lnSpc>
              <a:spcBef>
                <a:spcPts val="0"/>
              </a:spcBef>
              <a:spcAft>
                <a:spcPts val="0"/>
              </a:spcAft>
              <a:buClr>
                <a:srgbClr val="000000"/>
              </a:buClr>
              <a:buSzTx/>
              <a:tabLst/>
              <a:defRPr/>
            </a:pPr>
            <a:r>
              <a:rPr lang="en-US" sz="1000" b="1" dirty="0">
                <a:solidFill>
                  <a:srgbClr val="7030A0"/>
                </a:solidFill>
                <a:latin typeface="Lato"/>
                <a:ea typeface="Lato"/>
                <a:cs typeface="Lato"/>
                <a:sym typeface="Lato"/>
              </a:rPr>
              <a:t>      the nested table will likely have the best access method</a:t>
            </a:r>
            <a:br>
              <a:rPr lang="en-US" sz="1000" b="1" dirty="0">
                <a:solidFill>
                  <a:srgbClr val="7030A0"/>
                </a:solidFill>
                <a:latin typeface="Lato"/>
                <a:ea typeface="Lato"/>
                <a:cs typeface="Lato"/>
                <a:sym typeface="Lato"/>
              </a:rPr>
            </a:br>
            <a:br>
              <a:rPr lang="en-US" sz="1000" b="1" dirty="0">
                <a:solidFill>
                  <a:srgbClr val="7030A0"/>
                </a:solidFill>
                <a:latin typeface="Lato"/>
                <a:ea typeface="Lato"/>
                <a:cs typeface="Lato"/>
                <a:sym typeface="Lato"/>
              </a:rPr>
            </a:br>
            <a:r>
              <a:rPr lang="en-US" sz="1000" b="1" dirty="0">
                <a:solidFill>
                  <a:srgbClr val="7030A0"/>
                </a:solidFill>
                <a:latin typeface="Lato"/>
                <a:ea typeface="Lato"/>
                <a:cs typeface="Lato"/>
                <a:sym typeface="Lato"/>
              </a:rPr>
              <a:t>as efficiently as possible, reduce the number of tuples to be processed</a:t>
            </a:r>
            <a:endParaRPr kumimoji="0" sz="1000" b="1" i="0" u="none" strike="noStrike" kern="0" cap="none" spc="0" normalizeH="0" baseline="0" noProof="0" dirty="0">
              <a:ln>
                <a:noFill/>
              </a:ln>
              <a:solidFill>
                <a:srgbClr val="7030A0"/>
              </a:solidFill>
              <a:effectLst/>
              <a:uLnTx/>
              <a:uFillTx/>
              <a:latin typeface="Lato"/>
              <a:ea typeface="Lato"/>
              <a:cs typeface="Lato"/>
              <a:sym typeface="Lato"/>
            </a:endParaRPr>
          </a:p>
        </p:txBody>
      </p:sp>
    </p:spTree>
    <p:extLst>
      <p:ext uri="{BB962C8B-B14F-4D97-AF65-F5344CB8AC3E}">
        <p14:creationId xmlns:p14="http://schemas.microsoft.com/office/powerpoint/2010/main" val="292091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525C2CA-AF70-B5F2-2518-673224A251B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5B87003-9AA1-75F5-EADA-A3EBA92557F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which query predicate (filter)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AC08F06-1308-691B-FB39-36C3682C27E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ECEB8F9-665E-3F40-750A-1DB8E0CE9DBC}"/>
              </a:ext>
            </a:extLst>
          </p:cNvPr>
          <p:cNvSpPr txBox="1"/>
          <p:nvPr/>
        </p:nvSpPr>
        <p:spPr>
          <a:xfrm>
            <a:off x="315981" y="1244428"/>
            <a:ext cx="1905672"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020EA174-4C7A-F901-B622-EE7BB24E2CA2}"/>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80E30B1B-F0CC-1D82-5001-6381CA3230B5}"/>
              </a:ext>
            </a:extLst>
          </p:cNvPr>
          <p:cNvSpPr txBox="1"/>
          <p:nvPr/>
        </p:nvSpPr>
        <p:spPr>
          <a:xfrm>
            <a:off x="3951469" y="2235469"/>
            <a:ext cx="3932691"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(estimating) filter selectivity</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equality on unique index, 1 tuple</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equality on duplicate index, heuristic, 100 tuples</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range on duplicate index,  heuristic/complicated, historically it was 1/3 of tuples</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7030A0"/>
                </a:solidFill>
                <a:latin typeface="Lato"/>
                <a:ea typeface="Lato"/>
                <a:cs typeface="Lato"/>
                <a:sym typeface="Lato"/>
              </a:rPr>
              <a:t>(we) run queries to count and measure</a:t>
            </a:r>
            <a:endParaRPr kumimoji="0" sz="1200" b="0" i="0" u="none" strike="noStrike" kern="0" cap="none" spc="0" normalizeH="0" baseline="0" noProof="0" dirty="0">
              <a:ln>
                <a:noFill/>
              </a:ln>
              <a:solidFill>
                <a:srgbClr val="7030A0"/>
              </a:solidFill>
              <a:effectLst/>
              <a:uLnTx/>
              <a:uFillTx/>
              <a:latin typeface="Lato"/>
              <a:ea typeface="Lato"/>
              <a:cs typeface="Lato"/>
              <a:sym typeface="Lato"/>
            </a:endParaRPr>
          </a:p>
        </p:txBody>
      </p:sp>
    </p:spTree>
    <p:extLst>
      <p:ext uri="{BB962C8B-B14F-4D97-AF65-F5344CB8AC3E}">
        <p14:creationId xmlns:p14="http://schemas.microsoft.com/office/powerpoint/2010/main" val="3928424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E9F7B1B-089E-4FC2-1A59-EB392EB161D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FF05326-519D-B9C5-C2FF-F9FF9E0F39B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how, why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EC856A2-D990-F2E3-82C6-39C30E0FAE2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2E023966-8C16-CD01-65D8-33318C3CA368}"/>
              </a:ext>
            </a:extLst>
          </p:cNvPr>
          <p:cNvSpPr txBox="1"/>
          <p:nvPr/>
        </p:nvSpPr>
        <p:spPr>
          <a:xfrm>
            <a:off x="634280" y="939628"/>
            <a:ext cx="1905672" cy="290999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   …</a:t>
            </a:r>
            <a:endParaRPr lang="en"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1341206E-CC36-0AF3-7D20-82FB50B7FBC5}"/>
              </a:ext>
            </a:extLst>
          </p:cNvPr>
          <p:cNvSpPr txBox="1"/>
          <p:nvPr/>
        </p:nvSpPr>
        <p:spPr>
          <a:xfrm>
            <a:off x="4191922" y="1041747"/>
            <a:ext cx="4410211" cy="2520660"/>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best access method: indexed read into t2   (col1, col2)</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order set, t2  </a:t>
            </a:r>
            <a:r>
              <a:rPr kumimoji="0" lang="en-US" sz="1200"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t1</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best access method: indexed read into t1   (col1)</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SQL, table relationships (cardinality)</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1:1, M:M, 1:M,    98% are 1:M</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t1 was our parent, t2 a child   (count the join pairs)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 method</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determined (supported by) available indexes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small tables can alter this</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761062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68F4286-3F21-161E-4C50-1B14CAD849F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771AEED-EC01-0DA3-1A00-2EA9C8BD43A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AA3599C-9C42-AADC-76E6-3AB35E461B5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DB0490B-B70A-6118-DB2B-43E44FAD49F5}"/>
              </a:ext>
            </a:extLst>
          </p:cNvPr>
          <p:cNvSpPr txBox="1"/>
          <p:nvPr/>
        </p:nvSpPr>
        <p:spPr>
          <a:xfrm>
            <a:off x="315981" y="926081"/>
            <a:ext cx="8272606" cy="371521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Explicit HASH primary key (</a:t>
            </a:r>
            <a:r>
              <a:rPr lang="en-US" sz="1050" dirty="0">
                <a:latin typeface="Courier New" panose="02070309020205020404" pitchFamily="49" charset="0"/>
                <a:ea typeface="Lato"/>
                <a:cs typeface="Courier New" panose="02070309020205020404" pitchFamily="49" charset="0"/>
                <a:sym typeface="Lato"/>
              </a:rPr>
              <a:t>y</a:t>
            </a: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ugabyteDB's preferred PK syntax) rather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than the bare "col1 INT PRIMARY KEY" shorthand, which defaults to 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range-sharded (ASC) index here. col1 is a monotonically increasing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sequence (1..100,000) -- range sharding on that would hotspot writes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onto one tablet range at a time; hashing spreads rows evenly across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tablets by hash(col1) instead.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5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-- 100,000 rows, col1 = 1..100,000 (unique -- the join key)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t1 (col1, col2, 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 1 + (g % 1000), repeat('x', 50)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generate_series(1, 100000) AS g;</a:t>
            </a:r>
            <a:endParaRPr kumimoji="0" sz="105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693682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41D39A1-7BE2-B02F-6FBF-D58418AE243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6746D39-0B1F-A561-3926-74739FDACBD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57350C8-23FF-C617-F9D6-A27A68CAE95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B362395-FDC0-5513-BDB7-D3147DB3A4F3}"/>
              </a:ext>
            </a:extLst>
          </p:cNvPr>
          <p:cNvSpPr txBox="1"/>
          <p:nvPr/>
        </p:nvSpPr>
        <p:spPr>
          <a:xfrm>
            <a:off x="315981" y="787641"/>
            <a:ext cx="8272606" cy="372406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Composite primary key (col1, col2): col1 carries the equality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join/filter (t1.col1 = t2.col1 = 5), col2 the range filter (&gt; 5)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putting both in the PK lets the planner satisfy the WHERE clause with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 single index scan instead of a 1,000,000-row seq scan, AND return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rows already in col2 order within that col1 value, which can let 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skip the separate Sort step for "order by t2.col2" too.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col1 leads with HASH for the same reason as t1's PK above -- its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generator cycles 1..100,000 repeatedly, so a range-sharded leading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column would hit tablets in the same moving-sequential-hotspot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pattern. col2 stays ASC (range): the col2-sorted-within-a-col1-value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guarantee this key exists for lives inside each hash bucket, so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hashing col1 doesn't disturb 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(col1, col2) is guaranteed unique by construction below -- the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rows sharing a given col1 land 100,000 generate_series steps apart,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and 100,000 mod 997 (col2's modulus, chosen prime) is nonzero, so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those 10 rows' col2 values never collide.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CREATE TABLE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PRIMARY KEY (col1 HASH, col2 ASC)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t>
            </a:r>
          </a:p>
        </p:txBody>
      </p:sp>
    </p:spTree>
    <p:extLst>
      <p:ext uri="{BB962C8B-B14F-4D97-AF65-F5344CB8AC3E}">
        <p14:creationId xmlns:p14="http://schemas.microsoft.com/office/powerpoint/2010/main" val="1278497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C4E2842-F3E1-C1B1-60D8-434033B5430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FB9E640-E6EC-B6E6-1D52-83B665BD83C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7D49EDD-78F3-CC32-160F-B3D16D1372B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E851008-1260-C8F6-1CF5-BED834038A9F}"/>
              </a:ext>
            </a:extLst>
          </p:cNvPr>
          <p:cNvSpPr txBox="1"/>
          <p:nvPr/>
        </p:nvSpPr>
        <p:spPr>
          <a:xfrm>
            <a:off x="315981" y="1424334"/>
            <a:ext cx="8272606"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-- 1,000,000 rows, col1 cycles 1..100,000 so every t1.col1 value has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exactly 10 matching rows in t2 -- guarantees the exercise query's join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actually returns rows (t1.col1 = 5 alone matches 10 rows in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col2 uses modulus 997 (prime), NOT 1000: 1000 divides evenly into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-- 100,000, so a col1-cycle-aligned modulus for col2 would make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fully determined by col1 -- every row sharing a col1 value would get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the identical col2 value, and "t2.col2 &gt; 5" would then either match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all or none of them instead of a realistic subset.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INSERT INTO t2 (col1, col2, 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SELECT 1 + (g % 100000), 1 + (g % 997), repeat('x', 50)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FROM generate_series(1, 1000000) AS g;</a:t>
            </a:r>
            <a:endParaRPr kumimoji="0"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89930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B7031AA-FA40-7CBD-EC9B-BE29447C004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F3294AE-A25B-ECA7-F3AE-361A627647A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running the </a:t>
            </a:r>
            <a:r>
              <a:rPr lang="en" u="sng" dirty="0">
                <a:solidFill>
                  <a:schemeClr val="accent2"/>
                </a:solidFill>
                <a:latin typeface="Lato"/>
                <a:ea typeface="Lato"/>
                <a:cs typeface="Lato"/>
                <a:sym typeface="Lato"/>
              </a:rPr>
              <a:t>original</a:t>
            </a:r>
            <a:r>
              <a:rPr lang="en" dirty="0">
                <a:solidFill>
                  <a:schemeClr val="accent2"/>
                </a:solidFill>
                <a:latin typeface="Lato"/>
                <a:ea typeface="Lato"/>
                <a:cs typeface="Lato"/>
                <a:sym typeface="Lato"/>
              </a:rPr>
              <a:t>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04D653E-1692-C423-2112-33087557D3A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2CF2F5A-F78B-808C-0C8D-15316CFC44ED}"/>
              </a:ext>
            </a:extLst>
          </p:cNvPr>
          <p:cNvSpPr txBox="1"/>
          <p:nvPr/>
        </p:nvSpPr>
        <p:spPr>
          <a:xfrm>
            <a:off x="315981" y="926081"/>
            <a:ext cx="8272606" cy="252066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t2.col2;</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5799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C95347D-C2C4-AC08-820F-CFC7726618C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78D0639-A1D4-DEFF-7EBE-707203F8B04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output from ANALYZE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7ECD23B-19BB-E698-B2B7-961B89FE394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48CBB88-B3C6-ACD1-EA50-C38E756EF909}"/>
              </a:ext>
            </a:extLst>
          </p:cNvPr>
          <p:cNvSpPr txBox="1"/>
          <p:nvPr/>
        </p:nvSpPr>
        <p:spPr>
          <a:xfrm>
            <a:off x="315981" y="932854"/>
            <a:ext cx="8272606" cy="244987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Nested Loop  (cost=42.19..43.56 rows=10 width=118) (actual time=1.554..1.567 rows=9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Scan using t2_pkey on t2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(cost=21.10..22.19 rows=10 width=59) (actual time=0.927..0.929 rows=9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Cond: ((col1 = 5) AND (col2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Materialize  (cost=21.09..21.25 rows=1 width=59) (actual time=0.069..0.069 rows=1 loops=9)</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Scan using t1_pkey on t1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(cost=21.09..21.25 rows=1 width=59) (actual time=0.613..0.615 rows=1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12.405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2.035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202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(9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6" name="Google Shape;248;p56">
            <a:extLst>
              <a:ext uri="{FF2B5EF4-FFF2-40B4-BE49-F238E27FC236}">
                <a16:creationId xmlns:a16="http://schemas.microsoft.com/office/drawing/2014/main" id="{F6D91172-2894-7A2C-6776-04A3024F4DC0}"/>
              </a:ext>
            </a:extLst>
          </p:cNvPr>
          <p:cNvSpPr txBox="1"/>
          <p:nvPr/>
        </p:nvSpPr>
        <p:spPr>
          <a:xfrm>
            <a:off x="3853256" y="2799360"/>
            <a:ext cx="4857251" cy="1671196"/>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associative principle automatically applied</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pseudo order-by clause automatically applied, pipelined sort</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i="1" dirty="0">
                <a:solidFill>
                  <a:srgbClr val="0070C0"/>
                </a:solidFill>
                <a:latin typeface="Lato"/>
                <a:ea typeface="Lato"/>
                <a:cs typeface="Lato"/>
                <a:sym typeface="Lato"/>
              </a:rPr>
              <a:t>how do we know that   (next page)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why not </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batch nested loop join   (small data volumes)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hash join                                (we had indexes on both sides)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sort-merge                           (we had indexes, and high selectivity)</a:t>
            </a:r>
          </a:p>
        </p:txBody>
      </p:sp>
    </p:spTree>
    <p:extLst>
      <p:ext uri="{BB962C8B-B14F-4D97-AF65-F5344CB8AC3E}">
        <p14:creationId xmlns:p14="http://schemas.microsoft.com/office/powerpoint/2010/main" val="3081600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825F1EE-586C-9E61-35ED-A56E15206F2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7F42869-DD54-C24C-2425-72D7CA00801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01b: a different version, that needs to sort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95623B6-9A58-148D-40A4-AEBE59CB94F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4558F56-73D3-7039-24E0-B57710FE7255}"/>
              </a:ext>
            </a:extLst>
          </p:cNvPr>
          <p:cNvSpPr txBox="1"/>
          <p:nvPr/>
        </p:nvSpPr>
        <p:spPr>
          <a:xfrm>
            <a:off x="315981" y="926081"/>
            <a:ext cx="8272606" cy="280381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(cost=47.03..47.11 rows=30 width=118) (actual time=2.454..2.456 rows=29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Key: t2.col2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Method: quicksort  Memory: 29kB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YB Batched Nested Loop Join  (cost=42.19..46.30 rows=30 width=118) (actual time=2.081..2.100 rows=29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Join Filter: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t1_pkey on t1  (cost=21.09..21.74 rows=3 width=59) (actual time=1.305..1.307 rows=3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Index Cond: (col1 = ANY ('{5,6,7}'::integer[]))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t2_pkey on t2  (cost=21.10..24.56 rows=30 width=59) (actual time=0.747..0.754 rows=29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col1 = ANY (ARRAY[t1.col1, $1, $2, ..., $1023])) AND (col2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15.893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3.049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641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(12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385480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6CD553A-EDCA-A4BD-41F1-C2B9CD2C71D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3C81D68-697D-E394-C355-CBF4A40A47D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yugabyteDB doc page: Ask AI capability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03EAFFF-E91C-1205-E901-DB1B8A2CF05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10B70BC-5392-A3DC-6353-7E31F1240514}"/>
              </a:ext>
            </a:extLst>
          </p:cNvPr>
          <p:cNvSpPr txBox="1"/>
          <p:nvPr/>
        </p:nvSpPr>
        <p:spPr>
          <a:xfrm>
            <a:off x="1044802" y="1038865"/>
            <a:ext cx="4128428"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docs.yugabyte.com</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BAEA85CF-57F2-4213-7E59-9E0B0298EBD9}"/>
              </a:ext>
            </a:extLst>
          </p:cNvPr>
          <p:cNvPicPr>
            <a:picLocks noChangeAspect="1"/>
          </p:cNvPicPr>
          <p:nvPr/>
        </p:nvPicPr>
        <p:blipFill>
          <a:blip r:embed="rId3"/>
          <a:stretch>
            <a:fillRect/>
          </a:stretch>
        </p:blipFill>
        <p:spPr>
          <a:xfrm>
            <a:off x="5173230" y="283535"/>
            <a:ext cx="3415357" cy="4320172"/>
          </a:xfrm>
          <a:prstGeom prst="rect">
            <a:avLst/>
          </a:prstGeom>
          <a:ln>
            <a:solidFill>
              <a:schemeClr val="tx1"/>
            </a:solidFill>
          </a:ln>
        </p:spPr>
      </p:pic>
    </p:spTree>
    <p:extLst>
      <p:ext uri="{BB962C8B-B14F-4D97-AF65-F5344CB8AC3E}">
        <p14:creationId xmlns:p14="http://schemas.microsoft.com/office/powerpoint/2010/main" val="3650497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1E8A2E6-AA00-0BE7-BDD1-45974FE36AC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8432378-2018-2F9E-0593-D4E4FDF1BE6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more on sort pipelining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38502D1-06C3-F99E-763D-947F50E44EB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248;p56">
            <a:extLst>
              <a:ext uri="{FF2B5EF4-FFF2-40B4-BE49-F238E27FC236}">
                <a16:creationId xmlns:a16="http://schemas.microsoft.com/office/drawing/2014/main" id="{9BBBD81F-D328-5E9F-DE20-C7BDBFC38057}"/>
              </a:ext>
            </a:extLst>
          </p:cNvPr>
          <p:cNvSpPr txBox="1"/>
          <p:nvPr/>
        </p:nvSpPr>
        <p:spPr>
          <a:xfrm>
            <a:off x="315981" y="1237655"/>
            <a:ext cx="8272606" cy="216671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 'X'</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 'Y'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a:t>
            </a:r>
            <a:endParaRPr kumimoji="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7" name="Google Shape;248;p56">
            <a:extLst>
              <a:ext uri="{FF2B5EF4-FFF2-40B4-BE49-F238E27FC236}">
                <a16:creationId xmlns:a16="http://schemas.microsoft.com/office/drawing/2014/main" id="{C0AD7E70-4965-60C6-42D6-6160B9566A2E}"/>
              </a:ext>
            </a:extLst>
          </p:cNvPr>
          <p:cNvSpPr txBox="1"/>
          <p:nvPr/>
        </p:nvSpPr>
        <p:spPr>
          <a:xfrm>
            <a:off x="2502069" y="1226509"/>
            <a:ext cx="4410211" cy="2308294"/>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which single index is best ?</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what is the column order ?</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given an index on (col1, col3) that returns 100,000 rows</a:t>
            </a:r>
            <a:endParaRPr lang="en-US" sz="1200" dirty="0">
              <a:latin typeface="Lato"/>
              <a:ea typeface="Lato"/>
              <a:cs typeface="Lato"/>
              <a:sym typeface="Lato"/>
            </a:endParaRPr>
          </a:p>
          <a:p>
            <a:pPr marL="230188"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and an index on (col2) that returns 100 rows</a:t>
            </a:r>
          </a:p>
          <a:p>
            <a:pPr marL="2301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which access method is better ?</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what if the application (pages) and the user rarely reads more than 5 rows ?</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11" name="Picture 10">
            <a:extLst>
              <a:ext uri="{FF2B5EF4-FFF2-40B4-BE49-F238E27FC236}">
                <a16:creationId xmlns:a16="http://schemas.microsoft.com/office/drawing/2014/main" id="{291F7F2B-724A-5C29-0D4B-F965535019E5}"/>
              </a:ext>
            </a:extLst>
          </p:cNvPr>
          <p:cNvPicPr>
            <a:picLocks noChangeAspect="1"/>
          </p:cNvPicPr>
          <p:nvPr/>
        </p:nvPicPr>
        <p:blipFill>
          <a:blip r:embed="rId3"/>
          <a:stretch>
            <a:fillRect/>
          </a:stretch>
        </p:blipFill>
        <p:spPr>
          <a:xfrm>
            <a:off x="6641932" y="1797089"/>
            <a:ext cx="2186087" cy="2914783"/>
          </a:xfrm>
          <a:prstGeom prst="rect">
            <a:avLst/>
          </a:prstGeom>
        </p:spPr>
      </p:pic>
      <p:sp>
        <p:nvSpPr>
          <p:cNvPr id="13" name="Google Shape;248;p56">
            <a:extLst>
              <a:ext uri="{FF2B5EF4-FFF2-40B4-BE49-F238E27FC236}">
                <a16:creationId xmlns:a16="http://schemas.microsoft.com/office/drawing/2014/main" id="{A8A8CB1A-AC8C-DCB7-291F-2AAEA6C2BAB0}"/>
              </a:ext>
            </a:extLst>
          </p:cNvPr>
          <p:cNvSpPr txBox="1"/>
          <p:nvPr/>
        </p:nvSpPr>
        <p:spPr>
          <a:xfrm rot="424681">
            <a:off x="6962999" y="2525448"/>
            <a:ext cx="1376327" cy="1600408"/>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1" i="0" u="none" strike="noStrike" kern="0" cap="none" spc="0" normalizeH="0" baseline="0" noProof="0" dirty="0">
                <a:ln>
                  <a:noFill/>
                </a:ln>
                <a:solidFill>
                  <a:srgbClr val="FFC000"/>
                </a:solidFill>
                <a:effectLst/>
                <a:uLnTx/>
                <a:uFillTx/>
                <a:latin typeface="Lato"/>
                <a:ea typeface="Lato"/>
                <a:cs typeface="Lato"/>
                <a:sym typeface="Lato"/>
              </a:rPr>
              <a:t>first row first, versus total data set performance</a:t>
            </a:r>
            <a:endParaRPr kumimoji="0" sz="1600" b="1" i="0" u="sng" strike="noStrike" kern="0" cap="none" spc="0" normalizeH="0" baseline="0" noProof="0" dirty="0">
              <a:ln>
                <a:noFill/>
              </a:ln>
              <a:solidFill>
                <a:srgbClr val="FFC000"/>
              </a:solidFill>
              <a:effectLst/>
              <a:uLnTx/>
              <a:uFillTx/>
              <a:latin typeface="Lato"/>
              <a:ea typeface="Lato"/>
              <a:cs typeface="Lato"/>
              <a:sym typeface="Lato"/>
            </a:endParaRPr>
          </a:p>
        </p:txBody>
      </p:sp>
    </p:spTree>
    <p:extLst>
      <p:ext uri="{BB962C8B-B14F-4D97-AF65-F5344CB8AC3E}">
        <p14:creationId xmlns:p14="http://schemas.microsoft.com/office/powerpoint/2010/main" val="740488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6D2DADED-11E1-419C-672D-A74B0AD0A8F5}"/>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90CDA98E-1312-5595-0F27-CEBFE485C60E}"/>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02713442-E59E-2E4C-C9BB-17BE909E4693}"/>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C7BF25D6-A615-8C63-8478-BBCFA9DA06D5}"/>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E6A1CAC5-5F8D-CFF4-E2C7-5E5ADDB1C45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35061F4-8515-DE95-2C39-806D39C30035}"/>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2012890B-7AFA-365A-B877-E442546B68BA}"/>
              </a:ext>
            </a:extLst>
          </p:cNvPr>
          <p:cNvSpPr txBox="1"/>
          <p:nvPr/>
        </p:nvSpPr>
        <p:spPr>
          <a:xfrm>
            <a:off x="2687303" y="157453"/>
            <a:ext cx="6271640" cy="4431952"/>
          </a:xfrm>
          <a:prstGeom prst="rect">
            <a:avLst/>
          </a:prstGeom>
          <a:noFill/>
          <a:ln>
            <a:noFill/>
          </a:ln>
        </p:spPr>
        <p:txBody>
          <a:bodyPr spcFirstLastPara="1" wrap="square" lIns="91425" tIns="91425" rIns="91425" bIns="91425" anchor="t" anchorCtr="0">
            <a:spAutoFit/>
          </a:bodyPr>
          <a:lstStyle/>
          <a:p>
            <a:pPr marL="227013" lvl="0" indent="-227013">
              <a:lnSpc>
                <a:spcPct val="115000"/>
              </a:lnSpc>
              <a:buFont typeface="Arial" panose="020B0604020202020204" pitchFamily="34" charset="0"/>
              <a:buChar char="•"/>
              <a:defRPr/>
            </a:pPr>
            <a:r>
              <a:rPr lang="en-US" dirty="0">
                <a:solidFill>
                  <a:srgbClr val="00B0F0"/>
                </a:solidFill>
              </a:rPr>
              <a:t>ballpark; where can we make a 5 minute query run in sub-second ?   (network tuning, OS tuning, ..)</a:t>
            </a:r>
          </a:p>
          <a:p>
            <a:pPr marL="227013" lvl="0" indent="-227013">
              <a:lnSpc>
                <a:spcPct val="115000"/>
              </a:lnSpc>
              <a:buFont typeface="Arial" panose="020B0604020202020204" pitchFamily="34" charset="0"/>
              <a:buChar char="•"/>
              <a:defRPr/>
            </a:pPr>
            <a:r>
              <a:rPr lang="en-US" dirty="0"/>
              <a:t>what is index negation ? give an example</a:t>
            </a:r>
          </a:p>
          <a:p>
            <a:pPr marL="227013" lvl="0" indent="-227013">
              <a:lnSpc>
                <a:spcPct val="115000"/>
              </a:lnSpc>
              <a:buFont typeface="Arial" panose="020B0604020202020204" pitchFamily="34" charset="0"/>
              <a:buChar char="•"/>
              <a:defRPr/>
            </a:pPr>
            <a:r>
              <a:rPr lang="en-US" dirty="0">
                <a:solidFill>
                  <a:srgbClr val="00B0F0"/>
                </a:solidFill>
              </a:rPr>
              <a:t>besides SELECT, name two query verbs that read</a:t>
            </a:r>
          </a:p>
          <a:p>
            <a:pPr marL="227013" lvl="0" indent="-227013">
              <a:lnSpc>
                <a:spcPct val="115000"/>
              </a:lnSpc>
              <a:buFont typeface="Arial" panose="020B0604020202020204" pitchFamily="34" charset="0"/>
              <a:buChar char="•"/>
              <a:defRPr/>
            </a:pPr>
            <a:r>
              <a:rPr lang="en-US" dirty="0">
                <a:solidFill>
                  <a:srgbClr val="00B0F0"/>
                </a:solidFill>
              </a:rPr>
              <a:t>name the 4 stages in the backend that queries go thru</a:t>
            </a:r>
          </a:p>
          <a:p>
            <a:pPr marL="227013" lvl="0" indent="-227013">
              <a:lnSpc>
                <a:spcPct val="115000"/>
              </a:lnSpc>
              <a:buFont typeface="Arial" panose="020B0604020202020204" pitchFamily="34" charset="0"/>
              <a:buChar char="•"/>
              <a:defRPr/>
            </a:pPr>
            <a:r>
              <a:rPr lang="en-US" dirty="0"/>
              <a:t>which two does CREATE TABLE experience ? why ?</a:t>
            </a:r>
          </a:p>
          <a:p>
            <a:pPr marL="227013" lvl="0" indent="-227013">
              <a:lnSpc>
                <a:spcPct val="115000"/>
              </a:lnSpc>
              <a:buFont typeface="Arial" panose="020B0604020202020204" pitchFamily="34" charset="0"/>
              <a:buChar char="•"/>
              <a:defRPr/>
            </a:pPr>
            <a:r>
              <a:rPr lang="en-US" dirty="0"/>
              <a:t>how can you bypass the parser ? why would you want to ?</a:t>
            </a:r>
          </a:p>
          <a:p>
            <a:pPr marL="227013" lvl="0" indent="-227013">
              <a:lnSpc>
                <a:spcPct val="115000"/>
              </a:lnSpc>
              <a:buFont typeface="Arial" panose="020B0604020202020204" pitchFamily="34" charset="0"/>
              <a:buChar char="•"/>
              <a:defRPr/>
            </a:pPr>
            <a:r>
              <a:rPr lang="en-US" dirty="0">
                <a:solidFill>
                  <a:srgbClr val="00B0F0"/>
                </a:solidFill>
              </a:rPr>
              <a:t>what are the 3 primary elements of a query plan and which one pretty much drives the whole process ?</a:t>
            </a:r>
          </a:p>
          <a:p>
            <a:pPr marL="227013" lvl="0" indent="-227013">
              <a:lnSpc>
                <a:spcPct val="115000"/>
              </a:lnSpc>
              <a:buFont typeface="Arial" panose="020B0604020202020204" pitchFamily="34" charset="0"/>
              <a:buChar char="•"/>
              <a:defRPr/>
            </a:pPr>
            <a:r>
              <a:rPr lang="en-US" dirty="0">
                <a:solidFill>
                  <a:srgbClr val="00B0F0"/>
                </a:solidFill>
              </a:rPr>
              <a:t>name two file access methods</a:t>
            </a:r>
          </a:p>
          <a:p>
            <a:pPr marL="227013" lvl="0" indent="-227013">
              <a:lnSpc>
                <a:spcPct val="115000"/>
              </a:lnSpc>
              <a:buFont typeface="Arial" panose="020B0604020202020204" pitchFamily="34" charset="0"/>
              <a:buChar char="•"/>
              <a:defRPr/>
            </a:pPr>
            <a:r>
              <a:rPr lang="en-US" dirty="0">
                <a:solidFill>
                  <a:srgbClr val="00B0F0"/>
                </a:solidFill>
              </a:rPr>
              <a:t>name two join methods</a:t>
            </a:r>
          </a:p>
          <a:p>
            <a:pPr marL="227013" lvl="0" indent="-227013">
              <a:lnSpc>
                <a:spcPct val="115000"/>
              </a:lnSpc>
              <a:buFont typeface="Arial" panose="020B0604020202020204" pitchFamily="34" charset="0"/>
              <a:buChar char="•"/>
              <a:defRPr/>
            </a:pPr>
            <a:r>
              <a:rPr lang="en-US" dirty="0"/>
              <a:t>our two table query, both tables with predicates; what additional two query topics did we introduce here ? briefly describe each</a:t>
            </a:r>
          </a:p>
          <a:p>
            <a:pPr marL="227013" lvl="0" indent="-227013">
              <a:lnSpc>
                <a:spcPct val="115000"/>
              </a:lnSpc>
              <a:buFont typeface="Arial" panose="020B0604020202020204" pitchFamily="34" charset="0"/>
              <a:buChar char="•"/>
              <a:defRPr/>
            </a:pPr>
            <a:r>
              <a:rPr lang="en-US" dirty="0"/>
              <a:t>   ..  WHERE col1 = 'FFF' and col2 &gt; 20;                                                          knowing nothing else, which predicate returns more rows ?   which predicate do we prefer to process first ?</a:t>
            </a:r>
          </a:p>
          <a:p>
            <a:pPr marL="227013" lvl="0" indent="-227013">
              <a:lnSpc>
                <a:spcPct val="115000"/>
              </a:lnSpc>
              <a:buFont typeface="Arial" panose="020B0604020202020204" pitchFamily="34" charset="0"/>
              <a:buChar char="•"/>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what is</a:t>
            </a:r>
            <a:r>
              <a:rPr lang="en-US" dirty="0">
                <a:latin typeface="Lato"/>
                <a:ea typeface="Lato"/>
                <a:cs typeface="Lato"/>
                <a:sym typeface="Lato"/>
              </a:rPr>
              <a:t> sort pipelining ?</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032035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A05C3B26-579D-B2DC-F070-AA495B61B607}"/>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9CA205D2-BBAB-D267-06D3-46D5F78E80BF}"/>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3A27475-AA46-3079-6D85-E22F98CE391F}"/>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01</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DAA8B351-031A-3B23-CE1E-008372AAA1EA}"/>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8F8BAEBB-1299-278F-360F-08510668BD3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7E31A6B3-79F8-ED0B-9FB1-612057097732}"/>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A10C44EA-4FF3-8BBD-2791-8838D621866F}"/>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46F6B4DF-CB6E-4223-1F40-C2005A7421E9}"/>
              </a:ext>
            </a:extLst>
          </p:cNvPr>
          <p:cNvSpPr txBox="1"/>
          <p:nvPr/>
        </p:nvSpPr>
        <p:spPr>
          <a:xfrm>
            <a:off x="4898141" y="2744721"/>
            <a:ext cx="2463600" cy="680156"/>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01</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exercise 01b  (shows sort)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490890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F3698663-AFAD-B5C4-2CAF-868C5ADAE00C}"/>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FDD697C1-AF98-DD3C-2978-41DDD812DFE3}"/>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B21B8D2-6D1A-D421-54B6-45C74E05FBAA}"/>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02</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CF08ED28-A61A-E1DC-6174-4D1D4E8F5F25}"/>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5FAF015C-6CAA-D003-4722-A00320638D9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4122E6E4-F405-ABAF-7C7D-F8AC6F3849C7}"/>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F487542A-9EE5-3FAB-C774-EF578EBB2876}"/>
              </a:ext>
            </a:extLst>
          </p:cNvPr>
          <p:cNvSpPr/>
          <p:nvPr/>
        </p:nvSpPr>
        <p:spPr>
          <a:xfrm>
            <a:off x="313605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9CC1A440-5442-7E98-0E2F-5CAAD8DB8CF5}"/>
              </a:ext>
            </a:extLst>
          </p:cNvPr>
          <p:cNvSpPr/>
          <p:nvPr/>
        </p:nvSpPr>
        <p:spPr>
          <a:xfrm>
            <a:off x="3544461" y="1754293"/>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FC9D9DAD-93DB-507E-C354-6A60559D05AC}"/>
              </a:ext>
            </a:extLst>
          </p:cNvPr>
          <p:cNvSpPr/>
          <p:nvPr/>
        </p:nvSpPr>
        <p:spPr>
          <a:xfrm>
            <a:off x="395286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BF884A2C-FEBA-F0EB-07D3-08C7A8181088}"/>
              </a:ext>
            </a:extLst>
          </p:cNvPr>
          <p:cNvSpPr/>
          <p:nvPr/>
        </p:nvSpPr>
        <p:spPr>
          <a:xfrm>
            <a:off x="436127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9D06092A-13E6-684E-205C-3B669D12B67F}"/>
              </a:ext>
            </a:extLst>
          </p:cNvPr>
          <p:cNvSpPr/>
          <p:nvPr/>
        </p:nvSpPr>
        <p:spPr>
          <a:xfrm>
            <a:off x="599490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55AFDF6D-89D0-3C7C-B923-2005183F3ED7}"/>
              </a:ext>
            </a:extLst>
          </p:cNvPr>
          <p:cNvSpPr/>
          <p:nvPr/>
        </p:nvSpPr>
        <p:spPr>
          <a:xfrm>
            <a:off x="558650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51CA577E-967C-5D59-2BB4-C38792243133}"/>
              </a:ext>
            </a:extLst>
          </p:cNvPr>
          <p:cNvSpPr/>
          <p:nvPr/>
        </p:nvSpPr>
        <p:spPr>
          <a:xfrm>
            <a:off x="640331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17F8CDDB-6E32-1580-1187-5F6739C16150}"/>
              </a:ext>
            </a:extLst>
          </p:cNvPr>
          <p:cNvSpPr/>
          <p:nvPr/>
        </p:nvSpPr>
        <p:spPr>
          <a:xfrm>
            <a:off x="4769685"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FD588689-7DD5-073F-7ECF-BCB29A4290C5}"/>
              </a:ext>
            </a:extLst>
          </p:cNvPr>
          <p:cNvSpPr/>
          <p:nvPr/>
        </p:nvSpPr>
        <p:spPr>
          <a:xfrm>
            <a:off x="517809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5DE8074F-5F5C-826E-5380-F5298A9186FC}"/>
              </a:ext>
            </a:extLst>
          </p:cNvPr>
          <p:cNvSpPr/>
          <p:nvPr/>
        </p:nvSpPr>
        <p:spPr>
          <a:xfrm>
            <a:off x="6811727" y="1754293"/>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861D34C7-5E44-31B8-33F2-CD26A6B7EFF7}"/>
              </a:ext>
            </a:extLst>
          </p:cNvPr>
          <p:cNvSpPr txBox="1"/>
          <p:nvPr/>
        </p:nvSpPr>
        <p:spPr>
          <a:xfrm>
            <a:off x="3351103" y="2253251"/>
            <a:ext cx="4729641"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      one new index negation, one new query rewrite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      one table, two uncompounded predicates</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3025293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E4E767F-902C-69E9-52B4-B413A7B227A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95C1F76-CF46-84C0-E516-5C7B7839D8E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E26061A-D012-D9FE-BB57-7661CF3BEBF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24DBF39-6B4A-4B6F-A74B-FF7A0F4D9515}"/>
              </a:ext>
            </a:extLst>
          </p:cNvPr>
          <p:cNvSpPr txBox="1"/>
          <p:nvPr/>
        </p:nvSpPr>
        <p:spPr>
          <a:xfrm>
            <a:off x="315981" y="1244428"/>
            <a:ext cx="1905672"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col2 = 20;</a:t>
            </a:r>
          </a:p>
        </p:txBody>
      </p:sp>
      <p:sp>
        <p:nvSpPr>
          <p:cNvPr id="4" name="Google Shape;248;p56">
            <a:extLst>
              <a:ext uri="{FF2B5EF4-FFF2-40B4-BE49-F238E27FC236}">
                <a16:creationId xmlns:a16="http://schemas.microsoft.com/office/drawing/2014/main" id="{501D0A4C-9A83-8BE1-C8B5-6DB5F6A65173}"/>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5" name="Google Shape;248;p56">
            <a:extLst>
              <a:ext uri="{FF2B5EF4-FFF2-40B4-BE49-F238E27FC236}">
                <a16:creationId xmlns:a16="http://schemas.microsoft.com/office/drawing/2014/main" id="{BD67C34A-2285-F62F-B15D-5C744155DFA7}"/>
              </a:ext>
            </a:extLst>
          </p:cNvPr>
          <p:cNvSpPr txBox="1"/>
          <p:nvPr/>
        </p:nvSpPr>
        <p:spPr>
          <a:xfrm>
            <a:off x="6102002" y="2893099"/>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Tree>
    <p:extLst>
      <p:ext uri="{BB962C8B-B14F-4D97-AF65-F5344CB8AC3E}">
        <p14:creationId xmlns:p14="http://schemas.microsoft.com/office/powerpoint/2010/main" val="3080749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14EF533-33EB-3AD5-99F3-3AD33EE7782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B6D0158-29A1-E040-276F-FF67067D730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the OR-topped query, the physics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6036F44-A4EB-F401-8AFF-B5051536807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5952B07-B901-12DE-6488-F58EB2EC6DE7}"/>
              </a:ext>
            </a:extLst>
          </p:cNvPr>
          <p:cNvSpPr txBox="1"/>
          <p:nvPr/>
        </p:nvSpPr>
        <p:spPr>
          <a:xfrm>
            <a:off x="315981" y="1244428"/>
            <a:ext cx="8272606"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a:t>
            </a:r>
            <a:r>
              <a:rPr kumimoji="0" lang="en" b="0" i="0" u="none" strike="noStrike" kern="0" cap="none" spc="0" normalizeH="0" baseline="0" noProof="0" dirty="0">
                <a:ln>
                  <a:noFill/>
                </a:ln>
                <a:solidFill>
                  <a:srgbClr val="000000"/>
                </a:solidFill>
                <a:effectLst/>
                <a:uLnTx/>
                <a:uFillTx/>
                <a:latin typeface="Lato"/>
                <a:ea typeface="Lato"/>
                <a:cs typeface="Lato"/>
                <a:sym typeface="Lato"/>
              </a:rPr>
              <a:t>population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      age     = 30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      state = 'CO</a:t>
            </a:r>
            <a:r>
              <a:rPr lang="en" dirty="0">
                <a:latin typeface="Lato"/>
                <a:ea typeface="Lato"/>
                <a:cs typeface="Lato"/>
                <a:sym typeface="Lato"/>
              </a:rPr>
              <a:t>'</a:t>
            </a:r>
            <a:r>
              <a:rPr kumimoji="0" lang="en" b="0" i="0" u="none" strike="noStrike" kern="0" cap="none" spc="0" normalizeH="0" baseline="0" noProof="0" dirty="0">
                <a:ln>
                  <a:noFill/>
                </a:ln>
                <a:solidFill>
                  <a:srgbClr val="000000"/>
                </a:solidFill>
                <a:effectLst/>
                <a:uLnTx/>
                <a:uFillTx/>
                <a:latin typeface="Lato"/>
                <a:ea typeface="Lato"/>
                <a:cs typeface="Lato"/>
                <a:sym typeface="Lato"/>
              </a:rPr>
              <a: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8C2C621C-2744-E714-4A67-D1C879BBAB27}"/>
              </a:ext>
            </a:extLst>
          </p:cNvPr>
          <p:cNvSpPr txBox="1"/>
          <p:nvPr/>
        </p:nvSpPr>
        <p:spPr>
          <a:xfrm>
            <a:off x="3889550" y="900554"/>
            <a:ext cx="4448424" cy="2626843"/>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tuples could include-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age = 30 and state = 'WI'</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age = 10 and state = 'CO'</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neither</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both age = 30 and state = 'CO'</a:t>
            </a:r>
          </a:p>
          <a:p>
            <a:pPr marR="0" lvl="0" defTabSz="914400" rtl="0" eaLnBrk="1" fontAlgn="auto" latinLnBrk="0" hangingPunct="1">
              <a:lnSpc>
                <a:spcPct val="115000"/>
              </a:lnSpc>
              <a:spcBef>
                <a:spcPts val="0"/>
              </a:spcBef>
              <a:spcAft>
                <a:spcPts val="0"/>
              </a:spcAft>
              <a:buClr>
                <a:srgbClr val="000000"/>
              </a:buClr>
              <a:buSzTx/>
              <a:tabLst/>
              <a:defRPr/>
            </a:pPr>
            <a:endParaRPr lang="en-US" i="1" dirty="0">
              <a:solidFill>
                <a:srgbClr val="0070C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600" i="1" dirty="0">
                <a:solidFill>
                  <a:srgbClr val="0070C0"/>
                </a:solidFill>
                <a:latin typeface="Lato"/>
                <a:ea typeface="Lato"/>
                <a:cs typeface="Lato"/>
                <a:sym typeface="Lato"/>
              </a:rPr>
              <a:t>how</a:t>
            </a:r>
            <a:r>
              <a:rPr lang="en-US" sz="1200" dirty="0">
                <a:solidFill>
                  <a:srgbClr val="0070C0"/>
                </a:solidFill>
                <a:latin typeface="Lato"/>
                <a:ea typeface="Lato"/>
                <a:cs typeface="Lato"/>
                <a:sym typeface="Lato"/>
              </a:rPr>
              <a:t>   you query process can not affect the result set</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70C0"/>
                </a:solidFill>
                <a:latin typeface="Lato"/>
                <a:ea typeface="Lato"/>
                <a:cs typeface="Lato"/>
                <a:sym typeface="Lato"/>
              </a:rPr>
              <a:t>huh ?</a:t>
            </a:r>
          </a:p>
          <a:p>
            <a:pPr marL="230188"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70C0"/>
                </a:solidFill>
                <a:latin typeface="Lato"/>
                <a:ea typeface="Lato"/>
                <a:cs typeface="Lato"/>
                <a:sym typeface="Lato"/>
              </a:rPr>
              <a:t>a given tuple can not be returned twice (in error) because of your chosen query processing</a:t>
            </a:r>
          </a:p>
        </p:txBody>
      </p:sp>
    </p:spTree>
    <p:extLst>
      <p:ext uri="{BB962C8B-B14F-4D97-AF65-F5344CB8AC3E}">
        <p14:creationId xmlns:p14="http://schemas.microsoft.com/office/powerpoint/2010/main" val="4205118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A04C808-E57F-C8E5-E693-9C490BF8C60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FB8B819-E7B0-DA98-28D0-C68CC548817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negation; non-anchored composite key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F612F9E-05D8-0D79-0C52-6EF43871289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F15BD5BB-0A08-FAD0-1B83-594A84482321}"/>
              </a:ext>
            </a:extLst>
          </p:cNvPr>
          <p:cNvPicPr>
            <a:picLocks noChangeAspect="1"/>
          </p:cNvPicPr>
          <p:nvPr/>
        </p:nvPicPr>
        <p:blipFill>
          <a:blip r:embed="rId3"/>
          <a:stretch>
            <a:fillRect/>
          </a:stretch>
        </p:blipFill>
        <p:spPr>
          <a:xfrm>
            <a:off x="721593" y="1432738"/>
            <a:ext cx="2444708" cy="1749704"/>
          </a:xfrm>
          <a:prstGeom prst="rect">
            <a:avLst/>
          </a:prstGeom>
        </p:spPr>
      </p:pic>
      <p:sp>
        <p:nvSpPr>
          <p:cNvPr id="6" name="Google Shape;248;p56">
            <a:extLst>
              <a:ext uri="{FF2B5EF4-FFF2-40B4-BE49-F238E27FC236}">
                <a16:creationId xmlns:a16="http://schemas.microsoft.com/office/drawing/2014/main" id="{DE11ECED-3D0C-7211-33F4-350FC08C0E23}"/>
              </a:ext>
            </a:extLst>
          </p:cNvPr>
          <p:cNvSpPr txBox="1"/>
          <p:nvPr/>
        </p:nvSpPr>
        <p:spPr>
          <a:xfrm>
            <a:off x="3889549" y="850231"/>
            <a:ext cx="4857251" cy="3157757"/>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phone book</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sorted (composite indexed) descending by last name, then first name descending</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find all persons with first name, Carly</a:t>
            </a:r>
          </a:p>
          <a:p>
            <a:pPr marL="115888"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first name is not the first column, not the anchor column</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index is now unanchored (data is not sorted by first name)</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more performant to be a sequential scan</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unless it is key-only (discussed later, but doesn’t help us here)</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346075"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b="1" dirty="0">
                <a:solidFill>
                  <a:srgbClr val="0070C0"/>
                </a:solidFill>
                <a:latin typeface="Lato"/>
                <a:ea typeface="Lato"/>
                <a:cs typeface="Lato"/>
                <a:sym typeface="Lato"/>
              </a:rPr>
              <a:t>there is no single index serving (anchored) by both columns</a:t>
            </a:r>
          </a:p>
        </p:txBody>
      </p:sp>
    </p:spTree>
    <p:extLst>
      <p:ext uri="{BB962C8B-B14F-4D97-AF65-F5344CB8AC3E}">
        <p14:creationId xmlns:p14="http://schemas.microsoft.com/office/powerpoint/2010/main" val="2507092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37DDA09-6B84-04AF-2370-36ABAB7AF054}"/>
            </a:ext>
          </a:extLst>
        </p:cNvPr>
        <p:cNvGrpSpPr/>
        <p:nvPr/>
      </p:nvGrpSpPr>
      <p:grpSpPr>
        <a:xfrm>
          <a:off x="0" y="0"/>
          <a:ext cx="0" cy="0"/>
          <a:chOff x="0" y="0"/>
          <a:chExt cx="0" cy="0"/>
        </a:xfrm>
      </p:grpSpPr>
      <p:sp>
        <p:nvSpPr>
          <p:cNvPr id="60" name="Rectangle 59">
            <a:extLst>
              <a:ext uri="{FF2B5EF4-FFF2-40B4-BE49-F238E27FC236}">
                <a16:creationId xmlns:a16="http://schemas.microsoft.com/office/drawing/2014/main" id="{6F8AF30C-3B70-BD8A-5A0B-0C7C73F394AE}"/>
              </a:ext>
            </a:extLst>
          </p:cNvPr>
          <p:cNvSpPr/>
          <p:nvPr/>
        </p:nvSpPr>
        <p:spPr>
          <a:xfrm>
            <a:off x="2298026" y="1057218"/>
            <a:ext cx="6249502" cy="3479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2" name="Google Shape;242;p56">
            <a:extLst>
              <a:ext uri="{FF2B5EF4-FFF2-40B4-BE49-F238E27FC236}">
                <a16:creationId xmlns:a16="http://schemas.microsoft.com/office/drawing/2014/main" id="{7AEE4A57-FCDA-E611-F27C-86721393B55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composite key, index negation chart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A9193381-530D-836E-100D-66139F3F6C0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TextBox 4">
            <a:extLst>
              <a:ext uri="{FF2B5EF4-FFF2-40B4-BE49-F238E27FC236}">
                <a16:creationId xmlns:a16="http://schemas.microsoft.com/office/drawing/2014/main" id="{3BB3E702-061C-5A90-EC8D-0188C08FA242}"/>
              </a:ext>
            </a:extLst>
          </p:cNvPr>
          <p:cNvSpPr txBox="1"/>
          <p:nvPr/>
        </p:nvSpPr>
        <p:spPr>
          <a:xfrm>
            <a:off x="2338980" y="1099494"/>
            <a:ext cx="523230" cy="276999"/>
          </a:xfrm>
          <a:prstGeom prst="rect">
            <a:avLst/>
          </a:prstGeom>
          <a:noFill/>
        </p:spPr>
        <p:txBody>
          <a:bodyPr wrap="square" rtlCol="0">
            <a:spAutoFit/>
          </a:bodyPr>
          <a:lstStyle/>
          <a:p>
            <a:pPr algn="ctr"/>
            <a:r>
              <a:rPr lang="en-US" sz="1200" b="1" dirty="0">
                <a:solidFill>
                  <a:schemeClr val="tx1"/>
                </a:solidFill>
                <a:latin typeface="Lato" panose="020B0604020202020204" charset="0"/>
                <a:cs typeface="Lato" panose="020B0604020202020204" charset="0"/>
              </a:rPr>
              <a:t>col1</a:t>
            </a:r>
          </a:p>
        </p:txBody>
      </p:sp>
      <p:cxnSp>
        <p:nvCxnSpPr>
          <p:cNvPr id="7" name="Straight Connector 6">
            <a:extLst>
              <a:ext uri="{FF2B5EF4-FFF2-40B4-BE49-F238E27FC236}">
                <a16:creationId xmlns:a16="http://schemas.microsoft.com/office/drawing/2014/main" id="{50D064D0-18B0-CBB8-6C2D-E6E84365B544}"/>
              </a:ext>
            </a:extLst>
          </p:cNvPr>
          <p:cNvCxnSpPr>
            <a:cxnSpLocks/>
          </p:cNvCxnSpPr>
          <p:nvPr/>
        </p:nvCxnSpPr>
        <p:spPr>
          <a:xfrm>
            <a:off x="2305113" y="1040281"/>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EED42B1-7AE4-A6D4-E154-5EDD47C9F0C5}"/>
              </a:ext>
            </a:extLst>
          </p:cNvPr>
          <p:cNvCxnSpPr>
            <a:cxnSpLocks/>
          </p:cNvCxnSpPr>
          <p:nvPr/>
        </p:nvCxnSpPr>
        <p:spPr>
          <a:xfrm>
            <a:off x="2298025" y="104705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AF239F3-8827-2B61-EBEC-ABF0C94328D4}"/>
              </a:ext>
            </a:extLst>
          </p:cNvPr>
          <p:cNvCxnSpPr>
            <a:cxnSpLocks/>
          </p:cNvCxnSpPr>
          <p:nvPr/>
        </p:nvCxnSpPr>
        <p:spPr>
          <a:xfrm>
            <a:off x="4031820" y="1040281"/>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AFCCC56-1B11-B181-1113-49831FD69497}"/>
              </a:ext>
            </a:extLst>
          </p:cNvPr>
          <p:cNvCxnSpPr>
            <a:cxnSpLocks/>
          </p:cNvCxnSpPr>
          <p:nvPr/>
        </p:nvCxnSpPr>
        <p:spPr>
          <a:xfrm>
            <a:off x="3456251" y="1040281"/>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A56FDF8-9E91-33EE-CB1A-C7DAEAF16AB6}"/>
              </a:ext>
            </a:extLst>
          </p:cNvPr>
          <p:cNvCxnSpPr>
            <a:cxnSpLocks/>
          </p:cNvCxnSpPr>
          <p:nvPr/>
        </p:nvCxnSpPr>
        <p:spPr>
          <a:xfrm>
            <a:off x="2880682" y="1048693"/>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8B50346-D8FD-0035-4325-88B7BAF74974}"/>
              </a:ext>
            </a:extLst>
          </p:cNvPr>
          <p:cNvCxnSpPr>
            <a:cxnSpLocks/>
          </p:cNvCxnSpPr>
          <p:nvPr/>
        </p:nvCxnSpPr>
        <p:spPr>
          <a:xfrm>
            <a:off x="5182958" y="1057218"/>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6D61144-277D-80F8-03A6-04ED2A0E13E1}"/>
              </a:ext>
            </a:extLst>
          </p:cNvPr>
          <p:cNvCxnSpPr>
            <a:cxnSpLocks/>
          </p:cNvCxnSpPr>
          <p:nvPr/>
        </p:nvCxnSpPr>
        <p:spPr>
          <a:xfrm>
            <a:off x="4607389" y="1057218"/>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671E3A2B-B923-E31C-290D-F5412F5AAE95}"/>
              </a:ext>
            </a:extLst>
          </p:cNvPr>
          <p:cNvSpPr txBox="1"/>
          <p:nvPr/>
        </p:nvSpPr>
        <p:spPr>
          <a:xfrm>
            <a:off x="4635741" y="1099493"/>
            <a:ext cx="526118" cy="276999"/>
          </a:xfrm>
          <a:prstGeom prst="rect">
            <a:avLst/>
          </a:prstGeom>
          <a:noFill/>
        </p:spPr>
        <p:txBody>
          <a:bodyPr wrap="square" rtlCol="0">
            <a:spAutoFit/>
          </a:bodyPr>
          <a:lstStyle/>
          <a:p>
            <a:pPr algn="ctr"/>
            <a:r>
              <a:rPr lang="en-US" sz="1200" b="1" dirty="0">
                <a:solidFill>
                  <a:schemeClr val="tx1"/>
                </a:solidFill>
                <a:latin typeface="Lato" panose="020B0604020202020204" charset="0"/>
                <a:cs typeface="Lato" panose="020B0604020202020204" charset="0"/>
              </a:rPr>
              <a:t>col3</a:t>
            </a:r>
          </a:p>
        </p:txBody>
      </p:sp>
      <p:sp>
        <p:nvSpPr>
          <p:cNvPr id="58" name="TextBox 57">
            <a:extLst>
              <a:ext uri="{FF2B5EF4-FFF2-40B4-BE49-F238E27FC236}">
                <a16:creationId xmlns:a16="http://schemas.microsoft.com/office/drawing/2014/main" id="{B73AE546-36FD-A777-82A0-FB4F7A593D42}"/>
              </a:ext>
            </a:extLst>
          </p:cNvPr>
          <p:cNvSpPr txBox="1"/>
          <p:nvPr/>
        </p:nvSpPr>
        <p:spPr>
          <a:xfrm>
            <a:off x="3502686" y="1100841"/>
            <a:ext cx="485478" cy="276999"/>
          </a:xfrm>
          <a:prstGeom prst="rect">
            <a:avLst/>
          </a:prstGeom>
          <a:noFill/>
        </p:spPr>
        <p:txBody>
          <a:bodyPr wrap="square" rtlCol="0">
            <a:spAutoFit/>
          </a:bodyPr>
          <a:lstStyle/>
          <a:p>
            <a:pPr algn="ctr"/>
            <a:r>
              <a:rPr lang="en-US" sz="1200" b="1" dirty="0">
                <a:solidFill>
                  <a:schemeClr val="tx1"/>
                </a:solidFill>
                <a:latin typeface="Lato" panose="020B0604020202020204" charset="0"/>
                <a:cs typeface="Lato" panose="020B0604020202020204" charset="0"/>
              </a:rPr>
              <a:t>col2</a:t>
            </a:r>
          </a:p>
        </p:txBody>
      </p:sp>
      <p:pic>
        <p:nvPicPr>
          <p:cNvPr id="62" name="Picture 61">
            <a:extLst>
              <a:ext uri="{FF2B5EF4-FFF2-40B4-BE49-F238E27FC236}">
                <a16:creationId xmlns:a16="http://schemas.microsoft.com/office/drawing/2014/main" id="{E902A8B3-6FB2-08F0-2B66-3FD826E16A5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436926" y="147883"/>
            <a:ext cx="1131307" cy="938843"/>
          </a:xfrm>
          <a:prstGeom prst="rect">
            <a:avLst/>
          </a:prstGeom>
        </p:spPr>
      </p:pic>
      <p:pic>
        <p:nvPicPr>
          <p:cNvPr id="192" name="Picture 191">
            <a:extLst>
              <a:ext uri="{FF2B5EF4-FFF2-40B4-BE49-F238E27FC236}">
                <a16:creationId xmlns:a16="http://schemas.microsoft.com/office/drawing/2014/main" id="{F52C9508-B8DE-674D-3F09-A10336A6E7E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026787" y="90092"/>
            <a:ext cx="1185499" cy="1185499"/>
          </a:xfrm>
          <a:prstGeom prst="rect">
            <a:avLst/>
          </a:prstGeom>
        </p:spPr>
      </p:pic>
      <p:cxnSp>
        <p:nvCxnSpPr>
          <p:cNvPr id="194" name="Straight Connector 193">
            <a:extLst>
              <a:ext uri="{FF2B5EF4-FFF2-40B4-BE49-F238E27FC236}">
                <a16:creationId xmlns:a16="http://schemas.microsoft.com/office/drawing/2014/main" id="{8E0FD5F1-33C1-A97A-CD0D-85DF44BAA420}"/>
              </a:ext>
            </a:extLst>
          </p:cNvPr>
          <p:cNvCxnSpPr>
            <a:cxnSpLocks/>
          </p:cNvCxnSpPr>
          <p:nvPr/>
        </p:nvCxnSpPr>
        <p:spPr>
          <a:xfrm>
            <a:off x="8547527" y="1047054"/>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C217FD7-1456-DF77-EE76-C57453163C98}"/>
              </a:ext>
            </a:extLst>
          </p:cNvPr>
          <p:cNvCxnSpPr>
            <a:cxnSpLocks/>
          </p:cNvCxnSpPr>
          <p:nvPr/>
        </p:nvCxnSpPr>
        <p:spPr>
          <a:xfrm>
            <a:off x="5758528" y="1040281"/>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E3B42A6F-A19A-FC81-5161-8EE1AD9E013F}"/>
              </a:ext>
            </a:extLst>
          </p:cNvPr>
          <p:cNvCxnSpPr>
            <a:cxnSpLocks/>
          </p:cNvCxnSpPr>
          <p:nvPr/>
        </p:nvCxnSpPr>
        <p:spPr>
          <a:xfrm>
            <a:off x="2298025" y="140679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3C2012A8-8597-1567-53BF-DE8992D37F0B}"/>
              </a:ext>
            </a:extLst>
          </p:cNvPr>
          <p:cNvCxnSpPr>
            <a:cxnSpLocks/>
          </p:cNvCxnSpPr>
          <p:nvPr/>
        </p:nvCxnSpPr>
        <p:spPr>
          <a:xfrm>
            <a:off x="2298025" y="176653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58E0C758-4F10-0BA5-7E7D-E57267418C19}"/>
              </a:ext>
            </a:extLst>
          </p:cNvPr>
          <p:cNvCxnSpPr>
            <a:cxnSpLocks/>
          </p:cNvCxnSpPr>
          <p:nvPr/>
        </p:nvCxnSpPr>
        <p:spPr>
          <a:xfrm>
            <a:off x="2298025" y="212627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41F9D24C-0FE9-DE8C-DBBA-FDEA652D26DB}"/>
              </a:ext>
            </a:extLst>
          </p:cNvPr>
          <p:cNvCxnSpPr>
            <a:cxnSpLocks/>
          </p:cNvCxnSpPr>
          <p:nvPr/>
        </p:nvCxnSpPr>
        <p:spPr>
          <a:xfrm>
            <a:off x="2298025" y="248601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A967AFF-BA33-25E5-BD50-FB6C573E2A22}"/>
              </a:ext>
            </a:extLst>
          </p:cNvPr>
          <p:cNvCxnSpPr>
            <a:cxnSpLocks/>
          </p:cNvCxnSpPr>
          <p:nvPr/>
        </p:nvCxnSpPr>
        <p:spPr>
          <a:xfrm>
            <a:off x="2298025" y="2845754"/>
            <a:ext cx="6243141"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B493351B-EA5D-B580-850B-964220F4CDB7}"/>
              </a:ext>
            </a:extLst>
          </p:cNvPr>
          <p:cNvCxnSpPr>
            <a:cxnSpLocks/>
          </p:cNvCxnSpPr>
          <p:nvPr/>
        </p:nvCxnSpPr>
        <p:spPr>
          <a:xfrm>
            <a:off x="2298025" y="320549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C18C44F5-D891-A58B-9832-BE16C4EAE835}"/>
              </a:ext>
            </a:extLst>
          </p:cNvPr>
          <p:cNvCxnSpPr>
            <a:cxnSpLocks/>
          </p:cNvCxnSpPr>
          <p:nvPr/>
        </p:nvCxnSpPr>
        <p:spPr>
          <a:xfrm>
            <a:off x="2298025" y="356523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70EF7455-3C42-8B2E-6E43-9BFE70E04F36}"/>
              </a:ext>
            </a:extLst>
          </p:cNvPr>
          <p:cNvCxnSpPr>
            <a:cxnSpLocks/>
          </p:cNvCxnSpPr>
          <p:nvPr/>
        </p:nvCxnSpPr>
        <p:spPr>
          <a:xfrm>
            <a:off x="2298025" y="3924974"/>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D4EC7E1-E832-06D2-67E0-5CB2C634D4AC}"/>
              </a:ext>
            </a:extLst>
          </p:cNvPr>
          <p:cNvCxnSpPr>
            <a:cxnSpLocks/>
          </p:cNvCxnSpPr>
          <p:nvPr/>
        </p:nvCxnSpPr>
        <p:spPr>
          <a:xfrm>
            <a:off x="2298025" y="4284712"/>
            <a:ext cx="6249502"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4FADD179-1250-9EB8-7D4C-5416D3D8F286}"/>
              </a:ext>
            </a:extLst>
          </p:cNvPr>
          <p:cNvSpPr txBox="1"/>
          <p:nvPr/>
        </p:nvSpPr>
        <p:spPr>
          <a:xfrm>
            <a:off x="2320870" y="1456801"/>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08" name="TextBox 207">
            <a:extLst>
              <a:ext uri="{FF2B5EF4-FFF2-40B4-BE49-F238E27FC236}">
                <a16:creationId xmlns:a16="http://schemas.microsoft.com/office/drawing/2014/main" id="{D55F622A-DE97-9339-C254-1FEFEECB53E1}"/>
              </a:ext>
            </a:extLst>
          </p:cNvPr>
          <p:cNvSpPr txBox="1"/>
          <p:nvPr/>
        </p:nvSpPr>
        <p:spPr>
          <a:xfrm>
            <a:off x="2320870" y="1814108"/>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10" name="TextBox 209">
            <a:extLst>
              <a:ext uri="{FF2B5EF4-FFF2-40B4-BE49-F238E27FC236}">
                <a16:creationId xmlns:a16="http://schemas.microsoft.com/office/drawing/2014/main" id="{188C9A3C-1720-6F8A-FEBF-B627BABAC98E}"/>
              </a:ext>
            </a:extLst>
          </p:cNvPr>
          <p:cNvSpPr txBox="1"/>
          <p:nvPr/>
        </p:nvSpPr>
        <p:spPr>
          <a:xfrm>
            <a:off x="2320870" y="2171415"/>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12" name="TextBox 211">
            <a:extLst>
              <a:ext uri="{FF2B5EF4-FFF2-40B4-BE49-F238E27FC236}">
                <a16:creationId xmlns:a16="http://schemas.microsoft.com/office/drawing/2014/main" id="{883F6246-3E90-220F-6772-6FDC21D7E79B}"/>
              </a:ext>
            </a:extLst>
          </p:cNvPr>
          <p:cNvSpPr txBox="1"/>
          <p:nvPr/>
        </p:nvSpPr>
        <p:spPr>
          <a:xfrm>
            <a:off x="2320870" y="2528722"/>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14" name="TextBox 213">
            <a:extLst>
              <a:ext uri="{FF2B5EF4-FFF2-40B4-BE49-F238E27FC236}">
                <a16:creationId xmlns:a16="http://schemas.microsoft.com/office/drawing/2014/main" id="{79F6E3DF-E6FA-30A1-86AA-98F60185357A}"/>
              </a:ext>
            </a:extLst>
          </p:cNvPr>
          <p:cNvSpPr txBox="1"/>
          <p:nvPr/>
        </p:nvSpPr>
        <p:spPr>
          <a:xfrm>
            <a:off x="2320870" y="2822237"/>
            <a:ext cx="523230" cy="400110"/>
          </a:xfrm>
          <a:prstGeom prst="rect">
            <a:avLst/>
          </a:prstGeom>
          <a:noFill/>
        </p:spPr>
        <p:txBody>
          <a:bodyPr wrap="square" rtlCol="0">
            <a:spAutoFit/>
          </a:bodyPr>
          <a:lstStyle/>
          <a:p>
            <a:pPr algn="ctr"/>
            <a:r>
              <a:rPr lang="en-US" sz="1000" b="1" dirty="0">
                <a:solidFill>
                  <a:srgbClr val="00B0F0"/>
                </a:solidFill>
                <a:latin typeface="Lato" panose="020B0604020202020204" charset="0"/>
                <a:cs typeface="Lato" panose="020B0604020202020204" charset="0"/>
              </a:rPr>
              <a:t>&lt;&gt; NOT</a:t>
            </a:r>
          </a:p>
        </p:txBody>
      </p:sp>
      <p:sp>
        <p:nvSpPr>
          <p:cNvPr id="218" name="TextBox 217">
            <a:extLst>
              <a:ext uri="{FF2B5EF4-FFF2-40B4-BE49-F238E27FC236}">
                <a16:creationId xmlns:a16="http://schemas.microsoft.com/office/drawing/2014/main" id="{3921598A-C1BC-B36E-BF2C-2D5C2D1F229F}"/>
              </a:ext>
            </a:extLst>
          </p:cNvPr>
          <p:cNvSpPr txBox="1"/>
          <p:nvPr/>
        </p:nvSpPr>
        <p:spPr>
          <a:xfrm>
            <a:off x="2320870" y="3237803"/>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22" name="TextBox 221">
            <a:extLst>
              <a:ext uri="{FF2B5EF4-FFF2-40B4-BE49-F238E27FC236}">
                <a16:creationId xmlns:a16="http://schemas.microsoft.com/office/drawing/2014/main" id="{D3F0976A-8F67-AC9E-224B-8BC9A5F4AF38}"/>
              </a:ext>
            </a:extLst>
          </p:cNvPr>
          <p:cNvSpPr txBox="1"/>
          <p:nvPr/>
        </p:nvSpPr>
        <p:spPr>
          <a:xfrm>
            <a:off x="3444107" y="1439206"/>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24" name="TextBox 223">
            <a:extLst>
              <a:ext uri="{FF2B5EF4-FFF2-40B4-BE49-F238E27FC236}">
                <a16:creationId xmlns:a16="http://schemas.microsoft.com/office/drawing/2014/main" id="{BD17CB4F-E530-8138-165A-F10C3D13BB9D}"/>
              </a:ext>
            </a:extLst>
          </p:cNvPr>
          <p:cNvSpPr txBox="1"/>
          <p:nvPr/>
        </p:nvSpPr>
        <p:spPr>
          <a:xfrm>
            <a:off x="3444107" y="1796513"/>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28" name="TextBox 227">
            <a:extLst>
              <a:ext uri="{FF2B5EF4-FFF2-40B4-BE49-F238E27FC236}">
                <a16:creationId xmlns:a16="http://schemas.microsoft.com/office/drawing/2014/main" id="{C34F244D-3784-2FEA-E5C6-0761A8B8805D}"/>
              </a:ext>
            </a:extLst>
          </p:cNvPr>
          <p:cNvSpPr txBox="1"/>
          <p:nvPr/>
        </p:nvSpPr>
        <p:spPr>
          <a:xfrm>
            <a:off x="3444107" y="2511127"/>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&gt;</a:t>
            </a:r>
          </a:p>
        </p:txBody>
      </p:sp>
      <p:sp>
        <p:nvSpPr>
          <p:cNvPr id="234" name="TextBox 233">
            <a:extLst>
              <a:ext uri="{FF2B5EF4-FFF2-40B4-BE49-F238E27FC236}">
                <a16:creationId xmlns:a16="http://schemas.microsoft.com/office/drawing/2014/main" id="{87996F47-1617-4F61-A428-7DD9D876F372}"/>
              </a:ext>
            </a:extLst>
          </p:cNvPr>
          <p:cNvSpPr txBox="1"/>
          <p:nvPr/>
        </p:nvSpPr>
        <p:spPr>
          <a:xfrm>
            <a:off x="3444107" y="3178783"/>
            <a:ext cx="523230" cy="400110"/>
          </a:xfrm>
          <a:prstGeom prst="rect">
            <a:avLst/>
          </a:prstGeom>
          <a:noFill/>
        </p:spPr>
        <p:txBody>
          <a:bodyPr wrap="square" rtlCol="0">
            <a:spAutoFit/>
          </a:bodyPr>
          <a:lstStyle/>
          <a:p>
            <a:pPr algn="ctr"/>
            <a:r>
              <a:rPr lang="en-US" sz="1000" b="1" dirty="0">
                <a:solidFill>
                  <a:srgbClr val="00B0F0"/>
                </a:solidFill>
                <a:latin typeface="Lato" panose="020B0604020202020204" charset="0"/>
                <a:cs typeface="Lato" panose="020B0604020202020204" charset="0"/>
              </a:rPr>
              <a:t>&lt;&gt;</a:t>
            </a:r>
          </a:p>
          <a:p>
            <a:pPr algn="ctr"/>
            <a:r>
              <a:rPr lang="en-US" sz="1000" b="1" dirty="0">
                <a:solidFill>
                  <a:srgbClr val="00B0F0"/>
                </a:solidFill>
                <a:latin typeface="Lato" panose="020B0604020202020204" charset="0"/>
                <a:cs typeface="Lato" panose="020B0604020202020204" charset="0"/>
              </a:rPr>
              <a:t>NOT</a:t>
            </a:r>
          </a:p>
        </p:txBody>
      </p:sp>
      <p:sp>
        <p:nvSpPr>
          <p:cNvPr id="236" name="TextBox 235">
            <a:extLst>
              <a:ext uri="{FF2B5EF4-FFF2-40B4-BE49-F238E27FC236}">
                <a16:creationId xmlns:a16="http://schemas.microsoft.com/office/drawing/2014/main" id="{8AEB8D89-48FF-1FBD-E3F4-DF3C18EDD483}"/>
              </a:ext>
            </a:extLst>
          </p:cNvPr>
          <p:cNvSpPr txBox="1"/>
          <p:nvPr/>
        </p:nvSpPr>
        <p:spPr>
          <a:xfrm>
            <a:off x="3444107" y="3573540"/>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38" name="TextBox 237">
            <a:extLst>
              <a:ext uri="{FF2B5EF4-FFF2-40B4-BE49-F238E27FC236}">
                <a16:creationId xmlns:a16="http://schemas.microsoft.com/office/drawing/2014/main" id="{9E5DA41A-72AD-8BDC-F250-30032173EBB7}"/>
              </a:ext>
            </a:extLst>
          </p:cNvPr>
          <p:cNvSpPr txBox="1"/>
          <p:nvPr/>
        </p:nvSpPr>
        <p:spPr>
          <a:xfrm>
            <a:off x="4607841" y="1462888"/>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45" name="TextBox 244">
            <a:extLst>
              <a:ext uri="{FF2B5EF4-FFF2-40B4-BE49-F238E27FC236}">
                <a16:creationId xmlns:a16="http://schemas.microsoft.com/office/drawing/2014/main" id="{F510A429-E4F1-B554-2243-851011F76A35}"/>
              </a:ext>
            </a:extLst>
          </p:cNvPr>
          <p:cNvSpPr txBox="1"/>
          <p:nvPr/>
        </p:nvSpPr>
        <p:spPr>
          <a:xfrm>
            <a:off x="4607841" y="2534809"/>
            <a:ext cx="523230" cy="276999"/>
          </a:xfrm>
          <a:prstGeom prst="rect">
            <a:avLst/>
          </a:prstGeom>
          <a:noFill/>
        </p:spPr>
        <p:txBody>
          <a:bodyPr wrap="square" rtlCol="0">
            <a:spAutoFit/>
          </a:bodyPr>
          <a:lstStyle/>
          <a:p>
            <a:pPr algn="ctr"/>
            <a:r>
              <a:rPr lang="en-US" sz="1200" b="1" dirty="0">
                <a:solidFill>
                  <a:srgbClr val="00B0F0"/>
                </a:solidFill>
                <a:latin typeface="Lato" panose="020B0604020202020204" charset="0"/>
                <a:cs typeface="Lato" panose="020B0604020202020204" charset="0"/>
              </a:rPr>
              <a:t>=</a:t>
            </a:r>
          </a:p>
        </p:txBody>
      </p:sp>
      <p:sp>
        <p:nvSpPr>
          <p:cNvPr id="261" name="TextBox 260">
            <a:extLst>
              <a:ext uri="{FF2B5EF4-FFF2-40B4-BE49-F238E27FC236}">
                <a16:creationId xmlns:a16="http://schemas.microsoft.com/office/drawing/2014/main" id="{DA8DD03C-F0AE-0AF7-DBB8-50B3470DB918}"/>
              </a:ext>
            </a:extLst>
          </p:cNvPr>
          <p:cNvSpPr txBox="1"/>
          <p:nvPr/>
        </p:nvSpPr>
        <p:spPr>
          <a:xfrm>
            <a:off x="5746320" y="2499711"/>
            <a:ext cx="3406329" cy="246221"/>
          </a:xfrm>
          <a:prstGeom prst="rect">
            <a:avLst/>
          </a:prstGeom>
          <a:noFill/>
        </p:spPr>
        <p:txBody>
          <a:bodyPr wrap="square" rtlCol="0">
            <a:spAutoFit/>
          </a:bodyPr>
          <a:lstStyle/>
          <a:p>
            <a:r>
              <a:rPr lang="en-US" sz="1000" b="1" dirty="0">
                <a:solidFill>
                  <a:srgbClr val="00B0F0"/>
                </a:solidFill>
                <a:latin typeface="Lato" panose="020B0604020202020204" charset="0"/>
                <a:cs typeface="Lato" panose="020B0604020202020204" charset="0"/>
              </a:rPr>
              <a:t>col2, if defined as ASC, col3 not used for </a:t>
            </a:r>
            <a:r>
              <a:rPr lang="en-US" sz="1000" b="1" i="1" dirty="0">
                <a:solidFill>
                  <a:srgbClr val="00B0F0"/>
                </a:solidFill>
                <a:latin typeface="Lato" panose="020B0604020202020204" charset="0"/>
                <a:cs typeface="Lato" panose="020B0604020202020204" charset="0"/>
              </a:rPr>
              <a:t>query</a:t>
            </a:r>
          </a:p>
        </p:txBody>
      </p:sp>
      <p:sp>
        <p:nvSpPr>
          <p:cNvPr id="263" name="TextBox 262">
            <a:extLst>
              <a:ext uri="{FF2B5EF4-FFF2-40B4-BE49-F238E27FC236}">
                <a16:creationId xmlns:a16="http://schemas.microsoft.com/office/drawing/2014/main" id="{9618AC6D-E1F4-37AD-AF22-5018D4C596D8}"/>
              </a:ext>
            </a:extLst>
          </p:cNvPr>
          <p:cNvSpPr txBox="1"/>
          <p:nvPr/>
        </p:nvSpPr>
        <p:spPr>
          <a:xfrm>
            <a:off x="5746320" y="2857018"/>
            <a:ext cx="3406325" cy="246221"/>
          </a:xfrm>
          <a:prstGeom prst="rect">
            <a:avLst/>
          </a:prstGeom>
          <a:noFill/>
        </p:spPr>
        <p:txBody>
          <a:bodyPr wrap="square" rtlCol="0">
            <a:spAutoFit/>
          </a:bodyPr>
          <a:lstStyle/>
          <a:p>
            <a:r>
              <a:rPr lang="en-US" sz="1000" b="1" dirty="0">
                <a:solidFill>
                  <a:srgbClr val="00B0F0"/>
                </a:solidFill>
                <a:latin typeface="Lato" panose="020B0604020202020204" charset="0"/>
                <a:cs typeface="Lato" panose="020B0604020202020204" charset="0"/>
              </a:rPr>
              <a:t>based on expected selectivity</a:t>
            </a:r>
          </a:p>
        </p:txBody>
      </p:sp>
      <p:sp>
        <p:nvSpPr>
          <p:cNvPr id="267" name="TextBox 266">
            <a:extLst>
              <a:ext uri="{FF2B5EF4-FFF2-40B4-BE49-F238E27FC236}">
                <a16:creationId xmlns:a16="http://schemas.microsoft.com/office/drawing/2014/main" id="{31098E11-B444-9A43-601C-878F4C8DBF2C}"/>
              </a:ext>
            </a:extLst>
          </p:cNvPr>
          <p:cNvSpPr txBox="1"/>
          <p:nvPr/>
        </p:nvSpPr>
        <p:spPr>
          <a:xfrm>
            <a:off x="5746320" y="3208792"/>
            <a:ext cx="3406325" cy="246221"/>
          </a:xfrm>
          <a:prstGeom prst="rect">
            <a:avLst/>
          </a:prstGeom>
          <a:noFill/>
        </p:spPr>
        <p:txBody>
          <a:bodyPr wrap="square" rtlCol="0">
            <a:spAutoFit/>
          </a:bodyPr>
          <a:lstStyle/>
          <a:p>
            <a:r>
              <a:rPr lang="en-US" sz="1000" b="1" dirty="0">
                <a:solidFill>
                  <a:srgbClr val="00B0F0"/>
                </a:solidFill>
                <a:latin typeface="Lato" panose="020B0604020202020204" charset="0"/>
                <a:cs typeface="Lato" panose="020B0604020202020204" charset="0"/>
              </a:rPr>
              <a:t>col2 based on selected selectivity</a:t>
            </a:r>
          </a:p>
        </p:txBody>
      </p:sp>
      <p:sp>
        <p:nvSpPr>
          <p:cNvPr id="269" name="TextBox 268">
            <a:extLst>
              <a:ext uri="{FF2B5EF4-FFF2-40B4-BE49-F238E27FC236}">
                <a16:creationId xmlns:a16="http://schemas.microsoft.com/office/drawing/2014/main" id="{20E80048-67DB-8CD5-30B8-1A767D5428E4}"/>
              </a:ext>
            </a:extLst>
          </p:cNvPr>
          <p:cNvSpPr txBox="1"/>
          <p:nvPr/>
        </p:nvSpPr>
        <p:spPr>
          <a:xfrm>
            <a:off x="5746320" y="3562124"/>
            <a:ext cx="3406325" cy="246221"/>
          </a:xfrm>
          <a:prstGeom prst="rect">
            <a:avLst/>
          </a:prstGeom>
          <a:noFill/>
        </p:spPr>
        <p:txBody>
          <a:bodyPr wrap="square" rtlCol="0">
            <a:spAutoFit/>
          </a:bodyPr>
          <a:lstStyle/>
          <a:p>
            <a:r>
              <a:rPr lang="en-US" sz="1000" b="1" dirty="0">
                <a:solidFill>
                  <a:srgbClr val="00B0F0"/>
                </a:solidFill>
                <a:latin typeface="Lato" panose="020B0604020202020204" charset="0"/>
                <a:cs typeface="Lato" panose="020B0604020202020204" charset="0"/>
              </a:rPr>
              <a:t>if the retrieval is secondary key only,    but ..</a:t>
            </a:r>
          </a:p>
        </p:txBody>
      </p:sp>
      <p:pic>
        <p:nvPicPr>
          <p:cNvPr id="271" name="Picture 270">
            <a:extLst>
              <a:ext uri="{FF2B5EF4-FFF2-40B4-BE49-F238E27FC236}">
                <a16:creationId xmlns:a16="http://schemas.microsoft.com/office/drawing/2014/main" id="{16D92B43-90C1-84A0-FB1F-00CB732951F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146395" y="1338053"/>
            <a:ext cx="590724" cy="490227"/>
          </a:xfrm>
          <a:prstGeom prst="rect">
            <a:avLst/>
          </a:prstGeom>
        </p:spPr>
      </p:pic>
      <p:pic>
        <p:nvPicPr>
          <p:cNvPr id="273" name="Picture 272">
            <a:extLst>
              <a:ext uri="{FF2B5EF4-FFF2-40B4-BE49-F238E27FC236}">
                <a16:creationId xmlns:a16="http://schemas.microsoft.com/office/drawing/2014/main" id="{4730F740-D435-7156-A1E2-428CDD1717B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966101" y="1344458"/>
            <a:ext cx="590724" cy="490227"/>
          </a:xfrm>
          <a:prstGeom prst="rect">
            <a:avLst/>
          </a:prstGeom>
        </p:spPr>
      </p:pic>
      <p:pic>
        <p:nvPicPr>
          <p:cNvPr id="276" name="Picture 275">
            <a:extLst>
              <a:ext uri="{FF2B5EF4-FFF2-40B4-BE49-F238E27FC236}">
                <a16:creationId xmlns:a16="http://schemas.microsoft.com/office/drawing/2014/main" id="{D7DBD988-54C2-8E03-D885-D03C2BD5497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904300" y="1339576"/>
            <a:ext cx="590724" cy="490227"/>
          </a:xfrm>
          <a:prstGeom prst="rect">
            <a:avLst/>
          </a:prstGeom>
        </p:spPr>
      </p:pic>
      <p:pic>
        <p:nvPicPr>
          <p:cNvPr id="278" name="Picture 277">
            <a:extLst>
              <a:ext uri="{FF2B5EF4-FFF2-40B4-BE49-F238E27FC236}">
                <a16:creationId xmlns:a16="http://schemas.microsoft.com/office/drawing/2014/main" id="{A3F0E1BC-75D8-674E-6D52-D6CC57F7BED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082807" y="1706880"/>
            <a:ext cx="590724" cy="490227"/>
          </a:xfrm>
          <a:prstGeom prst="rect">
            <a:avLst/>
          </a:prstGeom>
        </p:spPr>
      </p:pic>
      <p:pic>
        <p:nvPicPr>
          <p:cNvPr id="280" name="Picture 279">
            <a:extLst>
              <a:ext uri="{FF2B5EF4-FFF2-40B4-BE49-F238E27FC236}">
                <a16:creationId xmlns:a16="http://schemas.microsoft.com/office/drawing/2014/main" id="{44D47B8A-115F-3095-5540-D67AAFA033B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803671" y="1704789"/>
            <a:ext cx="590724" cy="490227"/>
          </a:xfrm>
          <a:prstGeom prst="rect">
            <a:avLst/>
          </a:prstGeom>
        </p:spPr>
      </p:pic>
      <p:pic>
        <p:nvPicPr>
          <p:cNvPr id="282" name="Picture 281">
            <a:extLst>
              <a:ext uri="{FF2B5EF4-FFF2-40B4-BE49-F238E27FC236}">
                <a16:creationId xmlns:a16="http://schemas.microsoft.com/office/drawing/2014/main" id="{AC9F7BBD-D551-C1E1-C7B4-4B7D2001B29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891013" y="2069271"/>
            <a:ext cx="590724" cy="490227"/>
          </a:xfrm>
          <a:prstGeom prst="rect">
            <a:avLst/>
          </a:prstGeom>
        </p:spPr>
      </p:pic>
      <p:pic>
        <p:nvPicPr>
          <p:cNvPr id="286" name="Picture 285">
            <a:extLst>
              <a:ext uri="{FF2B5EF4-FFF2-40B4-BE49-F238E27FC236}">
                <a16:creationId xmlns:a16="http://schemas.microsoft.com/office/drawing/2014/main" id="{55248179-2ECB-8B52-E93D-8083DEF038C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788164" y="2420813"/>
            <a:ext cx="590724" cy="490227"/>
          </a:xfrm>
          <a:prstGeom prst="rect">
            <a:avLst/>
          </a:prstGeom>
        </p:spPr>
      </p:pic>
      <p:pic>
        <p:nvPicPr>
          <p:cNvPr id="288" name="Picture 287">
            <a:extLst>
              <a:ext uri="{FF2B5EF4-FFF2-40B4-BE49-F238E27FC236}">
                <a16:creationId xmlns:a16="http://schemas.microsoft.com/office/drawing/2014/main" id="{B2F299B1-6E41-77DF-4041-8512F06D649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055912" y="2424269"/>
            <a:ext cx="590724" cy="490227"/>
          </a:xfrm>
          <a:prstGeom prst="rect">
            <a:avLst/>
          </a:prstGeom>
        </p:spPr>
      </p:pic>
      <p:pic>
        <p:nvPicPr>
          <p:cNvPr id="292" name="Picture 291">
            <a:extLst>
              <a:ext uri="{FF2B5EF4-FFF2-40B4-BE49-F238E27FC236}">
                <a16:creationId xmlns:a16="http://schemas.microsoft.com/office/drawing/2014/main" id="{8546A46C-8091-F637-062A-8E4E6AAA601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971341" y="2733802"/>
            <a:ext cx="619021" cy="619021"/>
          </a:xfrm>
          <a:prstGeom prst="rect">
            <a:avLst/>
          </a:prstGeom>
        </p:spPr>
      </p:pic>
      <p:pic>
        <p:nvPicPr>
          <p:cNvPr id="294" name="Picture 293">
            <a:extLst>
              <a:ext uri="{FF2B5EF4-FFF2-40B4-BE49-F238E27FC236}">
                <a16:creationId xmlns:a16="http://schemas.microsoft.com/office/drawing/2014/main" id="{5105BE0F-651B-F5E2-73FB-41190D68F88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175618" y="2384824"/>
            <a:ext cx="619021" cy="619021"/>
          </a:xfrm>
          <a:prstGeom prst="rect">
            <a:avLst/>
          </a:prstGeom>
        </p:spPr>
      </p:pic>
      <p:pic>
        <p:nvPicPr>
          <p:cNvPr id="299" name="Picture 298">
            <a:extLst>
              <a:ext uri="{FF2B5EF4-FFF2-40B4-BE49-F238E27FC236}">
                <a16:creationId xmlns:a16="http://schemas.microsoft.com/office/drawing/2014/main" id="{FB24DA72-614D-BF9D-B112-89A84CAEA35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144820" y="3497749"/>
            <a:ext cx="590724" cy="490227"/>
          </a:xfrm>
          <a:prstGeom prst="rect">
            <a:avLst/>
          </a:prstGeom>
        </p:spPr>
      </p:pic>
      <p:pic>
        <p:nvPicPr>
          <p:cNvPr id="301" name="Picture 300">
            <a:extLst>
              <a:ext uri="{FF2B5EF4-FFF2-40B4-BE49-F238E27FC236}">
                <a16:creationId xmlns:a16="http://schemas.microsoft.com/office/drawing/2014/main" id="{1E5F764A-BB13-1B63-F31A-C08202E4BCC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971341" y="3137110"/>
            <a:ext cx="590724" cy="490227"/>
          </a:xfrm>
          <a:prstGeom prst="rect">
            <a:avLst/>
          </a:prstGeom>
        </p:spPr>
      </p:pic>
      <p:pic>
        <p:nvPicPr>
          <p:cNvPr id="305" name="Picture 304">
            <a:extLst>
              <a:ext uri="{FF2B5EF4-FFF2-40B4-BE49-F238E27FC236}">
                <a16:creationId xmlns:a16="http://schemas.microsoft.com/office/drawing/2014/main" id="{E5689DBC-6613-9EF7-0167-1BB83603C3A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872898" y="3446142"/>
            <a:ext cx="619021" cy="619021"/>
          </a:xfrm>
          <a:prstGeom prst="rect">
            <a:avLst/>
          </a:prstGeom>
        </p:spPr>
      </p:pic>
      <p:pic>
        <p:nvPicPr>
          <p:cNvPr id="307" name="Picture 306">
            <a:extLst>
              <a:ext uri="{FF2B5EF4-FFF2-40B4-BE49-F238E27FC236}">
                <a16:creationId xmlns:a16="http://schemas.microsoft.com/office/drawing/2014/main" id="{9F87B87F-B2EE-D895-8408-3DB76D6BE28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003900" y="3098689"/>
            <a:ext cx="619021" cy="619021"/>
          </a:xfrm>
          <a:prstGeom prst="rect">
            <a:avLst/>
          </a:prstGeom>
        </p:spPr>
      </p:pic>
      <p:sp>
        <p:nvSpPr>
          <p:cNvPr id="309" name="TextBox 308">
            <a:extLst>
              <a:ext uri="{FF2B5EF4-FFF2-40B4-BE49-F238E27FC236}">
                <a16:creationId xmlns:a16="http://schemas.microsoft.com/office/drawing/2014/main" id="{0EFC911E-3CDE-34A4-9DC3-B0D5CAC1CABA}"/>
              </a:ext>
            </a:extLst>
          </p:cNvPr>
          <p:cNvSpPr txBox="1"/>
          <p:nvPr/>
        </p:nvSpPr>
        <p:spPr>
          <a:xfrm>
            <a:off x="5909372" y="3907691"/>
            <a:ext cx="523230" cy="400110"/>
          </a:xfrm>
          <a:prstGeom prst="rect">
            <a:avLst/>
          </a:prstGeom>
          <a:noFill/>
        </p:spPr>
        <p:txBody>
          <a:bodyPr wrap="square" rtlCol="0">
            <a:spAutoFit/>
          </a:bodyPr>
          <a:lstStyle/>
          <a:p>
            <a:pPr algn="ctr"/>
            <a:r>
              <a:rPr lang="en-US" sz="2000" b="1" dirty="0">
                <a:solidFill>
                  <a:schemeClr val="tx1"/>
                </a:solidFill>
                <a:latin typeface="Lato" panose="020B0604020202020204" charset="0"/>
                <a:cs typeface="Lato" panose="020B0604020202020204" charset="0"/>
              </a:rPr>
              <a:t>…</a:t>
            </a:r>
          </a:p>
        </p:txBody>
      </p:sp>
      <p:pic>
        <p:nvPicPr>
          <p:cNvPr id="324" name="Picture 323">
            <a:extLst>
              <a:ext uri="{FF2B5EF4-FFF2-40B4-BE49-F238E27FC236}">
                <a16:creationId xmlns:a16="http://schemas.microsoft.com/office/drawing/2014/main" id="{20BA866F-B4C8-6B5A-0CA6-7059CA554F9A}"/>
              </a:ext>
            </a:extLst>
          </p:cNvPr>
          <p:cNvPicPr>
            <a:picLocks noChangeAspect="1"/>
          </p:cNvPicPr>
          <p:nvPr/>
        </p:nvPicPr>
        <p:blipFill>
          <a:blip r:embed="rId5"/>
          <a:stretch>
            <a:fillRect/>
          </a:stretch>
        </p:blipFill>
        <p:spPr>
          <a:xfrm flipH="1">
            <a:off x="101121" y="1221407"/>
            <a:ext cx="1872227" cy="2496303"/>
          </a:xfrm>
          <a:prstGeom prst="rect">
            <a:avLst/>
          </a:prstGeom>
        </p:spPr>
      </p:pic>
      <p:sp>
        <p:nvSpPr>
          <p:cNvPr id="326" name="Google Shape;248;p56">
            <a:extLst>
              <a:ext uri="{FF2B5EF4-FFF2-40B4-BE49-F238E27FC236}">
                <a16:creationId xmlns:a16="http://schemas.microsoft.com/office/drawing/2014/main" id="{065D222B-98AB-F2A2-64E6-8334A7421E59}"/>
              </a:ext>
            </a:extLst>
          </p:cNvPr>
          <p:cNvSpPr txBox="1"/>
          <p:nvPr/>
        </p:nvSpPr>
        <p:spPr>
          <a:xfrm rot="21165070">
            <a:off x="448650" y="1811983"/>
            <a:ext cx="1305076" cy="167119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b="1" u="sng" dirty="0">
                <a:solidFill>
                  <a:srgbClr val="FFC000"/>
                </a:solidFill>
                <a:latin typeface="Lato"/>
                <a:ea typeface="Lato"/>
                <a:cs typeface="Lato"/>
                <a:sym typeface="Lato"/>
              </a:rPr>
              <a:t>this: generally</a:t>
            </a:r>
            <a:r>
              <a:rPr lang="en" b="1" dirty="0">
                <a:solidFill>
                  <a:srgbClr val="FFC000"/>
                </a:solidFill>
                <a:latin typeface="Lato"/>
                <a:ea typeface="Lato"/>
                <a:cs typeface="Lato"/>
                <a:sym typeface="Lato"/>
              </a:rPr>
              <a:t>,</a:t>
            </a: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endParaRPr lang="en" b="1" dirty="0">
              <a:solidFill>
                <a:srgbClr val="FFC000"/>
              </a:solidFill>
              <a:latin typeface="Lato"/>
              <a:ea typeface="Lato"/>
              <a:cs typeface="Lato"/>
              <a:sym typeface="Lato"/>
            </a:endParaRP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b="1" dirty="0">
                <a:solidFill>
                  <a:srgbClr val="FFC000"/>
                </a:solidFill>
                <a:latin typeface="Lato"/>
                <a:ea typeface="Lato"/>
                <a:cs typeface="Lato"/>
                <a:sym typeface="Lato"/>
              </a:rPr>
              <a:t> index type discussion later </a:t>
            </a:r>
            <a:endParaRPr kumimoji="0" b="1" i="0" u="sng" strike="noStrike" kern="0" cap="none" spc="0" normalizeH="0" baseline="0" noProof="0" dirty="0">
              <a:ln>
                <a:noFill/>
              </a:ln>
              <a:solidFill>
                <a:srgbClr val="FFC000"/>
              </a:solidFill>
              <a:effectLst/>
              <a:uLnTx/>
              <a:uFillTx/>
              <a:latin typeface="Lato"/>
              <a:ea typeface="Lato"/>
              <a:cs typeface="Lato"/>
              <a:sym typeface="Lato"/>
            </a:endParaRPr>
          </a:p>
        </p:txBody>
      </p:sp>
    </p:spTree>
    <p:extLst>
      <p:ext uri="{BB962C8B-B14F-4D97-AF65-F5344CB8AC3E}">
        <p14:creationId xmlns:p14="http://schemas.microsoft.com/office/powerpoint/2010/main" val="1833387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86F8390-C485-9E45-18B2-697B8EA8C10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D54D00D-F0EF-F271-7FD2-5644F82333B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OR-topped query  </a:t>
            </a:r>
            <a:r>
              <a:rPr lang="en" dirty="0">
                <a:solidFill>
                  <a:schemeClr val="accent2"/>
                </a:solidFill>
                <a:latin typeface="Lato"/>
                <a:ea typeface="Lato"/>
                <a:cs typeface="Lato"/>
                <a:sym typeface="Wingdings" panose="05000000000000000000" pitchFamily="2" charset="2"/>
              </a:rPr>
              <a:t>  OR-union transfer (a query rewrite)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48034AD-F8CF-5962-874A-9310B97155B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E8FC21A4-4E2E-4E00-9E57-257E8B90CF69}"/>
              </a:ext>
            </a:extLst>
          </p:cNvPr>
          <p:cNvSpPr txBox="1"/>
          <p:nvPr/>
        </p:nvSpPr>
        <p:spPr>
          <a:xfrm>
            <a:off x="315981" y="1567410"/>
            <a:ext cx="1905672"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col2 = 20;</a:t>
            </a:r>
          </a:p>
        </p:txBody>
      </p:sp>
      <p:pic>
        <p:nvPicPr>
          <p:cNvPr id="8" name="Picture 7">
            <a:extLst>
              <a:ext uri="{FF2B5EF4-FFF2-40B4-BE49-F238E27FC236}">
                <a16:creationId xmlns:a16="http://schemas.microsoft.com/office/drawing/2014/main" id="{4CBAA132-3B35-F1FF-47F3-B8DA210CF3DB}"/>
              </a:ext>
            </a:extLst>
          </p:cNvPr>
          <p:cNvPicPr>
            <a:picLocks noChangeAspect="1"/>
          </p:cNvPicPr>
          <p:nvPr/>
        </p:nvPicPr>
        <p:blipFill>
          <a:blip r:embed="rId3"/>
          <a:stretch>
            <a:fillRect/>
          </a:stretch>
        </p:blipFill>
        <p:spPr>
          <a:xfrm rot="21083677">
            <a:off x="1634728" y="1524625"/>
            <a:ext cx="343085" cy="720479"/>
          </a:xfrm>
          <a:prstGeom prst="rect">
            <a:avLst/>
          </a:prstGeom>
        </p:spPr>
      </p:pic>
      <p:pic>
        <p:nvPicPr>
          <p:cNvPr id="10" name="Picture 9">
            <a:extLst>
              <a:ext uri="{FF2B5EF4-FFF2-40B4-BE49-F238E27FC236}">
                <a16:creationId xmlns:a16="http://schemas.microsoft.com/office/drawing/2014/main" id="{A52621B1-5A95-2A03-A07D-A07E9E5CC61F}"/>
              </a:ext>
            </a:extLst>
          </p:cNvPr>
          <p:cNvPicPr>
            <a:picLocks noChangeAspect="1"/>
          </p:cNvPicPr>
          <p:nvPr/>
        </p:nvPicPr>
        <p:blipFill>
          <a:blip r:embed="rId3"/>
          <a:stretch>
            <a:fillRect/>
          </a:stretch>
        </p:blipFill>
        <p:spPr>
          <a:xfrm rot="436822">
            <a:off x="1573967" y="2759327"/>
            <a:ext cx="343085" cy="720479"/>
          </a:xfrm>
          <a:prstGeom prst="rect">
            <a:avLst/>
          </a:prstGeom>
        </p:spPr>
      </p:pic>
      <p:sp>
        <p:nvSpPr>
          <p:cNvPr id="12" name="Google Shape;248;p56">
            <a:extLst>
              <a:ext uri="{FF2B5EF4-FFF2-40B4-BE49-F238E27FC236}">
                <a16:creationId xmlns:a16="http://schemas.microsoft.com/office/drawing/2014/main" id="{D15F8C98-2D76-4239-6D91-93B834DFA51A}"/>
              </a:ext>
            </a:extLst>
          </p:cNvPr>
          <p:cNvSpPr txBox="1"/>
          <p:nvPr/>
        </p:nvSpPr>
        <p:spPr>
          <a:xfrm>
            <a:off x="2221653" y="900554"/>
            <a:ext cx="1905672"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a:t>
            </a:r>
            <a:r>
              <a:rPr lang="en" dirty="0">
                <a:latin typeface="Lato"/>
                <a:ea typeface="Lato"/>
                <a:cs typeface="Lato"/>
                <a:sym typeface="Lato"/>
              </a:rPr>
              <a:t>from t1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union all</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col2 = 20;</a:t>
            </a:r>
          </a:p>
        </p:txBody>
      </p:sp>
      <p:sp>
        <p:nvSpPr>
          <p:cNvPr id="14" name="Google Shape;248;p56">
            <a:extLst>
              <a:ext uri="{FF2B5EF4-FFF2-40B4-BE49-F238E27FC236}">
                <a16:creationId xmlns:a16="http://schemas.microsoft.com/office/drawing/2014/main" id="{33A45AF0-A2B0-ED44-4CB8-985AF4C5099A}"/>
              </a:ext>
            </a:extLst>
          </p:cNvPr>
          <p:cNvSpPr txBox="1"/>
          <p:nvPr/>
        </p:nvSpPr>
        <p:spPr>
          <a:xfrm>
            <a:off x="2221653" y="2571750"/>
            <a:ext cx="1905672"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a:t>
            </a:r>
            <a:r>
              <a:rPr lang="en" dirty="0">
                <a:latin typeface="Lato"/>
                <a:ea typeface="Lato"/>
                <a:cs typeface="Lato"/>
                <a:sym typeface="Lato"/>
              </a:rPr>
              <a:t>from t1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union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col2 = 20;</a:t>
            </a:r>
          </a:p>
        </p:txBody>
      </p:sp>
      <p:sp>
        <p:nvSpPr>
          <p:cNvPr id="16" name="Google Shape;248;p56">
            <a:extLst>
              <a:ext uri="{FF2B5EF4-FFF2-40B4-BE49-F238E27FC236}">
                <a16:creationId xmlns:a16="http://schemas.microsoft.com/office/drawing/2014/main" id="{26B4B242-E40D-867C-DBB3-754F62615A7B}"/>
              </a:ext>
            </a:extLst>
          </p:cNvPr>
          <p:cNvSpPr txBox="1"/>
          <p:nvPr/>
        </p:nvSpPr>
        <p:spPr>
          <a:xfrm>
            <a:off x="5655570" y="1148314"/>
            <a:ext cx="3230429" cy="294539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C000"/>
                </a:solidFill>
                <a:effectLst/>
                <a:uLnTx/>
                <a:uFillTx/>
                <a:latin typeface="Lato"/>
                <a:ea typeface="Lato"/>
                <a:cs typeface="Lato"/>
                <a:sym typeface="Lato"/>
              </a:rPr>
              <a:t>when-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both predicates are indexed</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both predicates are selective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 sz="1200" dirty="0">
              <a:solidFill>
                <a:srgbClr val="FFC00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 sz="1200" i="1" dirty="0">
                <a:solidFill>
                  <a:srgbClr val="FFC000"/>
                </a:solidFill>
                <a:latin typeface="Lato"/>
                <a:ea typeface="Lato"/>
                <a:cs typeface="Lato"/>
                <a:sym typeface="Lato"/>
              </a:rPr>
              <a:t>use union all when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both predicates produce a unique result set</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most performant</a:t>
            </a:r>
          </a:p>
          <a:p>
            <a:pPr marR="0" lvl="0" defTabSz="914400" rtl="0" eaLnBrk="1" fontAlgn="auto" latinLnBrk="0" hangingPunct="1">
              <a:lnSpc>
                <a:spcPct val="115000"/>
              </a:lnSpc>
              <a:spcBef>
                <a:spcPts val="0"/>
              </a:spcBef>
              <a:spcAft>
                <a:spcPts val="0"/>
              </a:spcAft>
              <a:buClr>
                <a:srgbClr val="000000"/>
              </a:buClr>
              <a:buSzTx/>
              <a:tabLst/>
              <a:defRPr/>
            </a:pPr>
            <a:r>
              <a:rPr lang="en" sz="1200" i="1" dirty="0">
                <a:solidFill>
                  <a:srgbClr val="FFC000"/>
                </a:solidFill>
                <a:latin typeface="Lato"/>
                <a:ea typeface="Lato"/>
                <a:cs typeface="Lato"/>
                <a:sym typeface="Lato"/>
              </a:rPr>
              <a:t>use union when </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there might be duplicates in the two result sets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(sorts both lists, merge, remove duplicates), blecht</a:t>
            </a:r>
          </a:p>
        </p:txBody>
      </p:sp>
    </p:spTree>
    <p:extLst>
      <p:ext uri="{BB962C8B-B14F-4D97-AF65-F5344CB8AC3E}">
        <p14:creationId xmlns:p14="http://schemas.microsoft.com/office/powerpoint/2010/main" val="23470273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E744CCFD-1B1A-075D-F8CB-DE2F1E21A47A}"/>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617E091E-0546-CBFB-6DEB-3C126EFC6BC7}"/>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870952C4-9554-0A1A-584D-9177A5117989}"/>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02</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0A683D1F-1122-68D9-E1A1-A95ECF52BC04}"/>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1F3E44ED-4E83-C334-6655-E005A3D9097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E44A1F51-21C5-770F-B263-A9975065794E}"/>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4AD47552-A18C-3E95-F9C7-0DE8EC2C3146}"/>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7467403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3B1BCC7-D682-0B11-4143-343119DDA8A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F6D5EBB-DA29-4ABC-94B2-502695D27A6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determing the query plan, applying the rules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07489B4-498A-A778-D3B4-61788AED633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5B3A7E9C-6841-27E5-5B11-9F49FE8977D9}"/>
              </a:ext>
            </a:extLst>
          </p:cNvPr>
          <p:cNvSpPr txBox="1"/>
          <p:nvPr/>
        </p:nvSpPr>
        <p:spPr>
          <a:xfrm>
            <a:off x="4191922" y="888039"/>
            <a:ext cx="2195331" cy="1246465"/>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F37805C7-BB9D-AC7F-8F80-86D91DB7EF92}"/>
              </a:ext>
            </a:extLst>
          </p:cNvPr>
          <p:cNvSpPr txBox="1"/>
          <p:nvPr/>
        </p:nvSpPr>
        <p:spPr>
          <a:xfrm>
            <a:off x="5881868" y="888039"/>
            <a:ext cx="3004132" cy="1246465"/>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present</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all tables joined    (common, 2</a:t>
            </a:r>
            <a:r>
              <a:rPr lang="en-US" sz="1200" baseline="30000" dirty="0">
                <a:solidFill>
                  <a:schemeClr val="bg1">
                    <a:lumMod val="50000"/>
                  </a:schemeClr>
                </a:solidFill>
                <a:latin typeface="Lato"/>
                <a:ea typeface="Lato"/>
                <a:cs typeface="Lato"/>
                <a:sym typeface="Lato"/>
              </a:rPr>
              <a:t>nd</a:t>
            </a:r>
            <a:r>
              <a:rPr lang="en-US" sz="1200" dirty="0">
                <a:solidFill>
                  <a:schemeClr val="bg1">
                    <a:lumMod val="50000"/>
                  </a:schemeClr>
                </a:solidFill>
                <a:latin typeface="Lato"/>
                <a:ea typeface="Lato"/>
                <a:cs typeface="Lato"/>
                <a:sym typeface="Lato"/>
              </a:rPr>
              <a:t> table+)</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98% of the time    (determines first table)</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(not needed)</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needed)</a:t>
            </a:r>
            <a:endParaRPr kumimoji="0" sz="120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
        <p:nvSpPr>
          <p:cNvPr id="10" name="Google Shape;248;p56">
            <a:extLst>
              <a:ext uri="{FF2B5EF4-FFF2-40B4-BE49-F238E27FC236}">
                <a16:creationId xmlns:a16="http://schemas.microsoft.com/office/drawing/2014/main" id="{9903E850-21D2-6884-8929-0B7BEBA7DB3C}"/>
              </a:ext>
            </a:extLst>
          </p:cNvPr>
          <p:cNvSpPr txBox="1"/>
          <p:nvPr/>
        </p:nvSpPr>
        <p:spPr>
          <a:xfrm>
            <a:off x="4865867" y="2174749"/>
            <a:ext cx="2195331" cy="397001"/>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  </a:t>
            </a:r>
            <a:r>
              <a:rPr kumimoji="0" lang="en-US" sz="1200"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join    sort      FJS</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2" name="Google Shape;248;p56">
            <a:extLst>
              <a:ext uri="{FF2B5EF4-FFF2-40B4-BE49-F238E27FC236}">
                <a16:creationId xmlns:a16="http://schemas.microsoft.com/office/drawing/2014/main" id="{3393C680-2A6E-82AC-3C22-21674F44A51F}"/>
              </a:ext>
            </a:extLst>
          </p:cNvPr>
          <p:cNvSpPr txBox="1"/>
          <p:nvPr/>
        </p:nvSpPr>
        <p:spPr>
          <a:xfrm>
            <a:off x="4214857" y="2743250"/>
            <a:ext cx="4155283" cy="1423436"/>
          </a:xfrm>
          <a:prstGeom prst="rect">
            <a:avLst/>
          </a:prstGeom>
          <a:solidFill>
            <a:schemeClr val="lt1"/>
          </a:solid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B0F0"/>
                </a:solidFill>
                <a:effectLst/>
                <a:uLnTx/>
                <a:uFillTx/>
                <a:latin typeface="Lato"/>
                <a:ea typeface="Lato"/>
                <a:cs typeface="Lato"/>
                <a:sym typeface="Lato"/>
              </a:rPr>
              <a:t>only one table; no join methods, no table order, pick a predicate-</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000" b="0" i="0" u="none" strike="noStrike" kern="0" cap="none" spc="0" normalizeH="0" baseline="0" noProof="0" dirty="0">
              <a:ln>
                <a:noFill/>
              </a:ln>
              <a:solidFill>
                <a:srgbClr val="00B0F0"/>
              </a:solidFill>
              <a:effectLst/>
              <a:uLnTx/>
              <a:uFillTx/>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solidFill>
                  <a:srgbClr val="00B0F0"/>
                </a:solidFill>
                <a:latin typeface="Lato"/>
                <a:ea typeface="Lato"/>
                <a:cs typeface="Lato"/>
                <a:sym typeface="Lato"/>
              </a:rPr>
              <a:t>because of the chance a row would qualify for both access methods, we need to sort, merge, remove duplicates</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000" b="0" i="0" u="none" strike="noStrike" kern="0" cap="none" spc="0" normalizeH="0" baseline="0" noProof="0" dirty="0">
              <a:ln>
                <a:noFill/>
              </a:ln>
              <a:solidFill>
                <a:srgbClr val="00B0F0"/>
              </a:solidFill>
              <a:effectLst/>
              <a:uLnTx/>
              <a:uFillTx/>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solidFill>
                  <a:srgbClr val="00B0F0"/>
                </a:solidFill>
                <a:latin typeface="Lato"/>
                <a:ea typeface="Lato"/>
                <a:cs typeface="Lato"/>
                <a:sym typeface="Lato"/>
              </a:rPr>
              <a:t>without a </a:t>
            </a:r>
            <a:r>
              <a:rPr lang="en-US" sz="1000" u="sng" dirty="0">
                <a:solidFill>
                  <a:srgbClr val="00B0F0"/>
                </a:solidFill>
                <a:latin typeface="Lato"/>
                <a:ea typeface="Lato"/>
                <a:cs typeface="Lato"/>
                <a:sym typeface="Lato"/>
              </a:rPr>
              <a:t>manual or automatic OR-union transfer</a:t>
            </a:r>
            <a:r>
              <a:rPr lang="en-US" sz="1000" dirty="0">
                <a:solidFill>
                  <a:srgbClr val="00B0F0"/>
                </a:solidFill>
                <a:latin typeface="Lato"/>
                <a:ea typeface="Lato"/>
                <a:cs typeface="Lato"/>
                <a:sym typeface="Lato"/>
              </a:rPr>
              <a:t>, historically this would only ever be sequential access method</a:t>
            </a:r>
            <a:endParaRPr kumimoji="0" sz="100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3" name="Google Shape;248;p56">
            <a:extLst>
              <a:ext uri="{FF2B5EF4-FFF2-40B4-BE49-F238E27FC236}">
                <a16:creationId xmlns:a16="http://schemas.microsoft.com/office/drawing/2014/main" id="{7BCAB874-5FD1-E3B7-02B4-B4C234667AC1}"/>
              </a:ext>
            </a:extLst>
          </p:cNvPr>
          <p:cNvSpPr txBox="1"/>
          <p:nvPr/>
        </p:nvSpPr>
        <p:spPr>
          <a:xfrm>
            <a:off x="315981" y="1244428"/>
            <a:ext cx="1905672"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col2 = 20;</a:t>
            </a:r>
          </a:p>
        </p:txBody>
      </p:sp>
    </p:spTree>
    <p:extLst>
      <p:ext uri="{BB962C8B-B14F-4D97-AF65-F5344CB8AC3E}">
        <p14:creationId xmlns:p14="http://schemas.microsoft.com/office/powerpoint/2010/main" val="3053622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0C46EB9-81EF-9AA7-2893-687D514D30C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1F861BF-7B53-0E12-5124-F5FEE487298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7C55864-5DDE-AE9B-B617-BF9424C53D4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CEC2004-0D86-1B40-44A3-1CD88BEA660A}"/>
              </a:ext>
            </a:extLst>
          </p:cNvPr>
          <p:cNvSpPr txBox="1"/>
          <p:nvPr/>
        </p:nvSpPr>
        <p:spPr>
          <a:xfrm>
            <a:off x="315981" y="926081"/>
            <a:ext cx="8272606" cy="287460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Explicit HASH primary key -- see "10 - create exercise 01.sql" for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why (col1 is a monotonically increasing sequence; hashing avoids 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moving-sequential-hotspot on writes).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-- 100,000 rows, col1 = 1..100,000 (unique), col2 = 1..1,000 (repeating)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~100 rows match col2 = 20, plus the single col1 = 10 row.</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t1 (col1, col2, 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 1 + (g % 1000), repeat('x', 50)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generate_series(1, 100000) AS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has the same repeating-cycle shape as col1, so HASH here too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same write-hotspot reasoning as everywhere else in this lab.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CREATE INDEX t1_col2_idx ON t1 (col2 HASH);</a:t>
            </a:r>
            <a:endParaRPr kumimoji="0"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660818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BB6C56E-EE12-B285-3A37-242617933FF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49D4FB2-3E2B-7335-914B-B70165EF147D}"/>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running the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3B7745A-9735-8CA8-11B6-8F44AD0AA82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D63DEDE-C0C0-1F8B-8F9C-1B6AFBED7A65}"/>
              </a:ext>
            </a:extLst>
          </p:cNvPr>
          <p:cNvSpPr txBox="1"/>
          <p:nvPr/>
        </p:nvSpPr>
        <p:spPr>
          <a:xfrm>
            <a:off x="315981" y="926081"/>
            <a:ext cx="8272606"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 20;</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229796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97FC860-E647-6B37-8D86-9DEF1A53645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A59D3B1-0EE5-B574-A7AD-49ECB5F0217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output from ANALYZE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BE8D4A4-194F-E119-61F1-1537F47C66A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E102BD4-84ED-0BB6-96A5-CAB153367B79}"/>
              </a:ext>
            </a:extLst>
          </p:cNvPr>
          <p:cNvSpPr txBox="1"/>
          <p:nvPr/>
        </p:nvSpPr>
        <p:spPr>
          <a:xfrm>
            <a:off x="315981" y="729654"/>
            <a:ext cx="8272606" cy="241447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YB Bitmap Table Scan on t1  (cost=78.55..98.96 rows=101 width=59) (actual time=2.594..2.605 rows=101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BitmapOr</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(cost=54.46..54.46 rows=101 width=0) (actual time=0.954..0.954 rows=101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Bitmap Index Scan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on t1_pkey  (cost=0.00..21.22 rows=1 width=0) (actual time=0.612..0.612 rows=1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Bitmap Index Scan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on t1_col2_idx  (cost=0.00..33.19 rows=100 width=0) (actual time=0.338..0.338 rows=100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(col2 = 20)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11.312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3.253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190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(9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6" name="Google Shape;248;p56">
            <a:extLst>
              <a:ext uri="{FF2B5EF4-FFF2-40B4-BE49-F238E27FC236}">
                <a16:creationId xmlns:a16="http://schemas.microsoft.com/office/drawing/2014/main" id="{7B5C33EF-04C4-3702-BE79-6ACEAA2FC360}"/>
              </a:ext>
            </a:extLst>
          </p:cNvPr>
          <p:cNvSpPr txBox="1"/>
          <p:nvPr/>
        </p:nvSpPr>
        <p:spPr>
          <a:xfrm>
            <a:off x="3461173" y="2125972"/>
            <a:ext cx="5262880" cy="2520660"/>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because both predicates are supported via indexes, the OR-union transfer </a:t>
            </a:r>
            <a:r>
              <a:rPr lang="en-US" sz="1200" u="sng" dirty="0">
                <a:solidFill>
                  <a:srgbClr val="0070C0"/>
                </a:solidFill>
                <a:latin typeface="Lato"/>
                <a:ea typeface="Lato"/>
                <a:cs typeface="Lato"/>
                <a:sym typeface="Lato"/>
              </a:rPr>
              <a:t>functional equivalent </a:t>
            </a:r>
            <a:r>
              <a:rPr lang="en-US" sz="1200" dirty="0">
                <a:solidFill>
                  <a:srgbClr val="0070C0"/>
                </a:solidFill>
                <a:latin typeface="Lato"/>
                <a:ea typeface="Lato"/>
                <a:cs typeface="Lato"/>
                <a:sym typeface="Lato"/>
              </a:rPr>
              <a:t>is automatically applied (a query rewrite)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other access methods output tuples. bitmap index scan outputs tuple ids (not column values proper). this means we will need to go also to the data page once the result sets are formed. (not a candidate for covering indexes, discussed later.)</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bitmap index scan supports efficient; BitMapOr(s), BitMapAnd(s)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BitMapOr, grossly efficient means to intersect two result sets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i="1" dirty="0">
                <a:solidFill>
                  <a:srgbClr val="0070C0"/>
                </a:solidFill>
                <a:latin typeface="Lato"/>
                <a:ea typeface="Lato"/>
                <a:cs typeface="Lato"/>
                <a:sym typeface="Lato"/>
              </a:rPr>
              <a:t>more notes on next page-</a:t>
            </a:r>
          </a:p>
        </p:txBody>
      </p:sp>
    </p:spTree>
    <p:extLst>
      <p:ext uri="{BB962C8B-B14F-4D97-AF65-F5344CB8AC3E}">
        <p14:creationId xmlns:p14="http://schemas.microsoft.com/office/powerpoint/2010/main" val="134528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A74536B-50B4-09F5-56A7-769AFEDBD00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67032F5-0CFA-36B6-63F1-3449B778D44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additional topics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CA77319-BFC8-C6FF-B306-19951532497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17D937BE-D1ED-FA1C-D718-5590B885C044}"/>
              </a:ext>
            </a:extLst>
          </p:cNvPr>
          <p:cNvSpPr txBox="1"/>
          <p:nvPr/>
        </p:nvSpPr>
        <p:spPr>
          <a:xfrm>
            <a:off x="1089736" y="838669"/>
            <a:ext cx="7485304" cy="3794855"/>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70C0"/>
                </a:solidFill>
                <a:latin typeface="Lato"/>
                <a:ea typeface="Lato"/>
                <a:cs typeface="Lato"/>
                <a:sym typeface="Lato"/>
              </a:rPr>
              <a:t>to be aware of-</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this is named OR "topped", but it applies to any OR inside a query at any level in the WHERE clause. all ORs cause this branching.</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   !=   and   &lt;&gt;   can, in given cases, be transformed to an   OR</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currently, if this doesn't fit in work_mem, this automatic query rewrite will fall back to sequential scan</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work_mem</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all databases have this; (working) memory or virtual memory (temporary tables, files)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default 4MB, one allocation per each of sort/hash/aggregate/node/query</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SET work_mem = '64MB';                                                                      -- session only, 'session level setting'</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SET LOCAL work_mem = '64MB';                                                     -- just this one transaction</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ALTER DATABASE my_db SET work_mem = '64MB';            -- per database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ALTER ROLE my_role SET work_mem = '64MB';                      -- per user</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ysql_pg_conf_csv, work_mem=64MB                                               -- yb-tserver</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p:txBody>
      </p:sp>
    </p:spTree>
    <p:extLst>
      <p:ext uri="{BB962C8B-B14F-4D97-AF65-F5344CB8AC3E}">
        <p14:creationId xmlns:p14="http://schemas.microsoft.com/office/powerpoint/2010/main" val="1571110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E2EF2CF-A521-5741-9173-77582C39D2F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9405BA5-03C6-64C8-193D-3C2CC77DFA7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02'ish: a different query, seeing work_mem and sorts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04F5CF4-AC71-C0C8-E0E2-0F5640AF2A8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28F5921-D66A-9249-8226-A8E425D87D6F}"/>
              </a:ext>
            </a:extLst>
          </p:cNvPr>
          <p:cNvSpPr txBox="1"/>
          <p:nvPr/>
        </p:nvSpPr>
        <p:spPr>
          <a:xfrm>
            <a:off x="315981" y="926081"/>
            <a:ext cx="8272606" cy="3511700"/>
          </a:xfrm>
          <a:prstGeom prst="rect">
            <a:avLst/>
          </a:prstGeom>
          <a:noFill/>
          <a:ln>
            <a:noFill/>
          </a:ln>
        </p:spPr>
        <p:txBody>
          <a:bodyPr spcFirstLastPara="1" wrap="square" lIns="91425" tIns="91425" rIns="91425" bIns="91425" anchor="t" anchorCtr="0">
            <a:spAutoFit/>
          </a:bodyPr>
          <a:lstStyle/>
          <a:p>
            <a:pPr lvl="0">
              <a:lnSpc>
                <a:spcPct val="115000"/>
              </a:lnSpc>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SET work_mem = '16MB';</a:t>
            </a:r>
            <a:r>
              <a:rPr lang="en-US" sz="1000" dirty="0">
                <a:solidFill>
                  <a:srgbClr val="00B0F0"/>
                </a:solidFill>
              </a:rPr>
              <a:t> </a:t>
            </a:r>
          </a:p>
          <a:p>
            <a:pPr lvl="0">
              <a:lnSpc>
                <a:spcPct val="115000"/>
              </a:lnSpc>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(cost=21562.22..21812.22 rows=100000 width=59) (actual time=267.715..279.740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Key: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Method: quicksort  Memory: 13229kB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Seq Scan on t1  (cost=21.09..13257.40 rows=100000 width=59) (actual time=2.579..241.263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10.982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293.255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19755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(7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968704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F00034A-ADED-6CFC-4932-94F66BFC3F5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ED06F39-22B9-9982-CFF9-01D01AAA693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02'ish: a different query, seeing work_mem and sorts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DC9BCD6-2601-14C6-D75D-105C1725FDB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26AAD22-143A-6C06-CCBC-A374F65B3D8A}"/>
              </a:ext>
            </a:extLst>
          </p:cNvPr>
          <p:cNvSpPr txBox="1"/>
          <p:nvPr/>
        </p:nvSpPr>
        <p:spPr>
          <a:xfrm>
            <a:off x="315981" y="926081"/>
            <a:ext cx="8272606" cy="3511700"/>
          </a:xfrm>
          <a:prstGeom prst="rect">
            <a:avLst/>
          </a:prstGeom>
          <a:noFill/>
          <a:ln>
            <a:noFill/>
          </a:ln>
        </p:spPr>
        <p:txBody>
          <a:bodyPr spcFirstLastPara="1" wrap="square" lIns="91425" tIns="91425" rIns="91425" bIns="91425" anchor="t" anchorCtr="0">
            <a:spAutoFit/>
          </a:bodyPr>
          <a:lstStyle/>
          <a:p>
            <a:pPr lvl="0">
              <a:lnSpc>
                <a:spcPct val="115000"/>
              </a:lnSpc>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SET work_mem = '4MB';</a:t>
            </a:r>
            <a:r>
              <a:rPr lang="en-US" sz="1000" dirty="0">
                <a:solidFill>
                  <a:srgbClr val="00B0F0"/>
                </a:solidFill>
              </a:rPr>
              <a:t> </a:t>
            </a:r>
          </a:p>
          <a:p>
            <a:pPr lvl="0">
              <a:lnSpc>
                <a:spcPct val="115000"/>
              </a:lnSpc>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(cost=25324.72..25574.72 rows=100000 width=59) (actual time=266.545..271.658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Key: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Method: external merge  Disk: 6768kB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Seq Scan on t1  (cost=21.09..13257.40 rows=100000 width=59) (actual time=2.290..234.344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10.003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285.005 ms                                    </a:t>
            </a:r>
            <a:r>
              <a:rPr kumimoji="0" lang="en-US" sz="1000" b="0" i="0" u="none" strike="noStrike" kern="0" cap="none" spc="0" normalizeH="0" baseline="0" noProof="0" dirty="0">
                <a:ln>
                  <a:noFill/>
                </a:ln>
                <a:solidFill>
                  <a:srgbClr val="FFC000"/>
                </a:solidFill>
                <a:effectLst/>
                <a:uLnTx/>
                <a:uFillTx/>
                <a:latin typeface="Courier New" panose="02070309020205020404" pitchFamily="49" charset="0"/>
                <a:ea typeface="Lato"/>
                <a:cs typeface="Courier New" panose="02070309020205020404" pitchFamily="49" charset="0"/>
                <a:sym typeface="Lato"/>
              </a:rPr>
              <a:t>// what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5238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(7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494913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EEDA0B6-E3D3-38C5-6686-6B04B93A20A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99B3F09-12B5-E243-1F1E-42E480076EB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02'ish: a different query, sort time jitter on small sized data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46F8030-F7AE-25B3-4FB6-94B83E71405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1D050908-A004-8232-0D66-932B2C9558A3}"/>
              </a:ext>
            </a:extLst>
          </p:cNvPr>
          <p:cNvSpPr txBox="1"/>
          <p:nvPr/>
        </p:nvSpPr>
        <p:spPr>
          <a:xfrm>
            <a:off x="315981" y="926081"/>
            <a:ext cx="8272606" cy="3193152"/>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The Sort node’s own actual time=X..Y numbers mix two different things: X (time to first row) already includes the child Seq Scan’s full time plus the sort itself, since Sort is a blocking operator.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So Execution Time differences between runs were mostly driven by the Seq Scan underneath — which is identical logic either way and, on this shared cluster, varied noisily between 237ms and 289ms across otherwise-identical runs, dwarfing whatever the sort itself costs.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Subtracting the scan’s own time from the sort’s start time isolates the actual sort cost: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run               in-memory quicksort           external merge (disk)</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                 29.7ms                        32.5ms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                 25.9ms                        34.0ms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3                 26.7ms                        36.4ms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avg                ~27.4ms                       ~34.3ms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Once the scan noise is stripped out, the disk-spilling sort is consistently slower, as expected — quicksort has no I/O to pay for.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The one-off result </a:t>
            </a:r>
            <a:r>
              <a:rPr lang="en-US" sz="1000" dirty="0">
                <a:latin typeface="Arial" panose="020B0604020202020204" pitchFamily="34" charset="0"/>
                <a:ea typeface="Lato"/>
                <a:cs typeface="Arial" panose="020B0604020202020204" pitchFamily="34" charset="0"/>
                <a:sym typeface="Lato"/>
              </a:rPr>
              <a:t>in the slides </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where the disk version looked faster was Execution Time being dominated by scan-time jitter on the shared cluster, not anything about the sort method itself.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Total Execution Time isn’t a reliable way to compare these two — the scan noise (tens of ms) is larger than the real sort-method difference (~7ms).</a:t>
            </a:r>
            <a:endParaRPr kumimoji="0"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1731713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A4E06C6-D389-FB70-BB08-53941628BBB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668A13B-3139-558F-6294-DD2833C3B8C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optional examination during exercise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3884A90-E70D-6BB3-E2B6-8D37C482B94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08EF4D89-B8B4-1A94-7716-2D3ECDBFB553}"/>
              </a:ext>
            </a:extLst>
          </p:cNvPr>
          <p:cNvSpPr txBox="1"/>
          <p:nvPr/>
        </p:nvSpPr>
        <p:spPr>
          <a:xfrm>
            <a:off x="315981" y="926081"/>
            <a:ext cx="8272606" cy="209592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as an optional exercise only</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Arial" panose="020B0604020202020204" pitchFamily="34" charset="0"/>
              <a:ea typeface="Lato"/>
              <a:cs typeface="Arial" panose="020B0604020202020204" pitchFamily="34" charset="0"/>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disable bitmap scans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SET enable_bitmapscan = off;                     -- or</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SET yb_enable_bitmapscan = off;</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Arial" panose="020B0604020202020204" pitchFamily="34" charset="0"/>
              <a:ea typeface="Lato"/>
              <a:cs typeface="Arial" panose="020B0604020202020204" pitchFamily="34" charset="0"/>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run the OR-topped query as is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do your own OR-union transfer</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34387244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41CD41BC-ACCA-E4E2-7F9E-362722DC3572}"/>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B4E8A183-C56C-D0A7-7A98-EF3B4176B129}"/>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DD97D9C2-D1F1-D266-C7FF-499766F5F0D3}"/>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887E1EA2-F766-2CDC-9942-385F79A8DEDF}"/>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B113A543-F0EF-4540-DEFE-7E47F9CB994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5F06315C-E3FE-456E-7FB6-2E4FA6D2B921}"/>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46A30340-7A23-5378-B48D-EB268D141F72}"/>
              </a:ext>
            </a:extLst>
          </p:cNvPr>
          <p:cNvSpPr txBox="1"/>
          <p:nvPr/>
        </p:nvSpPr>
        <p:spPr>
          <a:xfrm>
            <a:off x="2687303" y="157453"/>
            <a:ext cx="6271640" cy="4148798"/>
          </a:xfrm>
          <a:prstGeom prst="rect">
            <a:avLst/>
          </a:prstGeom>
          <a:noFill/>
          <a:ln>
            <a:noFill/>
          </a:ln>
        </p:spPr>
        <p:txBody>
          <a:bodyPr spcFirstLastPara="1" wrap="square" lIns="91425" tIns="91425" rIns="91425" bIns="91425" anchor="t" anchorCtr="0">
            <a:spAutoFit/>
          </a:bodyPr>
          <a:lstStyle/>
          <a:p>
            <a:pPr marL="227013" lvl="0" indent="-227013">
              <a:lnSpc>
                <a:spcPct val="115000"/>
              </a:lnSpc>
              <a:buFont typeface="Arial" panose="020B0604020202020204" pitchFamily="34" charset="0"/>
              <a:buChar char="•"/>
              <a:defRPr/>
            </a:pPr>
            <a:r>
              <a:rPr lang="en-US" dirty="0">
                <a:solidFill>
                  <a:schemeClr val="tx1"/>
                </a:solidFill>
              </a:rPr>
              <a:t>which index negation was introduced in this example</a:t>
            </a:r>
          </a:p>
          <a:p>
            <a:pPr marL="227013" lvl="0" indent="-227013">
              <a:lnSpc>
                <a:spcPct val="115000"/>
              </a:lnSpc>
              <a:buFont typeface="Arial" panose="020B0604020202020204" pitchFamily="34" charset="0"/>
              <a:buChar char="•"/>
              <a:defRPr/>
            </a:pPr>
            <a:r>
              <a:rPr kumimoji="0" lang="en-US" b="0" i="0" u="none" strike="noStrike" kern="0" cap="none" spc="0" normalizeH="0" baseline="0" noProof="0" dirty="0">
                <a:ln>
                  <a:noFill/>
                </a:ln>
                <a:solidFill>
                  <a:schemeClr val="tx1"/>
                </a:solidFill>
                <a:effectLst/>
                <a:uLnTx/>
                <a:uFillTx/>
                <a:latin typeface="Lato"/>
                <a:ea typeface="Lato"/>
                <a:cs typeface="Lato"/>
                <a:sym typeface="Lato"/>
              </a:rPr>
              <a:t>which query rewrite was introduced in this example</a:t>
            </a:r>
          </a:p>
          <a:p>
            <a:pPr marL="346075" lvl="0" indent="-230188">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what two conditions needs to be in place in order to use this rewrite</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lvl="0" indent="-227013">
              <a:lnSpc>
                <a:spcPct val="115000"/>
              </a:lnSpc>
              <a:buFont typeface="Arial" panose="020B0604020202020204" pitchFamily="34" charset="0"/>
              <a:buChar char="•"/>
              <a:defRPr/>
            </a:pPr>
            <a:endParaRPr lang="en-US" dirty="0">
              <a:solidFill>
                <a:schemeClr val="tx1"/>
              </a:solidFill>
              <a:latin typeface="Lato"/>
              <a:ea typeface="Lato"/>
              <a:cs typeface="Lato"/>
              <a:sym typeface="Lato"/>
            </a:endParaRPr>
          </a:p>
          <a:p>
            <a:pPr marL="227013" lvl="0" indent="-227013">
              <a:lnSpc>
                <a:spcPct val="115000"/>
              </a:lnSpc>
              <a:buFont typeface="Arial" panose="020B0604020202020204" pitchFamily="34" charset="0"/>
              <a:buChar char="•"/>
              <a:defRPr/>
            </a:pPr>
            <a:r>
              <a:rPr kumimoji="0" lang="en-US" b="0" i="0" u="none" strike="noStrike" kern="0" cap="none" spc="0" normalizeH="0" baseline="0" noProof="0" dirty="0">
                <a:ln>
                  <a:noFill/>
                </a:ln>
                <a:solidFill>
                  <a:schemeClr val="tx1"/>
                </a:solidFill>
                <a:effectLst/>
                <a:uLnTx/>
                <a:uFillTx/>
                <a:latin typeface="Lato"/>
                <a:ea typeface="Lato"/>
                <a:cs typeface="Lato"/>
                <a:sym typeface="Lato"/>
              </a:rPr>
              <a:t>what is the difference between UNION and UNION ALL</a:t>
            </a:r>
          </a:p>
          <a:p>
            <a:pPr marL="227013" lvl="0" indent="-227013">
              <a:lnSpc>
                <a:spcPct val="115000"/>
              </a:lnSpc>
              <a:buFont typeface="Arial" panose="020B0604020202020204" pitchFamily="34" charset="0"/>
              <a:buChar char="•"/>
              <a:defRPr/>
            </a:pPr>
            <a:endParaRPr lang="en-US" dirty="0">
              <a:solidFill>
                <a:schemeClr val="tx1"/>
              </a:solidFill>
              <a:latin typeface="Lato"/>
              <a:ea typeface="Lato"/>
              <a:cs typeface="Lato"/>
              <a:sym typeface="Lato"/>
            </a:endParaRPr>
          </a:p>
          <a:p>
            <a:pPr marL="227013" lvl="0" indent="-227013">
              <a:lnSpc>
                <a:spcPct val="115000"/>
              </a:lnSpc>
              <a:buFont typeface="Arial" panose="020B0604020202020204" pitchFamily="34" charset="0"/>
              <a:buChar char="•"/>
              <a:defRPr/>
            </a:pPr>
            <a:r>
              <a:rPr kumimoji="0" lang="en-US" b="0" i="0" u="none" strike="noStrike" kern="0" cap="none" spc="0" normalizeH="0" baseline="0" noProof="0" dirty="0">
                <a:ln>
                  <a:noFill/>
                </a:ln>
                <a:solidFill>
                  <a:schemeClr val="tx1"/>
                </a:solidFill>
                <a:effectLst/>
                <a:uLnTx/>
                <a:uFillTx/>
                <a:latin typeface="Lato"/>
                <a:ea typeface="Lato"/>
                <a:cs typeface="Lato"/>
                <a:sym typeface="Lato"/>
              </a:rPr>
              <a:t>where does work_mem go if it overflows</a:t>
            </a:r>
          </a:p>
          <a:p>
            <a:pPr marL="227013" lvl="0" indent="-227013">
              <a:lnSpc>
                <a:spcPct val="115000"/>
              </a:lnSpc>
              <a:buFont typeface="Arial" panose="020B0604020202020204" pitchFamily="34" charset="0"/>
              <a:buChar char="•"/>
              <a:defRPr/>
            </a:pPr>
            <a:endParaRPr lang="en-US" dirty="0">
              <a:solidFill>
                <a:schemeClr val="tx1"/>
              </a:solidFill>
              <a:latin typeface="Lato"/>
              <a:ea typeface="Lato"/>
              <a:cs typeface="Lato"/>
              <a:sym typeface="Lato"/>
            </a:endParaRPr>
          </a:p>
          <a:p>
            <a:pPr marL="227013" lvl="0" indent="-227013">
              <a:lnSpc>
                <a:spcPct val="115000"/>
              </a:lnSpc>
              <a:buFont typeface="Arial" panose="020B0604020202020204" pitchFamily="34" charset="0"/>
              <a:buChar char="•"/>
              <a:defRPr/>
            </a:pPr>
            <a:r>
              <a:rPr kumimoji="0" lang="en-US" b="0" i="0" u="none" strike="noStrike" kern="0" cap="none" spc="0" normalizeH="0" baseline="0" noProof="0" dirty="0">
                <a:ln>
                  <a:noFill/>
                </a:ln>
                <a:solidFill>
                  <a:schemeClr val="tx1"/>
                </a:solidFill>
                <a:effectLst/>
                <a:uLnTx/>
                <a:uFillTx/>
                <a:latin typeface="Lato"/>
                <a:ea typeface="Lato"/>
                <a:cs typeface="Lato"/>
                <a:sym typeface="Lato"/>
              </a:rPr>
              <a:t>the default work_mem is 4MB; on one node,  how much memory might you use for this query-</a:t>
            </a:r>
          </a:p>
          <a:p>
            <a:pPr marL="460375" lvl="0">
              <a:lnSpc>
                <a:spcPct val="115000"/>
              </a:lnSpc>
              <a:defRPr/>
            </a:pPr>
            <a:r>
              <a:rPr lang="en-US" dirty="0">
                <a:solidFill>
                  <a:schemeClr val="tx1"/>
                </a:solidFill>
                <a:latin typeface="Lato"/>
                <a:ea typeface="Lato"/>
                <a:cs typeface="Lato"/>
                <a:sym typeface="Lato"/>
              </a:rPr>
              <a:t>select</a:t>
            </a:r>
          </a:p>
          <a:p>
            <a:pPr marL="460375" lvl="0">
              <a:lnSpc>
                <a:spcPct val="115000"/>
              </a:lnSpc>
              <a:defRPr/>
            </a:pPr>
            <a:r>
              <a:rPr lang="en-US" dirty="0">
                <a:solidFill>
                  <a:schemeClr val="tx1"/>
                </a:solidFill>
                <a:latin typeface="Lato"/>
                <a:ea typeface="Lato"/>
                <a:cs typeface="Lato"/>
                <a:sym typeface="Lato"/>
              </a:rPr>
              <a:t>   col2,</a:t>
            </a:r>
          </a:p>
          <a:p>
            <a:pPr marL="460375" lvl="0">
              <a:lnSpc>
                <a:spcPct val="115000"/>
              </a:lnSpc>
              <a:defRPr/>
            </a:pPr>
            <a:r>
              <a:rPr lang="en-US" dirty="0">
                <a:solidFill>
                  <a:schemeClr val="tx1"/>
                </a:solidFill>
                <a:latin typeface="Lato"/>
                <a:ea typeface="Lato"/>
                <a:cs typeface="Lato"/>
                <a:sym typeface="Lato"/>
              </a:rPr>
              <a:t>   count(*) as row_count</a:t>
            </a:r>
          </a:p>
          <a:p>
            <a:pPr marL="460375" lvl="0">
              <a:lnSpc>
                <a:spcPct val="115000"/>
              </a:lnSpc>
              <a:defRPr/>
            </a:pPr>
            <a:r>
              <a:rPr lang="en-US" dirty="0">
                <a:solidFill>
                  <a:schemeClr val="tx1"/>
                </a:solidFill>
                <a:latin typeface="Lato"/>
                <a:ea typeface="Lato"/>
                <a:cs typeface="Lato"/>
                <a:sym typeface="Lato"/>
              </a:rPr>
              <a:t>from t1</a:t>
            </a:r>
          </a:p>
          <a:p>
            <a:pPr marL="460375" lvl="0">
              <a:lnSpc>
                <a:spcPct val="115000"/>
              </a:lnSpc>
              <a:defRPr/>
            </a:pPr>
            <a:r>
              <a:rPr lang="en-US" dirty="0">
                <a:solidFill>
                  <a:schemeClr val="tx1"/>
                </a:solidFill>
                <a:latin typeface="Lato"/>
                <a:ea typeface="Lato"/>
                <a:cs typeface="Lato"/>
                <a:sym typeface="Lato"/>
              </a:rPr>
              <a:t>group by col2</a:t>
            </a:r>
          </a:p>
          <a:p>
            <a:pPr marL="460375" lvl="0">
              <a:lnSpc>
                <a:spcPct val="115000"/>
              </a:lnSpc>
              <a:defRPr/>
            </a:pPr>
            <a:r>
              <a:rPr lang="en-US" dirty="0">
                <a:solidFill>
                  <a:schemeClr val="tx1"/>
                </a:solidFill>
                <a:latin typeface="Lato"/>
                <a:ea typeface="Lato"/>
                <a:cs typeface="Lato"/>
                <a:sym typeface="Lato"/>
              </a:rPr>
              <a:t>order by row_count desc</a:t>
            </a:r>
          </a:p>
        </p:txBody>
      </p:sp>
    </p:spTree>
    <p:extLst>
      <p:ext uri="{BB962C8B-B14F-4D97-AF65-F5344CB8AC3E}">
        <p14:creationId xmlns:p14="http://schemas.microsoft.com/office/powerpoint/2010/main" val="3250467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A8F7F20A-B4F2-ED25-6D97-67AABDF6824F}"/>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C2C8EC1B-79D6-E940-EDE3-94996D9A83CE}"/>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57F35FFD-FA00-C22E-4405-FE8DB2AE665C}"/>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02</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52E0D350-CC3C-98BB-3E55-9CEBAD745797}"/>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DC2D294F-2136-05FD-08E3-FD623900794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0D45CB67-99FD-AD95-D70A-F1FD27E51DF3}"/>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AABAF9FF-BCDF-B7B6-0F21-686C0D8F5A5B}"/>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F18F5BB0-A3B8-F563-547F-B8580E95AB07}"/>
              </a:ext>
            </a:extLst>
          </p:cNvPr>
          <p:cNvSpPr txBox="1"/>
          <p:nvPr/>
        </p:nvSpPr>
        <p:spPr>
          <a:xfrm>
            <a:off x="4898141" y="2744721"/>
            <a:ext cx="3466926" cy="1175676"/>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02</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exercise 02b  (work_mem)</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02c   (work_mem)</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exercise-                bitmap scan off, no code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140455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E195CAB-782C-FC70-DB38-76C151C5C356}"/>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42F28C0C-6054-7B4B-8CAC-AFC9F0708CF8}"/>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78E10B20-C449-B663-FC58-EB44ED06B6AE}"/>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discussion</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1A479D89-D266-CDD7-2F65-E9C76C4C5DBD}"/>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F450EB20-335C-469E-00F9-DF8BD49F97F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2BD2ACF1-D769-B3D9-6E15-ADE5152A4BA1}"/>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1EB70C3D-2021-8BD0-97BE-8BD41C9608D7}"/>
              </a:ext>
            </a:extLst>
          </p:cNvPr>
          <p:cNvSpPr txBox="1"/>
          <p:nvPr/>
        </p:nvSpPr>
        <p:spPr>
          <a:xfrm>
            <a:off x="3400213" y="2124961"/>
            <a:ext cx="4707467"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more detail on indexes, index types</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0867577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F9296D1-B2EA-2549-C381-EB1F30A3A269}"/>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CFADC63-D2EC-D2C7-637B-6DA16F3A169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779981" y="3002785"/>
            <a:ext cx="2287058" cy="494656"/>
          </a:xfrm>
          <a:prstGeom prst="rect">
            <a:avLst/>
          </a:prstGeom>
        </p:spPr>
      </p:pic>
      <p:sp>
        <p:nvSpPr>
          <p:cNvPr id="242" name="Google Shape;242;p56">
            <a:extLst>
              <a:ext uri="{FF2B5EF4-FFF2-40B4-BE49-F238E27FC236}">
                <a16:creationId xmlns:a16="http://schemas.microsoft.com/office/drawing/2014/main" id="{6D32D7EA-20D3-2FDF-93E5-1821431EF88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types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50ABF32-5FFE-5AE7-D023-30333AD13CE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BA0F60AB-5401-7074-FFD6-340AFDFD5F70}"/>
              </a:ext>
            </a:extLst>
          </p:cNvPr>
          <p:cNvSpPr txBox="1"/>
          <p:nvPr/>
        </p:nvSpPr>
        <p:spPr>
          <a:xfrm>
            <a:off x="315982" y="926081"/>
            <a:ext cx="4147646" cy="3794855"/>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all enterprise databases have different index types </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for permanent tables, possibly different index types for temporary tables/files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(implied) and possibly different index types used only in the execution of a query</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different index types support different </a:t>
            </a:r>
            <a:r>
              <a:rPr lang="en-US" sz="1200" u="sng" dirty="0">
                <a:latin typeface="Arial" panose="020B0604020202020204" pitchFamily="34" charset="0"/>
                <a:ea typeface="Lato"/>
                <a:cs typeface="Arial" panose="020B0604020202020204" pitchFamily="34" charset="0"/>
                <a:sym typeface="Lato"/>
              </a:rPr>
              <a:t>operators</a:t>
            </a:r>
            <a:r>
              <a:rPr lang="en-US" sz="1200" dirty="0">
                <a:latin typeface="Arial" panose="020B0604020202020204" pitchFamily="34" charset="0"/>
                <a:ea typeface="Lato"/>
                <a:cs typeface="Arial" panose="020B0604020202020204" pitchFamily="34" charset="0"/>
                <a:sym typeface="Lato"/>
              </a:rPr>
              <a:t> (equality, range, wildcard..), and different performance profiles (RAM, disk, volatile/non-volatile data, ..)  </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Arial" panose="020B0604020202020204" pitchFamily="34" charset="0"/>
              <a:ea typeface="Lato"/>
              <a:cs typeface="Arial" panose="020B0604020202020204" pitchFamily="34" charset="0"/>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yugabyteDB 2026.1   has 3 index types for permanent tables-</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LSM, HNSW, GIN</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B-tree+, hash,   syntax supported for compatibility</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for geospatial, we can use geohash and LSM</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p:txBody>
      </p:sp>
      <p:pic>
        <p:nvPicPr>
          <p:cNvPr id="10" name="Picture 9">
            <a:extLst>
              <a:ext uri="{FF2B5EF4-FFF2-40B4-BE49-F238E27FC236}">
                <a16:creationId xmlns:a16="http://schemas.microsoft.com/office/drawing/2014/main" id="{0CC8A1F1-02C0-CFA3-C61F-4AA97CDE4017}"/>
              </a:ext>
            </a:extLst>
          </p:cNvPr>
          <p:cNvPicPr>
            <a:picLocks noChangeAspect="1"/>
          </p:cNvPicPr>
          <p:nvPr/>
        </p:nvPicPr>
        <p:blipFill>
          <a:blip r:embed="rId4"/>
          <a:stretch>
            <a:fillRect/>
          </a:stretch>
        </p:blipFill>
        <p:spPr>
          <a:xfrm>
            <a:off x="7086690" y="985966"/>
            <a:ext cx="980349" cy="2112822"/>
          </a:xfrm>
          <a:prstGeom prst="rect">
            <a:avLst/>
          </a:prstGeom>
        </p:spPr>
      </p:pic>
      <p:pic>
        <p:nvPicPr>
          <p:cNvPr id="8" name="Picture 7">
            <a:extLst>
              <a:ext uri="{FF2B5EF4-FFF2-40B4-BE49-F238E27FC236}">
                <a16:creationId xmlns:a16="http://schemas.microsoft.com/office/drawing/2014/main" id="{EDE160A7-F397-B5F8-A414-138B776719B7}"/>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007945" y="1627483"/>
            <a:ext cx="1363225" cy="414894"/>
          </a:xfrm>
          <a:prstGeom prst="rect">
            <a:avLst/>
          </a:prstGeom>
        </p:spPr>
      </p:pic>
    </p:spTree>
    <p:extLst>
      <p:ext uri="{BB962C8B-B14F-4D97-AF65-F5344CB8AC3E}">
        <p14:creationId xmlns:p14="http://schemas.microsoft.com/office/powerpoint/2010/main" val="19834950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3772B08-23D1-1317-D253-89BE3832B1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FFE420-A1B2-9D0B-375C-5545971E2D22}"/>
              </a:ext>
            </a:extLst>
          </p:cNvPr>
          <p:cNvPicPr>
            <a:picLocks noChangeAspect="1"/>
          </p:cNvPicPr>
          <p:nvPr/>
        </p:nvPicPr>
        <p:blipFill>
          <a:blip r:embed="rId3"/>
          <a:stretch>
            <a:fillRect/>
          </a:stretch>
        </p:blipFill>
        <p:spPr>
          <a:xfrm>
            <a:off x="7063784" y="430375"/>
            <a:ext cx="1872227" cy="2496303"/>
          </a:xfrm>
          <a:prstGeom prst="rect">
            <a:avLst/>
          </a:prstGeom>
        </p:spPr>
      </p:pic>
      <p:sp>
        <p:nvSpPr>
          <p:cNvPr id="242" name="Google Shape;242;p56">
            <a:extLst>
              <a:ext uri="{FF2B5EF4-FFF2-40B4-BE49-F238E27FC236}">
                <a16:creationId xmlns:a16="http://schemas.microsoft.com/office/drawing/2014/main" id="{0717ECF8-8925-10B9-7C5D-87D25FD3542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PostgreSQL/other compatible; B-tree+, hash   create index (rewrites)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1C89E6B-C95E-F815-1657-1E894D79664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1BF63D45-896B-D6BC-9FCC-195CF4C25DC4}"/>
              </a:ext>
            </a:extLst>
          </p:cNvPr>
          <p:cNvSpPr txBox="1"/>
          <p:nvPr/>
        </p:nvSpPr>
        <p:spPr>
          <a:xfrm>
            <a:off x="139876" y="903775"/>
            <a:ext cx="7629138" cy="2803814"/>
          </a:xfrm>
          <a:prstGeom prst="rect">
            <a:avLst/>
          </a:prstGeom>
          <a:noFill/>
          <a:ln>
            <a:noFill/>
          </a:ln>
        </p:spPr>
        <p:txBody>
          <a:bodyPr spcFirstLastPara="1" wrap="square" lIns="91425" tIns="91425" rIns="91425" bIns="91425" anchor="t" anchorCtr="0">
            <a:spAutoFit/>
          </a:bodyPr>
          <a:lstStyle/>
          <a:p>
            <a:pPr marL="115888" lvl="0">
              <a:lnSpc>
                <a:spcPct val="115000"/>
              </a:lnSpc>
              <a:defRPr/>
            </a:pPr>
            <a:r>
              <a:rPr lang="en-US" sz="1200" dirty="0">
                <a:latin typeface="Courier New" panose="02070309020205020404" pitchFamily="49" charset="0"/>
                <a:cs typeface="Courier New" panose="02070309020205020404" pitchFamily="49" charset="0"/>
              </a:rPr>
              <a:t>CREATE TABLE am_demo (col1 int, col2 int);</a:t>
            </a:r>
          </a:p>
          <a:p>
            <a:pPr marL="115888" lvl="0">
              <a:lnSpc>
                <a:spcPct val="115000"/>
              </a:lnSpc>
              <a:defRPr/>
            </a:pPr>
            <a:endParaRPr lang="en-US" sz="1200" dirty="0">
              <a:latin typeface="Courier New" panose="02070309020205020404" pitchFamily="49" charset="0"/>
              <a:cs typeface="Courier New" panose="02070309020205020404" pitchFamily="49" charset="0"/>
            </a:endParaRPr>
          </a:p>
          <a:p>
            <a:pPr marL="115888" lvl="0">
              <a:lnSpc>
                <a:spcPct val="115000"/>
              </a:lnSpc>
              <a:defRPr/>
            </a:pPr>
            <a:r>
              <a:rPr lang="en-US" sz="1200" dirty="0">
                <a:latin typeface="Courier New" panose="02070309020205020404" pitchFamily="49" charset="0"/>
                <a:cs typeface="Courier New" panose="02070309020205020404" pitchFamily="49" charset="0"/>
              </a:rPr>
              <a:t>CREATE INDEX am_demo_btree_idx ON am_demo </a:t>
            </a:r>
            <a:r>
              <a:rPr lang="en-US" sz="1200" dirty="0">
                <a:solidFill>
                  <a:srgbClr val="00B0F0"/>
                </a:solidFill>
                <a:latin typeface="Courier New" panose="02070309020205020404" pitchFamily="49" charset="0"/>
                <a:cs typeface="Courier New" panose="02070309020205020404" pitchFamily="49" charset="0"/>
              </a:rPr>
              <a:t>USING btree </a:t>
            </a:r>
            <a:r>
              <a:rPr lang="en-US" sz="1200" dirty="0">
                <a:latin typeface="Courier New" panose="02070309020205020404" pitchFamily="49" charset="0"/>
                <a:cs typeface="Courier New" panose="02070309020205020404" pitchFamily="49" charset="0"/>
              </a:rPr>
              <a:t>(col1);</a:t>
            </a:r>
          </a:p>
          <a:p>
            <a:pPr marL="115888" lvl="0">
              <a:lnSpc>
                <a:spcPct val="115000"/>
              </a:lnSpc>
              <a:defRPr/>
            </a:pPr>
            <a:r>
              <a:rPr lang="en-US" sz="1200" dirty="0">
                <a:solidFill>
                  <a:srgbClr val="00B0F0"/>
                </a:solidFill>
                <a:latin typeface="Courier New" panose="02070309020205020404" pitchFamily="49" charset="0"/>
                <a:cs typeface="Courier New" panose="02070309020205020404" pitchFamily="49" charset="0"/>
              </a:rPr>
              <a:t>-- NOTICE:  substituting access method "lsm" for "btree" in YugabyteDB</a:t>
            </a:r>
          </a:p>
          <a:p>
            <a:pPr marL="287338" lvl="0" indent="-171450">
              <a:lnSpc>
                <a:spcPct val="115000"/>
              </a:lnSpc>
              <a:buFont typeface="Wingdings" panose="05000000000000000000" pitchFamily="2" charset="2"/>
              <a:buChar char="n"/>
              <a:defRPr/>
            </a:pPr>
            <a:endParaRPr lang="en-US" sz="1200" dirty="0">
              <a:latin typeface="Courier New" panose="02070309020205020404" pitchFamily="49" charset="0"/>
              <a:cs typeface="Courier New" panose="02070309020205020404" pitchFamily="49" charset="0"/>
            </a:endParaRPr>
          </a:p>
          <a:p>
            <a:pPr marL="115888" lvl="0">
              <a:lnSpc>
                <a:spcPct val="115000"/>
              </a:lnSpc>
              <a:defRPr/>
            </a:pPr>
            <a:r>
              <a:rPr lang="en-US" sz="1200" dirty="0">
                <a:latin typeface="Courier New" panose="02070309020205020404" pitchFamily="49" charset="0"/>
                <a:cs typeface="Courier New" panose="02070309020205020404" pitchFamily="49" charset="0"/>
              </a:rPr>
              <a:t>CREATE INDEX am_demo_hash_idx ON am_demo </a:t>
            </a:r>
            <a:r>
              <a:rPr lang="en-US" sz="1200" dirty="0">
                <a:solidFill>
                  <a:srgbClr val="00B0F0"/>
                </a:solidFill>
                <a:latin typeface="Courier New" panose="02070309020205020404" pitchFamily="49" charset="0"/>
                <a:cs typeface="Courier New" panose="02070309020205020404" pitchFamily="49" charset="0"/>
              </a:rPr>
              <a:t>USING hash </a:t>
            </a:r>
            <a:r>
              <a:rPr lang="en-US" sz="1200" dirty="0">
                <a:latin typeface="Courier New" panose="02070309020205020404" pitchFamily="49" charset="0"/>
                <a:cs typeface="Courier New" panose="02070309020205020404" pitchFamily="49" charset="0"/>
              </a:rPr>
              <a:t>(col2);</a:t>
            </a:r>
          </a:p>
          <a:p>
            <a:pPr marL="115888" lvl="0">
              <a:lnSpc>
                <a:spcPct val="115000"/>
              </a:lnSpc>
              <a:defRPr/>
            </a:pPr>
            <a:r>
              <a:rPr lang="en-US" sz="1200" dirty="0">
                <a:solidFill>
                  <a:srgbClr val="00B0F0"/>
                </a:solidFill>
                <a:latin typeface="Courier New" panose="02070309020205020404" pitchFamily="49" charset="0"/>
                <a:cs typeface="Courier New" panose="02070309020205020404" pitchFamily="49" charset="0"/>
              </a:rPr>
              <a:t>-- NOTICE:  substituting access method "lsm" for "hash" in YugabyteDB</a:t>
            </a:r>
          </a:p>
          <a:p>
            <a:pPr marL="115888" lvl="0">
              <a:lnSpc>
                <a:spcPct val="115000"/>
              </a:lnSpc>
              <a:defRPr/>
            </a:pPr>
            <a:endParaRPr lang="en-US" sz="1200" dirty="0">
              <a:latin typeface="Courier New" panose="02070309020205020404" pitchFamily="49" charset="0"/>
              <a:cs typeface="Courier New" panose="02070309020205020404" pitchFamily="49" charset="0"/>
            </a:endParaRPr>
          </a:p>
          <a:p>
            <a:pPr marL="115888" lvl="0">
              <a:lnSpc>
                <a:spcPct val="115000"/>
              </a:lnSpc>
              <a:defRPr/>
            </a:pPr>
            <a:r>
              <a:rPr lang="en-US" sz="1200" dirty="0">
                <a:latin typeface="Courier New" panose="02070309020205020404" pitchFamily="49" charset="0"/>
                <a:cs typeface="Courier New" panose="02070309020205020404" pitchFamily="49" charset="0"/>
              </a:rPr>
              <a:t>SELECT indexname, indexdef FROM pg_indexes WHERE tablename = 'am_demo';</a:t>
            </a:r>
          </a:p>
          <a:p>
            <a:pPr marL="115888" lvl="0">
              <a:lnSpc>
                <a:spcPct val="115000"/>
              </a:lnSpc>
              <a:defRPr/>
            </a:pPr>
            <a:r>
              <a:rPr lang="en-US" sz="1000" dirty="0">
                <a:latin typeface="Courier New" panose="02070309020205020404" pitchFamily="49" charset="0"/>
                <a:cs typeface="Courier New" panose="02070309020205020404" pitchFamily="49" charset="0"/>
              </a:rPr>
              <a:t>-- indexname         |           indexdef</a:t>
            </a:r>
          </a:p>
          <a:p>
            <a:pPr marL="115888" lvl="0">
              <a:lnSpc>
                <a:spcPct val="115000"/>
              </a:lnSpc>
              <a:defRPr/>
            </a:pPr>
            <a:r>
              <a:rPr lang="en-US" sz="1000" dirty="0">
                <a:latin typeface="Courier New" panose="02070309020205020404" pitchFamily="49" charset="0"/>
                <a:cs typeface="Courier New" panose="02070309020205020404" pitchFamily="49" charset="0"/>
              </a:rPr>
              <a:t>-- ------------------+-------------------------------------------------------------------------   </a:t>
            </a:r>
          </a:p>
          <a:p>
            <a:pPr marL="115888" lvl="0">
              <a:lnSpc>
                <a:spcPct val="115000"/>
              </a:lnSpc>
              <a:defRPr/>
            </a:pPr>
            <a:r>
              <a:rPr lang="en-US" sz="1000" dirty="0">
                <a:latin typeface="Courier New" panose="02070309020205020404" pitchFamily="49" charset="0"/>
                <a:cs typeface="Courier New" panose="02070309020205020404" pitchFamily="49" charset="0"/>
              </a:rPr>
              <a:t>-- am_demo_btree_idx | CREATE INDEX am_demo_btree_idx ON public.am_demo USING lsm (col1 ASC)</a:t>
            </a:r>
          </a:p>
          <a:p>
            <a:pPr marL="115888" lvl="0">
              <a:lnSpc>
                <a:spcPct val="115000"/>
              </a:lnSpc>
              <a:defRPr/>
            </a:pPr>
            <a:r>
              <a:rPr lang="en-US" sz="1000" dirty="0">
                <a:latin typeface="Courier New" panose="02070309020205020404" pitchFamily="49" charset="0"/>
                <a:cs typeface="Courier New" panose="02070309020205020404" pitchFamily="49" charset="0"/>
              </a:rPr>
              <a:t>-- am_demo_hash_idx  | CREATE INDEX am_demo_hash_idx  ON public.am_demo USING lsm (col2 ASC)</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6" name="Google Shape;248;p56">
            <a:extLst>
              <a:ext uri="{FF2B5EF4-FFF2-40B4-BE49-F238E27FC236}">
                <a16:creationId xmlns:a16="http://schemas.microsoft.com/office/drawing/2014/main" id="{562E47D0-76E3-39A9-C601-28FAE9125CDA}"/>
              </a:ext>
            </a:extLst>
          </p:cNvPr>
          <p:cNvSpPr txBox="1"/>
          <p:nvPr/>
        </p:nvSpPr>
        <p:spPr>
          <a:xfrm rot="472635">
            <a:off x="7282109" y="1201092"/>
            <a:ext cx="1251175" cy="117567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b="1" dirty="0">
                <a:solidFill>
                  <a:srgbClr val="FFC000"/>
                </a:solidFill>
                <a:latin typeface="Lato"/>
                <a:ea typeface="Lato"/>
                <a:cs typeface="Lato"/>
                <a:sym typeface="Lato"/>
              </a:rPr>
              <a:t>"USING" always creates an ASC</a:t>
            </a:r>
            <a:endParaRPr kumimoji="0" b="1" i="0" u="sng" strike="noStrike" kern="0" cap="none" spc="0" normalizeH="0" baseline="0" noProof="0" dirty="0">
              <a:ln>
                <a:noFill/>
              </a:ln>
              <a:solidFill>
                <a:srgbClr val="FFC000"/>
              </a:solidFill>
              <a:effectLst/>
              <a:uLnTx/>
              <a:uFillTx/>
              <a:latin typeface="Lato"/>
              <a:ea typeface="Lato"/>
              <a:cs typeface="Lato"/>
              <a:sym typeface="Lato"/>
            </a:endParaRPr>
          </a:p>
        </p:txBody>
      </p:sp>
    </p:spTree>
    <p:extLst>
      <p:ext uri="{BB962C8B-B14F-4D97-AF65-F5344CB8AC3E}">
        <p14:creationId xmlns:p14="http://schemas.microsoft.com/office/powerpoint/2010/main" val="3217825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A987338-F3C8-5FB4-27FB-F9996AD7676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78AD7DF-BF05-FCC2-0215-A44582112D5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types, focus on LSM</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5E1BEC7-1DBA-48F0-F545-B2A878F7CD3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858746C5-7448-14E2-9AC4-E48403F3E175}"/>
              </a:ext>
            </a:extLst>
          </p:cNvPr>
          <p:cNvSpPr txBox="1"/>
          <p:nvPr/>
        </p:nvSpPr>
        <p:spPr>
          <a:xfrm>
            <a:off x="315981" y="926081"/>
            <a:ext cx="5664871" cy="3405517"/>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lsm, log structured merge-tree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append-only </a:t>
            </a:r>
            <a:r>
              <a:rPr lang="en-US" i="1" dirty="0">
                <a:latin typeface="Arial" panose="020B0604020202020204" pitchFamily="34" charset="0"/>
                <a:ea typeface="Lato"/>
                <a:cs typeface="Arial" panose="020B0604020202020204" pitchFamily="34" charset="0"/>
                <a:sym typeface="Lato"/>
              </a:rPr>
              <a:t>write</a:t>
            </a:r>
            <a:r>
              <a:rPr lang="en-US" sz="1200" dirty="0">
                <a:latin typeface="Arial" panose="020B0604020202020204" pitchFamily="34" charset="0"/>
                <a:ea typeface="Lato"/>
                <a:cs typeface="Arial" panose="020B0604020202020204" pitchFamily="34" charset="0"/>
                <a:sym typeface="Lato"/>
              </a:rPr>
              <a:t> path, sorted batches, tidies up later, optimized for write</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column by column in create index; </a:t>
            </a:r>
            <a:r>
              <a:rPr lang="en-US" sz="1200" u="sng" dirty="0">
                <a:latin typeface="Arial" panose="020B0604020202020204" pitchFamily="34" charset="0"/>
                <a:ea typeface="Lato"/>
                <a:cs typeface="Arial" panose="020B0604020202020204" pitchFamily="34" charset="0"/>
                <a:sym typeface="Lato"/>
              </a:rPr>
              <a:t>hash</a:t>
            </a:r>
            <a:r>
              <a:rPr lang="en-US" sz="1200" dirty="0">
                <a:latin typeface="Arial" panose="020B0604020202020204" pitchFamily="34" charset="0"/>
                <a:ea typeface="Lato"/>
                <a:cs typeface="Arial" panose="020B0604020202020204" pitchFamily="34" charset="0"/>
                <a:sym typeface="Lato"/>
              </a:rPr>
              <a:t> or </a:t>
            </a:r>
            <a:r>
              <a:rPr lang="en-US" sz="1200" u="sng" dirty="0">
                <a:latin typeface="Arial" panose="020B0604020202020204" pitchFamily="34" charset="0"/>
                <a:ea typeface="Lato"/>
                <a:cs typeface="Arial" panose="020B0604020202020204" pitchFamily="34" charset="0"/>
                <a:sym typeface="Lato"/>
              </a:rPr>
              <a:t>asc/desc</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hash spreads data evenly across nodes, supports equality, table is partitioned/sharded into "tablets"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asc/desc does not "spread" data, can allow node hot spots, but does support equality and range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real world pattern ?</a:t>
            </a:r>
          </a:p>
          <a:p>
            <a:pPr marL="568325" marR="0" lvl="0" indent="-10795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lead index with hash, trail with asc/desc</a:t>
            </a:r>
          </a:p>
          <a:p>
            <a:pPr marL="568325" marR="0" lvl="0" indent="-10795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Arial" panose="020B0604020202020204" pitchFamily="34" charset="0"/>
              <a:ea typeface="Lato"/>
              <a:cs typeface="Arial" panose="020B0604020202020204" pitchFamily="34" charset="0"/>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there are other partition/sharding techniques, not discussed here-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geo-partitioning</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times series data</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Arial" panose="020B0604020202020204" pitchFamily="34" charset="0"/>
              <a:ea typeface="Lato"/>
              <a:cs typeface="Arial" panose="020B0604020202020204" pitchFamily="34" charset="0"/>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720569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D5B3597-F62B-C214-DCA6-08D74AA6457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EE8F832-654B-5DEC-AA6E-A403B986AD5D}"/>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examples used previously-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A5252E1-6E4B-0604-B071-88BAC5EBFE1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2B030FA7-700C-F1DC-8F21-F79C4B09EC78}"/>
              </a:ext>
            </a:extLst>
          </p:cNvPr>
          <p:cNvSpPr txBox="1"/>
          <p:nvPr/>
        </p:nvSpPr>
        <p:spPr>
          <a:xfrm>
            <a:off x="315982" y="831254"/>
            <a:ext cx="4147646" cy="4007221"/>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example 01</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t1's primary key</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CREATE TABLE t1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col1  INT,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col2  INT,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col3  TEXT,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PRIMARY KEY (col1 HASH)</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t2's primary key (composite)</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CREATE TABLE t2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col1  INT,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col2  INT,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col3  TEXT,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PRIMARY KEY (col1 HASH, col2 ASC)</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a:t>
            </a:r>
          </a:p>
          <a:p>
            <a:pPr marL="115888" marR="0" lvl="0" defTabSz="914400" rtl="0" eaLnBrk="1" fontAlgn="auto" latinLnBrk="0" hangingPunct="1">
              <a:lnSpc>
                <a:spcPct val="115000"/>
              </a:lnSpc>
              <a:spcBef>
                <a:spcPts val="0"/>
              </a:spcBef>
              <a:spcAft>
                <a:spcPts val="0"/>
              </a:spcAft>
              <a:buClr>
                <a:srgbClr val="000000"/>
              </a:buClr>
              <a:buSzTx/>
              <a:tabLst/>
              <a:defRPr/>
            </a:pP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3" name="Google Shape;248;p56">
            <a:extLst>
              <a:ext uri="{FF2B5EF4-FFF2-40B4-BE49-F238E27FC236}">
                <a16:creationId xmlns:a16="http://schemas.microsoft.com/office/drawing/2014/main" id="{54EC370A-E5DE-7DC8-1B81-009041051393}"/>
              </a:ext>
            </a:extLst>
          </p:cNvPr>
          <p:cNvSpPr txBox="1"/>
          <p:nvPr/>
        </p:nvSpPr>
        <p:spPr>
          <a:xfrm>
            <a:off x="4599154" y="831254"/>
            <a:ext cx="4147646" cy="2095928"/>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example 02</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latin typeface="Courier New" panose="02070309020205020404" pitchFamily="49" charset="0"/>
              <a:ea typeface="Lato"/>
              <a:cs typeface="Courier New" panose="02070309020205020404" pitchFamily="49" charset="0"/>
              <a:sym typeface="Lato"/>
            </a:endParaRP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t1's primary key</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TEXT,</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(col1 HASH)</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932817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998969A-447E-D34A-276E-0A3B4D9BA25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3FC3837-ACFE-52B3-E8E0-A923ADC8E6B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what about datetime/timestamp data, the core tension-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5079334-C8E2-EC73-9624-2BF6D28D07C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Rectangle 1">
            <a:extLst>
              <a:ext uri="{FF2B5EF4-FFF2-40B4-BE49-F238E27FC236}">
                <a16:creationId xmlns:a16="http://schemas.microsoft.com/office/drawing/2014/main" id="{8B706460-3E22-54A2-42B6-81C085A33C20}"/>
              </a:ext>
            </a:extLst>
          </p:cNvPr>
          <p:cNvSpPr/>
          <p:nvPr/>
        </p:nvSpPr>
        <p:spPr>
          <a:xfrm>
            <a:off x="475999" y="1063991"/>
            <a:ext cx="5646674" cy="49300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19B6CF6-7478-9FB5-2421-B3EB153DC682}"/>
              </a:ext>
            </a:extLst>
          </p:cNvPr>
          <p:cNvSpPr txBox="1"/>
          <p:nvPr/>
        </p:nvSpPr>
        <p:spPr>
          <a:xfrm>
            <a:off x="516952" y="1104920"/>
            <a:ext cx="1481177" cy="276999"/>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sharding</a:t>
            </a:r>
          </a:p>
        </p:txBody>
      </p:sp>
      <p:cxnSp>
        <p:nvCxnSpPr>
          <p:cNvPr id="6" name="Straight Connector 5">
            <a:extLst>
              <a:ext uri="{FF2B5EF4-FFF2-40B4-BE49-F238E27FC236}">
                <a16:creationId xmlns:a16="http://schemas.microsoft.com/office/drawing/2014/main" id="{1434D568-DD60-627C-EA03-8EAFC67599AD}"/>
              </a:ext>
            </a:extLst>
          </p:cNvPr>
          <p:cNvCxnSpPr>
            <a:cxnSpLocks/>
          </p:cNvCxnSpPr>
          <p:nvPr/>
        </p:nvCxnSpPr>
        <p:spPr>
          <a:xfrm>
            <a:off x="483086"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7329064-76FB-99E7-0284-58AA42374519}"/>
              </a:ext>
            </a:extLst>
          </p:cNvPr>
          <p:cNvCxnSpPr>
            <a:cxnSpLocks/>
          </p:cNvCxnSpPr>
          <p:nvPr/>
        </p:nvCxnSpPr>
        <p:spPr>
          <a:xfrm>
            <a:off x="475998" y="1053828"/>
            <a:ext cx="5646675"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8E1E0D-B52C-CBED-032A-9DBF0FF2073A}"/>
              </a:ext>
            </a:extLst>
          </p:cNvPr>
          <p:cNvCxnSpPr>
            <a:cxnSpLocks/>
          </p:cNvCxnSpPr>
          <p:nvPr/>
        </p:nvCxnSpPr>
        <p:spPr>
          <a:xfrm>
            <a:off x="1755980"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89BCB16-6106-5EB6-3846-46AAA17722A5}"/>
              </a:ext>
            </a:extLst>
          </p:cNvPr>
          <p:cNvSpPr txBox="1"/>
          <p:nvPr/>
        </p:nvSpPr>
        <p:spPr>
          <a:xfrm>
            <a:off x="1780231" y="1060602"/>
            <a:ext cx="1681035"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range query on timestamp</a:t>
            </a:r>
          </a:p>
        </p:txBody>
      </p:sp>
      <p:sp>
        <p:nvSpPr>
          <p:cNvPr id="14" name="TextBox 13">
            <a:extLst>
              <a:ext uri="{FF2B5EF4-FFF2-40B4-BE49-F238E27FC236}">
                <a16:creationId xmlns:a16="http://schemas.microsoft.com/office/drawing/2014/main" id="{30E382BB-095D-C26D-F35B-9E5FF3BAC965}"/>
              </a:ext>
            </a:extLst>
          </p:cNvPr>
          <p:cNvSpPr txBox="1"/>
          <p:nvPr/>
        </p:nvSpPr>
        <p:spPr>
          <a:xfrm>
            <a:off x="3516938" y="1104920"/>
            <a:ext cx="2668245" cy="276999"/>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write hotspot risk</a:t>
            </a:r>
          </a:p>
        </p:txBody>
      </p:sp>
      <p:cxnSp>
        <p:nvCxnSpPr>
          <p:cNvPr id="15" name="Straight Connector 14">
            <a:extLst>
              <a:ext uri="{FF2B5EF4-FFF2-40B4-BE49-F238E27FC236}">
                <a16:creationId xmlns:a16="http://schemas.microsoft.com/office/drawing/2014/main" id="{7990319B-3364-1DF8-6C51-18BB9F96C005}"/>
              </a:ext>
            </a:extLst>
          </p:cNvPr>
          <p:cNvCxnSpPr>
            <a:cxnSpLocks/>
          </p:cNvCxnSpPr>
          <p:nvPr/>
        </p:nvCxnSpPr>
        <p:spPr>
          <a:xfrm>
            <a:off x="6122674" y="1053828"/>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AB92858-28D7-1741-3534-D82D1BB26B58}"/>
              </a:ext>
            </a:extLst>
          </p:cNvPr>
          <p:cNvCxnSpPr>
            <a:cxnSpLocks/>
          </p:cNvCxnSpPr>
          <p:nvPr/>
        </p:nvCxnSpPr>
        <p:spPr>
          <a:xfrm>
            <a:off x="3496247"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5CD86F-862D-EE7E-FCF3-DF23BACFF1BB}"/>
              </a:ext>
            </a:extLst>
          </p:cNvPr>
          <p:cNvCxnSpPr>
            <a:cxnSpLocks/>
          </p:cNvCxnSpPr>
          <p:nvPr/>
        </p:nvCxnSpPr>
        <p:spPr>
          <a:xfrm>
            <a:off x="475998" y="1566585"/>
            <a:ext cx="5646675"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104A17-A42F-5165-24E9-00729E7A80BF}"/>
              </a:ext>
            </a:extLst>
          </p:cNvPr>
          <p:cNvCxnSpPr>
            <a:cxnSpLocks/>
          </p:cNvCxnSpPr>
          <p:nvPr/>
        </p:nvCxnSpPr>
        <p:spPr>
          <a:xfrm>
            <a:off x="475998" y="2807374"/>
            <a:ext cx="5646675"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F6E019E-480A-2BA4-AEE0-4067A8873B63}"/>
              </a:ext>
            </a:extLst>
          </p:cNvPr>
          <p:cNvCxnSpPr>
            <a:cxnSpLocks/>
          </p:cNvCxnSpPr>
          <p:nvPr/>
        </p:nvCxnSpPr>
        <p:spPr>
          <a:xfrm>
            <a:off x="475998" y="4291486"/>
            <a:ext cx="5646675"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57C327E-1C73-A3D0-3190-BE5B7B7A76C7}"/>
              </a:ext>
            </a:extLst>
          </p:cNvPr>
          <p:cNvSpPr txBox="1"/>
          <p:nvPr/>
        </p:nvSpPr>
        <p:spPr>
          <a:xfrm>
            <a:off x="498842" y="1632945"/>
            <a:ext cx="1665281" cy="276999"/>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hash (default)</a:t>
            </a:r>
          </a:p>
        </p:txBody>
      </p:sp>
      <p:sp>
        <p:nvSpPr>
          <p:cNvPr id="55" name="TextBox 54">
            <a:extLst>
              <a:ext uri="{FF2B5EF4-FFF2-40B4-BE49-F238E27FC236}">
                <a16:creationId xmlns:a16="http://schemas.microsoft.com/office/drawing/2014/main" id="{D775A17D-AD2F-40ED-1C15-29ED0262BC64}"/>
              </a:ext>
            </a:extLst>
          </p:cNvPr>
          <p:cNvSpPr txBox="1"/>
          <p:nvPr/>
        </p:nvSpPr>
        <p:spPr>
          <a:xfrm>
            <a:off x="3531228" y="2839941"/>
            <a:ext cx="2653950" cy="1015663"/>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bad – monotonically increasing timestamps always land on the last tablet , so all new writes pile onto one node no matter how much tablet splitting happens</a:t>
            </a:r>
          </a:p>
        </p:txBody>
      </p:sp>
      <p:sp>
        <p:nvSpPr>
          <p:cNvPr id="57" name="TextBox 56">
            <a:extLst>
              <a:ext uri="{FF2B5EF4-FFF2-40B4-BE49-F238E27FC236}">
                <a16:creationId xmlns:a16="http://schemas.microsoft.com/office/drawing/2014/main" id="{5F11AEAA-234F-DE1E-A8F0-EB28BAABC772}"/>
              </a:ext>
            </a:extLst>
          </p:cNvPr>
          <p:cNvSpPr txBox="1"/>
          <p:nvPr/>
        </p:nvSpPr>
        <p:spPr>
          <a:xfrm>
            <a:off x="1830966" y="2839941"/>
            <a:ext cx="1665281" cy="646331"/>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great – only tablets covering the range are touched</a:t>
            </a:r>
          </a:p>
        </p:txBody>
      </p:sp>
      <p:sp>
        <p:nvSpPr>
          <p:cNvPr id="59" name="TextBox 58">
            <a:extLst>
              <a:ext uri="{FF2B5EF4-FFF2-40B4-BE49-F238E27FC236}">
                <a16:creationId xmlns:a16="http://schemas.microsoft.com/office/drawing/2014/main" id="{4FB8BC03-E8DF-A626-02B6-AFE978EA7888}"/>
              </a:ext>
            </a:extLst>
          </p:cNvPr>
          <p:cNvSpPr txBox="1"/>
          <p:nvPr/>
        </p:nvSpPr>
        <p:spPr>
          <a:xfrm>
            <a:off x="3516938" y="1625593"/>
            <a:ext cx="2668243" cy="276999"/>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low – hash spreads rows evenly</a:t>
            </a:r>
          </a:p>
        </p:txBody>
      </p:sp>
      <p:sp>
        <p:nvSpPr>
          <p:cNvPr id="61" name="TextBox 60">
            <a:extLst>
              <a:ext uri="{FF2B5EF4-FFF2-40B4-BE49-F238E27FC236}">
                <a16:creationId xmlns:a16="http://schemas.microsoft.com/office/drawing/2014/main" id="{7BF9E44A-6CEA-A88D-6268-6DDE4AC4A221}"/>
              </a:ext>
            </a:extLst>
          </p:cNvPr>
          <p:cNvSpPr txBox="1"/>
          <p:nvPr/>
        </p:nvSpPr>
        <p:spPr>
          <a:xfrm>
            <a:off x="1830966" y="1612643"/>
            <a:ext cx="1665281" cy="646331"/>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bad – scatter-gather across all tablets since order is not preserved</a:t>
            </a:r>
          </a:p>
        </p:txBody>
      </p:sp>
      <p:sp>
        <p:nvSpPr>
          <p:cNvPr id="63" name="TextBox 62">
            <a:extLst>
              <a:ext uri="{FF2B5EF4-FFF2-40B4-BE49-F238E27FC236}">
                <a16:creationId xmlns:a16="http://schemas.microsoft.com/office/drawing/2014/main" id="{AD75C3ED-13D3-4B6F-9337-2E83C158482D}"/>
              </a:ext>
            </a:extLst>
          </p:cNvPr>
          <p:cNvSpPr txBox="1"/>
          <p:nvPr/>
        </p:nvSpPr>
        <p:spPr>
          <a:xfrm>
            <a:off x="498843" y="2839941"/>
            <a:ext cx="1182152" cy="646331"/>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range (pure ASC/DESC on times stamp)</a:t>
            </a:r>
          </a:p>
        </p:txBody>
      </p:sp>
      <p:sp>
        <p:nvSpPr>
          <p:cNvPr id="200" name="TextBox 199">
            <a:extLst>
              <a:ext uri="{FF2B5EF4-FFF2-40B4-BE49-F238E27FC236}">
                <a16:creationId xmlns:a16="http://schemas.microsoft.com/office/drawing/2014/main" id="{19A070F7-DCC8-E439-10D8-B389963868D3}"/>
              </a:ext>
            </a:extLst>
          </p:cNvPr>
          <p:cNvSpPr txBox="1"/>
          <p:nvPr/>
        </p:nvSpPr>
        <p:spPr>
          <a:xfrm>
            <a:off x="6303594" y="2101277"/>
            <a:ext cx="2668243" cy="1384995"/>
          </a:xfrm>
          <a:prstGeom prst="rect">
            <a:avLst/>
          </a:prstGeom>
          <a:noFill/>
        </p:spPr>
        <p:txBody>
          <a:bodyPr wrap="square" rtlCol="0">
            <a:spAutoFit/>
          </a:bodyPr>
          <a:lstStyle/>
          <a:p>
            <a:r>
              <a:rPr lang="en-US" sz="1200" dirty="0">
                <a:solidFill>
                  <a:srgbClr val="B088FF"/>
                </a:solidFill>
                <a:latin typeface="Lato" panose="020B0604020202020204" charset="0"/>
                <a:cs typeface="Lato" panose="020B0604020202020204" charset="0"/>
              </a:rPr>
              <a:t>a pure range index/PK on (event time) is the number one cause of hot tablets in time-series schemas</a:t>
            </a:r>
          </a:p>
          <a:p>
            <a:endParaRPr lang="en-US" sz="1200" dirty="0">
              <a:solidFill>
                <a:srgbClr val="B088FF"/>
              </a:solidFill>
              <a:latin typeface="Lato" panose="020B0604020202020204" charset="0"/>
              <a:cs typeface="Lato" panose="020B0604020202020204" charset="0"/>
            </a:endParaRPr>
          </a:p>
          <a:p>
            <a:r>
              <a:rPr lang="en-US" sz="1200" dirty="0">
                <a:solidFill>
                  <a:srgbClr val="B088FF"/>
                </a:solidFill>
                <a:latin typeface="Lato" panose="020B0604020202020204" charset="0"/>
                <a:cs typeface="Lato" panose="020B0604020202020204" charset="0"/>
              </a:rPr>
              <a:t>every new row has a "greater" key, than everything before it, so it is always routed to the same tail tablet  </a:t>
            </a:r>
          </a:p>
        </p:txBody>
      </p:sp>
    </p:spTree>
    <p:extLst>
      <p:ext uri="{BB962C8B-B14F-4D97-AF65-F5344CB8AC3E}">
        <p14:creationId xmlns:p14="http://schemas.microsoft.com/office/powerpoint/2010/main" val="31418190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9BBEF1F-069A-2122-4680-7E139AD79D6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07CE18C-51A6-FB6C-FF4B-53CF6861D9A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datetime/timestamp data: the fix (1)</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971F906-D2B0-8081-D6A5-6EE6F82F3A9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D7A78690-5CE6-F1D6-39EA-45902E5BEBEA}"/>
              </a:ext>
            </a:extLst>
          </p:cNvPr>
          <p:cNvSpPr txBox="1"/>
          <p:nvPr/>
        </p:nvSpPr>
        <p:spPr>
          <a:xfrm>
            <a:off x="258000" y="1224107"/>
            <a:ext cx="4916827" cy="16711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CREATE TABLE events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a:t>
            </a:r>
            <a:r>
              <a:rPr lang="en-US" sz="1200" dirty="0" err="1">
                <a:latin typeface="Courier New" panose="02070309020205020404" pitchFamily="49" charset="0"/>
                <a:ea typeface="Lato"/>
                <a:cs typeface="Courier New" panose="02070309020205020404" pitchFamily="49" charset="0"/>
                <a:sym typeface="Lato"/>
              </a:rPr>
              <a:t>device_id</a:t>
            </a:r>
            <a:r>
              <a:rPr lang="en-US" sz="1200" dirty="0">
                <a:latin typeface="Courier New" panose="02070309020205020404" pitchFamily="49" charset="0"/>
                <a:ea typeface="Lato"/>
                <a:cs typeface="Courier New" panose="02070309020205020404" pitchFamily="49" charset="0"/>
                <a:sym typeface="Lato"/>
              </a:rPr>
              <a:t>      </a:t>
            </a:r>
            <a:r>
              <a:rPr lang="en-US" sz="1200" dirty="0" err="1">
                <a:latin typeface="Courier New" panose="02070309020205020404" pitchFamily="49" charset="0"/>
                <a:ea typeface="Lato"/>
                <a:cs typeface="Courier New" panose="02070309020205020404" pitchFamily="49" charset="0"/>
                <a:sym typeface="Lato"/>
              </a:rPr>
              <a:t>uuid</a:t>
            </a:r>
            <a:r>
              <a:rPr lang="en-US" sz="1200" dirty="0">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a:t>
            </a:r>
            <a:r>
              <a:rPr lang="en-US" sz="1200" dirty="0" err="1">
                <a:latin typeface="Courier New" panose="02070309020205020404" pitchFamily="49" charset="0"/>
                <a:ea typeface="Lato"/>
                <a:cs typeface="Courier New" panose="02070309020205020404" pitchFamily="49" charset="0"/>
                <a:sym typeface="Lato"/>
              </a:rPr>
              <a:t>event_time</a:t>
            </a:r>
            <a:r>
              <a:rPr lang="en-US" sz="1200" dirty="0">
                <a:latin typeface="Courier New" panose="02070309020205020404" pitchFamily="49" charset="0"/>
                <a:ea typeface="Lato"/>
                <a:cs typeface="Courier New" panose="02070309020205020404" pitchFamily="49" charset="0"/>
                <a:sym typeface="Lato"/>
              </a:rPr>
              <a:t>     </a:t>
            </a:r>
            <a:r>
              <a:rPr lang="en-US" sz="1200" dirty="0" err="1">
                <a:latin typeface="Courier New" panose="02070309020205020404" pitchFamily="49" charset="0"/>
                <a:ea typeface="Lato"/>
                <a:cs typeface="Courier New" panose="02070309020205020404" pitchFamily="49" charset="0"/>
                <a:sym typeface="Lato"/>
              </a:rPr>
              <a:t>timestamptz</a:t>
            </a:r>
            <a:r>
              <a:rPr lang="en-US" sz="1200" dirty="0">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payload        </a:t>
            </a:r>
            <a:r>
              <a:rPr lang="en-US" sz="1200" dirty="0" err="1">
                <a:latin typeface="Courier New" panose="02070309020205020404" pitchFamily="49" charset="0"/>
                <a:ea typeface="Lato"/>
                <a:cs typeface="Courier New" panose="02070309020205020404" pitchFamily="49" charset="0"/>
                <a:sym typeface="Lato"/>
              </a:rPr>
              <a:t>jsonb</a:t>
            </a:r>
            <a:r>
              <a:rPr lang="en-US" sz="1200" dirty="0">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PRIMARY KEY ((</a:t>
            </a:r>
            <a:r>
              <a:rPr lang="en-US" sz="1200" dirty="0" err="1">
                <a:latin typeface="Courier New" panose="02070309020205020404" pitchFamily="49" charset="0"/>
                <a:ea typeface="Lato"/>
                <a:cs typeface="Courier New" panose="02070309020205020404" pitchFamily="49" charset="0"/>
                <a:sym typeface="Lato"/>
              </a:rPr>
              <a:t>device_id</a:t>
            </a:r>
            <a:r>
              <a:rPr lang="en-US" sz="1200" dirty="0">
                <a:latin typeface="Courier New" panose="02070309020205020404" pitchFamily="49" charset="0"/>
                <a:ea typeface="Lato"/>
                <a:cs typeface="Courier New" panose="02070309020205020404" pitchFamily="49" charset="0"/>
                <a:sym typeface="Lato"/>
              </a:rPr>
              <a:t>) HASH, </a:t>
            </a:r>
            <a:r>
              <a:rPr lang="en-US" sz="1200" dirty="0" err="1">
                <a:latin typeface="Courier New" panose="02070309020205020404" pitchFamily="49" charset="0"/>
                <a:ea typeface="Lato"/>
                <a:cs typeface="Courier New" panose="02070309020205020404" pitchFamily="49" charset="0"/>
                <a:sym typeface="Lato"/>
              </a:rPr>
              <a:t>event_time</a:t>
            </a:r>
            <a:r>
              <a:rPr lang="en-US" sz="1200" dirty="0">
                <a:latin typeface="Courier New" panose="02070309020205020404" pitchFamily="49" charset="0"/>
                <a:ea typeface="Lato"/>
                <a:cs typeface="Courier New" panose="02070309020205020404" pitchFamily="49" charset="0"/>
                <a:sym typeface="Lato"/>
              </a:rPr>
              <a:t> DESC)</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a:t>
            </a:r>
          </a:p>
          <a:p>
            <a:pPr marL="115888" marR="0" lvl="0" defTabSz="914400" rtl="0" eaLnBrk="1" fontAlgn="auto" latinLnBrk="0" hangingPunct="1">
              <a:lnSpc>
                <a:spcPct val="115000"/>
              </a:lnSpc>
              <a:spcBef>
                <a:spcPts val="0"/>
              </a:spcBef>
              <a:spcAft>
                <a:spcPts val="0"/>
              </a:spcAft>
              <a:buClr>
                <a:srgbClr val="000000"/>
              </a:buClr>
              <a:buSzTx/>
              <a:tabLst/>
              <a:defRPr/>
            </a:pP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3" name="Google Shape;248;p56">
            <a:extLst>
              <a:ext uri="{FF2B5EF4-FFF2-40B4-BE49-F238E27FC236}">
                <a16:creationId xmlns:a16="http://schemas.microsoft.com/office/drawing/2014/main" id="{8A231851-422C-122B-0322-50829E998E19}"/>
              </a:ext>
            </a:extLst>
          </p:cNvPr>
          <p:cNvSpPr txBox="1"/>
          <p:nvPr/>
        </p:nvSpPr>
        <p:spPr>
          <a:xfrm>
            <a:off x="5462785" y="1629969"/>
            <a:ext cx="3558365" cy="1883562"/>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give the key a hash prefix on something high cardinality, and a range suffix on the timestamp</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B0F0"/>
              </a:solidFill>
              <a:latin typeface="Lato" panose="020B0604020202020204" charset="0"/>
              <a:ea typeface="Lato"/>
              <a:cs typeface="Lato" panose="020B0604020202020204"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   WHERE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B0F0"/>
                </a:solidFill>
                <a:latin typeface="Lato" panose="020B0604020202020204" charset="0"/>
                <a:ea typeface="Lato"/>
                <a:cs typeface="Lato" panose="020B0604020202020204" charset="0"/>
                <a:sym typeface="Lato"/>
              </a:rPr>
              <a:t>         </a:t>
            </a:r>
            <a:r>
              <a:rPr kumimoji="0" lang="en-US" sz="1200" b="0" i="0" u="none" strike="noStrike" kern="0" cap="none" spc="0" normalizeH="0" baseline="0" noProof="0" dirty="0" err="1">
                <a:ln>
                  <a:noFill/>
                </a:ln>
                <a:solidFill>
                  <a:srgbClr val="00B0F0"/>
                </a:solidFill>
                <a:effectLst/>
                <a:uLnTx/>
                <a:uFillTx/>
                <a:latin typeface="Lato" panose="020B0604020202020204" charset="0"/>
                <a:ea typeface="Lato"/>
                <a:cs typeface="Lato" panose="020B0604020202020204" charset="0"/>
                <a:sym typeface="Lato"/>
              </a:rPr>
              <a:t>device_id</a:t>
            </a: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 =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B0F0"/>
                </a:solidFill>
                <a:latin typeface="Lato" panose="020B0604020202020204" charset="0"/>
                <a:ea typeface="Lato"/>
                <a:cs typeface="Lato" panose="020B0604020202020204" charset="0"/>
                <a:sym typeface="Lato"/>
              </a:rPr>
              <a:t>   AND</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      </a:t>
            </a:r>
            <a:r>
              <a:rPr kumimoji="0" lang="en-US" sz="1200" b="0" i="0" u="none" strike="noStrike" kern="0" cap="none" spc="0" normalizeH="0" baseline="0" noProof="0" dirty="0" err="1">
                <a:ln>
                  <a:noFill/>
                </a:ln>
                <a:solidFill>
                  <a:srgbClr val="00B0F0"/>
                </a:solidFill>
                <a:effectLst/>
                <a:uLnTx/>
                <a:uFillTx/>
                <a:latin typeface="Lato" panose="020B0604020202020204" charset="0"/>
                <a:ea typeface="Lato"/>
                <a:cs typeface="Lato" panose="020B0604020202020204" charset="0"/>
                <a:sym typeface="Lato"/>
              </a:rPr>
              <a:t>event_time</a:t>
            </a: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 BETWEEN   ?   AND   ?  ;  </a:t>
            </a:r>
            <a:endParaRPr lang="en-US" sz="1200" dirty="0">
              <a:solidFill>
                <a:srgbClr val="00B0F0"/>
              </a:solidFill>
              <a:latin typeface="Lato" panose="020B0604020202020204" charset="0"/>
              <a:ea typeface="Lato"/>
              <a:cs typeface="Lato" panose="020B0604020202020204" charset="0"/>
              <a:sym typeface="Lato"/>
            </a:endParaRPr>
          </a:p>
          <a:p>
            <a:pPr marL="115888" marR="0" lvl="0" defTabSz="914400" rtl="0" eaLnBrk="1" fontAlgn="auto" latinLnBrk="0" hangingPunct="1">
              <a:lnSpc>
                <a:spcPct val="115000"/>
              </a:lnSpc>
              <a:spcBef>
                <a:spcPts val="0"/>
              </a:spcBef>
              <a:spcAft>
                <a:spcPts val="0"/>
              </a:spcAft>
              <a:buClr>
                <a:srgbClr val="000000"/>
              </a:buClr>
              <a:buSzTx/>
              <a:tabLst/>
              <a:defRPr/>
            </a:pPr>
            <a:endParaRPr kumimoji="0"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5924635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730744C-D08E-3D25-55AF-9633C2E2DE2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4E5C228-EB96-E63C-0323-F980C915DEF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datetime/timestamp data: if you do not have a natural key, the fix (2)</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067CE2C-44D5-CFB8-5DE6-B60C5CE3891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00A6902B-F1F1-3BCE-AC61-37E496C5360B}"/>
              </a:ext>
            </a:extLst>
          </p:cNvPr>
          <p:cNvSpPr txBox="1"/>
          <p:nvPr/>
        </p:nvSpPr>
        <p:spPr>
          <a:xfrm>
            <a:off x="110578" y="2037003"/>
            <a:ext cx="5725831" cy="1069493"/>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ALTER TABLE events ADD COLUMN bucket int</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  GENERATED ALWAYS AS (extract(hour from </a:t>
            </a:r>
            <a:r>
              <a:rPr lang="en-US" sz="1000" dirty="0" err="1">
                <a:latin typeface="Courier New" panose="02070309020205020404" pitchFamily="49" charset="0"/>
                <a:ea typeface="Lato"/>
                <a:cs typeface="Courier New" panose="02070309020205020404" pitchFamily="49" charset="0"/>
                <a:sym typeface="Lato"/>
              </a:rPr>
              <a:t>event_time</a:t>
            </a:r>
            <a:r>
              <a:rPr lang="en-US" sz="1000" dirty="0">
                <a:latin typeface="Courier New" panose="02070309020205020404" pitchFamily="49" charset="0"/>
                <a:ea typeface="Lato"/>
                <a:cs typeface="Courier New" panose="02070309020205020404" pitchFamily="49" charset="0"/>
                <a:sym typeface="Lato"/>
              </a:rPr>
              <a:t>)::int % 16) STORED;</a:t>
            </a:r>
          </a:p>
          <a:p>
            <a:pPr marR="0" lvl="0" defTabSz="914400" rtl="0" eaLnBrk="1" fontAlgn="auto" latinLnBrk="0" hangingPunct="1">
              <a:lnSpc>
                <a:spcPct val="115000"/>
              </a:lnSpc>
              <a:spcBef>
                <a:spcPts val="0"/>
              </a:spcBef>
              <a:spcAft>
                <a:spcPts val="0"/>
              </a:spcAft>
              <a:buClr>
                <a:srgbClr val="000000"/>
              </a:buClr>
              <a:buSzTx/>
              <a:tabLst/>
              <a:defRPr/>
            </a:pPr>
            <a:endParaRPr lang="en-US" sz="1000" dirty="0">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CREATE INDEX </a:t>
            </a:r>
            <a:r>
              <a:rPr lang="en-US" sz="1000" dirty="0" err="1">
                <a:latin typeface="Courier New" panose="02070309020205020404" pitchFamily="49" charset="0"/>
                <a:ea typeface="Lato"/>
                <a:cs typeface="Courier New" panose="02070309020205020404" pitchFamily="49" charset="0"/>
                <a:sym typeface="Lato"/>
              </a:rPr>
              <a:t>idx_events_bucket_time</a:t>
            </a:r>
            <a:endParaRPr lang="en-US" sz="1000" dirty="0">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  ON events ((bucket) HASH, </a:t>
            </a:r>
            <a:r>
              <a:rPr lang="en-US" sz="1000" dirty="0" err="1">
                <a:latin typeface="Courier New" panose="02070309020205020404" pitchFamily="49" charset="0"/>
                <a:ea typeface="Lato"/>
                <a:cs typeface="Courier New" panose="02070309020205020404" pitchFamily="49" charset="0"/>
                <a:sym typeface="Lato"/>
              </a:rPr>
              <a:t>event_time</a:t>
            </a:r>
            <a:r>
              <a:rPr lang="en-US" sz="1000" dirty="0">
                <a:latin typeface="Courier New" panose="02070309020205020404" pitchFamily="49" charset="0"/>
                <a:ea typeface="Lato"/>
                <a:cs typeface="Courier New" panose="02070309020205020404" pitchFamily="49" charset="0"/>
                <a:sym typeface="Lato"/>
              </a:rPr>
              <a:t> DESC) INCLUDE (payload);</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3" name="Google Shape;248;p56">
            <a:extLst>
              <a:ext uri="{FF2B5EF4-FFF2-40B4-BE49-F238E27FC236}">
                <a16:creationId xmlns:a16="http://schemas.microsoft.com/office/drawing/2014/main" id="{95DB93D8-F376-528D-EDF4-5BA295D06F7B}"/>
              </a:ext>
            </a:extLst>
          </p:cNvPr>
          <p:cNvSpPr txBox="1"/>
          <p:nvPr/>
        </p:nvSpPr>
        <p:spPr>
          <a:xfrm>
            <a:off x="6170507" y="1629969"/>
            <a:ext cx="2657511" cy="2095928"/>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synthesize a bucket, a time truncated hash</a:t>
            </a:r>
            <a:endParaRPr lang="en-US" sz="1200" dirty="0">
              <a:solidFill>
                <a:srgbClr val="00B0F0"/>
              </a:solidFill>
              <a:latin typeface="Lato" panose="020B0604020202020204" charset="0"/>
              <a:ea typeface="Lato"/>
              <a:cs typeface="Lato" panose="020B0604020202020204" charset="0"/>
              <a:sym typeface="Lato"/>
            </a:endParaRPr>
          </a:p>
          <a:p>
            <a:pPr marL="115888"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spreads writes across (n) Tablets as hours roll over, instead of one ever-growing tablet</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B0F0"/>
              </a:solidFill>
              <a:latin typeface="Lato" panose="020B0604020202020204" charset="0"/>
              <a:ea typeface="Lato"/>
              <a:cs typeface="Lato" panose="020B0604020202020204"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pick a modulus to achieve the desired parallelism </a:t>
            </a:r>
            <a:endParaRPr kumimoji="0"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4156790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22970A8-C02D-EC86-C26A-F05CE47D4D2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0A7FF7F-99EC-8C29-BF00-AA18FB1E75E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datetime/timestamp data: if you can not do either, the fix (3)</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38B29F7-6F09-F18F-E204-6A6E51514FC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3" name="Google Shape;248;p56">
            <a:extLst>
              <a:ext uri="{FF2B5EF4-FFF2-40B4-BE49-F238E27FC236}">
                <a16:creationId xmlns:a16="http://schemas.microsoft.com/office/drawing/2014/main" id="{65593A5F-26CD-4E43-743C-57DC8251E62D}"/>
              </a:ext>
            </a:extLst>
          </p:cNvPr>
          <p:cNvSpPr txBox="1"/>
          <p:nvPr/>
        </p:nvSpPr>
        <p:spPr>
          <a:xfrm>
            <a:off x="643466" y="1061009"/>
            <a:ext cx="7213599" cy="1246465"/>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yugabyteDB does a parallel scatter-gather across the hash buckets</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B0F0"/>
                </a:solidFill>
                <a:latin typeface="Lato" panose="020B0604020202020204" charset="0"/>
                <a:ea typeface="Lato"/>
                <a:cs typeface="Lato" panose="020B0604020202020204" charset="0"/>
                <a:sym typeface="Lato"/>
              </a:rPr>
              <a:t>the range predicate on (event time) still gets pushed down into each tablet. each tablet scans its own slice instead of a full scan</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B0F0"/>
                </a:solidFill>
                <a:latin typeface="Lato" panose="020B0604020202020204" charset="0"/>
                <a:ea typeface="Lato"/>
                <a:cs typeface="Lato" panose="020B0604020202020204" charset="0"/>
                <a:sym typeface="Lato"/>
              </a:rPr>
              <a:t>trades 1 tablet for a (cheaper pruned range scan in parallel), usually a net win</a:t>
            </a:r>
            <a:endParaRPr kumimoji="0"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p:txBody>
      </p:sp>
      <p:sp>
        <p:nvSpPr>
          <p:cNvPr id="5" name="Google Shape;248;p56">
            <a:extLst>
              <a:ext uri="{FF2B5EF4-FFF2-40B4-BE49-F238E27FC236}">
                <a16:creationId xmlns:a16="http://schemas.microsoft.com/office/drawing/2014/main" id="{D852A05D-4492-B010-E7ED-41E8026A7738}"/>
              </a:ext>
            </a:extLst>
          </p:cNvPr>
          <p:cNvSpPr txBox="1"/>
          <p:nvPr/>
        </p:nvSpPr>
        <p:spPr>
          <a:xfrm>
            <a:off x="643465" y="2701408"/>
            <a:ext cx="7213599"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additionally:</a:t>
            </a:r>
          </a:p>
          <a:p>
            <a:pPr marL="230188"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B0F0"/>
                </a:solidFill>
                <a:latin typeface="Lato" panose="020B0604020202020204" charset="0"/>
                <a:ea typeface="Lato"/>
                <a:cs typeface="Lato" panose="020B0604020202020204" charset="0"/>
                <a:sym typeface="Lato"/>
              </a:rPr>
              <a:t>pre-split the tablets at table creation (SPLIT INTO n TABLETS), to get immediate parallelism, instead of waiting for automatic tablet splitting to catch up</a:t>
            </a:r>
          </a:p>
          <a:p>
            <a:pPr marL="2301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use covering indexes</a:t>
            </a:r>
            <a:endParaRPr kumimoji="0"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12523859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499E443-90B7-B522-3D47-8C6E328EA99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D7F422CC-4A1D-6CDC-03B5-FE999C2991D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similar, but different: permitting NULLs in indexes, the fix</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FA58081-CDD1-D9B7-D7C5-BA5ED3CFC1D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5E358C88-2CDF-52BC-3573-5A99533FBAA6}"/>
              </a:ext>
            </a:extLst>
          </p:cNvPr>
          <p:cNvSpPr txBox="1"/>
          <p:nvPr/>
        </p:nvSpPr>
        <p:spPr>
          <a:xfrm>
            <a:off x="390490" y="1591421"/>
            <a:ext cx="2406898" cy="2308294"/>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NULL is just another value to a hash function</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rPr>
              <a:t>if 30-40% of the data in the leading composite index column are NULL, these all hash to the same bucket, creating a hot tablet just like any other skewed value </a:t>
            </a:r>
            <a:endParaRPr lang="en-US" sz="1200" dirty="0">
              <a:solidFill>
                <a:srgbClr val="00B0F0"/>
              </a:solidFill>
              <a:latin typeface="Lato" panose="020B0604020202020204" charset="0"/>
              <a:ea typeface="Lato"/>
              <a:cs typeface="Lato" panose="020B0604020202020204" charset="0"/>
              <a:sym typeface="Lato"/>
            </a:endParaRPr>
          </a:p>
          <a:p>
            <a:pPr marL="115888" marR="0" lvl="0" defTabSz="914400" rtl="0" eaLnBrk="1" fontAlgn="auto" latinLnBrk="0" hangingPunct="1">
              <a:lnSpc>
                <a:spcPct val="115000"/>
              </a:lnSpc>
              <a:spcBef>
                <a:spcPts val="0"/>
              </a:spcBef>
              <a:spcAft>
                <a:spcPts val="0"/>
              </a:spcAft>
              <a:buClr>
                <a:srgbClr val="000000"/>
              </a:buClr>
              <a:buSzTx/>
              <a:tabLst/>
              <a:defRPr/>
            </a:pPr>
            <a:endParaRPr kumimoji="0"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p:txBody>
      </p:sp>
      <p:sp>
        <p:nvSpPr>
          <p:cNvPr id="3" name="Google Shape;248;p56">
            <a:extLst>
              <a:ext uri="{FF2B5EF4-FFF2-40B4-BE49-F238E27FC236}">
                <a16:creationId xmlns:a16="http://schemas.microsoft.com/office/drawing/2014/main" id="{CE4AA594-5B97-A689-8BDC-DF1F295FBF64}"/>
              </a:ext>
            </a:extLst>
          </p:cNvPr>
          <p:cNvSpPr txBox="1"/>
          <p:nvPr/>
        </p:nvSpPr>
        <p:spPr>
          <a:xfrm>
            <a:off x="3128963" y="1379055"/>
            <a:ext cx="5892187" cy="2485265"/>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events (</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device_id</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uuid</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optional_tag</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text,        -- frequently NULL, currently </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                            --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the hotspot offender</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event_time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timestamptz</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payload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jsonb</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only index rows where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optional_tag</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is actually populated</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INDEX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idx_events_tag_time</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ON events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optional_tag</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HASH,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event_time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DESC)</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WHERE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optional_tag</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IS NOT NULL;</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2520749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583EC802-DDC1-4639-6E90-1A551E1802AC}"/>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0D3062B3-5D87-B04C-F60C-6289219E76C4}"/>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94F1AB45-6BD0-AEF6-5603-936E600E1E40}"/>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03</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8A72A4E6-464A-A296-DA45-D787E4F43448}"/>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A59AC85F-5C5F-C9CA-0F6E-43F6B7E62B7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ACAE5CC-F88E-6B15-DB73-4985DDEDE15A}"/>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265054E5-D480-7A7B-2F7D-B84A1D8DBB54}"/>
              </a:ext>
            </a:extLst>
          </p:cNvPr>
          <p:cNvSpPr/>
          <p:nvPr/>
        </p:nvSpPr>
        <p:spPr>
          <a:xfrm>
            <a:off x="313605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8E424053-9E55-27E3-F7B8-1C127DDB380E}"/>
              </a:ext>
            </a:extLst>
          </p:cNvPr>
          <p:cNvSpPr/>
          <p:nvPr/>
        </p:nvSpPr>
        <p:spPr>
          <a:xfrm>
            <a:off x="354446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36B94350-F529-55C0-A2F1-8C6309BD42C7}"/>
              </a:ext>
            </a:extLst>
          </p:cNvPr>
          <p:cNvSpPr/>
          <p:nvPr/>
        </p:nvSpPr>
        <p:spPr>
          <a:xfrm>
            <a:off x="3952869" y="1754293"/>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4287C357-C7FB-EB92-6274-93910F50FAAC}"/>
              </a:ext>
            </a:extLst>
          </p:cNvPr>
          <p:cNvSpPr/>
          <p:nvPr/>
        </p:nvSpPr>
        <p:spPr>
          <a:xfrm>
            <a:off x="436127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A09E719F-D934-BE6E-51DC-69938E61240E}"/>
              </a:ext>
            </a:extLst>
          </p:cNvPr>
          <p:cNvSpPr/>
          <p:nvPr/>
        </p:nvSpPr>
        <p:spPr>
          <a:xfrm>
            <a:off x="599490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C89F86CE-727B-6949-C25B-E4BB4D87F1ED}"/>
              </a:ext>
            </a:extLst>
          </p:cNvPr>
          <p:cNvSpPr/>
          <p:nvPr/>
        </p:nvSpPr>
        <p:spPr>
          <a:xfrm>
            <a:off x="558650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F3169EB7-1396-398E-7E70-638EC0D3E96B}"/>
              </a:ext>
            </a:extLst>
          </p:cNvPr>
          <p:cNvSpPr/>
          <p:nvPr/>
        </p:nvSpPr>
        <p:spPr>
          <a:xfrm>
            <a:off x="640331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080CF367-BEB4-01DF-8D09-C7DF0E06E8C6}"/>
              </a:ext>
            </a:extLst>
          </p:cNvPr>
          <p:cNvSpPr/>
          <p:nvPr/>
        </p:nvSpPr>
        <p:spPr>
          <a:xfrm>
            <a:off x="4769685"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404D3D25-3B70-3AB2-1194-39206A4EEDC0}"/>
              </a:ext>
            </a:extLst>
          </p:cNvPr>
          <p:cNvSpPr/>
          <p:nvPr/>
        </p:nvSpPr>
        <p:spPr>
          <a:xfrm>
            <a:off x="517809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CA8AFC8E-1816-E473-D80D-D8A2F51D8244}"/>
              </a:ext>
            </a:extLst>
          </p:cNvPr>
          <p:cNvSpPr/>
          <p:nvPr/>
        </p:nvSpPr>
        <p:spPr>
          <a:xfrm>
            <a:off x="6811727" y="1754293"/>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E096690E-6F08-9CC4-E0D7-426EA2366DE1}"/>
              </a:ext>
            </a:extLst>
          </p:cNvPr>
          <p:cNvSpPr txBox="1"/>
          <p:nvPr/>
        </p:nvSpPr>
        <p:spPr>
          <a:xfrm>
            <a:off x="3351103" y="2253251"/>
            <a:ext cx="4729641"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      another index negation, a new index type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      one table, one predicate</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2150440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40776AC-4DB8-EB97-24F6-E5D8FEF7916D}"/>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A51E76D-A97E-F71C-6049-A68C3B77A17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03:</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274E4AE-F5E1-A5DB-611C-662EC905FFB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EB79F2B-BBDD-E494-D85A-3844326BBF99}"/>
              </a:ext>
            </a:extLst>
          </p:cNvPr>
          <p:cNvSpPr txBox="1"/>
          <p:nvPr/>
        </p:nvSpPr>
        <p:spPr>
          <a:xfrm>
            <a:off x="315981" y="1244428"/>
            <a:ext cx="1905672" cy="117567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col1   LIKE   '%xxx'</a:t>
            </a:r>
          </a:p>
        </p:txBody>
      </p:sp>
      <p:sp>
        <p:nvSpPr>
          <p:cNvPr id="4" name="Google Shape;248;p56">
            <a:extLst>
              <a:ext uri="{FF2B5EF4-FFF2-40B4-BE49-F238E27FC236}">
                <a16:creationId xmlns:a16="http://schemas.microsoft.com/office/drawing/2014/main" id="{A2210EAB-5245-880B-55C5-77C7F96AB6FF}"/>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5" name="Google Shape;248;p56">
            <a:extLst>
              <a:ext uri="{FF2B5EF4-FFF2-40B4-BE49-F238E27FC236}">
                <a16:creationId xmlns:a16="http://schemas.microsoft.com/office/drawing/2014/main" id="{7B067BF2-5DDE-653B-3605-7CF7EE7EFF79}"/>
              </a:ext>
            </a:extLst>
          </p:cNvPr>
          <p:cNvSpPr txBox="1"/>
          <p:nvPr/>
        </p:nvSpPr>
        <p:spPr>
          <a:xfrm>
            <a:off x="6102002" y="2893099"/>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Tree>
    <p:extLst>
      <p:ext uri="{BB962C8B-B14F-4D97-AF65-F5344CB8AC3E}">
        <p14:creationId xmlns:p14="http://schemas.microsoft.com/office/powerpoint/2010/main" val="4700405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16BBE4B-1E17-0241-2B85-60DF760AA2D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B057EB2-20F3-8589-A5BF-E06D7FE7765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negation; non-initial substring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00033EA-B740-3581-0254-52304D20043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6" name="Picture 5">
            <a:extLst>
              <a:ext uri="{FF2B5EF4-FFF2-40B4-BE49-F238E27FC236}">
                <a16:creationId xmlns:a16="http://schemas.microsoft.com/office/drawing/2014/main" id="{0566796D-4B54-0FC9-88CB-8AB4EAFFE3B0}"/>
              </a:ext>
            </a:extLst>
          </p:cNvPr>
          <p:cNvPicPr>
            <a:picLocks noChangeAspect="1"/>
          </p:cNvPicPr>
          <p:nvPr/>
        </p:nvPicPr>
        <p:blipFill>
          <a:blip r:embed="rId3"/>
          <a:stretch>
            <a:fillRect/>
          </a:stretch>
        </p:blipFill>
        <p:spPr>
          <a:xfrm>
            <a:off x="606446" y="1097119"/>
            <a:ext cx="3637530" cy="2594348"/>
          </a:xfrm>
          <a:prstGeom prst="rect">
            <a:avLst/>
          </a:prstGeom>
        </p:spPr>
      </p:pic>
    </p:spTree>
    <p:extLst>
      <p:ext uri="{BB962C8B-B14F-4D97-AF65-F5344CB8AC3E}">
        <p14:creationId xmlns:p14="http://schemas.microsoft.com/office/powerpoint/2010/main" val="7732034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650D9C8-038B-7ADE-6C6A-B3B55821862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045451E-51DE-D819-E3A8-BAD0C39807E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non-initial substring (non-initial anything), solutions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4CEA7FD-F8AE-0FDF-3A7F-7079A52A4AB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A25D300-60DF-102B-50F6-5376EBE61714}"/>
              </a:ext>
            </a:extLst>
          </p:cNvPr>
          <p:cNvSpPr txBox="1"/>
          <p:nvPr/>
        </p:nvSpPr>
        <p:spPr>
          <a:xfrm>
            <a:off x="315981" y="1244428"/>
            <a:ext cx="8272606" cy="2449871"/>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why-</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country </a:t>
            </a:r>
            <a:r>
              <a:rPr kumimoji="0" lang="en"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province  city</a:t>
            </a:r>
          </a:p>
          <a:p>
            <a:pPr marL="230188" marR="0" lvl="0" defTabSz="914400" rtl="0" eaLnBrk="1" fontAlgn="auto" latinLnBrk="0" hangingPunct="1">
              <a:lnSpc>
                <a:spcPct val="115000"/>
              </a:lnSpc>
              <a:spcBef>
                <a:spcPts val="0"/>
              </a:spcBef>
              <a:spcAft>
                <a:spcPts val="0"/>
              </a:spcAft>
              <a:buClr>
                <a:srgbClr val="000000"/>
              </a:buClr>
              <a:buSzTx/>
              <a:tabLst/>
              <a:defRPr/>
            </a:pPr>
            <a:r>
              <a:rPr lang="en" dirty="0">
                <a:latin typeface="Lato"/>
                <a:ea typeface="Lato"/>
                <a:cs typeface="Lato"/>
                <a:sym typeface="Wingdings" panose="05000000000000000000" pitchFamily="2" charset="2"/>
              </a:rPr>
              <a:t>city  province  country</a:t>
            </a:r>
          </a:p>
          <a:p>
            <a:pPr marL="230188" marR="0" lvl="0" defTabSz="914400" rtl="0" eaLnBrk="1" fontAlgn="auto" latinLnBrk="0" hangingPunct="1">
              <a:lnSpc>
                <a:spcPct val="115000"/>
              </a:lnSpc>
              <a:spcBef>
                <a:spcPts val="0"/>
              </a:spcBef>
              <a:spcAft>
                <a:spcPts val="0"/>
              </a:spcAft>
              <a:buClr>
                <a:srgbClr val="000000"/>
              </a:buClr>
              <a:buSzTx/>
              <a:tabLst/>
              <a:defRPr/>
            </a:pPr>
            <a:r>
              <a:rPr lang="en" dirty="0">
                <a:latin typeface="Lato"/>
                <a:ea typeface="Lato"/>
                <a:cs typeface="Lato"/>
                <a:sym typeface="Wingdings" panose="05000000000000000000" pitchFamily="2" charset="2"/>
              </a:rPr>
              <a:t>especially ISV/COTs applications </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Wingdings" panose="05000000000000000000" pitchFamily="2" charset="2"/>
              </a:rPr>
              <a:t>lead with selectivity</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or; is this non-initial (data) actually an attribute</a:t>
            </a:r>
          </a:p>
          <a:p>
            <a:pPr marL="115888" marR="0" lvl="0" defTabSz="914400" rtl="0" eaLnBrk="1" fontAlgn="auto" latinLnBrk="0" hangingPunct="1">
              <a:lnSpc>
                <a:spcPct val="115000"/>
              </a:lnSpc>
              <a:spcBef>
                <a:spcPts val="0"/>
              </a:spcBef>
              <a:spcAft>
                <a:spcPts val="0"/>
              </a:spcAft>
              <a:buClr>
                <a:srgbClr val="000000"/>
              </a:buClr>
              <a:buSzTx/>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Wingdings" panose="05000000000000000000" pitchFamily="2" charset="2"/>
              </a:rPr>
              <a:t>reverse index   (meh)</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600" b="1"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GIN indexes</a:t>
            </a:r>
            <a:endParaRPr kumimoji="0" sz="1600" b="1"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5662285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46BCB04-7358-7247-DFBA-CEF40D28250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BD73975-45BB-12F3-84F0-2E87B37FC9A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reverse index, syntax and use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8E9EC3A-85B5-D575-FF24-2A0AB087063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D927F2F-6746-13B0-806D-9B77CC6CE8C2}"/>
              </a:ext>
            </a:extLst>
          </p:cNvPr>
          <p:cNvSpPr txBox="1"/>
          <p:nvPr/>
        </p:nvSpPr>
        <p:spPr>
          <a:xfrm>
            <a:off x="315981" y="959948"/>
            <a:ext cx="8272606" cy="273302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BIGINT,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col1_rev  TEXT GENERATED ALWAYS AS (reverse(col1)) STORED,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Plain ascending LSM index on the reversed text -- ordinary prefix</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range scan support, nothing exotic needed.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CREATE INDEX t2_col1_rev_idx ON t2 (col1_rev ASC);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t2;</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06925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1DD223C-F128-6957-2B9C-032939B11BC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2E5B079-5304-6811-C9D8-B4CFC9E4CB3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reverse index, syntax and use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C29635A-49CA-B9FB-664F-CD10E4BA42E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37884AE-5DD5-0AFC-CFE5-5F1543C19B02}"/>
              </a:ext>
            </a:extLst>
          </p:cNvPr>
          <p:cNvSpPr txBox="1"/>
          <p:nvPr/>
        </p:nvSpPr>
        <p:spPr>
          <a:xfrm>
            <a:off x="315981" y="959948"/>
            <a:ext cx="8272606" cy="2520660"/>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original query</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 FROM t1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WHERE col1 LIKE '%GE AK';</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Seq Scan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on t1  (cost=21.10..61958.72 rows=9851 width=41)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time=74.319..303.490 rows=5000 loops=1)</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Storage Filter: (col1 ~~ '%GE AK'::text)</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41.525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317.859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81 kB</a:t>
            </a:r>
          </a:p>
        </p:txBody>
      </p:sp>
    </p:spTree>
    <p:extLst>
      <p:ext uri="{BB962C8B-B14F-4D97-AF65-F5344CB8AC3E}">
        <p14:creationId xmlns:p14="http://schemas.microsoft.com/office/powerpoint/2010/main" val="22332484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39C816E-BB9B-9DC7-8095-2848F297C5C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5C35B6A-61F3-588D-9B76-6321DDF84AA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reverse index, syntax and use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92094AD-4178-E335-4149-A74F19823AF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734ECE5-6F84-0C63-3831-580A564C2B38}"/>
              </a:ext>
            </a:extLst>
          </p:cNvPr>
          <p:cNvSpPr txBox="1"/>
          <p:nvPr/>
        </p:nvSpPr>
        <p:spPr>
          <a:xfrm>
            <a:off x="315981" y="959948"/>
            <a:ext cx="8272606" cy="273302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that uses reverse index</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SELECT * FROM t2 </a:t>
            </a:r>
            <a:r>
              <a:rPr lang="en-US" sz="1200" dirty="0">
                <a:solidFill>
                  <a:srgbClr val="00B0F0"/>
                </a:solidFill>
                <a:latin typeface="Courier New" panose="02070309020205020404" pitchFamily="49" charset="0"/>
                <a:ea typeface="Lato"/>
                <a:cs typeface="Courier New" panose="02070309020205020404" pitchFamily="49" charset="0"/>
                <a:sym typeface="Lato"/>
              </a:rPr>
              <a:t>WHERE col1_rev LIKE 'KA EG%';</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Scan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using t2_col1_rev_idx on t2  (cost=48.20..48.49 rows=9851 width=74)</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time=19.407..69.373 rows=5000 loops=1)</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((col1_rev &gt;= 'KA EG'::text) AND (col1_rev &lt; 'KA EH'::text))</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Storage Index Filter: (col1_rev ~~ 'KA EG%'::text)</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46.123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72.038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103 kB</a:t>
            </a:r>
          </a:p>
        </p:txBody>
      </p:sp>
    </p:spTree>
    <p:extLst>
      <p:ext uri="{BB962C8B-B14F-4D97-AF65-F5344CB8AC3E}">
        <p14:creationId xmlns:p14="http://schemas.microsoft.com/office/powerpoint/2010/main" val="7894766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8093281-A64C-338C-4DBF-A7F7C7798B8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27DE015-4730-6894-E46C-8906F187A26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GIN index, generalized inverted index</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F9F397C-8A74-07BF-E8A6-E0B4728A1D2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6FA2F70-AD9B-9A82-7DD1-8668732B4B8F}"/>
              </a:ext>
            </a:extLst>
          </p:cNvPr>
          <p:cNvSpPr txBox="1"/>
          <p:nvPr/>
        </p:nvSpPr>
        <p:spPr>
          <a:xfrm>
            <a:off x="315981" y="984041"/>
            <a:ext cx="8272606" cy="1989745"/>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not a TF/IDF (term frequency, inverse document frequency index),   ala Solr/Lucene</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 sz="1600" i="1" dirty="0">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600" i="1" dirty="0">
                <a:latin typeface="Lato"/>
                <a:ea typeface="Lato"/>
                <a:cs typeface="Lato"/>
                <a:sym typeface="Lato"/>
              </a:rPr>
              <a:t>generalized</a:t>
            </a:r>
            <a:r>
              <a:rPr lang="en" dirty="0">
                <a:latin typeface="Lato"/>
                <a:ea typeface="Lato"/>
                <a:cs typeface="Lato"/>
                <a:sym typeface="Lato"/>
              </a:rPr>
              <a:t>, decomposes indexed value into set of keys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array elements for arrays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keys/values for JSONB</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trigrams for pg_trgm</a:t>
            </a: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i="1" dirty="0">
                <a:latin typeface="Lato"/>
                <a:ea typeface="Lato"/>
                <a:cs typeface="Lato"/>
                <a:sym typeface="Lato"/>
              </a:rPr>
              <a:t>inverted</a:t>
            </a:r>
            <a:r>
              <a:rPr lang="en-US" dirty="0">
                <a:latin typeface="Lato"/>
                <a:ea typeface="Lato"/>
                <a:cs typeface="Lato"/>
                <a:sym typeface="Lato"/>
              </a:rPr>
              <a:t>, meaning; keys, then the list of rows containing it, but it fans in, not out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4931893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16C51AB-DE1A-B6CF-5A27-C7AC79CA611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31DB3A9-C371-F69F-0929-B4286A36CF0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GIN index, generalized inverted index</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1E3A9FB-72CB-BA76-D164-4EE5A8D207F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4D47781-0169-71E3-354D-04E59D6719EE}"/>
              </a:ext>
            </a:extLst>
          </p:cNvPr>
          <p:cNvSpPr txBox="1"/>
          <p:nvPr/>
        </p:nvSpPr>
        <p:spPr>
          <a:xfrm>
            <a:off x="315981" y="984041"/>
            <a:ext cx="8272606" cy="2166717"/>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show_trgm('Hello World');</a:t>
            </a:r>
          </a:p>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show_trgm                           </a:t>
            </a:r>
          </a:p>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p>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h","  w"," he"," wo", ell,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hel</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ld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llo</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"lo ",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orl</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rld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wor</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R="0" lvl="0" defTabSz="914400" rtl="0" eaLnBrk="1" fontAlgn="auto" latinLnBrk="0" hangingPunct="1">
              <a:lnSpc>
                <a:spcPct val="115000"/>
              </a:lnSpc>
              <a:spcBef>
                <a:spcPts val="0"/>
              </a:spcBef>
              <a:spcAft>
                <a:spcPts val="0"/>
              </a:spcAft>
              <a:buClr>
                <a:srgbClr val="000000"/>
              </a:buClr>
              <a:buSzTx/>
              <a:tabLst/>
              <a:defRPr/>
            </a:pPr>
            <a:b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b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Courier New" panose="02070309020205020404" pitchFamily="49" charset="0"/>
                <a:ea typeface="Lato"/>
                <a:cs typeface="Courier New" panose="02070309020205020404" pitchFamily="49" charset="0"/>
                <a:sym typeface="Lato"/>
              </a:rPr>
              <a:t>-- UI nit; data is returned sorted, deduplicated, not in source word order</a:t>
            </a:r>
          </a:p>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pads at blank space boundaries; 2 leading, 1 trailing</a:t>
            </a:r>
          </a:p>
        </p:txBody>
      </p:sp>
    </p:spTree>
    <p:extLst>
      <p:ext uri="{BB962C8B-B14F-4D97-AF65-F5344CB8AC3E}">
        <p14:creationId xmlns:p14="http://schemas.microsoft.com/office/powerpoint/2010/main" val="40177094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229CE624-D0DA-437D-ADAC-EC04CF85CE48}"/>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2CCEDD10-84A4-9364-08A3-812700A5CC13}"/>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F78FC72-605A-AA0D-B209-A9E7C0725607}"/>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03</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125B2DF9-18A4-F060-2E22-C7CB8151574F}"/>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FB1CEE88-FF9A-F301-E057-9DBAAB96550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81A925D3-E935-0F13-FE57-46D73B065C5F}"/>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D77BD945-4787-6F09-517B-C1F43E12EAF3}"/>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790708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122D5AC-F7A7-0E7A-36F1-4B3FA99A336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C30DA03-EAD8-BE79-A64E-EC319C48AAA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03: creating a GIN index</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BB9C5EA-CA02-0A89-A220-716CF8240F5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902D8B9-DBBE-10CC-02EB-B7234AE0671A}"/>
              </a:ext>
            </a:extLst>
          </p:cNvPr>
          <p:cNvSpPr txBox="1"/>
          <p:nvPr/>
        </p:nvSpPr>
        <p:spPr>
          <a:xfrm>
            <a:off x="315981" y="1244428"/>
            <a:ext cx="8272606" cy="290999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t3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BIGINT,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EXTENSION IF NOT EXISTS pg_trgm;</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INDEX t3_col1_trgm_idx ON t3 USING gin (col1 gin_trgm_ops);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t3;</a:t>
            </a:r>
            <a:endParaRPr kumimoji="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8173259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B19A1B4-CD14-3BD5-F725-92716B37B6A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73FCE02-9267-A5E8-79FE-2C8C2518FCD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03: the query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51CBC43-1C65-6B01-A398-88341FE4895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5411035-9A08-633E-89CE-12EB24EEE6CC}"/>
              </a:ext>
            </a:extLst>
          </p:cNvPr>
          <p:cNvSpPr txBox="1"/>
          <p:nvPr/>
        </p:nvSpPr>
        <p:spPr>
          <a:xfrm>
            <a:off x="199844" y="929951"/>
            <a:ext cx="8272606" cy="294539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 FROM t3 WHERE col1 LIKE '%GE AK';</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sz="1200" dirty="0">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Scan using t3_col1_trgm_idx on t3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(cost=16.00..25.71 rows=98 width=41)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time=23.255..947.165 rows=5000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Cond: (col1 ~~ '%GE AK'::text)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Rows Removed by Index Recheck: 200000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42.658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Execution Time: 949.507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135 kB</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4" name="Google Shape;248;p56">
            <a:extLst>
              <a:ext uri="{FF2B5EF4-FFF2-40B4-BE49-F238E27FC236}">
                <a16:creationId xmlns:a16="http://schemas.microsoft.com/office/drawing/2014/main" id="{DABA6B3D-3F17-78A9-8C2F-8663A9B4E25B}"/>
              </a:ext>
            </a:extLst>
          </p:cNvPr>
          <p:cNvSpPr txBox="1"/>
          <p:nvPr/>
        </p:nvSpPr>
        <p:spPr>
          <a:xfrm>
            <a:off x="5757272" y="1612271"/>
            <a:ext cx="3041287" cy="1918957"/>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dirty="0">
                <a:solidFill>
                  <a:srgbClr val="7030A0"/>
                </a:solidFill>
                <a:latin typeface="Lato"/>
                <a:ea typeface="Lato"/>
                <a:cs typeface="Lato"/>
                <a:sym typeface="Lato"/>
              </a:rPr>
              <a:t>this test used </a:t>
            </a:r>
            <a:r>
              <a:rPr kumimoji="0" lang="en-US" b="0" i="0" u="none" strike="noStrike" kern="0" cap="none" spc="0" normalizeH="0" baseline="0" noProof="0" dirty="0">
                <a:ln>
                  <a:noFill/>
                </a:ln>
                <a:solidFill>
                  <a:srgbClr val="7030A0"/>
                </a:solidFill>
                <a:effectLst/>
                <a:uLnTx/>
                <a:uFillTx/>
                <a:latin typeface="Lato"/>
                <a:ea typeface="Lato"/>
                <a:cs typeface="Lato"/>
                <a:sym typeface="Lato"/>
              </a:rPr>
              <a:t>highly duplicative/generated data</a:t>
            </a:r>
          </a:p>
          <a:p>
            <a:pPr marR="0" lvl="0" defTabSz="914400" rtl="0" eaLnBrk="1" fontAlgn="auto" latinLnBrk="0" hangingPunct="1">
              <a:lnSpc>
                <a:spcPct val="115000"/>
              </a:lnSpc>
              <a:spcBef>
                <a:spcPts val="0"/>
              </a:spcBef>
              <a:spcAft>
                <a:spcPts val="0"/>
              </a:spcAft>
              <a:buClr>
                <a:srgbClr val="000000"/>
              </a:buClr>
              <a:buSzTx/>
              <a:tabLst/>
              <a:defRPr/>
            </a:pPr>
            <a:endParaRPr kumimoji="0" lang="en-US" b="0" i="0" u="none" strike="noStrike" kern="0" cap="none" spc="0" normalizeH="0" baseline="0" noProof="0" dirty="0">
              <a:ln>
                <a:noFill/>
              </a:ln>
              <a:solidFill>
                <a:srgbClr val="7030A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7030A0"/>
                </a:solidFill>
                <a:effectLst/>
                <a:uLnTx/>
                <a:uFillTx/>
                <a:latin typeface="Lato"/>
                <a:ea typeface="Lato"/>
                <a:cs typeface="Lato"/>
                <a:sym typeface="Lato"/>
              </a:rPr>
              <a:t>effectively, the index over-fetches possible matches, then fully qualifies rows (rechecks) before returning to the calling function </a:t>
            </a:r>
            <a:endParaRPr kumimoji="0" b="0" i="0" u="none" strike="noStrike" kern="0" cap="none" spc="0" normalizeH="0" baseline="0" noProof="0" dirty="0">
              <a:ln>
                <a:noFill/>
              </a:ln>
              <a:solidFill>
                <a:srgbClr val="7030A0"/>
              </a:solidFill>
              <a:effectLst/>
              <a:uLnTx/>
              <a:uFillTx/>
              <a:latin typeface="Lato"/>
              <a:ea typeface="Lato"/>
              <a:cs typeface="Lato"/>
              <a:sym typeface="Lato"/>
            </a:endParaRPr>
          </a:p>
        </p:txBody>
      </p:sp>
    </p:spTree>
    <p:extLst>
      <p:ext uri="{BB962C8B-B14F-4D97-AF65-F5344CB8AC3E}">
        <p14:creationId xmlns:p14="http://schemas.microsoft.com/office/powerpoint/2010/main" val="2475896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819920D-0526-F767-874B-E87F5F339936}"/>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30C9611-EA94-C490-92F2-C27068F2D3A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 different data set; seeing quality of query predicates, and index rechecks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4752026-04AB-30EB-E913-2D8D2123C25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48AEDA0-9185-B9E3-960A-9CF570F6BD72}"/>
              </a:ext>
            </a:extLst>
          </p:cNvPr>
          <p:cNvSpPr txBox="1"/>
          <p:nvPr/>
        </p:nvSpPr>
        <p:spPr>
          <a:xfrm>
            <a:off x="258000" y="844802"/>
            <a:ext cx="8272606" cy="3582489"/>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200" dirty="0">
                <a:latin typeface="Lato" panose="020B0604020202020204" charset="0"/>
                <a:cs typeface="Lato" panose="020B0604020202020204" charset="0"/>
              </a:rPr>
              <a:t>a trigram index breaks text into 3-character sequences</a:t>
            </a:r>
          </a:p>
          <a:p>
            <a:pPr lvl="0">
              <a:lnSpc>
                <a:spcPct val="115000"/>
              </a:lnSpc>
              <a:defRPr/>
            </a:pPr>
            <a:r>
              <a:rPr lang="en-US" sz="1200" dirty="0">
                <a:latin typeface="Lato" panose="020B0604020202020204" charset="0"/>
                <a:cs typeface="Lato" panose="020B0604020202020204" charset="0"/>
              </a:rPr>
              <a:t>for example:</a:t>
            </a:r>
          </a:p>
          <a:p>
            <a:pPr lvl="0">
              <a:lnSpc>
                <a:spcPct val="115000"/>
              </a:lnSpc>
              <a:defRPr/>
            </a:pPr>
            <a:r>
              <a:rPr lang="en-US" sz="1200" dirty="0">
                <a:latin typeface="Lato" panose="020B0604020202020204" charset="0"/>
                <a:cs typeface="Lato" panose="020B0604020202020204" charset="0"/>
              </a:rPr>
              <a:t>   "Yummy Donut" creates trigrams: `yum`, `umm`, `mmy`, `my `, `y d`, ` do`, `don`, `onu`, `nut`</a:t>
            </a:r>
          </a:p>
          <a:p>
            <a:pPr lvl="0">
              <a:lnSpc>
                <a:spcPct val="115000"/>
              </a:lnSpc>
              <a:defRPr/>
            </a:pPr>
            <a:endParaRPr lang="en-US" sz="1200" dirty="0">
              <a:latin typeface="Lato" panose="020B0604020202020204" charset="0"/>
              <a:cs typeface="Lato" panose="020B0604020202020204" charset="0"/>
            </a:endParaRPr>
          </a:p>
          <a:p>
            <a:pPr lvl="0">
              <a:lnSpc>
                <a:spcPct val="115000"/>
              </a:lnSpc>
              <a:defRPr/>
            </a:pPr>
            <a:r>
              <a:rPr lang="en-US" sz="1200" dirty="0">
                <a:latin typeface="Lato" panose="020B0604020202020204" charset="0"/>
                <a:cs typeface="Lato" panose="020B0604020202020204" charset="0"/>
              </a:rPr>
              <a:t>query 1: `'%Yummy Donut%'` - 5,022,410 rechecks (85 sec)</a:t>
            </a:r>
          </a:p>
          <a:p>
            <a:pPr lvl="0">
              <a:lnSpc>
                <a:spcPct val="115000"/>
              </a:lnSpc>
              <a:defRPr/>
            </a:pPr>
            <a:r>
              <a:rPr lang="en-US" sz="1200" dirty="0">
                <a:latin typeface="Lato" panose="020B0604020202020204" charset="0"/>
                <a:cs typeface="Lato" panose="020B0604020202020204" charset="0"/>
              </a:rPr>
              <a:t>   the space in "Yummy Donut" creates the trigram `y d` (y-space-d)</a:t>
            </a:r>
          </a:p>
          <a:p>
            <a:pPr lvl="0">
              <a:lnSpc>
                <a:spcPct val="115000"/>
              </a:lnSpc>
              <a:defRPr/>
            </a:pPr>
            <a:r>
              <a:rPr lang="en-US" sz="1200" dirty="0">
                <a:solidFill>
                  <a:srgbClr val="00B0F0"/>
                </a:solidFill>
                <a:latin typeface="Lato" panose="020B0604020202020204" charset="0"/>
                <a:cs typeface="Lato" panose="020B0604020202020204" charset="0"/>
              </a:rPr>
              <a:t>   this is an extremely common trigram (any word ending in 'y' followed by word starting with 'd')</a:t>
            </a:r>
          </a:p>
          <a:p>
            <a:pPr lvl="0">
              <a:lnSpc>
                <a:spcPct val="115000"/>
              </a:lnSpc>
              <a:defRPr/>
            </a:pPr>
            <a:r>
              <a:rPr lang="en-US" sz="1200" dirty="0">
                <a:latin typeface="Lato" panose="020B0604020202020204" charset="0"/>
                <a:cs typeface="Lato" panose="020B0604020202020204" charset="0"/>
              </a:rPr>
              <a:t>   index returns 5+ million candidate rows that must be rechecked</a:t>
            </a:r>
          </a:p>
          <a:p>
            <a:pPr lvl="0">
              <a:lnSpc>
                <a:spcPct val="115000"/>
              </a:lnSpc>
              <a:defRPr/>
            </a:pPr>
            <a:endParaRPr lang="en-US" sz="1200" dirty="0">
              <a:latin typeface="Lato" panose="020B0604020202020204" charset="0"/>
              <a:cs typeface="Lato" panose="020B0604020202020204" charset="0"/>
            </a:endParaRPr>
          </a:p>
          <a:p>
            <a:pPr lvl="0">
              <a:lnSpc>
                <a:spcPct val="115000"/>
              </a:lnSpc>
              <a:defRPr/>
            </a:pPr>
            <a:r>
              <a:rPr lang="en-US" sz="1200" dirty="0">
                <a:latin typeface="Lato" panose="020B0604020202020204" charset="0"/>
                <a:cs typeface="Lato" panose="020B0604020202020204" charset="0"/>
              </a:rPr>
              <a:t>query 2: `'%Yumm%Donut%'` - 319,070 rechecks (10 sec)</a:t>
            </a:r>
          </a:p>
          <a:p>
            <a:pPr lvl="0">
              <a:lnSpc>
                <a:spcPct val="115000"/>
              </a:lnSpc>
              <a:defRPr/>
            </a:pPr>
            <a:r>
              <a:rPr lang="en-US" sz="1200" dirty="0">
                <a:solidFill>
                  <a:srgbClr val="00B0F0"/>
                </a:solidFill>
                <a:latin typeface="Lato" panose="020B0604020202020204" charset="0"/>
                <a:cs typeface="Lato" panose="020B0604020202020204" charset="0"/>
              </a:rPr>
              <a:t>   no space between words means different trigrams: `mmd`, `mdo`, `don`</a:t>
            </a:r>
          </a:p>
          <a:p>
            <a:pPr lvl="0">
              <a:lnSpc>
                <a:spcPct val="115000"/>
              </a:lnSpc>
              <a:defRPr/>
            </a:pPr>
            <a:r>
              <a:rPr lang="en-US" sz="1200" dirty="0">
                <a:solidFill>
                  <a:srgbClr val="00B0F0"/>
                </a:solidFill>
                <a:latin typeface="Lato" panose="020B0604020202020204" charset="0"/>
                <a:cs typeface="Lato" panose="020B0604020202020204" charset="0"/>
              </a:rPr>
              <a:t>   these are **much less common** trigrams</a:t>
            </a:r>
          </a:p>
          <a:p>
            <a:pPr lvl="0">
              <a:lnSpc>
                <a:spcPct val="115000"/>
              </a:lnSpc>
              <a:defRPr/>
            </a:pPr>
            <a:r>
              <a:rPr lang="en-US" sz="1200" dirty="0">
                <a:latin typeface="Lato" panose="020B0604020202020204" charset="0"/>
                <a:cs typeface="Lato" panose="020B0604020202020204" charset="0"/>
              </a:rPr>
              <a:t>   far fewer false positives to recheck</a:t>
            </a:r>
          </a:p>
          <a:p>
            <a:pPr lvl="0">
              <a:lnSpc>
                <a:spcPct val="115000"/>
              </a:lnSpc>
              <a:defRPr/>
            </a:pPr>
            <a:endParaRPr lang="en-US" sz="1200" dirty="0">
              <a:latin typeface="Lato" panose="020B0604020202020204" charset="0"/>
              <a:cs typeface="Lato" panose="020B0604020202020204" charset="0"/>
            </a:endParaRPr>
          </a:p>
          <a:p>
            <a:pPr lvl="0">
              <a:lnSpc>
                <a:spcPct val="115000"/>
              </a:lnSpc>
              <a:defRPr/>
            </a:pPr>
            <a:r>
              <a:rPr lang="en-US" sz="2400" b="1" dirty="0">
                <a:latin typeface="Lato" panose="020B0604020202020204" charset="0"/>
                <a:cs typeface="Lato" panose="020B0604020202020204" charset="0"/>
              </a:rPr>
              <a:t>      …</a:t>
            </a:r>
          </a:p>
        </p:txBody>
      </p:sp>
    </p:spTree>
    <p:extLst>
      <p:ext uri="{BB962C8B-B14F-4D97-AF65-F5344CB8AC3E}">
        <p14:creationId xmlns:p14="http://schemas.microsoft.com/office/powerpoint/2010/main" val="10752187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8D27433-B9FD-577D-D20C-818016E06BE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7452310-DB9F-4A63-19CA-A4B65C965AF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 different data set; seeing quality of query predicates, and index rechecks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6D20B97-4812-6C7E-1C2D-16454D37E1C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94CC6CD4-7F61-AB3E-528D-117C7128F730}"/>
              </a:ext>
            </a:extLst>
          </p:cNvPr>
          <p:cNvSpPr txBox="1"/>
          <p:nvPr/>
        </p:nvSpPr>
        <p:spPr>
          <a:xfrm>
            <a:off x="258000" y="844802"/>
            <a:ext cx="8272606" cy="3157757"/>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2400" b="1" dirty="0">
                <a:latin typeface="Lato" panose="020B0604020202020204" charset="0"/>
                <a:cs typeface="Lato" panose="020B0604020202020204" charset="0"/>
              </a:rPr>
              <a:t>      …</a:t>
            </a:r>
          </a:p>
          <a:p>
            <a:pPr lvl="0">
              <a:lnSpc>
                <a:spcPct val="115000"/>
              </a:lnSpc>
              <a:defRPr/>
            </a:pPr>
            <a:endParaRPr lang="en-US" sz="1200" dirty="0">
              <a:latin typeface="Lato" panose="020B0604020202020204" charset="0"/>
              <a:cs typeface="Lato" panose="020B0604020202020204" charset="0"/>
            </a:endParaRPr>
          </a:p>
          <a:p>
            <a:pPr lvl="0">
              <a:lnSpc>
                <a:spcPct val="115000"/>
              </a:lnSpc>
              <a:defRPr/>
            </a:pPr>
            <a:r>
              <a:rPr lang="en-US" sz="1200" dirty="0">
                <a:latin typeface="Lato" panose="020B0604020202020204" charset="0"/>
                <a:cs typeface="Lato" panose="020B0604020202020204" charset="0"/>
              </a:rPr>
              <a:t>query 3: `'%Yumm% Donut%'` - 5,022,376 rechecks (86 sec)</a:t>
            </a:r>
          </a:p>
          <a:p>
            <a:pPr lvl="0">
              <a:lnSpc>
                <a:spcPct val="115000"/>
              </a:lnSpc>
              <a:defRPr/>
            </a:pPr>
            <a:r>
              <a:rPr lang="en-US" sz="1200" dirty="0">
                <a:latin typeface="Lato" panose="020B0604020202020204" charset="0"/>
                <a:cs typeface="Lato" panose="020B0604020202020204" charset="0"/>
              </a:rPr>
              <a:t>   has the space, so includes `m d` trigram</a:t>
            </a:r>
          </a:p>
          <a:p>
            <a:pPr lvl="0">
              <a:lnSpc>
                <a:spcPct val="115000"/>
              </a:lnSpc>
              <a:defRPr/>
            </a:pPr>
            <a:r>
              <a:rPr lang="en-US" sz="1200" dirty="0">
                <a:solidFill>
                  <a:srgbClr val="00B0F0"/>
                </a:solidFill>
                <a:latin typeface="Lato" panose="020B0604020202020204" charset="0"/>
                <a:cs typeface="Lato" panose="020B0604020202020204" charset="0"/>
              </a:rPr>
              <a:t>   again, a very common pattern (words ending in 'm' + space + 'd')</a:t>
            </a:r>
          </a:p>
          <a:p>
            <a:pPr lvl="0">
              <a:lnSpc>
                <a:spcPct val="115000"/>
              </a:lnSpc>
              <a:defRPr/>
            </a:pPr>
            <a:r>
              <a:rPr lang="en-US" sz="1200" dirty="0">
                <a:latin typeface="Lato" panose="020B0604020202020204" charset="0"/>
                <a:cs typeface="Lato" panose="020B0604020202020204" charset="0"/>
              </a:rPr>
              <a:t>   same very large recheck</a:t>
            </a:r>
          </a:p>
          <a:p>
            <a:pPr lvl="0">
              <a:lnSpc>
                <a:spcPct val="115000"/>
              </a:lnSpc>
              <a:defRPr/>
            </a:pPr>
            <a:endParaRPr lang="en-US" sz="1200" dirty="0">
              <a:latin typeface="Lato" panose="020B0604020202020204" charset="0"/>
              <a:cs typeface="Lato" panose="020B0604020202020204" charset="0"/>
            </a:endParaRPr>
          </a:p>
          <a:p>
            <a:pPr lvl="0">
              <a:lnSpc>
                <a:spcPct val="115000"/>
              </a:lnSpc>
              <a:defRPr/>
            </a:pPr>
            <a:r>
              <a:rPr lang="en-US" sz="1200" dirty="0">
                <a:latin typeface="Lato" panose="020B0604020202020204" charset="0"/>
                <a:cs typeface="Lato" panose="020B0604020202020204" charset="0"/>
              </a:rPr>
              <a:t>query 4: `'%umm% %onut%'` - 17,114 rechecks (1.3 sec)</a:t>
            </a:r>
          </a:p>
          <a:p>
            <a:pPr lvl="0">
              <a:lnSpc>
                <a:spcPct val="115000"/>
              </a:lnSpc>
              <a:defRPr/>
            </a:pPr>
            <a:r>
              <a:rPr lang="en-US" sz="1200" dirty="0">
                <a:latin typeface="Lato" panose="020B0604020202020204" charset="0"/>
                <a:cs typeface="Lato" panose="020B0604020202020204" charset="0"/>
              </a:rPr>
              <a:t>   lowercase makes it different: `m o` trigram</a:t>
            </a:r>
          </a:p>
          <a:p>
            <a:pPr lvl="0">
              <a:lnSpc>
                <a:spcPct val="115000"/>
              </a:lnSpc>
              <a:defRPr/>
            </a:pPr>
            <a:r>
              <a:rPr lang="en-US" sz="1200" dirty="0">
                <a:latin typeface="Lato" panose="020B0604020202020204" charset="0"/>
                <a:cs typeface="Lato" panose="020B0604020202020204" charset="0"/>
              </a:rPr>
              <a:t>   the double wildcard `% %` with lowercase is less common</a:t>
            </a:r>
          </a:p>
          <a:p>
            <a:pPr lvl="0">
              <a:lnSpc>
                <a:spcPct val="115000"/>
              </a:lnSpc>
              <a:defRPr/>
            </a:pPr>
            <a:r>
              <a:rPr lang="en-US" sz="1200" dirty="0">
                <a:latin typeface="Lato" panose="020B0604020202020204" charset="0"/>
                <a:cs typeface="Lato" panose="020B0604020202020204" charset="0"/>
              </a:rPr>
              <a:t>   much better performance</a:t>
            </a:r>
          </a:p>
          <a:p>
            <a:pPr lvl="0">
              <a:lnSpc>
                <a:spcPct val="115000"/>
              </a:lnSpc>
              <a:defRPr/>
            </a:pPr>
            <a:r>
              <a:rPr lang="en-US" sz="2400" dirty="0">
                <a:latin typeface="Lato" panose="020B0604020202020204" charset="0"/>
                <a:cs typeface="Lato" panose="020B0604020202020204" charset="0"/>
              </a:rPr>
              <a:t>      …</a:t>
            </a:r>
          </a:p>
        </p:txBody>
      </p:sp>
    </p:spTree>
    <p:extLst>
      <p:ext uri="{BB962C8B-B14F-4D97-AF65-F5344CB8AC3E}">
        <p14:creationId xmlns:p14="http://schemas.microsoft.com/office/powerpoint/2010/main" val="18741614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5FCC8D0-2C71-470B-E968-DE8CE0662C1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1CAC036-516B-3787-5145-16F931138E3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 different data set; seeing quality of query predicates, and index rechecks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E9C5DD5-143D-370C-0137-86291B94C3E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7921BB9-C66E-F7C8-714F-4E9A1DBE9DBD}"/>
              </a:ext>
            </a:extLst>
          </p:cNvPr>
          <p:cNvSpPr txBox="1"/>
          <p:nvPr/>
        </p:nvSpPr>
        <p:spPr>
          <a:xfrm>
            <a:off x="258000" y="844802"/>
            <a:ext cx="8272606" cy="2733026"/>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2400" dirty="0">
                <a:latin typeface="Lato" panose="020B0604020202020204" charset="0"/>
                <a:cs typeface="Lato" panose="020B0604020202020204" charset="0"/>
              </a:rPr>
              <a:t>      …</a:t>
            </a:r>
          </a:p>
          <a:p>
            <a:pPr lvl="0">
              <a:lnSpc>
                <a:spcPct val="115000"/>
              </a:lnSpc>
              <a:defRPr/>
            </a:pPr>
            <a:endParaRPr lang="en-US" sz="1200" dirty="0">
              <a:latin typeface="Lato" panose="020B0604020202020204" charset="0"/>
              <a:cs typeface="Lato" panose="020B0604020202020204" charset="0"/>
            </a:endParaRPr>
          </a:p>
          <a:p>
            <a:pPr lvl="0">
              <a:lnSpc>
                <a:spcPct val="115000"/>
              </a:lnSpc>
              <a:defRPr/>
            </a:pPr>
            <a:r>
              <a:rPr lang="en-US" sz="1200" dirty="0">
                <a:latin typeface="Lato" panose="020B0604020202020204" charset="0"/>
                <a:cs typeface="Lato" panose="020B0604020202020204" charset="0"/>
              </a:rPr>
              <a:t>query 5: `'%Yumm% %Donut%'` - 319,070 rechecks (10 sec)</a:t>
            </a:r>
          </a:p>
          <a:p>
            <a:pPr lvl="0">
              <a:lnSpc>
                <a:spcPct val="115000"/>
              </a:lnSpc>
              <a:defRPr/>
            </a:pPr>
            <a:r>
              <a:rPr lang="en-US" sz="1200" dirty="0">
                <a:latin typeface="Lato" panose="020B0604020202020204" charset="0"/>
                <a:cs typeface="Lato" panose="020B0604020202020204" charset="0"/>
              </a:rPr>
              <a:t>   the pattern `% %` (space-space) between wildcards creates different matching</a:t>
            </a:r>
          </a:p>
          <a:p>
            <a:pPr lvl="0">
              <a:lnSpc>
                <a:spcPct val="115000"/>
              </a:lnSpc>
              <a:defRPr/>
            </a:pPr>
            <a:r>
              <a:rPr lang="en-US" sz="1200" dirty="0">
                <a:latin typeface="Lato" panose="020B0604020202020204" charset="0"/>
                <a:cs typeface="Lato" panose="020B0604020202020204" charset="0"/>
              </a:rPr>
              <a:t>   more selective than single space</a:t>
            </a:r>
          </a:p>
          <a:p>
            <a:pPr lvl="0">
              <a:lnSpc>
                <a:spcPct val="115000"/>
              </a:lnSpc>
              <a:defRPr/>
            </a:pPr>
            <a:endParaRPr lang="en-US" sz="1200" dirty="0">
              <a:latin typeface="Lato" panose="020B0604020202020204" charset="0"/>
              <a:cs typeface="Lato" panose="020B0604020202020204" charset="0"/>
            </a:endParaRPr>
          </a:p>
          <a:p>
            <a:pPr lvl="0">
              <a:lnSpc>
                <a:spcPct val="115000"/>
              </a:lnSpc>
              <a:defRPr/>
            </a:pPr>
            <a:r>
              <a:rPr lang="en-US" sz="1200" dirty="0">
                <a:latin typeface="Lato" panose="020B0604020202020204" charset="0"/>
                <a:cs typeface="Lato" panose="020B0604020202020204" charset="0"/>
              </a:rPr>
              <a:t>case-sensitive single-character + space trigrams like `y d`, `m d`</a:t>
            </a:r>
          </a:p>
          <a:p>
            <a:pPr lvl="0">
              <a:lnSpc>
                <a:spcPct val="115000"/>
              </a:lnSpc>
              <a:defRPr/>
            </a:pPr>
            <a:r>
              <a:rPr lang="en-US" sz="1200" dirty="0">
                <a:latin typeface="Lato" panose="020B0604020202020204" charset="0"/>
                <a:cs typeface="Lato" panose="020B0604020202020204" charset="0"/>
              </a:rPr>
              <a:t>these patterns match millions of unrelated phrases:      </a:t>
            </a:r>
          </a:p>
          <a:p>
            <a:pPr lvl="0">
              <a:lnSpc>
                <a:spcPct val="115000"/>
              </a:lnSpc>
              <a:defRPr/>
            </a:pPr>
            <a:r>
              <a:rPr lang="en-US" sz="1200" dirty="0">
                <a:latin typeface="Lato" panose="020B0604020202020204" charset="0"/>
                <a:cs typeface="Lato" panose="020B0604020202020204" charset="0"/>
              </a:rPr>
              <a:t>      "Happy dog", "Very different", "My data", "eby digital", etc</a:t>
            </a:r>
          </a:p>
          <a:p>
            <a:pPr lvl="0">
              <a:lnSpc>
                <a:spcPct val="115000"/>
              </a:lnSpc>
              <a:defRPr/>
            </a:pPr>
            <a:endParaRPr kumimoji="0" lang="en-US" sz="1200" b="0" i="0" u="none" strike="noStrike" kern="0" cap="none" spc="0" normalizeH="0" baseline="0" noProof="0" dirty="0">
              <a:ln>
                <a:noFill/>
              </a:ln>
              <a:solidFill>
                <a:srgbClr val="000000"/>
              </a:solidFill>
              <a:effectLst/>
              <a:uLnTx/>
              <a:uFillTx/>
              <a:latin typeface="Lato" panose="020B0604020202020204" charset="0"/>
              <a:ea typeface="Lato"/>
              <a:cs typeface="Lato" panose="020B0604020202020204" charset="0"/>
              <a:sym typeface="Lato"/>
            </a:endParaRPr>
          </a:p>
          <a:p>
            <a:pPr lvl="0">
              <a:lnSpc>
                <a:spcPct val="115000"/>
              </a:lnSpc>
              <a:defRPr/>
            </a:pPr>
            <a:r>
              <a:rPr lang="en-US" sz="1200" dirty="0">
                <a:solidFill>
                  <a:srgbClr val="00B0F0"/>
                </a:solidFill>
                <a:latin typeface="Lato" panose="020B0604020202020204" charset="0"/>
                <a:ea typeface="Lato"/>
                <a:cs typeface="Lato" panose="020B0604020202020204" charset="0"/>
                <a:sym typeface="Lato"/>
              </a:rPr>
              <a:t>github issue, #7850, a current limitation is that only one scan term is used at a time</a:t>
            </a:r>
            <a:endParaRPr kumimoji="0" sz="1200" b="0" i="0" u="none" strike="noStrike" kern="0" cap="none" spc="0" normalizeH="0" baseline="0" noProof="0" dirty="0">
              <a:ln>
                <a:noFill/>
              </a:ln>
              <a:solidFill>
                <a:srgbClr val="00B0F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4266333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924D247-1A7D-4513-2956-5E1D4E4820FD}"/>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789F32D-84CF-EF82-CF4A-9FD638ECF1E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what about full text search (FTS), </a:t>
            </a:r>
            <a:r>
              <a:rPr lang="en" i="1" dirty="0">
                <a:solidFill>
                  <a:schemeClr val="accent2"/>
                </a:solidFill>
                <a:latin typeface="Lato"/>
                <a:ea typeface="Lato"/>
                <a:cs typeface="Lato"/>
                <a:sym typeface="Lato"/>
              </a:rPr>
              <a:t>a different use case</a:t>
            </a:r>
            <a:endParaRPr i="1"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E69853A-7E45-2743-50F0-2C5452B416F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A3BBDE2-B4CB-371E-FA0F-C715E77CB8CC}"/>
              </a:ext>
            </a:extLst>
          </p:cNvPr>
          <p:cNvSpPr txBox="1"/>
          <p:nvPr/>
        </p:nvSpPr>
        <p:spPr>
          <a:xfrm>
            <a:off x="315981" y="910876"/>
            <a:ext cx="8272606"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t4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BIGINT,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INDEX t4_col1_lex_idx ON t4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USING gin (to_tsvector('simple', 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t4;</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 FROM t4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to_tsvector('simple', col1) @@ to_tsquery('simple', 'Golden\ Dragon:*');</a:t>
            </a:r>
            <a:endParaRPr kumimoji="0" lang="en"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pic>
        <p:nvPicPr>
          <p:cNvPr id="6" name="Picture 5">
            <a:extLst>
              <a:ext uri="{FF2B5EF4-FFF2-40B4-BE49-F238E27FC236}">
                <a16:creationId xmlns:a16="http://schemas.microsoft.com/office/drawing/2014/main" id="{3AEB4CDB-918A-47C4-9254-6705554FACDB}"/>
              </a:ext>
            </a:extLst>
          </p:cNvPr>
          <p:cNvPicPr>
            <a:picLocks noChangeAspect="1"/>
          </p:cNvPicPr>
          <p:nvPr/>
        </p:nvPicPr>
        <p:blipFill>
          <a:blip r:embed="rId3"/>
          <a:stretch>
            <a:fillRect/>
          </a:stretch>
        </p:blipFill>
        <p:spPr>
          <a:xfrm>
            <a:off x="6400801" y="99892"/>
            <a:ext cx="2313974" cy="3082787"/>
          </a:xfrm>
          <a:prstGeom prst="rect">
            <a:avLst/>
          </a:prstGeom>
        </p:spPr>
      </p:pic>
      <p:sp>
        <p:nvSpPr>
          <p:cNvPr id="4" name="Google Shape;248;p56">
            <a:extLst>
              <a:ext uri="{FF2B5EF4-FFF2-40B4-BE49-F238E27FC236}">
                <a16:creationId xmlns:a16="http://schemas.microsoft.com/office/drawing/2014/main" id="{AC36FB79-B8D1-8B45-A0DF-C11DA0F1C6FA}"/>
              </a:ext>
            </a:extLst>
          </p:cNvPr>
          <p:cNvSpPr txBox="1"/>
          <p:nvPr/>
        </p:nvSpPr>
        <p:spPr>
          <a:xfrm rot="504716">
            <a:off x="6730204" y="1015606"/>
            <a:ext cx="1365151" cy="167119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FTS- a whole other set of topics, but in this example; whole word search within a larger indexed string</a:t>
            </a:r>
            <a:endParaRPr kumimoji="0" lang="en" sz="12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5161670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A5ADF2C-9BEC-6EF6-C64E-EFD761AC406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09AFB67-A2E6-7B42-1CB1-0CB42A11A4D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full text search, query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C235435-B50D-C771-44EF-7922D831E16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60161B3-CB92-6F1A-E0E6-96EBB6B1C741}"/>
              </a:ext>
            </a:extLst>
          </p:cNvPr>
          <p:cNvSpPr txBox="1"/>
          <p:nvPr/>
        </p:nvSpPr>
        <p:spPr>
          <a:xfrm>
            <a:off x="315981" y="980268"/>
            <a:ext cx="8272606" cy="209592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Index Scan using t4_col1_lex_idx on t4  (cost=20.00..35.00 rows=400 width=41)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time=9.992..71.995 rows=10000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(to_tsvector('simple'::regconfig, col1)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'''golden'':* &lt;-&gt; ''dragon'':*'::tsquery)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Planning Time: 9.159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Execution Time: 73.904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Peak Memory Usage: 78 kB</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742380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FFA80F3D-5C24-FAA1-5598-1361A0BA9728}"/>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2DF35CE9-8A9A-60E0-9C50-690E5C6E015B}"/>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4E2CF739-9E75-1E33-0C81-29FDD205195B}"/>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E94F6AEB-B7E1-4CA6-4420-3AEA24D731D4}"/>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C9CD79C9-3CB9-2037-7842-1AD7ECC5416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3400D06D-DBEC-B5A2-D4AE-C46B7CF906B8}"/>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8E3EBA09-6BF5-568A-4906-F12260CB2CAD}"/>
              </a:ext>
            </a:extLst>
          </p:cNvPr>
          <p:cNvSpPr txBox="1"/>
          <p:nvPr/>
        </p:nvSpPr>
        <p:spPr>
          <a:xfrm>
            <a:off x="2560699" y="157453"/>
            <a:ext cx="5911751" cy="4396558"/>
          </a:xfrm>
          <a:prstGeom prst="rect">
            <a:avLst/>
          </a:prstGeom>
          <a:noFill/>
          <a:ln>
            <a:noFill/>
          </a:ln>
        </p:spPr>
        <p:txBody>
          <a:bodyPr spcFirstLastPara="1" wrap="square" lIns="91425" tIns="91425" rIns="91425" bIns="91425" anchor="t" anchorCtr="0">
            <a:spAutoFit/>
          </a:bodyPr>
          <a:lstStyle/>
          <a:p>
            <a:pPr marL="112713" lvl="0" indent="-112713">
              <a:lnSpc>
                <a:spcPct val="115000"/>
              </a:lnSpc>
              <a:buFont typeface="Arial" panose="020B0604020202020204" pitchFamily="34" charset="0"/>
              <a:buChar char="•"/>
              <a:defRPr/>
            </a:pPr>
            <a:r>
              <a:rPr lang="en-US" dirty="0">
                <a:solidFill>
                  <a:schemeClr val="tx1"/>
                </a:solidFill>
              </a:rPr>
              <a:t>for permanent tables, what are the 3 index types available with yugabyteDB 2026.1</a:t>
            </a:r>
            <a:endParaRPr lang="en-US" dirty="0">
              <a:solidFill>
                <a:srgbClr val="00B0F0"/>
              </a:solidFill>
            </a:endParaRPr>
          </a:p>
          <a:p>
            <a:pPr marL="227013" lvl="0" indent="-227013">
              <a:lnSpc>
                <a:spcPct val="115000"/>
              </a:lnSpc>
              <a:buFont typeface="Arial" panose="020B0604020202020204" pitchFamily="34" charset="0"/>
              <a:buChar char="•"/>
              <a:defRPr/>
            </a:pPr>
            <a:r>
              <a:rPr lang="en-US" dirty="0">
                <a:solidFill>
                  <a:srgbClr val="00B0F0"/>
                </a:solidFill>
              </a:rPr>
              <a:t>the first index type we detailed has further modifiers/adjectives for columns-</a:t>
            </a:r>
          </a:p>
          <a:p>
            <a:pPr marL="339725" lvl="0" indent="-227013">
              <a:lnSpc>
                <a:spcPct val="115000"/>
              </a:lnSpc>
              <a:buFont typeface="Arial" panose="020B0604020202020204" pitchFamily="34" charset="0"/>
              <a:buChar char="•"/>
              <a:defRPr/>
            </a:pPr>
            <a:r>
              <a:rPr lang="en-US" dirty="0">
                <a:solidFill>
                  <a:srgbClr val="00B0F0"/>
                </a:solidFill>
              </a:rPr>
              <a:t>what are they named</a:t>
            </a:r>
          </a:p>
          <a:p>
            <a:pPr marL="339725" lvl="0" indent="-227013">
              <a:lnSpc>
                <a:spcPct val="115000"/>
              </a:lnSpc>
              <a:buFont typeface="Arial" panose="020B0604020202020204" pitchFamily="34" charset="0"/>
              <a:buChar char="•"/>
              <a:defRPr/>
            </a:pPr>
            <a:r>
              <a:rPr lang="en-US" dirty="0">
                <a:solidFill>
                  <a:srgbClr val="00B0F0"/>
                </a:solidFill>
              </a:rPr>
              <a:t>which do you lead with ? why ?</a:t>
            </a:r>
          </a:p>
          <a:p>
            <a:pPr marL="339725" lvl="0" indent="-227013">
              <a:lnSpc>
                <a:spcPct val="115000"/>
              </a:lnSpc>
              <a:buFont typeface="Arial" panose="020B0604020202020204" pitchFamily="34" charset="0"/>
              <a:buChar char="•"/>
              <a:defRPr/>
            </a:pPr>
            <a:r>
              <a:rPr lang="en-US" dirty="0">
                <a:solidFill>
                  <a:srgbClr val="00B0F0"/>
                </a:solidFill>
              </a:rPr>
              <a:t>which operators do each support</a:t>
            </a:r>
            <a:endParaRPr lang="en-US" dirty="0">
              <a:solidFill>
                <a:schemeClr val="tx1"/>
              </a:solidFill>
            </a:endParaRPr>
          </a:p>
          <a:p>
            <a:pPr marL="112713" lvl="0" indent="-112713">
              <a:lnSpc>
                <a:spcPct val="115000"/>
              </a:lnSpc>
              <a:buFont typeface="Arial" panose="020B0604020202020204" pitchFamily="34" charset="0"/>
              <a:buChar char="•"/>
              <a:defRPr/>
            </a:pPr>
            <a:r>
              <a:rPr lang="en-US" dirty="0">
                <a:solidFill>
                  <a:schemeClr val="tx1"/>
                </a:solidFill>
              </a:rPr>
              <a:t>which index negation was introduced in this example</a:t>
            </a:r>
          </a:p>
          <a:p>
            <a:pPr marL="112713" lvl="0" indent="-112713">
              <a:lnSpc>
                <a:spcPct val="115000"/>
              </a:lnSpc>
              <a:buFont typeface="Arial" panose="020B0604020202020204" pitchFamily="34" charset="0"/>
              <a:buChar char="•"/>
              <a:defRPr/>
            </a:pPr>
            <a:r>
              <a:rPr lang="en-US" dirty="0">
                <a:solidFill>
                  <a:schemeClr val="tx1"/>
                </a:solidFill>
              </a:rPr>
              <a:t>describe the workings of a reverse index</a:t>
            </a:r>
          </a:p>
          <a:p>
            <a:pPr marL="112713" lvl="0" indent="-112713">
              <a:lnSpc>
                <a:spcPct val="115000"/>
              </a:lnSpc>
              <a:buFont typeface="Arial" panose="020B0604020202020204" pitchFamily="34" charset="0"/>
              <a:buChar char="•"/>
              <a:defRPr/>
            </a:pPr>
            <a:r>
              <a:rPr lang="en-US" dirty="0">
                <a:solidFill>
                  <a:schemeClr val="tx1"/>
                </a:solidFill>
              </a:rPr>
              <a:t>what does GIN index stand for as an acronym</a:t>
            </a:r>
          </a:p>
          <a:p>
            <a:pPr marL="112713" lvl="0" indent="-112713">
              <a:lnSpc>
                <a:spcPct val="115000"/>
              </a:lnSpc>
              <a:buFont typeface="Arial" panose="020B0604020202020204" pitchFamily="34" charset="0"/>
              <a:buChar char="•"/>
              <a:defRPr/>
            </a:pPr>
            <a:r>
              <a:rPr lang="en-US" dirty="0">
                <a:solidFill>
                  <a:srgbClr val="00B0F0"/>
                </a:solidFill>
              </a:rPr>
              <a:t>in addition to trigrams, what two additional (use cases) were listed for GIN indexes</a:t>
            </a:r>
          </a:p>
          <a:p>
            <a:pPr marL="112713" lvl="0" indent="-112713">
              <a:lnSpc>
                <a:spcPct val="115000"/>
              </a:lnSpc>
              <a:buFont typeface="Arial" panose="020B0604020202020204" pitchFamily="34" charset="0"/>
              <a:buChar char="•"/>
              <a:defRPr/>
            </a:pPr>
            <a:r>
              <a:rPr lang="en-US" dirty="0">
                <a:solidFill>
                  <a:schemeClr val="tx1"/>
                </a:solidFill>
              </a:rPr>
              <a:t>when using a GIN (trigram) index, describe briefly what an index recheck is </a:t>
            </a:r>
          </a:p>
          <a:p>
            <a:pPr marL="112713" lvl="0" indent="-112713">
              <a:lnSpc>
                <a:spcPct val="115000"/>
              </a:lnSpc>
              <a:buFont typeface="Arial" panose="020B0604020202020204" pitchFamily="34" charset="0"/>
              <a:buChar char="•"/>
              <a:defRPr/>
            </a:pPr>
            <a:r>
              <a:rPr lang="en-US" dirty="0">
                <a:solidFill>
                  <a:srgbClr val="00B0F0"/>
                </a:solidFill>
              </a:rPr>
              <a:t>same data, same column, same GIN index, different search terms; why would one query return in 1 second and the other return in 30 seconds</a:t>
            </a:r>
          </a:p>
          <a:p>
            <a:pPr marL="112713" lvl="0" indent="-112713">
              <a:lnSpc>
                <a:spcPct val="115000"/>
              </a:lnSpc>
              <a:buFont typeface="Arial" panose="020B0604020202020204" pitchFamily="34" charset="0"/>
              <a:buChar char="•"/>
              <a:defRPr/>
            </a:pPr>
            <a:r>
              <a:rPr lang="en-US" dirty="0">
                <a:solidFill>
                  <a:schemeClr val="tx1"/>
                </a:solidFill>
              </a:rPr>
              <a:t>briefly describe FTS, full text search</a:t>
            </a:r>
            <a:endParaRPr kumimoji="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30480953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346FD431-65D6-AC0E-95FF-14B5CFF1BB0D}"/>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48B97F87-5243-DA0A-34CA-9FF9BFBBC883}"/>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34911F7F-DE50-6709-196B-99A21DCA9F63}"/>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03</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2F7D63B7-EA05-C01B-D9BA-7BA473925137}"/>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304C6075-6316-61F5-EE10-D7535217F86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F7B296E0-7ED0-7B07-533A-66C9D3D66E39}"/>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7EFB32BB-9C42-6B3B-9304-C9E3F71A5D5B}"/>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5FF7DA47-8794-D738-9C9D-CEFAAE9900F3}"/>
              </a:ext>
            </a:extLst>
          </p:cNvPr>
          <p:cNvSpPr txBox="1"/>
          <p:nvPr/>
        </p:nvSpPr>
        <p:spPr>
          <a:xfrm>
            <a:off x="4898141" y="2744721"/>
            <a:ext cx="3466926" cy="927916"/>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a:t>
            </a:r>
            <a:r>
              <a:rPr lang="en" dirty="0">
                <a:latin typeface="Lato"/>
                <a:ea typeface="Lato"/>
                <a:cs typeface="Lato"/>
                <a:sym typeface="Lato"/>
              </a:rPr>
              <a:t>3</a:t>
            </a: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exercise 03b</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03c</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4445487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DE252FB0-C5D5-9F46-740D-8BC289756B09}"/>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77D239C9-7689-2CDA-2742-F4697F6B2FC4}"/>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D09ED941-2187-1683-B5E5-4E90F3C5A7AB}"/>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discussion</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DB8FD4EC-6E6E-7A94-F359-FED8A989B35B}"/>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3966CED3-D880-BE9D-4973-849839AD43A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CEAE3F4E-66B2-9E39-55B7-6BA853F017AC}"/>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EFE80EFE-41CE-E316-5738-5C39652BA23F}"/>
              </a:ext>
            </a:extLst>
          </p:cNvPr>
          <p:cNvSpPr txBox="1"/>
          <p:nvPr/>
        </p:nvSpPr>
        <p:spPr>
          <a:xfrm>
            <a:off x="2684288" y="537166"/>
            <a:ext cx="6148139" cy="2237505"/>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600" dirty="0">
                <a:latin typeface="Lato"/>
                <a:ea typeface="Lato"/>
                <a:cs typeface="Lato"/>
                <a:sym typeface="Lato"/>
              </a:rPr>
              <a:t>random topics </a:t>
            </a:r>
            <a:r>
              <a:rPr lang="en" dirty="0">
                <a:latin typeface="Lato"/>
                <a:ea typeface="Lato"/>
                <a:cs typeface="Lato"/>
                <a:sym typeface="Lato"/>
              </a:rPr>
              <a:t>(housekeeping, backlog of unresolved  dependencies)</a:t>
            </a:r>
            <a:r>
              <a:rPr lang="en" sz="1600" dirty="0">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 sz="1600" dirty="0">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index count per table-</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yugabyteDB write path</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(group)</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collocated indexes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index ordered tables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key only retrieval, covering indexes</a:t>
            </a:r>
          </a:p>
        </p:txBody>
      </p:sp>
    </p:spTree>
    <p:extLst>
      <p:ext uri="{BB962C8B-B14F-4D97-AF65-F5344CB8AC3E}">
        <p14:creationId xmlns:p14="http://schemas.microsoft.com/office/powerpoint/2010/main" val="12823424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6D93665-A403-8244-4737-6DA9E873A7E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6D67104-8DBF-797D-39B0-D5F5FA26A8E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count, write path</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5E3651C-155F-8708-3F87-6E9CB776042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F12F18B-0230-0334-BD63-A4C5CDA71BAA}"/>
              </a:ext>
            </a:extLst>
          </p:cNvPr>
          <p:cNvSpPr txBox="1"/>
          <p:nvPr/>
        </p:nvSpPr>
        <p:spPr>
          <a:xfrm>
            <a:off x="435697" y="1007361"/>
            <a:ext cx="8272606" cy="3334729"/>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 index is a vertical slice of a table; generally, all rows and a subset of columns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a single row write to a table with 6 indexes can be 7x the write volume</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count of indexes per table for OLTP type systems-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olden times, aimed for less than 3 indexes per table (2.6-2.8) on average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modern times, it's just additional parallel, asynchronous CPU workload, disk space. not free, but also not the final word towards achieving a given SLA</a:t>
            </a:r>
          </a:p>
          <a:p>
            <a:pPr marL="230187" marR="0" lvl="0" defTabSz="914400" rtl="0" eaLnBrk="1" fontAlgn="auto" latinLnBrk="0" hangingPunct="1">
              <a:lnSpc>
                <a:spcPct val="115000"/>
              </a:lnSpc>
              <a:spcBef>
                <a:spcPts val="0"/>
              </a:spcBef>
              <a:spcAft>
                <a:spcPts val="0"/>
              </a:spcAft>
              <a:buClr>
                <a:srgbClr val="000000"/>
              </a:buClr>
              <a:buSzTx/>
              <a:tabLst/>
              <a:defRPr/>
            </a:pPr>
            <a:endParaRPr lang="en" dirty="0">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modern times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we are networked, distributed, horizontally scaled</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data consistency; strong or eventual</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synchronous or asynchronous data replication</a:t>
            </a:r>
          </a:p>
          <a:p>
            <a:pPr marR="0" lvl="0" defTabSz="914400" rtl="0" eaLnBrk="1" fontAlgn="auto" latinLnBrk="0" hangingPunct="1">
              <a:lnSpc>
                <a:spcPct val="115000"/>
              </a:lnSpc>
              <a:spcBef>
                <a:spcPts val="0"/>
              </a:spcBef>
              <a:spcAft>
                <a:spcPts val="0"/>
              </a:spcAft>
              <a:buClr>
                <a:srgbClr val="000000"/>
              </a:buClr>
              <a:buSzTx/>
              <a:tabLst/>
              <a:defRPr/>
            </a:pPr>
            <a:r>
              <a:rPr kumimoji="0" lang="en" sz="2400" b="1" i="0" u="none" strike="noStrike" kern="0" cap="none" spc="0" normalizeH="0" baseline="0" noProof="0" dirty="0">
                <a:ln>
                  <a:noFill/>
                </a:ln>
                <a:solidFill>
                  <a:srgbClr val="000000"/>
                </a:solidFill>
                <a:effectLst/>
                <a:uLnTx/>
                <a:uFillTx/>
                <a:latin typeface="Lato"/>
                <a:ea typeface="Lato"/>
                <a:cs typeface="Lato"/>
                <a:sym typeface="Lato"/>
              </a:rPr>
              <a:t>            …</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8332320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8BA90D5-D0F7-B958-F501-737E37563FB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9503EBBA-9369-27FE-5FF4-3FACB9D0000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count, write path</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738ED32-C7E5-70B0-09BC-3A280A7FF7C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4EE2BD3-B0EE-C222-020B-0F35899E320C}"/>
              </a:ext>
            </a:extLst>
          </p:cNvPr>
          <p:cNvSpPr txBox="1"/>
          <p:nvPr/>
        </p:nvSpPr>
        <p:spPr>
          <a:xfrm>
            <a:off x="435697" y="667075"/>
            <a:ext cx="8272606" cy="3370123"/>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2400" b="1" i="0" u="none" strike="noStrike" kern="0" cap="none" spc="0" normalizeH="0" baseline="0" noProof="0" dirty="0">
                <a:ln>
                  <a:noFill/>
                </a:ln>
                <a:solidFill>
                  <a:srgbClr val="000000"/>
                </a:solidFill>
                <a:effectLst/>
                <a:uLnTx/>
                <a:uFillTx/>
                <a:latin typeface="Lato"/>
                <a:ea typeface="Lato"/>
                <a:cs typeface="Lato"/>
                <a:sym typeface="Lato"/>
              </a:rPr>
              <a:t>            …</a:t>
            </a:r>
          </a:p>
          <a:p>
            <a:pPr marR="0" lvl="0" defTabSz="914400" rtl="0" eaLnBrk="1" fontAlgn="auto" latinLnBrk="0" hangingPunct="1">
              <a:lnSpc>
                <a:spcPct val="115000"/>
              </a:lnSpc>
              <a:spcBef>
                <a:spcPts val="0"/>
              </a:spcBef>
              <a:spcAft>
                <a:spcPts val="0"/>
              </a:spcAft>
              <a:buClr>
                <a:srgbClr val="000000"/>
              </a:buClr>
              <a:buSzTx/>
              <a:tabLst/>
              <a:defRPr/>
            </a:pPr>
            <a:r>
              <a:rPr lang="en" sz="1200" dirty="0">
                <a:latin typeface="Lato"/>
                <a:ea typeface="Lato"/>
                <a:cs typeface="Lato"/>
                <a:sym typeface="Lato"/>
              </a:rPr>
              <a:t>given 3 failure domains, 3 nodes each (9 nodes total) , replication factor 3, and a transaction writing 3 rows-</a:t>
            </a:r>
          </a:p>
          <a:p>
            <a:pPr marR="0" lvl="0" defTabSz="914400" rtl="0" eaLnBrk="1" fontAlgn="auto" latinLnBrk="0" hangingPunct="1">
              <a:lnSpc>
                <a:spcPct val="115000"/>
              </a:lnSpc>
              <a:spcBef>
                <a:spcPts val="0"/>
              </a:spcBef>
              <a:spcAft>
                <a:spcPts val="0"/>
              </a:spcAft>
              <a:buClr>
                <a:srgbClr val="000000"/>
              </a:buClr>
              <a:buSzTx/>
              <a:tabLst/>
              <a:defRPr/>
            </a:pPr>
            <a:endParaRPr lang="en"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b="1" dirty="0">
                <a:latin typeface="Lato"/>
                <a:ea typeface="Lato"/>
                <a:cs typeface="Lato"/>
                <a:sym typeface="Lato"/>
              </a:rPr>
              <a:t>placement</a:t>
            </a:r>
            <a:r>
              <a:rPr lang="en-US" sz="1200" dirty="0">
                <a:latin typeface="Lato"/>
                <a:ea typeface="Lato"/>
                <a:cs typeface="Lato"/>
                <a:sym typeface="Lato"/>
              </a:rPr>
              <a:t>: each row hashes to a tablet, each tablet’s 3 replicas land one-per-domain — a full domain failure costs that tablet at most 1 replica, so the remaining 2 still form a Raft majority</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b="1" dirty="0">
                <a:latin typeface="Lato"/>
                <a:ea typeface="Lato"/>
                <a:cs typeface="Lato"/>
                <a:sym typeface="Lato"/>
              </a:rPr>
              <a:t>per-row write</a:t>
            </a:r>
            <a:r>
              <a:rPr lang="en-US" sz="1200" dirty="0">
                <a:latin typeface="Lato"/>
                <a:ea typeface="Lato"/>
                <a:cs typeface="Lato"/>
                <a:sym typeface="Lato"/>
              </a:rPr>
              <a:t>: for each of the 3 rows, the tablet leader appends a provisional write (an “intent”) and replicates it to its followers via Raft consensus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b="1" dirty="0">
                <a:latin typeface="Lato"/>
                <a:ea typeface="Lato"/>
                <a:cs typeface="Lato"/>
                <a:sym typeface="Lato"/>
              </a:rPr>
              <a:t>write pipelining</a:t>
            </a:r>
            <a:r>
              <a:rPr lang="en-US" sz="1200" dirty="0">
                <a:latin typeface="Lato"/>
                <a:ea typeface="Lato"/>
                <a:cs typeface="Lato"/>
                <a:sym typeface="Lato"/>
              </a:rPr>
              <a:t>: without it, each row’s replication round would need to be acknowledged before the next row’s write is sent. with pipelined writes, the leader accepts and starts replicating the next row’s intent before the prior one’s round has finished — so the three rows’ Raft rounds overlap in flight rather than being serial</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b="1" dirty="0">
                <a:latin typeface="Lato"/>
                <a:ea typeface="Lato"/>
                <a:cs typeface="Lato"/>
                <a:sym typeface="Lato"/>
              </a:rPr>
              <a:t>commit</a:t>
            </a:r>
            <a:r>
              <a:rPr lang="en-US" sz="1200" dirty="0">
                <a:latin typeface="Lato"/>
                <a:ea typeface="Lato"/>
                <a:cs typeface="Lato"/>
                <a:sym typeface="Lato"/>
              </a:rPr>
              <a:t>: once all three intents are durably replicated, the transaction commits by writing a single record to the transaction status tablet, atomically making all three rows visible together</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b="1" dirty="0">
                <a:latin typeface="Lato"/>
                <a:ea typeface="Lato"/>
                <a:cs typeface="Lato"/>
                <a:sym typeface="Lato"/>
              </a:rPr>
              <a:t>net effect</a:t>
            </a:r>
            <a:r>
              <a:rPr lang="en-US" sz="1200" dirty="0">
                <a:latin typeface="Lato"/>
                <a:ea typeface="Lato"/>
                <a:cs typeface="Lato"/>
                <a:sym typeface="Lato"/>
              </a:rPr>
              <a:t>: </a:t>
            </a:r>
            <a:r>
              <a:rPr lang="en-US" sz="1200" dirty="0">
                <a:solidFill>
                  <a:srgbClr val="00B0F0"/>
                </a:solidFill>
                <a:latin typeface="Lato"/>
                <a:ea typeface="Lato"/>
                <a:cs typeface="Lato"/>
                <a:sym typeface="Lato"/>
              </a:rPr>
              <a:t>three back-to-back network-plus-consensus round trips become three overlapping ones </a:t>
            </a:r>
            <a:r>
              <a:rPr lang="en-US" sz="1200" dirty="0">
                <a:latin typeface="Lato"/>
                <a:ea typeface="Lato"/>
                <a:cs typeface="Lato"/>
                <a:sym typeface="Lato"/>
              </a:rPr>
              <a:t>— wall-clock commit time drops roughly in proportion to how much overlap pipelining achieves</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6705166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7C95639-623B-CE72-66BF-139B861CAFC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1BF568A-770F-8B26-DEAF-FDADD27F590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count, write path, with indexes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C5C5189-1CD7-9D35-973F-831FF3E4C0A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7B18E45-A9FD-B81B-7ED7-69318FD4A88F}"/>
              </a:ext>
            </a:extLst>
          </p:cNvPr>
          <p:cNvSpPr txBox="1"/>
          <p:nvPr/>
        </p:nvSpPr>
        <p:spPr>
          <a:xfrm>
            <a:off x="435697" y="849955"/>
            <a:ext cx="8272606" cy="358248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same 3-row transaction, same 3×3 domain layout, but the table now has 2 secondary indexes-</a:t>
            </a:r>
          </a:p>
          <a:p>
            <a:pPr marR="0" lvl="0" defTabSz="914400" rtl="0" eaLnBrk="1" fontAlgn="auto" latinLnBrk="0" hangingPunct="1">
              <a:lnSpc>
                <a:spcPct val="115000"/>
              </a:lnSpc>
              <a:spcBef>
                <a:spcPts val="0"/>
              </a:spcBef>
              <a:spcAft>
                <a:spcPts val="0"/>
              </a:spcAft>
              <a:buClr>
                <a:srgbClr val="000000"/>
              </a:buClr>
              <a:buSzTx/>
              <a:tabLst/>
              <a:defRPr/>
            </a:pPr>
            <a:endParaRPr lang="en"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B0F0"/>
                </a:solidFill>
                <a:latin typeface="Lato"/>
                <a:ea typeface="Lato"/>
                <a:cs typeface="Lato"/>
                <a:sym typeface="Lato"/>
              </a:rPr>
              <a:t>indexes are their own tablets</a:t>
            </a:r>
            <a:r>
              <a:rPr lang="en-US" sz="1200" dirty="0">
                <a:latin typeface="Lato"/>
                <a:ea typeface="Lato"/>
                <a:cs typeface="Lato"/>
                <a:sym typeface="Lato"/>
              </a:rPr>
              <a:t>: each secondary index is itself an independently-sharded table. writing a row means writing not just its base-table tablet, but also one entry per index — and each index entry is hashed by the indexed column’s value, so it very likely lands on a different tablet (and different leader/node) than the base row itself</a:t>
            </a:r>
          </a:p>
          <a:p>
            <a:pPr marL="115888" marR="0" lvl="0" defTabSz="914400" rtl="0" eaLnBrk="1" fontAlgn="auto" latinLnBrk="0" hangingPunct="1">
              <a:lnSpc>
                <a:spcPct val="115000"/>
              </a:lnSpc>
              <a:spcBef>
                <a:spcPts val="0"/>
              </a:spcBef>
              <a:spcAft>
                <a:spcPts val="0"/>
              </a:spcAft>
              <a:buClr>
                <a:srgbClr val="000000"/>
              </a:buClr>
              <a:buSzTx/>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participant count multiplies: each of the 3 rows now touches up to 3 tablets (1 base + 2 index) instead of 1 — up to 9 participant tablets total for the one transaction, each still independently Raft-replicated across the 3 failure domains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B0F0"/>
                </a:solidFill>
                <a:latin typeface="Lato"/>
                <a:ea typeface="Lato"/>
                <a:cs typeface="Lato"/>
                <a:sym typeface="Lato"/>
              </a:rPr>
              <a:t>write pipelining matters more</a:t>
            </a:r>
            <a:r>
              <a:rPr lang="en-US" sz="1200" dirty="0">
                <a:latin typeface="Lato"/>
                <a:ea typeface="Lato"/>
                <a:cs typeface="Lato"/>
                <a:sym typeface="Lato"/>
              </a:rPr>
              <a:t>, not less: the benefit scales with participant count — instead of overlapping 3 round trips, pipelining can now overlap up to 9, since the coordinator dispatches intents to all participant tablets concurrently rather than waiting tablet-by-tablet</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still one commit: index maintenance is fully transactional, not an eventual/side write — the single commit record on the transaction status tablet atomically finalizes the base-row intents and both indexes’ intents together, so a reader can never observe the row without its index entries (or vice versa), no matter how many tablets were involved</a:t>
            </a:r>
            <a:endParaRPr kumimoji="0" sz="120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9918485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45801E4-CD2E-6AD7-265F-417DF479E7D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546618D-1904-B662-5A50-892E6A955AA7}"/>
              </a:ext>
            </a:extLst>
          </p:cNvPr>
          <p:cNvSpPr txBox="1">
            <a:spLocks noGrp="1"/>
          </p:cNvSpPr>
          <p:nvPr>
            <p:ph type="title"/>
          </p:nvPr>
        </p:nvSpPr>
        <p:spPr>
          <a:xfrm>
            <a:off x="258000" y="51962"/>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(reads ?) collocated indexes, key-only retrieval, covering indexes, index ordered tables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6CD0B1A-6DB6-95DC-EA29-0443E3FF62F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0A98020-4A6D-D027-BE17-46A4F34FC2BF}"/>
              </a:ext>
            </a:extLst>
          </p:cNvPr>
          <p:cNvSpPr txBox="1"/>
          <p:nvPr/>
        </p:nvSpPr>
        <p:spPr>
          <a:xfrm>
            <a:off x="315981" y="912535"/>
            <a:ext cx="8272606" cy="3263940"/>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file access method-</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sequential scan; has every column you need</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index (a subset of columns) retrieval</a:t>
            </a:r>
            <a:r>
              <a:rPr kumimoji="0" lang="en" sz="1200" b="0" i="0" u="none" strike="noStrike" kern="0" cap="none" spc="0" normalizeH="0" baseline="0" noProof="0" dirty="0">
                <a:ln>
                  <a:noFill/>
                </a:ln>
                <a:solidFill>
                  <a:srgbClr val="00B0F0"/>
                </a:solidFill>
                <a:effectLst/>
                <a:uLnTx/>
                <a:uFillTx/>
                <a:latin typeface="Lato"/>
                <a:ea typeface="Lato"/>
                <a:cs typeface="Lato"/>
                <a:sym typeface="Lato"/>
              </a:rPr>
              <a:t>; use the index to identify the rows you need, then go back to the table proper to get any remaining columns, 2 logical reads</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collocated (tables) indexes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(yugabyteDB has collocated tables, a different topic, and not covered here)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Sybase 1987, Oracle 1997, Spanner 2012, but all meant slightly different things</a:t>
            </a:r>
          </a:p>
          <a:p>
            <a:pPr marL="568325" marR="0" lvl="0" indent="-10795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topically clustered indexes/tables reside in this neighborhood </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"attached index", index follows partitioning strategy of table proper</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largely; create physical adjacency of parent and child (rows), reduce latency to retrieve </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the biggest downside is creating node hot spots </a:t>
            </a:r>
          </a:p>
          <a:p>
            <a:pPr marR="0" lvl="0" defTabSz="914400" rtl="0" eaLnBrk="1" fontAlgn="auto" latinLnBrk="0" hangingPunct="1">
              <a:lnSpc>
                <a:spcPct val="115000"/>
              </a:lnSpc>
              <a:spcBef>
                <a:spcPts val="0"/>
              </a:spcBef>
              <a:spcAft>
                <a:spcPts val="0"/>
              </a:spcAft>
              <a:buClr>
                <a:srgbClr val="000000"/>
              </a:buClr>
              <a:buSzTx/>
              <a:tabLst/>
              <a:defRPr/>
            </a:pPr>
            <a:r>
              <a:rPr lang="en" sz="2400" b="1" dirty="0">
                <a:latin typeface="Lato"/>
                <a:ea typeface="Lato"/>
                <a:cs typeface="Lato"/>
                <a:sym typeface="Lato"/>
              </a:rPr>
              <a:t>            …</a:t>
            </a:r>
            <a:endParaRPr kumimoji="0" sz="2400" b="1"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0961312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EB6F5DA-8A18-37EA-77C2-B865DCFE392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11EBB20-914C-FBFE-7783-A6BA92758665}"/>
              </a:ext>
            </a:extLst>
          </p:cNvPr>
          <p:cNvSpPr txBox="1">
            <a:spLocks noGrp="1"/>
          </p:cNvSpPr>
          <p:nvPr>
            <p:ph type="title"/>
          </p:nvPr>
        </p:nvSpPr>
        <p:spPr>
          <a:xfrm>
            <a:off x="258000" y="51962"/>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(reads ?) collocated indexes, key-only retrieval, covering indexes, index ordered tables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040C029-DF2D-7B22-7FE2-A0A1E696454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B84576D-0561-7F09-5869-73E8F0FD0930}"/>
              </a:ext>
            </a:extLst>
          </p:cNvPr>
          <p:cNvSpPr txBox="1"/>
          <p:nvPr/>
        </p:nvSpPr>
        <p:spPr>
          <a:xfrm>
            <a:off x="315981" y="912535"/>
            <a:ext cx="8272606" cy="2768420"/>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2400" b="1" dirty="0">
                <a:latin typeface="Lato"/>
                <a:ea typeface="Lato"/>
                <a:cs typeface="Lato"/>
                <a:sym typeface="Lato"/>
              </a:rPr>
              <a:t>            …</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yugabyteDB index ordered tables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data in table exists in key order, no separate heap layer</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primary key lookup; index ordered data, and all data is present</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key only retrieval</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column list columns all found in index structure, no need to access table proper</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can be an exception to index negation</a:t>
            </a:r>
          </a:p>
          <a:p>
            <a:pPr marR="0" lvl="0" defTabSz="914400" rtl="0" eaLnBrk="1" fontAlgn="auto" latinLnBrk="0" hangingPunct="1">
              <a:lnSpc>
                <a:spcPct val="115000"/>
              </a:lnSpc>
              <a:spcBef>
                <a:spcPts val="0"/>
              </a:spcBef>
              <a:spcAft>
                <a:spcPts val="0"/>
              </a:spcAft>
              <a:buClr>
                <a:srgbClr val="000000"/>
              </a:buClr>
              <a:buSzTx/>
              <a:tabLst/>
              <a:defRPr/>
            </a:pPr>
            <a:r>
              <a:rPr kumimoji="0" lang="en-US" sz="2400" b="1" i="0" u="none" strike="noStrike" kern="0" cap="none" spc="0" normalizeH="0" baseline="0" noProof="0" dirty="0">
                <a:ln>
                  <a:noFill/>
                </a:ln>
                <a:solidFill>
                  <a:srgbClr val="000000"/>
                </a:solidFill>
                <a:effectLst/>
                <a:uLnTx/>
                <a:uFillTx/>
                <a:latin typeface="Lato"/>
                <a:ea typeface="Lato"/>
                <a:cs typeface="Lato"/>
                <a:sym typeface="Lato"/>
              </a:rPr>
              <a:t>            …</a:t>
            </a:r>
            <a:endParaRPr kumimoji="0" sz="2400" b="1"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5141553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4EBF8EE-6762-8848-D197-9AEAF819CCC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DD2A7E2-3DD0-EF85-C447-B6275746D6C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key only retrieval, index negation exception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8FA3900-4DBA-D088-93EC-CD3008DBAE9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3BD9490-D26A-C030-2667-BB39015756C5}"/>
              </a:ext>
            </a:extLst>
          </p:cNvPr>
          <p:cNvSpPr txBox="1"/>
          <p:nvPr/>
        </p:nvSpPr>
        <p:spPr>
          <a:xfrm>
            <a:off x="309206" y="759856"/>
            <a:ext cx="8627999" cy="3794855"/>
          </a:xfrm>
          <a:prstGeom prst="rect">
            <a:avLst/>
          </a:prstGeom>
          <a:noFill/>
          <a:ln>
            <a:noFill/>
          </a:ln>
        </p:spPr>
        <p:txBody>
          <a:bodyPr spcFirstLastPara="1" wrap="square" lIns="91425" tIns="91425" rIns="91425" bIns="91425" anchor="t" anchorCtr="0">
            <a:spAutoFit/>
          </a:bodyPr>
          <a:lstStyle/>
          <a:p>
            <a:pPr>
              <a:lnSpc>
                <a:spcPct val="115000"/>
              </a:lnSpc>
              <a:defRPr/>
            </a:pPr>
            <a:r>
              <a:rPr lang="en-US" sz="1200" dirty="0">
                <a:latin typeface="Courier New" panose="02070309020205020404" pitchFamily="49" charset="0"/>
                <a:ea typeface="Lato"/>
                <a:cs typeface="Courier New" panose="02070309020205020404" pitchFamily="49" charset="0"/>
                <a:sym typeface="Lato"/>
              </a:rPr>
              <a:t>-- 200,000 rows, bucket uniformly 0-99 (so `bucket &lt; 40` matches ~40% — poor selectivity)</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bucket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payload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INDEX t1_idx ON t1 (bucket ASC);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id, bucket FROM t1 WHERE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Seq Scan on t1  (actual time=2.044..138.039 rows=80000)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Storage Filter: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bucket FROM t1 WHERE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Only Scan using t1_idx  (actual time=0.923..19.420 rows=80000)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Heap Fetches: 0</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6662543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AC59395-D10A-F3D7-DAB5-C96B0769026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70BED01-F4FA-E400-054B-F6C031BAB273}"/>
              </a:ext>
            </a:extLst>
          </p:cNvPr>
          <p:cNvSpPr txBox="1">
            <a:spLocks noGrp="1"/>
          </p:cNvSpPr>
          <p:nvPr>
            <p:ph type="title"/>
          </p:nvPr>
        </p:nvSpPr>
        <p:spPr>
          <a:xfrm>
            <a:off x="258000" y="51962"/>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(reads ?) collocated indexes, key-only retrieval, covering indexes, index ordered tables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93A0BC7-31EC-7D4C-9F99-43CE84F244B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8A09FCB-7F76-2EC3-A05D-E29C474505D5}"/>
              </a:ext>
            </a:extLst>
          </p:cNvPr>
          <p:cNvSpPr txBox="1"/>
          <p:nvPr/>
        </p:nvSpPr>
        <p:spPr>
          <a:xfrm>
            <a:off x="315981" y="912535"/>
            <a:ext cx="8272606" cy="1706591"/>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2400" b="1" dirty="0">
                <a:latin typeface="Lato"/>
                <a:ea typeface="Lato"/>
                <a:cs typeface="Lato"/>
                <a:sym typeface="Lato"/>
              </a:rPr>
              <a:t>            …</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covering indexes</a:t>
            </a:r>
            <a:endParaRPr lang="en-US" sz="2400" b="1" dirty="0">
              <a:latin typeface="Lato"/>
              <a:ea typeface="Lato"/>
              <a:cs typeface="Lato"/>
              <a:sym typeface="Lato"/>
            </a:endParaRP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i="0" u="none" strike="noStrike" kern="0" cap="none" spc="0" normalizeH="0" baseline="0" noProof="0" dirty="0">
                <a:ln>
                  <a:noFill/>
                </a:ln>
                <a:solidFill>
                  <a:srgbClr val="000000"/>
                </a:solidFill>
                <a:effectLst/>
                <a:uLnTx/>
                <a:uFillTx/>
                <a:latin typeface="Lato"/>
                <a:ea typeface="Lato"/>
                <a:cs typeface="Lato"/>
                <a:sym typeface="Lato"/>
              </a:rPr>
              <a:t>available for both unique and duplicate indexes (more commonly used for unique)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additional columns not part of (key calculation), but stored as real, directly-readable column data</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i="0" u="none" strike="noStrike" kern="0" cap="none" spc="0" normalizeH="0" baseline="0" noProof="0" dirty="0">
                <a:ln>
                  <a:noFill/>
                </a:ln>
                <a:solidFill>
                  <a:srgbClr val="000000"/>
                </a:solidFill>
                <a:effectLst/>
                <a:uLnTx/>
                <a:uFillTx/>
                <a:latin typeface="Lato"/>
                <a:ea typeface="Lato"/>
                <a:cs typeface="Lato"/>
                <a:sym typeface="Lato"/>
              </a:rPr>
              <a:t>why ?    pick up key-only retrievals (performance)</a:t>
            </a:r>
          </a:p>
        </p:txBody>
      </p:sp>
    </p:spTree>
    <p:extLst>
      <p:ext uri="{BB962C8B-B14F-4D97-AF65-F5344CB8AC3E}">
        <p14:creationId xmlns:p14="http://schemas.microsoft.com/office/powerpoint/2010/main" val="8714085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E57A5C8-A090-8407-949A-6D5EA6D6E92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F4364F5-0143-7456-3AF6-C8FEC61E9F2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covering index</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112A730-B160-F3F8-4E58-C40A958AD39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8D1B312-5B55-DE2A-F106-0FC809D9EF4C}"/>
              </a:ext>
            </a:extLst>
          </p:cNvPr>
          <p:cNvSpPr txBox="1"/>
          <p:nvPr/>
        </p:nvSpPr>
        <p:spPr>
          <a:xfrm>
            <a:off x="315981" y="851575"/>
            <a:ext cx="8272606" cy="372406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            --  add 200k rows of data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bucket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payload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 SELECT id, bucket FROM t1 WHERE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Seq Scan on t1  (actual time=2.185..139.998 rows=80000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Storage Filter: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Execution Time: 154.017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CREATE INDEX t1_bucket_idx ON t1 (bucket ASC) INCLUDE (id);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 SELECT id, bucket FROM t1 WHERE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Only Scan using t1_bucket_idx on t1  (actual time=1.865..27.611 rows=80000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(bucket &lt; 40)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Heap Fetches: 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Execution Time: 44.605 ms</a:t>
            </a:r>
            <a:endParaRPr kumimoji="0"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6778071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1ECC61AF-321D-697E-38C4-3A2F24E01E05}"/>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D555B7F6-7467-F1F7-2CE8-B36096AB8D78}"/>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AB7626C6-A016-D289-008A-EADFBE4ABD14}"/>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04</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CF1F4E30-6E2F-C63E-6B16-B70808816455}"/>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CD3F012D-ECEA-AABF-E4E8-2E8603FEABE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BA41A54B-7431-C188-B3F3-67F706A62D2F}"/>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C81F082D-70EC-A342-D341-3CE6F14D7467}"/>
              </a:ext>
            </a:extLst>
          </p:cNvPr>
          <p:cNvSpPr/>
          <p:nvPr/>
        </p:nvSpPr>
        <p:spPr>
          <a:xfrm>
            <a:off x="313605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D37AD232-F8A6-0517-C5E8-2D5E31AF0564}"/>
              </a:ext>
            </a:extLst>
          </p:cNvPr>
          <p:cNvSpPr/>
          <p:nvPr/>
        </p:nvSpPr>
        <p:spPr>
          <a:xfrm>
            <a:off x="354446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BC61DE23-4386-A6C1-73A4-125EA6521BEF}"/>
              </a:ext>
            </a:extLst>
          </p:cNvPr>
          <p:cNvSpPr/>
          <p:nvPr/>
        </p:nvSpPr>
        <p:spPr>
          <a:xfrm>
            <a:off x="395286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2FC7E831-0380-7BE9-19F5-5789C8F47CFF}"/>
              </a:ext>
            </a:extLst>
          </p:cNvPr>
          <p:cNvSpPr/>
          <p:nvPr/>
        </p:nvSpPr>
        <p:spPr>
          <a:xfrm>
            <a:off x="436127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A60C224C-7296-16AE-91C3-7FCC5F06600C}"/>
              </a:ext>
            </a:extLst>
          </p:cNvPr>
          <p:cNvSpPr/>
          <p:nvPr/>
        </p:nvSpPr>
        <p:spPr>
          <a:xfrm>
            <a:off x="599490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539CBBF9-0905-7509-137D-646EE4085D06}"/>
              </a:ext>
            </a:extLst>
          </p:cNvPr>
          <p:cNvSpPr/>
          <p:nvPr/>
        </p:nvSpPr>
        <p:spPr>
          <a:xfrm>
            <a:off x="558650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2901694B-F873-BE87-761F-2BB4C3A3A4EA}"/>
              </a:ext>
            </a:extLst>
          </p:cNvPr>
          <p:cNvSpPr/>
          <p:nvPr/>
        </p:nvSpPr>
        <p:spPr>
          <a:xfrm>
            <a:off x="640331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5023D00A-4C7C-286F-E8AB-B6DA5C676751}"/>
              </a:ext>
            </a:extLst>
          </p:cNvPr>
          <p:cNvSpPr/>
          <p:nvPr/>
        </p:nvSpPr>
        <p:spPr>
          <a:xfrm>
            <a:off x="4769685" y="1754293"/>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9DF0FF01-A558-FFDE-433A-382E9D22A508}"/>
              </a:ext>
            </a:extLst>
          </p:cNvPr>
          <p:cNvSpPr/>
          <p:nvPr/>
        </p:nvSpPr>
        <p:spPr>
          <a:xfrm>
            <a:off x="517809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2525D5BB-0568-114A-8134-E9791F3B5535}"/>
              </a:ext>
            </a:extLst>
          </p:cNvPr>
          <p:cNvSpPr/>
          <p:nvPr/>
        </p:nvSpPr>
        <p:spPr>
          <a:xfrm>
            <a:off x="6811727" y="1754293"/>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7D13A18C-A92C-7A77-AFE8-701218DC716E}"/>
              </a:ext>
            </a:extLst>
          </p:cNvPr>
          <p:cNvSpPr txBox="1"/>
          <p:nvPr/>
        </p:nvSpPr>
        <p:spPr>
          <a:xfrm>
            <a:off x="3351103" y="2253251"/>
            <a:ext cx="5000417"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new topics, and reinforcing what we have already covered </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two table, outer join</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26458707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5713441-7097-6D65-0669-BD9577FFB37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7AA4D3F-5464-4B4E-598F-B191DB4BCB7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B5FA574-38A0-4419-0E36-B9B071E7175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C07ED94-DE93-E7A8-8F51-7A10A958C800}"/>
              </a:ext>
            </a:extLst>
          </p:cNvPr>
          <p:cNvSpPr txBox="1"/>
          <p:nvPr/>
        </p:nvSpPr>
        <p:spPr>
          <a:xfrm>
            <a:off x="315981" y="1244428"/>
            <a:ext cx="4688410" cy="117567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LEFT OUTER JOIN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ON t1.col1 = t2.col1;</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38E3E631-D0D5-ED2F-E4CE-2284492F17D5}"/>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1406F9D3-88AC-D8C6-0F79-E7589937B8B6}"/>
              </a:ext>
            </a:extLst>
          </p:cNvPr>
          <p:cNvSpPr txBox="1"/>
          <p:nvPr/>
        </p:nvSpPr>
        <p:spPr>
          <a:xfrm>
            <a:off x="6102002" y="2893099"/>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Tree>
    <p:extLst>
      <p:ext uri="{BB962C8B-B14F-4D97-AF65-F5344CB8AC3E}">
        <p14:creationId xmlns:p14="http://schemas.microsoft.com/office/powerpoint/2010/main" val="1124259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4176F56-8D18-C40E-3F7E-E6B87365772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3631464-4D24-DCD8-E8B6-9D499B5755B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outer join, what is it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1F320E8-6290-4B57-E6F2-593EF79BF9A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9E60D7D2-EE16-0E04-9137-70FCF3A64673}"/>
              </a:ext>
            </a:extLst>
          </p:cNvPr>
          <p:cNvSpPr txBox="1"/>
          <p:nvPr/>
        </p:nvSpPr>
        <p:spPr>
          <a:xfrm>
            <a:off x="315981" y="1067218"/>
            <a:ext cx="8272606" cy="2662237"/>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one table is dominant, another inner/preserved/null-supplying</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if no join pair from the inner table, populate those columns with NULLs</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solidFill>
                  <a:srgbClr val="00B0F0"/>
                </a:solidFill>
                <a:latin typeface="Lato"/>
                <a:ea typeface="Lato"/>
                <a:cs typeface="Lato"/>
                <a:sym typeface="Lato"/>
              </a:rPr>
              <a:t>every row from the outer table qualifies the join condition</a:t>
            </a:r>
          </a:p>
          <a:p>
            <a:pPr marL="227012" marR="0" lvl="0" defTabSz="914400" rtl="0" eaLnBrk="1" fontAlgn="auto" latinLnBrk="0" hangingPunct="1">
              <a:lnSpc>
                <a:spcPct val="115000"/>
              </a:lnSpc>
              <a:spcBef>
                <a:spcPts val="0"/>
              </a:spcBef>
              <a:spcAft>
                <a:spcPts val="0"/>
              </a:spcAft>
              <a:buClr>
                <a:srgbClr val="000000"/>
              </a:buClr>
              <a:buSzTx/>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examples</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customer  </a:t>
            </a:r>
            <a:r>
              <a:rPr kumimoji="0" lang="en" sz="1200"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order                   even if the customer never placed an order</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Wingdings" panose="05000000000000000000" pitchFamily="2" charset="2"/>
              </a:rPr>
              <a:t>employee  department     even for weird employee types (contractors ?) without a department</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B0F0"/>
                </a:solidFill>
                <a:effectLst/>
                <a:uLnTx/>
                <a:uFillTx/>
                <a:latin typeface="Lato"/>
                <a:ea typeface="Lato"/>
                <a:cs typeface="Lato"/>
                <a:sym typeface="Wingdings" panose="05000000000000000000" pitchFamily="2" charset="2"/>
              </a:rPr>
              <a:t>consider how to process if t1 i</a:t>
            </a:r>
            <a:r>
              <a:rPr lang="en" dirty="0">
                <a:solidFill>
                  <a:srgbClr val="00B0F0"/>
                </a:solidFill>
                <a:latin typeface="Lato"/>
                <a:ea typeface="Lato"/>
                <a:cs typeface="Lato"/>
                <a:sym typeface="Wingdings" panose="05000000000000000000" pitchFamily="2" charset="2"/>
              </a:rPr>
              <a:t>s read first, versus t2</a:t>
            </a:r>
            <a:endParaRPr kumimoji="0" lang="en" b="0" i="0" u="none" strike="noStrike" kern="0" cap="none" spc="0" normalizeH="0" baseline="0" noProof="0" dirty="0">
              <a:ln>
                <a:noFill/>
              </a:ln>
              <a:solidFill>
                <a:srgbClr val="00B0F0"/>
              </a:solidFill>
              <a:effectLst/>
              <a:uLnTx/>
              <a:uFillTx/>
              <a:latin typeface="Lato"/>
              <a:ea typeface="Lato"/>
              <a:cs typeface="Lato"/>
              <a:sym typeface="Wingdings" panose="05000000000000000000" pitchFamily="2" charset="2"/>
            </a:endParaRP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847061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7D19EBB-21AF-C4FC-71F1-B901A30AA9A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C9E4DDE-6BD9-F247-2362-234AE715899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a:t>
            </a:r>
            <a:r>
              <a:rPr lang="en">
                <a:solidFill>
                  <a:schemeClr val="accent2"/>
                </a:solidFill>
                <a:latin typeface="Lato"/>
                <a:ea typeface="Lato"/>
                <a:cs typeface="Lato"/>
                <a:sym typeface="Lato"/>
              </a:rPr>
              <a:t>: historically (and without exception)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474C124-18DA-15E6-F7B3-D3670F4ACB2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B93B6B8-5939-ADD6-E007-5EA8244A8806}"/>
              </a:ext>
            </a:extLst>
          </p:cNvPr>
          <p:cNvSpPr txBox="1"/>
          <p:nvPr/>
        </p:nvSpPr>
        <p:spPr>
          <a:xfrm>
            <a:off x="315981" y="739775"/>
            <a:ext cx="4688410"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LEFT OUTER JOIN t2 ON t1.col1 = t2.col1;</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5" name="Google Shape;248;p56">
            <a:extLst>
              <a:ext uri="{FF2B5EF4-FFF2-40B4-BE49-F238E27FC236}">
                <a16:creationId xmlns:a16="http://schemas.microsoft.com/office/drawing/2014/main" id="{FAC067FB-3B6E-A2DF-D116-BB2EBE564380}"/>
              </a:ext>
            </a:extLst>
          </p:cNvPr>
          <p:cNvSpPr txBox="1"/>
          <p:nvPr/>
        </p:nvSpPr>
        <p:spPr>
          <a:xfrm>
            <a:off x="4827181" y="1028230"/>
            <a:ext cx="3884428" cy="3157757"/>
          </a:xfrm>
          <a:prstGeom prst="rect">
            <a:avLst/>
          </a:prstGeom>
          <a:solidFill>
            <a:schemeClr val="lt1"/>
          </a:solid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solidFill>
                  <a:srgbClr val="7030A0"/>
                </a:solidFill>
                <a:latin typeface="Lato"/>
                <a:ea typeface="Lato"/>
                <a:cs typeface="Lato"/>
                <a:sym typeface="Lato"/>
              </a:rPr>
              <a:t>always-always-always read the outer table first</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solidFill>
                  <a:srgbClr val="7030A0"/>
                </a:solidFill>
                <a:latin typeface="Lato"/>
                <a:ea typeface="Lato"/>
                <a:cs typeface="Lato"/>
                <a:sym typeface="Lato"/>
              </a:rPr>
              <a:t>if you read the inner table first, you would have to go back and figure out what you are missing from the outer table. </a:t>
            </a:r>
            <a:r>
              <a:rPr lang="en-US" dirty="0" err="1">
                <a:solidFill>
                  <a:srgbClr val="7030A0"/>
                </a:solidFill>
                <a:latin typeface="Lato"/>
                <a:ea typeface="Lato"/>
                <a:cs typeface="Lato"/>
                <a:sym typeface="Lato"/>
              </a:rPr>
              <a:t>blecht</a:t>
            </a:r>
            <a:endParaRPr kumimoji="0" lang="en-US" b="0" i="0" u="none" strike="noStrike" kern="0" cap="none" spc="0" normalizeH="0" baseline="0" noProof="0" dirty="0">
              <a:ln>
                <a:noFill/>
              </a:ln>
              <a:solidFill>
                <a:srgbClr val="7030A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solidFill>
                  <a:srgbClr val="7030A0"/>
                </a:solidFill>
                <a:latin typeface="Lato"/>
                <a:ea typeface="Lato"/>
                <a:cs typeface="Lato"/>
                <a:sym typeface="Lato"/>
              </a:rPr>
              <a:t>nested-loop-join (NLJ) down into the inner table</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solidFill>
                <a:srgbClr val="7030A0"/>
              </a:solidFill>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solidFill>
                  <a:srgbClr val="7030A0"/>
                </a:solidFill>
                <a:latin typeface="Lato"/>
                <a:ea typeface="Lato"/>
                <a:cs typeface="Lato"/>
                <a:sym typeface="Lato"/>
              </a:rPr>
              <a:t>comparably super CPU and I/O intensive</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solidFill>
                  <a:srgbClr val="7030A0"/>
                </a:solidFill>
                <a:latin typeface="Lato"/>
                <a:ea typeface="Lato"/>
                <a:cs typeface="Lato"/>
                <a:sym typeface="Lato"/>
              </a:rPr>
              <a:t>at least we could batch nested loop join (BNLJ) to reduce network I/O, I/O calls</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b="0" i="0" u="none" strike="noStrike" kern="0" cap="none" spc="0" normalizeH="0" baseline="0" noProof="0" dirty="0">
              <a:ln>
                <a:noFill/>
              </a:ln>
              <a:solidFill>
                <a:srgbClr val="7030A0"/>
              </a:solidFill>
              <a:effectLst/>
              <a:uLnTx/>
              <a:uFillTx/>
              <a:latin typeface="Lato"/>
              <a:ea typeface="Lato"/>
              <a:cs typeface="Lato"/>
              <a:sym typeface="Lato"/>
            </a:endParaRPr>
          </a:p>
        </p:txBody>
      </p:sp>
      <p:pic>
        <p:nvPicPr>
          <p:cNvPr id="7" name="Picture 6">
            <a:extLst>
              <a:ext uri="{FF2B5EF4-FFF2-40B4-BE49-F238E27FC236}">
                <a16:creationId xmlns:a16="http://schemas.microsoft.com/office/drawing/2014/main" id="{5D3B6DD1-D0DF-3F2E-77CB-A739E8DC9CB7}"/>
              </a:ext>
            </a:extLst>
          </p:cNvPr>
          <p:cNvPicPr>
            <a:picLocks noChangeAspect="1"/>
          </p:cNvPicPr>
          <p:nvPr/>
        </p:nvPicPr>
        <p:blipFill>
          <a:blip r:embed="rId3"/>
          <a:stretch>
            <a:fillRect/>
          </a:stretch>
        </p:blipFill>
        <p:spPr>
          <a:xfrm flipH="1">
            <a:off x="853188" y="1740390"/>
            <a:ext cx="2216076" cy="2952363"/>
          </a:xfrm>
          <a:prstGeom prst="rect">
            <a:avLst/>
          </a:prstGeom>
        </p:spPr>
      </p:pic>
      <p:sp>
        <p:nvSpPr>
          <p:cNvPr id="10" name="Google Shape;248;p56">
            <a:extLst>
              <a:ext uri="{FF2B5EF4-FFF2-40B4-BE49-F238E27FC236}">
                <a16:creationId xmlns:a16="http://schemas.microsoft.com/office/drawing/2014/main" id="{3C06AF55-03B1-C433-03B2-CF98B9B742FA}"/>
              </a:ext>
            </a:extLst>
          </p:cNvPr>
          <p:cNvSpPr txBox="1"/>
          <p:nvPr/>
        </p:nvSpPr>
        <p:spPr>
          <a:xfrm rot="21182162">
            <a:off x="1392627" y="2537660"/>
            <a:ext cx="1365151" cy="17773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notice too, this query has no filters/ predicates</a:t>
            </a:r>
            <a:endParaRPr kumimoji="0" lang="en" sz="18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2449866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0416314-4BA7-3B04-8669-B58BF745343C}"/>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05886C60-F0A5-C319-CF5B-202F2ADA46ED}"/>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3B3B562F-332C-341D-C315-D2CB693333A9}"/>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04</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F82697D3-55F2-FD75-DE28-3BD80B072CC8}"/>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98AA6B1A-04DD-4389-5A86-82AC8BB5C9A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09D58B7D-5FDC-C2F5-C7F7-7461213510D0}"/>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00A3DDDB-999C-A666-331A-A71CFD4DE643}"/>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4163290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19BF7D1-0477-6C71-B692-63985B92F1E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B6CB732-B616-D29A-F7A5-5CBCB76E83D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74A93FC-939F-8095-61D6-D7450F311BB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2E38D80-37C8-374A-F65D-4A4BF673632F}"/>
              </a:ext>
            </a:extLst>
          </p:cNvPr>
          <p:cNvSpPr txBox="1"/>
          <p:nvPr/>
        </p:nvSpPr>
        <p:spPr>
          <a:xfrm>
            <a:off x="315981" y="812667"/>
            <a:ext cx="8272606" cy="372406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t1 (col1,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 g * 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generate_series(1, 100000) AS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t2 (col1,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 g * 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generate_series(1, 10000) AS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t2;</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5575435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7C4C214-E325-7881-7315-DA932784212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03006EC-8D68-3699-1B27-88E491983BA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46321C9-4C6F-4468-6B17-0EBABB604B2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EE44AC3-0AFD-0235-1DC4-9A7DB3811E52}"/>
              </a:ext>
            </a:extLst>
          </p:cNvPr>
          <p:cNvSpPr txBox="1"/>
          <p:nvPr/>
        </p:nvSpPr>
        <p:spPr>
          <a:xfrm>
            <a:off x="258000" y="1110379"/>
            <a:ext cx="8272606"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Hash Left Join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(cost=1002.61..9767.79 rows=100000 width=16) </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time=27.894..145.244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Hash Cond: (t1.col1 = t2.col1)</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Seq Scan on t1  (cost=21.09..8523.76 rows=100000 width=8) </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time=3.513..84.543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Hash</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(cost=856.52..856.52 rows=10000 width=8) (actual time=24.310..24.311 rows=10000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Buckets: 16384  Batches: 1  Memory Usage: 519kB</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Seq Scan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on t2  (cost=21.08..856.52 rows=10000 width=8) </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time=1.677..21.353 rows=10000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79.297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167.949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923 kB</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pic>
        <p:nvPicPr>
          <p:cNvPr id="4" name="Picture 3">
            <a:extLst>
              <a:ext uri="{FF2B5EF4-FFF2-40B4-BE49-F238E27FC236}">
                <a16:creationId xmlns:a16="http://schemas.microsoft.com/office/drawing/2014/main" id="{702CD034-6E2D-6B51-9A3D-3A74DCF24C04}"/>
              </a:ext>
            </a:extLst>
          </p:cNvPr>
          <p:cNvPicPr>
            <a:picLocks noChangeAspect="1"/>
          </p:cNvPicPr>
          <p:nvPr/>
        </p:nvPicPr>
        <p:blipFill>
          <a:blip r:embed="rId3"/>
          <a:stretch>
            <a:fillRect/>
          </a:stretch>
        </p:blipFill>
        <p:spPr>
          <a:xfrm rot="5400000">
            <a:off x="5399992" y="2975773"/>
            <a:ext cx="836965" cy="257337"/>
          </a:xfrm>
          <a:prstGeom prst="rect">
            <a:avLst/>
          </a:prstGeom>
        </p:spPr>
      </p:pic>
      <p:sp>
        <p:nvSpPr>
          <p:cNvPr id="5" name="Oval 4">
            <a:extLst>
              <a:ext uri="{FF2B5EF4-FFF2-40B4-BE49-F238E27FC236}">
                <a16:creationId xmlns:a16="http://schemas.microsoft.com/office/drawing/2014/main" id="{B1AEB790-B843-41CD-F71B-1950D5E0ECAB}"/>
              </a:ext>
            </a:extLst>
          </p:cNvPr>
          <p:cNvSpPr/>
          <p:nvPr/>
        </p:nvSpPr>
        <p:spPr>
          <a:xfrm>
            <a:off x="6046379" y="2851598"/>
            <a:ext cx="333153" cy="33315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7" name="Oval 6">
            <a:extLst>
              <a:ext uri="{FF2B5EF4-FFF2-40B4-BE49-F238E27FC236}">
                <a16:creationId xmlns:a16="http://schemas.microsoft.com/office/drawing/2014/main" id="{3B5DB3F4-6E2A-F680-F2EA-B6785792523D}"/>
              </a:ext>
            </a:extLst>
          </p:cNvPr>
          <p:cNvSpPr/>
          <p:nvPr/>
        </p:nvSpPr>
        <p:spPr>
          <a:xfrm>
            <a:off x="6620414" y="2591543"/>
            <a:ext cx="333153" cy="33315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9" name="Oval 8">
            <a:extLst>
              <a:ext uri="{FF2B5EF4-FFF2-40B4-BE49-F238E27FC236}">
                <a16:creationId xmlns:a16="http://schemas.microsoft.com/office/drawing/2014/main" id="{BA5A71D7-95F9-536E-AAF2-E5DF9B4987CD}"/>
              </a:ext>
            </a:extLst>
          </p:cNvPr>
          <p:cNvSpPr/>
          <p:nvPr/>
        </p:nvSpPr>
        <p:spPr>
          <a:xfrm>
            <a:off x="6018027" y="2020930"/>
            <a:ext cx="333153" cy="33315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11" name="Google Shape;248;p56">
            <a:extLst>
              <a:ext uri="{FF2B5EF4-FFF2-40B4-BE49-F238E27FC236}">
                <a16:creationId xmlns:a16="http://schemas.microsoft.com/office/drawing/2014/main" id="{BFF5AE28-4683-2089-82C0-770EA63D8E7A}"/>
              </a:ext>
            </a:extLst>
          </p:cNvPr>
          <p:cNvSpPr txBox="1"/>
          <p:nvPr/>
        </p:nvSpPr>
        <p:spPr>
          <a:xfrm>
            <a:off x="6379532" y="2819673"/>
            <a:ext cx="2463600"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sequentially scan t2</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3" name="Google Shape;248;p56">
            <a:extLst>
              <a:ext uri="{FF2B5EF4-FFF2-40B4-BE49-F238E27FC236}">
                <a16:creationId xmlns:a16="http://schemas.microsoft.com/office/drawing/2014/main" id="{7555769B-DE0C-2355-C9A3-58AC3A4AA6D5}"/>
              </a:ext>
            </a:extLst>
          </p:cNvPr>
          <p:cNvSpPr txBox="1"/>
          <p:nvPr/>
        </p:nvSpPr>
        <p:spPr>
          <a:xfrm>
            <a:off x="6987708" y="2548377"/>
            <a:ext cx="2096306"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build a hash list of that result</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5" name="Google Shape;248;p56">
            <a:extLst>
              <a:ext uri="{FF2B5EF4-FFF2-40B4-BE49-F238E27FC236}">
                <a16:creationId xmlns:a16="http://schemas.microsoft.com/office/drawing/2014/main" id="{796E9490-EB08-0CA8-7BFC-09BFFB6D60D0}"/>
              </a:ext>
            </a:extLst>
          </p:cNvPr>
          <p:cNvSpPr txBox="1"/>
          <p:nvPr/>
        </p:nvSpPr>
        <p:spPr>
          <a:xfrm>
            <a:off x="6392740" y="1957082"/>
            <a:ext cx="2096306"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sequentially scan t1</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8279750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D1CE4D0-7B96-6788-191C-81486231576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B561BDA-6E5F-BA7B-60B7-042FEAE12F5D}"/>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589ED3F-71B4-2EA2-13EA-2DCDA567584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Oval 4">
            <a:extLst>
              <a:ext uri="{FF2B5EF4-FFF2-40B4-BE49-F238E27FC236}">
                <a16:creationId xmlns:a16="http://schemas.microsoft.com/office/drawing/2014/main" id="{5E250E31-F251-482F-9F9B-1516EF31F492}"/>
              </a:ext>
            </a:extLst>
          </p:cNvPr>
          <p:cNvSpPr/>
          <p:nvPr/>
        </p:nvSpPr>
        <p:spPr>
          <a:xfrm>
            <a:off x="430498" y="874028"/>
            <a:ext cx="333153" cy="33315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7" name="Oval 6">
            <a:extLst>
              <a:ext uri="{FF2B5EF4-FFF2-40B4-BE49-F238E27FC236}">
                <a16:creationId xmlns:a16="http://schemas.microsoft.com/office/drawing/2014/main" id="{D166B9D7-177C-AB8E-D789-EA22872BAF08}"/>
              </a:ext>
            </a:extLst>
          </p:cNvPr>
          <p:cNvSpPr/>
          <p:nvPr/>
        </p:nvSpPr>
        <p:spPr>
          <a:xfrm>
            <a:off x="430498" y="1580817"/>
            <a:ext cx="333153" cy="33315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9" name="Oval 8">
            <a:extLst>
              <a:ext uri="{FF2B5EF4-FFF2-40B4-BE49-F238E27FC236}">
                <a16:creationId xmlns:a16="http://schemas.microsoft.com/office/drawing/2014/main" id="{29F0E1FA-5599-04EC-BC4B-707DCAA32183}"/>
              </a:ext>
            </a:extLst>
          </p:cNvPr>
          <p:cNvSpPr/>
          <p:nvPr/>
        </p:nvSpPr>
        <p:spPr>
          <a:xfrm>
            <a:off x="423079" y="3404752"/>
            <a:ext cx="333153" cy="33315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11" name="Google Shape;248;p56">
            <a:extLst>
              <a:ext uri="{FF2B5EF4-FFF2-40B4-BE49-F238E27FC236}">
                <a16:creationId xmlns:a16="http://schemas.microsoft.com/office/drawing/2014/main" id="{CC63A3B5-0FB7-6C5A-B781-3D1C546519E0}"/>
              </a:ext>
            </a:extLst>
          </p:cNvPr>
          <p:cNvSpPr txBox="1"/>
          <p:nvPr/>
        </p:nvSpPr>
        <p:spPr>
          <a:xfrm>
            <a:off x="763650" y="842103"/>
            <a:ext cx="6989139" cy="82173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sequentially scan t2</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latin typeface="Lato"/>
                <a:ea typeface="Lato"/>
                <a:cs typeface="Lato"/>
                <a:sym typeface="Lato"/>
              </a:rPr>
              <a:t>why ?</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there is no filter/predicate, you are examining</a:t>
            </a:r>
            <a:r>
              <a:rPr lang="en" sz="1200" dirty="0">
                <a:latin typeface="Lato"/>
                <a:ea typeface="Lato"/>
                <a:cs typeface="Lato"/>
                <a:sym typeface="Lato"/>
              </a:rPr>
              <a:t>  every row anyway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3" name="Google Shape;248;p56">
            <a:extLst>
              <a:ext uri="{FF2B5EF4-FFF2-40B4-BE49-F238E27FC236}">
                <a16:creationId xmlns:a16="http://schemas.microsoft.com/office/drawing/2014/main" id="{2EBF62C2-4CFC-8604-6CA0-0EDB4F778817}"/>
              </a:ext>
            </a:extLst>
          </p:cNvPr>
          <p:cNvSpPr txBox="1"/>
          <p:nvPr/>
        </p:nvSpPr>
        <p:spPr>
          <a:xfrm>
            <a:off x="797791" y="1537651"/>
            <a:ext cx="6862849" cy="1883562"/>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build a hash list of that result from t2</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why ?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ther</a:t>
            </a:r>
            <a:r>
              <a:rPr lang="en-US" sz="1200" dirty="0">
                <a:latin typeface="Lato"/>
                <a:ea typeface="Lato"/>
                <a:cs typeface="Lato"/>
                <a:sym typeface="Lato"/>
              </a:rPr>
              <a:t>e was already a hash index in place, why not use that)</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these rows have to move anyway. they have to meet/join with tuples from t1</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Lato"/>
                <a:ea typeface="Lato"/>
                <a:cs typeface="Lato"/>
                <a:sym typeface="Lato"/>
              </a:rPr>
              <a:t>these rows will all move to a single node, in memory (work_mem)</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why ?</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Lato"/>
                <a:ea typeface="Lato"/>
                <a:cs typeface="Lato"/>
                <a:sym typeface="Lato"/>
              </a:rPr>
              <a:t>the choices are;</a:t>
            </a:r>
          </a:p>
          <a:p>
            <a:pPr marL="460375" marR="0" lvl="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Lato"/>
                <a:ea typeface="Lato"/>
                <a:cs typeface="Lato"/>
                <a:sym typeface="Lato"/>
              </a:rPr>
              <a:t>nested-loop-join, move a little at a time, small targeted fetches</a:t>
            </a:r>
          </a:p>
          <a:p>
            <a:pPr marL="460375" marR="0" lvl="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Lato"/>
                <a:ea typeface="Lato"/>
                <a:cs typeface="Lato"/>
                <a:sym typeface="Lato"/>
              </a:rPr>
              <a:t>hash-join, move all at once</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5" name="Google Shape;248;p56">
            <a:extLst>
              <a:ext uri="{FF2B5EF4-FFF2-40B4-BE49-F238E27FC236}">
                <a16:creationId xmlns:a16="http://schemas.microsoft.com/office/drawing/2014/main" id="{366AC566-59AF-0DAB-F191-0167529FB375}"/>
              </a:ext>
            </a:extLst>
          </p:cNvPr>
          <p:cNvSpPr txBox="1"/>
          <p:nvPr/>
        </p:nvSpPr>
        <p:spPr>
          <a:xfrm>
            <a:off x="797791" y="3340904"/>
            <a:ext cx="5175815" cy="1034099"/>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sequentially scan t1</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latin typeface="Lato"/>
                <a:ea typeface="Lato"/>
                <a:cs typeface="Lato"/>
                <a:sym typeface="Lato"/>
              </a:rPr>
              <a:t>why ?   (same answer as above; no filter predicate)</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why not also </a:t>
            </a:r>
            <a:r>
              <a:rPr lang="en" sz="1200" dirty="0">
                <a:latin typeface="Lato"/>
                <a:ea typeface="Lato"/>
                <a:cs typeface="Lato"/>
                <a:sym typeface="Lato"/>
              </a:rPr>
              <a:t>move this table ?</a:t>
            </a:r>
          </a:p>
          <a:p>
            <a:pPr marL="460375"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there is no reason to. we only examine this table one time</a:t>
            </a:r>
          </a:p>
        </p:txBody>
      </p:sp>
    </p:spTree>
    <p:extLst>
      <p:ext uri="{BB962C8B-B14F-4D97-AF65-F5344CB8AC3E}">
        <p14:creationId xmlns:p14="http://schemas.microsoft.com/office/powerpoint/2010/main" val="34532265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478663-4243-D4B9-DD00-07DE1168547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D58BB8C-EBEB-0AB3-7E1A-B4248B9A94A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outer joins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5260FCF-5982-0D24-1A96-88450BDC6FD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F58888F-9A0D-4265-9469-FE937830252A}"/>
              </a:ext>
            </a:extLst>
          </p:cNvPr>
          <p:cNvSpPr txBox="1"/>
          <p:nvPr/>
        </p:nvSpPr>
        <p:spPr>
          <a:xfrm>
            <a:off x="453655" y="1188351"/>
            <a:ext cx="8134931" cy="2095928"/>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panose="020B0604020202020204" charset="0"/>
                <a:ea typeface="Lato"/>
                <a:cs typeface="Lato" panose="020B0604020202020204" charset="0"/>
                <a:sym typeface="Lato"/>
              </a:rPr>
              <a:t>still a major influence on the execution of the query</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panose="020B0604020202020204" charset="0"/>
                <a:ea typeface="Lato"/>
                <a:cs typeface="Lato" panose="020B0604020202020204" charset="0"/>
                <a:sym typeface="Lato"/>
              </a:rPr>
              <a:t>it is the first rule of the optimizer for a reason</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panose="020B0604020202020204" charset="0"/>
                <a:ea typeface="Lato"/>
                <a:cs typeface="Lato" panose="020B0604020202020204" charset="0"/>
                <a:sym typeface="Lato"/>
              </a:rPr>
              <a:t>(without a predicate, every row from the dominant table gets returned)</a:t>
            </a:r>
            <a:endParaRPr kumimoji="0" lang="en-US" sz="1200" b="0" i="0" u="none" strike="noStrike" kern="0" cap="none" spc="0" normalizeH="0" baseline="0" noProof="0" dirty="0">
              <a:ln>
                <a:noFill/>
              </a:ln>
              <a:solidFill>
                <a:srgbClr val="000000"/>
              </a:solidFill>
              <a:effectLst/>
              <a:uLnTx/>
              <a:uFillTx/>
              <a:latin typeface="Lato" panose="020B0604020202020204" charset="0"/>
              <a:ea typeface="Lato"/>
              <a:cs typeface="Lato" panose="020B0604020202020204" charset="0"/>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latin typeface="Lato" panose="020B0604020202020204" charset="0"/>
              <a:ea typeface="Lato"/>
              <a:cs typeface="Lato" panose="020B0604020202020204" charset="0"/>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panose="020B0604020202020204" charset="0"/>
                <a:ea typeface="Lato"/>
                <a:cs typeface="Lato" panose="020B0604020202020204" charset="0"/>
                <a:sym typeface="Lato"/>
              </a:rPr>
              <a:t>give the optimizer more options-</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panose="020B0604020202020204" charset="0"/>
                <a:ea typeface="Lato"/>
                <a:cs typeface="Lato" panose="020B0604020202020204" charset="0"/>
                <a:sym typeface="Lato"/>
              </a:rPr>
              <a:t>model the (missing department) as data, as a relation</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panose="020B0604020202020204" charset="0"/>
                <a:ea typeface="Lato"/>
                <a:cs typeface="Lato" panose="020B0604020202020204" charset="0"/>
                <a:sym typeface="Lato"/>
              </a:rPr>
              <a:t>the $0 first customer order</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b="0" i="0" u="none" strike="noStrike" kern="0" cap="none" spc="0" normalizeH="0" baseline="0" noProof="0" dirty="0">
              <a:ln>
                <a:noFill/>
              </a:ln>
              <a:solidFill>
                <a:srgbClr val="00000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2069155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C8F0D51-FA1A-B623-9112-A5C0BC55598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D9D55905-8564-CF0B-E599-D89F96973AA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 what if we disable hash join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F8D6DB3-0908-DC8E-E216-CCAD2306E48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D9EF879-70C9-BA7F-63DF-512DFC85D193}"/>
              </a:ext>
            </a:extLst>
          </p:cNvPr>
          <p:cNvSpPr txBox="1"/>
          <p:nvPr/>
        </p:nvSpPr>
        <p:spPr>
          <a:xfrm>
            <a:off x="315981" y="1246160"/>
            <a:ext cx="8272606"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enable_hashjoin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off;               -- not an 'optimizer hint', actually a 'session level setting'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enable_mergejoin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off;</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LEFT OUTER JOIN t2 ON t1.col1 = t2.col1;</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2700035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4BB0BC6-BAD5-91F1-1B3F-8721585B248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FE1CAFC-F7E5-02B3-99B6-BF74483D663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 what if we disable hash join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122AE8B-0A58-DF54-CD40-657BAD999CC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5C71B3A-1EDD-7FA4-0FD4-A8AD11F5512E}"/>
              </a:ext>
            </a:extLst>
          </p:cNvPr>
          <p:cNvSpPr txBox="1"/>
          <p:nvPr/>
        </p:nvSpPr>
        <p:spPr>
          <a:xfrm>
            <a:off x="315981" y="914267"/>
            <a:ext cx="8272606" cy="2485265"/>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YB Batched Nested Loop Left Join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(cost=42.17..30799.29 rows=100000 width=16)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time=4.415..304.477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Join Filter: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Seq Scan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on t1  (cost=21.09..8523.76 rows=100000 width=8)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time=1.013..16.275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Scan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using t2_pkey on t2  (cost=21.08..215.30 rows=1024 width=8)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time=2.314..2.331 rows=102 loops=98)</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ANY (ARRAY[t1.col1, $1, $2, ..., $1023]))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Planning Time: 59.343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Execution Time: 321.912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Peak Memory Usage: 1779 kB</a:t>
            </a:r>
            <a:endParaRPr kumimoji="0"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
        <p:nvSpPr>
          <p:cNvPr id="4" name="Google Shape;248;p56">
            <a:extLst>
              <a:ext uri="{FF2B5EF4-FFF2-40B4-BE49-F238E27FC236}">
                <a16:creationId xmlns:a16="http://schemas.microsoft.com/office/drawing/2014/main" id="{5088AE1E-9E8B-6D73-DB76-9F24B62DBFCD}"/>
              </a:ext>
            </a:extLst>
          </p:cNvPr>
          <p:cNvSpPr txBox="1"/>
          <p:nvPr/>
        </p:nvSpPr>
        <p:spPr>
          <a:xfrm>
            <a:off x="4854115" y="3017197"/>
            <a:ext cx="3734472" cy="1069493"/>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with hash join, the first plan</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solidFill>
                  <a:srgbClr val="00B0F0"/>
                </a:solidFill>
                <a:latin typeface="Courier New" panose="02070309020205020404" pitchFamily="49" charset="0"/>
                <a:ea typeface="Lato"/>
                <a:cs typeface="Courier New" panose="02070309020205020404" pitchFamily="49" charset="0"/>
                <a:sym typeface="Lato"/>
              </a:rPr>
              <a:t>--</a:t>
            </a:r>
            <a:endPar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Planning Time: 79.297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Execution Time: 167.949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Peak Memory Usage: 923 kB</a:t>
            </a:r>
            <a:endParaRPr kumimoji="0"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9991389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69BBA9A-41E2-6D52-2706-D23A24DB274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6866F4C-C9A3-C9EB-FC2B-A532E5BDE8F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 what if there were filters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E95747A-01A5-129D-5E58-0175FA14B4E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A28A1A5-86A5-FC6F-BC93-F873CFD14AB6}"/>
              </a:ext>
            </a:extLst>
          </p:cNvPr>
          <p:cNvSpPr txBox="1"/>
          <p:nvPr/>
        </p:nvSpPr>
        <p:spPr>
          <a:xfrm>
            <a:off x="315981" y="1002320"/>
            <a:ext cx="8272606"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LEFT OUTER JOIN t2 ON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WHERE t1.col1 &lt;= 100;</a:t>
            </a:r>
            <a:endParaRPr kumimoji="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06208005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B444632-6D5F-75EB-A56C-2CF3E3BE2A2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3C9BD2F-9E77-32FE-F7B3-B88BD9356D2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04: what if there were filters (a different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D821D3E-9649-57FC-5EA8-BDA2FE6AEB2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71FECE0-E791-F8CE-0E51-D1A8411EAA02}"/>
              </a:ext>
            </a:extLst>
          </p:cNvPr>
          <p:cNvSpPr txBox="1"/>
          <p:nvPr/>
        </p:nvSpPr>
        <p:spPr>
          <a:xfrm>
            <a:off x="315981" y="1002320"/>
            <a:ext cx="8272606"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YB Batched Nested Loop Left Join  </a:t>
            </a: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(cost=42.17..6098.70 rows=104 width=16)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solidFill>
                  <a:schemeClr val="tx1"/>
                </a:solidFill>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(actual time=35.292..35.344 rows=100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Join Filter: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Seq Scan </a:t>
            </a: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on t1  (cost=21.09..6057.84 rows=104 width=8)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solidFill>
                  <a:schemeClr val="tx1"/>
                </a:solidFill>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(actual time=33.530..33.539 rows=100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Storage Filter: (col1 &lt;= 100)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Scan </a:t>
            </a: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using t2_pkey on t2  (cost=21.08..40.73 rows=104 width=8)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solidFill>
                  <a:schemeClr val="tx1"/>
                </a:solidFill>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(actual time=1.672..1.684 rows=100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Index Cond: (col1 = ANY (ARRAY[t1.col1, $1, $2, ..., $1023]))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Planning Time: 77.439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Execution Time: 36.627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Peak Memory Usage: 659 kB</a:t>
            </a:r>
            <a:endParaRPr kumimoji="0" sz="10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endParaRPr>
          </a:p>
        </p:txBody>
      </p:sp>
      <p:sp>
        <p:nvSpPr>
          <p:cNvPr id="4" name="Google Shape;248;p56">
            <a:extLst>
              <a:ext uri="{FF2B5EF4-FFF2-40B4-BE49-F238E27FC236}">
                <a16:creationId xmlns:a16="http://schemas.microsoft.com/office/drawing/2014/main" id="{15DC2220-2BB7-9FC4-1C5F-4F06E8C3F428}"/>
              </a:ext>
            </a:extLst>
          </p:cNvPr>
          <p:cNvSpPr txBox="1"/>
          <p:nvPr/>
        </p:nvSpPr>
        <p:spPr>
          <a:xfrm>
            <a:off x="3506222" y="3538700"/>
            <a:ext cx="2908126" cy="1069493"/>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with hash join, the first plan</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solidFill>
                  <a:srgbClr val="00B0F0"/>
                </a:solidFill>
                <a:latin typeface="Courier New" panose="02070309020205020404" pitchFamily="49" charset="0"/>
                <a:ea typeface="Lato"/>
                <a:cs typeface="Courier New" panose="02070309020205020404" pitchFamily="49" charset="0"/>
                <a:sym typeface="Lato"/>
              </a:rPr>
              <a:t>--</a:t>
            </a:r>
            <a:endPar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Planning Time: 79.297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Execution Time: 167.949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Peak Memory Usage: 923 kB</a:t>
            </a:r>
            <a:endParaRPr kumimoji="0"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
        <p:nvSpPr>
          <p:cNvPr id="6" name="Google Shape;248;p56">
            <a:extLst>
              <a:ext uri="{FF2B5EF4-FFF2-40B4-BE49-F238E27FC236}">
                <a16:creationId xmlns:a16="http://schemas.microsoft.com/office/drawing/2014/main" id="{378E0E97-F179-0394-B453-F9071B7BFBED}"/>
              </a:ext>
            </a:extLst>
          </p:cNvPr>
          <p:cNvSpPr txBox="1"/>
          <p:nvPr/>
        </p:nvSpPr>
        <p:spPr>
          <a:xfrm>
            <a:off x="6502401" y="3538700"/>
            <a:ext cx="2458720" cy="1069493"/>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a:t>
            </a:r>
            <a:r>
              <a:rPr lang="en-US" sz="1000" dirty="0">
                <a:solidFill>
                  <a:srgbClr val="00B0F0"/>
                </a:solidFill>
                <a:latin typeface="Courier New" panose="02070309020205020404" pitchFamily="49" charset="0"/>
                <a:ea typeface="Lato"/>
                <a:cs typeface="Courier New" panose="02070309020205020404" pitchFamily="49" charset="0"/>
                <a:sym typeface="Lato"/>
              </a:rPr>
              <a:t>BNLJ</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the </a:t>
            </a:r>
            <a:r>
              <a:rPr lang="en-US" sz="1000" dirty="0">
                <a:solidFill>
                  <a:srgbClr val="00B0F0"/>
                </a:solidFill>
                <a:latin typeface="Courier New" panose="02070309020205020404" pitchFamily="49" charset="0"/>
                <a:ea typeface="Lato"/>
                <a:cs typeface="Courier New" panose="02070309020205020404" pitchFamily="49" charset="0"/>
                <a:sym typeface="Lato"/>
              </a:rPr>
              <a:t>second</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plan</a:t>
            </a:r>
          </a:p>
          <a:p>
            <a:pPr marR="0" lvl="0" defTabSz="914400" rtl="0" eaLnBrk="1" fontAlgn="auto" latinLnBrk="0" hangingPunct="1">
              <a:lnSpc>
                <a:spcPct val="115000"/>
              </a:lnSpc>
              <a:spcBef>
                <a:spcPts val="0"/>
              </a:spcBef>
              <a:spcAft>
                <a:spcPts val="0"/>
              </a:spcAft>
              <a:buClr>
                <a:srgbClr val="000000"/>
              </a:buClr>
              <a:buSzTx/>
              <a:tabLst/>
              <a:defRPr/>
            </a:pPr>
            <a:r>
              <a:rPr lang="en-US" sz="1000" dirty="0">
                <a:solidFill>
                  <a:srgbClr val="00B0F0"/>
                </a:solidFill>
                <a:latin typeface="Courier New" panose="02070309020205020404" pitchFamily="49" charset="0"/>
                <a:ea typeface="Lato"/>
                <a:cs typeface="Courier New" panose="02070309020205020404" pitchFamily="49" charset="0"/>
                <a:sym typeface="Lato"/>
              </a:rPr>
              <a:t>--</a:t>
            </a:r>
            <a:endPar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Planning Time: 59.343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Execution Time: 321.912 ms</a:t>
            </a:r>
          </a:p>
          <a:p>
            <a:pPr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Peak Memory Usage: 1779 kB</a:t>
            </a:r>
          </a:p>
        </p:txBody>
      </p:sp>
    </p:spTree>
    <p:extLst>
      <p:ext uri="{BB962C8B-B14F-4D97-AF65-F5344CB8AC3E}">
        <p14:creationId xmlns:p14="http://schemas.microsoft.com/office/powerpoint/2010/main" val="22494036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82AD102-F2AE-1BE6-134F-707139822098}"/>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85A341BC-996B-A581-DF08-D7C6E7C67A22}"/>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9AF6BD81-38DB-DC35-EAD9-00B1ED2C069B}"/>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5A9ACB39-9030-3A38-078E-00A868DBF88B}"/>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45FB4A4E-398F-6C9A-56D3-464B1E22C54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AA28B6E5-881B-DFED-9A21-95311B2F9C65}"/>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7E502DC3-B3ED-32CC-A73E-4166B5E7456C}"/>
              </a:ext>
            </a:extLst>
          </p:cNvPr>
          <p:cNvSpPr txBox="1"/>
          <p:nvPr/>
        </p:nvSpPr>
        <p:spPr>
          <a:xfrm>
            <a:off x="2560699" y="387747"/>
            <a:ext cx="5911751" cy="3582489"/>
          </a:xfrm>
          <a:prstGeom prst="rect">
            <a:avLst/>
          </a:prstGeom>
          <a:noFill/>
          <a:ln>
            <a:noFill/>
          </a:ln>
        </p:spPr>
        <p:txBody>
          <a:bodyPr spcFirstLastPara="1" wrap="square" lIns="91425" tIns="91425" rIns="91425" bIns="91425" anchor="t" anchorCtr="0">
            <a:spAutoFit/>
          </a:bodyPr>
          <a:lstStyle/>
          <a:p>
            <a:pPr marL="112713" lvl="0" indent="-112713">
              <a:lnSpc>
                <a:spcPct val="115000"/>
              </a:lnSpc>
              <a:buFont typeface="Arial" panose="020B0604020202020204" pitchFamily="34" charset="0"/>
              <a:buChar char="•"/>
              <a:defRPr/>
            </a:pPr>
            <a:r>
              <a:rPr lang="en-US" sz="1200" dirty="0">
                <a:solidFill>
                  <a:schemeClr val="tx1"/>
                </a:solidFill>
              </a:rPr>
              <a:t>why are we less concerned about having 8 indexes on one table than we were umpteen years ago</a:t>
            </a:r>
          </a:p>
          <a:p>
            <a:pPr marL="112713" lvl="0" indent="-112713">
              <a:lnSpc>
                <a:spcPct val="115000"/>
              </a:lnSpc>
              <a:buFont typeface="Arial" panose="020B0604020202020204" pitchFamily="34" charset="0"/>
              <a:buChar char="•"/>
              <a:defRPr/>
            </a:pPr>
            <a:r>
              <a:rPr lang="en-US" sz="1200" dirty="0">
                <a:solidFill>
                  <a:schemeClr val="tx1"/>
                </a:solidFill>
              </a:rPr>
              <a:t>write pipelining is trying to improve upon (pick one); </a:t>
            </a:r>
            <a:r>
              <a:rPr lang="en-US" sz="1200" dirty="0" err="1">
                <a:solidFill>
                  <a:schemeClr val="tx1"/>
                </a:solidFill>
              </a:rPr>
              <a:t>sla</a:t>
            </a:r>
            <a:r>
              <a:rPr lang="en-US" sz="1200" dirty="0">
                <a:solidFill>
                  <a:schemeClr val="tx1"/>
                </a:solidFill>
              </a:rPr>
              <a:t> delivery time, </a:t>
            </a:r>
            <a:r>
              <a:rPr lang="en-US" sz="1200" dirty="0" err="1">
                <a:solidFill>
                  <a:schemeClr val="tx1"/>
                </a:solidFill>
              </a:rPr>
              <a:t>cpu</a:t>
            </a:r>
            <a:r>
              <a:rPr lang="en-US" sz="1200" dirty="0">
                <a:solidFill>
                  <a:schemeClr val="tx1"/>
                </a:solidFill>
              </a:rPr>
              <a:t> utilization, ram utilization, network utilization, disk space, data consistency</a:t>
            </a:r>
          </a:p>
          <a:p>
            <a:pPr marL="112713" lvl="0" indent="-112713">
              <a:lnSpc>
                <a:spcPct val="115000"/>
              </a:lnSpc>
              <a:buFont typeface="Arial" panose="020B0604020202020204" pitchFamily="34" charset="0"/>
              <a:buChar char="•"/>
              <a:defRPr/>
            </a:pPr>
            <a:endParaRPr lang="en-US" sz="1200" dirty="0">
              <a:solidFill>
                <a:schemeClr val="tx1"/>
              </a:solidFill>
            </a:endParaRPr>
          </a:p>
          <a:p>
            <a:pPr marL="112713" lvl="0" indent="-112713">
              <a:lnSpc>
                <a:spcPct val="115000"/>
              </a:lnSpc>
              <a:buFont typeface="Arial" panose="020B0604020202020204" pitchFamily="34" charset="0"/>
              <a:buChar char="•"/>
              <a:defRPr/>
            </a:pPr>
            <a:r>
              <a:rPr lang="en-US" sz="1200" dirty="0">
                <a:solidFill>
                  <a:srgbClr val="00B0F0"/>
                </a:solidFill>
              </a:rPr>
              <a:t>what type of index retrieval might overcome an index negation</a:t>
            </a:r>
          </a:p>
          <a:p>
            <a:pPr marL="112713" lvl="0" indent="-112713">
              <a:lnSpc>
                <a:spcPct val="115000"/>
              </a:lnSpc>
              <a:buFont typeface="Arial" panose="020B0604020202020204" pitchFamily="34" charset="0"/>
              <a:buChar char="•"/>
              <a:defRPr/>
            </a:pPr>
            <a:r>
              <a:rPr lang="en-US" sz="1200" dirty="0">
                <a:solidFill>
                  <a:schemeClr val="tx1"/>
                </a:solidFill>
              </a:rPr>
              <a:t>why are you more likely to use covering indexes for unique indexes versus duplicate indexes</a:t>
            </a:r>
          </a:p>
          <a:p>
            <a:pPr marL="112713" lvl="0" indent="-112713">
              <a:lnSpc>
                <a:spcPct val="115000"/>
              </a:lnSpc>
              <a:buFont typeface="Arial" panose="020B0604020202020204" pitchFamily="34" charset="0"/>
              <a:buChar char="•"/>
              <a:defRPr/>
            </a:pPr>
            <a:endParaRPr lang="en-US" sz="1200" dirty="0">
              <a:solidFill>
                <a:schemeClr val="tx1"/>
              </a:solidFill>
            </a:endParaRPr>
          </a:p>
          <a:p>
            <a:pPr marL="112713" lvl="0" indent="-112713">
              <a:lnSpc>
                <a:spcPct val="115000"/>
              </a:lnSpc>
              <a:buFont typeface="Arial" panose="020B0604020202020204" pitchFamily="34" charset="0"/>
              <a:buChar char="•"/>
              <a:defRPr/>
            </a:pPr>
            <a:r>
              <a:rPr lang="en-US" sz="1200" dirty="0">
                <a:solidFill>
                  <a:schemeClr val="tx1"/>
                </a:solidFill>
              </a:rPr>
              <a:t>two table outer joined select; all things being equal, which table is returning all rows</a:t>
            </a:r>
          </a:p>
          <a:p>
            <a:pPr marL="112713" lvl="0" indent="-112713">
              <a:lnSpc>
                <a:spcPct val="115000"/>
              </a:lnSpc>
              <a:buFont typeface="Arial" panose="020B0604020202020204" pitchFamily="34" charset="0"/>
              <a:buChar char="•"/>
              <a:defRPr/>
            </a:pPr>
            <a:r>
              <a:rPr lang="en-US" sz="1200" dirty="0">
                <a:solidFill>
                  <a:schemeClr val="tx1"/>
                </a:solidFill>
              </a:rPr>
              <a:t>how might you model away from outer joins</a:t>
            </a:r>
          </a:p>
          <a:p>
            <a:pPr marL="112713" lvl="0" indent="-112713">
              <a:lnSpc>
                <a:spcPct val="115000"/>
              </a:lnSpc>
              <a:buFont typeface="Arial" panose="020B0604020202020204" pitchFamily="34" charset="0"/>
              <a:buChar char="•"/>
              <a:defRPr/>
            </a:pPr>
            <a:endParaRPr lang="en-US" sz="1200" dirty="0">
              <a:solidFill>
                <a:schemeClr val="tx1"/>
              </a:solidFill>
            </a:endParaRPr>
          </a:p>
          <a:p>
            <a:pPr marL="112713" lvl="0" indent="-112713">
              <a:lnSpc>
                <a:spcPct val="115000"/>
              </a:lnSpc>
              <a:buFont typeface="Arial" panose="020B0604020202020204" pitchFamily="34" charset="0"/>
              <a:buChar char="•"/>
              <a:defRPr/>
            </a:pPr>
            <a:r>
              <a:rPr lang="en-US" sz="1200" dirty="0">
                <a:solidFill>
                  <a:schemeClr val="tx1"/>
                </a:solidFill>
              </a:rPr>
              <a:t>how does batch nested loop join differ from nested loop join</a:t>
            </a:r>
          </a:p>
          <a:p>
            <a:pPr marL="112713" lvl="0" indent="-112713">
              <a:lnSpc>
                <a:spcPct val="115000"/>
              </a:lnSpc>
              <a:buFont typeface="Arial" panose="020B0604020202020204" pitchFamily="34" charset="0"/>
              <a:buChar char="•"/>
              <a:defRPr/>
            </a:pPr>
            <a:r>
              <a:rPr lang="en-US" sz="1200" dirty="0">
                <a:solidFill>
                  <a:schemeClr val="tx1"/>
                </a:solidFill>
              </a:rPr>
              <a:t>which resource are we trying to optimize here; network, </a:t>
            </a:r>
            <a:r>
              <a:rPr lang="en-US" sz="1200" dirty="0" err="1">
                <a:solidFill>
                  <a:schemeClr val="tx1"/>
                </a:solidFill>
              </a:rPr>
              <a:t>cpu</a:t>
            </a:r>
            <a:r>
              <a:rPr lang="en-US" sz="1200" dirty="0">
                <a:solidFill>
                  <a:schemeClr val="tx1"/>
                </a:solidFill>
              </a:rPr>
              <a:t>, ram, disk</a:t>
            </a:r>
          </a:p>
          <a:p>
            <a:pPr marL="112713" lvl="0" indent="-112713">
              <a:lnSpc>
                <a:spcPct val="115000"/>
              </a:lnSpc>
              <a:buFont typeface="Arial" panose="020B0604020202020204" pitchFamily="34" charset="0"/>
              <a:buChar char="•"/>
              <a:defRPr/>
            </a:pPr>
            <a:endParaRPr lang="en-US" sz="1200" dirty="0">
              <a:solidFill>
                <a:schemeClr val="tx1"/>
              </a:solidFill>
            </a:endParaRPr>
          </a:p>
          <a:p>
            <a:pPr marL="112713" lvl="0" indent="-112713">
              <a:lnSpc>
                <a:spcPct val="115000"/>
              </a:lnSpc>
              <a:buFont typeface="Arial" panose="020B0604020202020204" pitchFamily="34" charset="0"/>
              <a:buChar char="•"/>
              <a:defRPr/>
            </a:pPr>
            <a:r>
              <a:rPr lang="en-US" sz="1200" dirty="0">
                <a:solidFill>
                  <a:schemeClr val="tx1"/>
                </a:solidFill>
              </a:rPr>
              <a:t>we've witnessed a few 'session level settings'. name one</a:t>
            </a:r>
            <a:endParaRPr kumimoji="0" sz="12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32655150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22D6458D-57FF-7C71-E845-98EF9E0967B2}"/>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1101C4CB-E68E-9D56-D28B-7F241CF24155}"/>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52516ED-6F9D-AAAE-6C0A-442E234A6912}"/>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a:t>
            </a:r>
            <a:r>
              <a:rPr lang="en-US" sz="2800" dirty="0">
                <a:solidFill>
                  <a:srgbClr val="FFFFFF"/>
                </a:solidFill>
                <a:latin typeface="Rubik"/>
                <a:ea typeface="Rubik"/>
                <a:cs typeface="Rubik"/>
                <a:sym typeface="Rubik"/>
              </a:rPr>
              <a:t>4</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E73C025E-195F-7032-AADC-77AD47A818CA}"/>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D9A15DE1-B7A9-1960-9E25-8E907036AD8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1A240411-8F7C-77D1-A013-697CBDF8BD97}"/>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FBF94219-98C9-CCF4-C375-01D2FF085813}"/>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610E713E-C601-774D-7F53-12BBCC74DB94}"/>
              </a:ext>
            </a:extLst>
          </p:cNvPr>
          <p:cNvSpPr txBox="1"/>
          <p:nvPr/>
        </p:nvSpPr>
        <p:spPr>
          <a:xfrm>
            <a:off x="4898141" y="2744721"/>
            <a:ext cx="3466926" cy="432396"/>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04</a:t>
            </a:r>
          </a:p>
        </p:txBody>
      </p:sp>
    </p:spTree>
    <p:extLst>
      <p:ext uri="{BB962C8B-B14F-4D97-AF65-F5344CB8AC3E}">
        <p14:creationId xmlns:p14="http://schemas.microsoft.com/office/powerpoint/2010/main" val="2169713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4BF9F6DC-B72F-D90F-19B8-F91D417E35AE}"/>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4DE73261-ACB1-289F-8758-BC04C54FF250}"/>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45E186A5-DBB7-C259-85F0-47CC057F28E1}"/>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a:t>
            </a:r>
            <a:r>
              <a:rPr lang="en-US" sz="2800" dirty="0">
                <a:solidFill>
                  <a:srgbClr val="FFFFFF"/>
                </a:solidFill>
                <a:latin typeface="Rubik"/>
                <a:ea typeface="Rubik"/>
                <a:cs typeface="Rubik"/>
                <a:sym typeface="Rubik"/>
              </a:rPr>
              <a:t>5</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32CE4564-6F6C-A13A-46B6-6A52067ADF8E}"/>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84B8053F-332C-BDFB-8B54-8C4635CC1CD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0F7B919C-4ED8-4845-1E72-1AEA4FA3B418}"/>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C7989DB3-8F13-DF69-AD92-19666DBFE553}"/>
              </a:ext>
            </a:extLst>
          </p:cNvPr>
          <p:cNvSpPr/>
          <p:nvPr/>
        </p:nvSpPr>
        <p:spPr>
          <a:xfrm>
            <a:off x="313605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076B53DD-2205-8B23-458D-3804B1C3A687}"/>
              </a:ext>
            </a:extLst>
          </p:cNvPr>
          <p:cNvSpPr/>
          <p:nvPr/>
        </p:nvSpPr>
        <p:spPr>
          <a:xfrm>
            <a:off x="354446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0FEC0F6D-9F61-6B23-3179-B538139A07B7}"/>
              </a:ext>
            </a:extLst>
          </p:cNvPr>
          <p:cNvSpPr/>
          <p:nvPr/>
        </p:nvSpPr>
        <p:spPr>
          <a:xfrm>
            <a:off x="3952869" y="1754293"/>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5D79ECE5-CAE3-BB84-CF93-A3BBB28DA591}"/>
              </a:ext>
            </a:extLst>
          </p:cNvPr>
          <p:cNvSpPr/>
          <p:nvPr/>
        </p:nvSpPr>
        <p:spPr>
          <a:xfrm>
            <a:off x="436127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0B0B76E3-B6FE-4B3F-21DC-1A9AC1E4566A}"/>
              </a:ext>
            </a:extLst>
          </p:cNvPr>
          <p:cNvSpPr/>
          <p:nvPr/>
        </p:nvSpPr>
        <p:spPr>
          <a:xfrm>
            <a:off x="599490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ADDF08CF-6D96-66C1-763B-B372DA99E744}"/>
              </a:ext>
            </a:extLst>
          </p:cNvPr>
          <p:cNvSpPr/>
          <p:nvPr/>
        </p:nvSpPr>
        <p:spPr>
          <a:xfrm>
            <a:off x="558650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62A1C9F8-1139-834B-B6D2-C1A48528B382}"/>
              </a:ext>
            </a:extLst>
          </p:cNvPr>
          <p:cNvSpPr/>
          <p:nvPr/>
        </p:nvSpPr>
        <p:spPr>
          <a:xfrm>
            <a:off x="640331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F1A55ED1-0565-39B2-F12D-F7C3FD31EC94}"/>
              </a:ext>
            </a:extLst>
          </p:cNvPr>
          <p:cNvSpPr/>
          <p:nvPr/>
        </p:nvSpPr>
        <p:spPr>
          <a:xfrm>
            <a:off x="4769685"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31E7AF54-E739-507D-6138-1A25ECAEDBE2}"/>
              </a:ext>
            </a:extLst>
          </p:cNvPr>
          <p:cNvSpPr/>
          <p:nvPr/>
        </p:nvSpPr>
        <p:spPr>
          <a:xfrm>
            <a:off x="517809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B89A79B2-74D1-B26F-A6EF-E3D80A3321F5}"/>
              </a:ext>
            </a:extLst>
          </p:cNvPr>
          <p:cNvSpPr/>
          <p:nvPr/>
        </p:nvSpPr>
        <p:spPr>
          <a:xfrm>
            <a:off x="6811727" y="1754293"/>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0C7CF9F7-CD0D-363C-F27E-745A09C78BEB}"/>
              </a:ext>
            </a:extLst>
          </p:cNvPr>
          <p:cNvSpPr txBox="1"/>
          <p:nvPr/>
        </p:nvSpPr>
        <p:spPr>
          <a:xfrm>
            <a:off x="3351103" y="2253251"/>
            <a:ext cx="4939457"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the most costly single word modifier to any query</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two tables, </a:t>
            </a:r>
            <a:r>
              <a:rPr lang="en-US" dirty="0">
                <a:solidFill>
                  <a:schemeClr val="bg1">
                    <a:lumMod val="50000"/>
                  </a:schemeClr>
                </a:solidFill>
                <a:latin typeface="Lato"/>
                <a:ea typeface="Lato"/>
                <a:cs typeface="Lato"/>
                <a:sym typeface="Lato"/>
              </a:rPr>
              <a:t>and a/the "select</a:t>
            </a: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 modifier"</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16382072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9FB927E-06B8-6B49-59A8-91E3FF43634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8EE114A-CC86-490C-01B3-BC04AC98E869}"/>
              </a:ext>
            </a:extLst>
          </p:cNvPr>
          <p:cNvPicPr>
            <a:picLocks noChangeAspect="1"/>
          </p:cNvPicPr>
          <p:nvPr/>
        </p:nvPicPr>
        <p:blipFill>
          <a:blip r:embed="rId3"/>
          <a:stretch>
            <a:fillRect/>
          </a:stretch>
        </p:blipFill>
        <p:spPr>
          <a:xfrm flipH="1">
            <a:off x="637120" y="2046447"/>
            <a:ext cx="1900801" cy="2532339"/>
          </a:xfrm>
          <a:prstGeom prst="rect">
            <a:avLst/>
          </a:prstGeom>
        </p:spPr>
      </p:pic>
      <p:sp>
        <p:nvSpPr>
          <p:cNvPr id="242" name="Google Shape;242;p56">
            <a:extLst>
              <a:ext uri="{FF2B5EF4-FFF2-40B4-BE49-F238E27FC236}">
                <a16:creationId xmlns:a16="http://schemas.microsoft.com/office/drawing/2014/main" id="{840ECCB1-16F7-A12C-A2A9-B76C8AEA682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05</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0EA6763-3A54-90C0-93AE-CF947DD7B20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F84F896-B20F-7C37-8E39-D05B18060939}"/>
              </a:ext>
            </a:extLst>
          </p:cNvPr>
          <p:cNvSpPr txBox="1"/>
          <p:nvPr/>
        </p:nvSpPr>
        <p:spPr>
          <a:xfrm>
            <a:off x="315981" y="870771"/>
            <a:ext cx="8272606" cy="117567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fr-FR" b="0" i="0" u="none" strike="noStrike" kern="0" cap="none" spc="0" normalizeH="0" baseline="0" noProof="0" dirty="0">
                <a:ln>
                  <a:noFill/>
                </a:ln>
                <a:solidFill>
                  <a:srgbClr val="00B0F0"/>
                </a:solidFill>
                <a:effectLst/>
                <a:uLnTx/>
                <a:uFillTx/>
                <a:latin typeface="Lato"/>
                <a:ea typeface="Lato"/>
                <a:cs typeface="Lato"/>
                <a:sym typeface="Lato"/>
              </a:rPr>
              <a:t>DISTINCT</a:t>
            </a:r>
            <a:r>
              <a:rPr kumimoji="0" lang="fr-FR" b="0" i="0" u="none" strike="noStrike" kern="0" cap="none" spc="0" normalizeH="0" baseline="0" noProof="0" dirty="0">
                <a:ln>
                  <a:noFill/>
                </a:ln>
                <a:solidFill>
                  <a:srgbClr val="000000"/>
                </a:solidFill>
                <a:effectLst/>
                <a:uLnTx/>
                <a:uFillTx/>
                <a:latin typeface="Lato"/>
                <a:ea typeface="Lato"/>
                <a:cs typeface="Lato"/>
                <a:sym typeface="Lato"/>
              </a:rPr>
              <a:t>   t1.col1, t1.col4, t1.col9, t1.col10, </a:t>
            </a:r>
            <a:r>
              <a:rPr kumimoji="0" lang="fr-FR" b="0" i="0" u="none" strike="noStrike" kern="0" cap="none" spc="0" normalizeH="0" baseline="0" noProof="0" dirty="0">
                <a:ln>
                  <a:noFill/>
                </a:ln>
                <a:solidFill>
                  <a:srgbClr val="FFC000"/>
                </a:solidFill>
                <a:effectLst/>
                <a:uLnTx/>
                <a:uFillTx/>
                <a:latin typeface="Lato"/>
                <a:ea typeface="Lato"/>
                <a:cs typeface="Lato"/>
                <a:sym typeface="Lato"/>
              </a:rPr>
              <a:t>t2.status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Lato"/>
                <a:ea typeface="Lato"/>
                <a:cs typeface="Lato"/>
                <a:sym typeface="Lato"/>
              </a:rPr>
              <a:t>JOIN t2 ON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fr-FR" b="0" i="0" u="none" strike="noStrike" kern="0" cap="none" spc="0" normalizeH="0" baseline="0" noProof="0" dirty="0">
                <a:ln>
                  <a:noFill/>
                </a:ln>
                <a:solidFill>
                  <a:srgbClr val="FFC000"/>
                </a:solidFill>
                <a:effectLst/>
                <a:uLnTx/>
                <a:uFillTx/>
                <a:latin typeface="Lato"/>
                <a:ea typeface="Lato"/>
                <a:cs typeface="Lato"/>
                <a:sym typeface="Lato"/>
              </a:rPr>
              <a:t>t2.status = 'active';</a:t>
            </a:r>
            <a:endParaRPr kumimoji="0" b="0" i="0" u="none" strike="noStrike" kern="0" cap="none" spc="0" normalizeH="0" baseline="0" noProof="0" dirty="0">
              <a:ln>
                <a:noFill/>
              </a:ln>
              <a:solidFill>
                <a:srgbClr val="FFC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DCFCF126-5BFC-767F-A260-ABD544307C0A}"/>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5A00C851-B5B3-082F-B38B-F9DD8F4612E4}"/>
              </a:ext>
            </a:extLst>
          </p:cNvPr>
          <p:cNvSpPr txBox="1"/>
          <p:nvPr/>
        </p:nvSpPr>
        <p:spPr>
          <a:xfrm>
            <a:off x="6102002" y="2893099"/>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
        <p:nvSpPr>
          <p:cNvPr id="10" name="Google Shape;248;p56">
            <a:extLst>
              <a:ext uri="{FF2B5EF4-FFF2-40B4-BE49-F238E27FC236}">
                <a16:creationId xmlns:a16="http://schemas.microsoft.com/office/drawing/2014/main" id="{79937203-0C2A-879A-3F78-A59C3A1BA7C8}"/>
              </a:ext>
            </a:extLst>
          </p:cNvPr>
          <p:cNvSpPr txBox="1"/>
          <p:nvPr/>
        </p:nvSpPr>
        <p:spPr>
          <a:xfrm rot="21221358">
            <a:off x="1084358" y="2668737"/>
            <a:ext cx="1152612" cy="1600408"/>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check/ count cardinality between tables</a:t>
            </a:r>
            <a:endParaRPr kumimoji="0" lang="en" sz="16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32861031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EA106FB-C16B-A407-AEF8-B57BA7968EE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C82DB09-4EC2-BE9F-9209-E10B9061194B}"/>
              </a:ext>
            </a:extLst>
          </p:cNvPr>
          <p:cNvPicPr>
            <a:picLocks noChangeAspect="1"/>
          </p:cNvPicPr>
          <p:nvPr/>
        </p:nvPicPr>
        <p:blipFill>
          <a:blip r:embed="rId3"/>
          <a:stretch>
            <a:fillRect/>
          </a:stretch>
        </p:blipFill>
        <p:spPr>
          <a:xfrm flipH="1">
            <a:off x="142666" y="1238094"/>
            <a:ext cx="1900801" cy="2532339"/>
          </a:xfrm>
          <a:prstGeom prst="rect">
            <a:avLst/>
          </a:prstGeom>
        </p:spPr>
      </p:pic>
      <p:sp>
        <p:nvSpPr>
          <p:cNvPr id="242" name="Google Shape;242;p56">
            <a:extLst>
              <a:ext uri="{FF2B5EF4-FFF2-40B4-BE49-F238E27FC236}">
                <a16:creationId xmlns:a16="http://schemas.microsoft.com/office/drawing/2014/main" id="{33CF00D8-B083-D288-6572-CC9D4BBA8A67}"/>
              </a:ext>
            </a:extLst>
          </p:cNvPr>
          <p:cNvSpPr txBox="1">
            <a:spLocks noGrp="1"/>
          </p:cNvSpPr>
          <p:nvPr>
            <p:ph type="title"/>
          </p:nvPr>
        </p:nvSpPr>
        <p:spPr>
          <a:xfrm>
            <a:off x="258000" y="23431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an aside: counting, and knowing what is going on-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D246935-B918-485E-7AC0-90185E0FE93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91D52CA-22C7-3D5C-993A-FEDD0A370DF5}"/>
              </a:ext>
            </a:extLst>
          </p:cNvPr>
          <p:cNvSpPr txBox="1"/>
          <p:nvPr/>
        </p:nvSpPr>
        <p:spPr>
          <a:xfrm>
            <a:off x="2139089" y="1868247"/>
            <a:ext cx="2535592"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err="1">
                <a:ln>
                  <a:noFill/>
                </a:ln>
                <a:solidFill>
                  <a:srgbClr val="000000"/>
                </a:solidFill>
                <a:effectLst/>
                <a:uLnTx/>
                <a:uFillTx/>
                <a:latin typeface="Lato"/>
                <a:ea typeface="Lato"/>
                <a:cs typeface="Lato"/>
                <a:sym typeface="Lato"/>
              </a:rPr>
              <a:t>we</a:t>
            </a:r>
            <a:r>
              <a:rPr kumimoji="0" lang="fr-FR" b="0" i="0" u="none" strike="noStrike" kern="0" cap="none" spc="0" normalizeH="0" baseline="0" noProof="0" dirty="0">
                <a:ln>
                  <a:noFill/>
                </a:ln>
                <a:solidFill>
                  <a:srgbClr val="000000"/>
                </a:solidFill>
                <a:effectLst/>
                <a:uLnTx/>
                <a:uFillTx/>
                <a:latin typeface="Lato"/>
                <a:ea typeface="Lato"/>
                <a:cs typeface="Lato"/>
                <a:sym typeface="Lato"/>
              </a:rPr>
              <a:t> </a:t>
            </a:r>
            <a:r>
              <a:rPr kumimoji="0" lang="fr-FR" b="0" i="0" u="none" strike="noStrike" kern="0" cap="none" spc="0" normalizeH="0" baseline="0" noProof="0" dirty="0" err="1">
                <a:ln>
                  <a:noFill/>
                </a:ln>
                <a:solidFill>
                  <a:srgbClr val="000000"/>
                </a:solidFill>
                <a:effectLst/>
                <a:uLnTx/>
                <a:uFillTx/>
                <a:latin typeface="Lato"/>
                <a:ea typeface="Lato"/>
                <a:cs typeface="Lato"/>
                <a:sym typeface="Lato"/>
              </a:rPr>
              <a:t>just</a:t>
            </a:r>
            <a:r>
              <a:rPr kumimoji="0" lang="fr-FR" b="0" i="0" u="none" strike="noStrike" kern="0" cap="none" spc="0" normalizeH="0" baseline="0" noProof="0" dirty="0">
                <a:ln>
                  <a:noFill/>
                </a:ln>
                <a:solidFill>
                  <a:srgbClr val="000000"/>
                </a:solidFill>
                <a:effectLst/>
                <a:uLnTx/>
                <a:uFillTx/>
                <a:latin typeface="Lato"/>
                <a:ea typeface="Lato"/>
                <a:cs typeface="Lato"/>
                <a:sym typeface="Lato"/>
              </a:rPr>
              <a:t> </a:t>
            </a:r>
            <a:r>
              <a:rPr kumimoji="0" lang="fr-FR" b="0" i="0" u="none" strike="noStrike" kern="0" cap="none" spc="0" normalizeH="0" baseline="0" noProof="0" dirty="0" err="1">
                <a:ln>
                  <a:noFill/>
                </a:ln>
                <a:solidFill>
                  <a:srgbClr val="000000"/>
                </a:solidFill>
                <a:effectLst/>
                <a:uLnTx/>
                <a:uFillTx/>
                <a:latin typeface="Lato"/>
                <a:ea typeface="Lato"/>
                <a:cs typeface="Lato"/>
                <a:sym typeface="Lato"/>
              </a:rPr>
              <a:t>said</a:t>
            </a:r>
            <a:endParaRPr kumimoji="0" b="0" i="0" u="none" strike="noStrike" kern="0" cap="none" spc="0" normalizeH="0" baseline="0" noProof="0" dirty="0">
              <a:ln>
                <a:noFill/>
              </a:ln>
              <a:solidFill>
                <a:srgbClr val="FFC000"/>
              </a:solidFill>
              <a:effectLst/>
              <a:uLnTx/>
              <a:uFillTx/>
              <a:latin typeface="Lato"/>
              <a:ea typeface="Lato"/>
              <a:cs typeface="Lato"/>
              <a:sym typeface="Lato"/>
            </a:endParaRPr>
          </a:p>
        </p:txBody>
      </p:sp>
      <p:sp>
        <p:nvSpPr>
          <p:cNvPr id="10" name="Google Shape;248;p56">
            <a:extLst>
              <a:ext uri="{FF2B5EF4-FFF2-40B4-BE49-F238E27FC236}">
                <a16:creationId xmlns:a16="http://schemas.microsoft.com/office/drawing/2014/main" id="{9B313B2D-5CA1-1B18-607B-5585CA7833CF}"/>
              </a:ext>
            </a:extLst>
          </p:cNvPr>
          <p:cNvSpPr txBox="1"/>
          <p:nvPr/>
        </p:nvSpPr>
        <p:spPr>
          <a:xfrm rot="21221358">
            <a:off x="589904" y="1860384"/>
            <a:ext cx="1152612" cy="1600408"/>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check/ count cardinality between tables</a:t>
            </a:r>
            <a:endParaRPr kumimoji="0" lang="en" sz="16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endParaRPr>
          </a:p>
        </p:txBody>
      </p:sp>
      <p:pic>
        <p:nvPicPr>
          <p:cNvPr id="5" name="Picture 4">
            <a:extLst>
              <a:ext uri="{FF2B5EF4-FFF2-40B4-BE49-F238E27FC236}">
                <a16:creationId xmlns:a16="http://schemas.microsoft.com/office/drawing/2014/main" id="{29E0B77D-9F22-99EE-EFAD-2299A6540773}"/>
              </a:ext>
            </a:extLst>
          </p:cNvPr>
          <p:cNvPicPr>
            <a:picLocks noChangeAspect="1"/>
          </p:cNvPicPr>
          <p:nvPr/>
        </p:nvPicPr>
        <p:blipFill>
          <a:blip r:embed="rId4"/>
          <a:stretch>
            <a:fillRect/>
          </a:stretch>
        </p:blipFill>
        <p:spPr>
          <a:xfrm rot="11380648">
            <a:off x="1795924" y="1805375"/>
            <a:ext cx="451143" cy="768163"/>
          </a:xfrm>
          <a:prstGeom prst="rect">
            <a:avLst/>
          </a:prstGeom>
        </p:spPr>
      </p:pic>
      <p:pic>
        <p:nvPicPr>
          <p:cNvPr id="9" name="Picture 8">
            <a:extLst>
              <a:ext uri="{FF2B5EF4-FFF2-40B4-BE49-F238E27FC236}">
                <a16:creationId xmlns:a16="http://schemas.microsoft.com/office/drawing/2014/main" id="{528D940E-0639-0DA4-0B68-A544EE5D990B}"/>
              </a:ext>
            </a:extLst>
          </p:cNvPr>
          <p:cNvPicPr>
            <a:picLocks noChangeAspect="1"/>
          </p:cNvPicPr>
          <p:nvPr/>
        </p:nvPicPr>
        <p:blipFill>
          <a:blip r:embed="rId4"/>
          <a:stretch>
            <a:fillRect/>
          </a:stretch>
        </p:blipFill>
        <p:spPr>
          <a:xfrm rot="424998">
            <a:off x="3250187" y="2081517"/>
            <a:ext cx="683706" cy="1164149"/>
          </a:xfrm>
          <a:prstGeom prst="rect">
            <a:avLst/>
          </a:prstGeom>
        </p:spPr>
      </p:pic>
      <p:sp>
        <p:nvSpPr>
          <p:cNvPr id="12" name="Google Shape;248;p56">
            <a:extLst>
              <a:ext uri="{FF2B5EF4-FFF2-40B4-BE49-F238E27FC236}">
                <a16:creationId xmlns:a16="http://schemas.microsoft.com/office/drawing/2014/main" id="{0F2068A9-8B36-B867-49FB-47EC28AE6C7A}"/>
              </a:ext>
            </a:extLst>
          </p:cNvPr>
          <p:cNvSpPr txBox="1"/>
          <p:nvPr/>
        </p:nvSpPr>
        <p:spPr>
          <a:xfrm>
            <a:off x="2438018" y="2383423"/>
            <a:ext cx="2535592" cy="50318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sz="1800" b="0" i="0" u="none" strike="noStrike" kern="0" cap="none" spc="0" normalizeH="0" baseline="0" noProof="0" dirty="0">
                <a:ln>
                  <a:noFill/>
                </a:ln>
                <a:solidFill>
                  <a:srgbClr val="000000"/>
                </a:solidFill>
                <a:effectLst/>
                <a:uLnTx/>
                <a:uFillTx/>
                <a:latin typeface="Lato"/>
                <a:ea typeface="Lato"/>
                <a:cs typeface="Lato"/>
                <a:sym typeface="Lato"/>
              </a:rPr>
              <a:t>but </a:t>
            </a:r>
            <a:r>
              <a:rPr kumimoji="0" lang="fr-FR" sz="1800" b="0" i="0" u="none" strike="noStrike" kern="0" cap="none" spc="0" normalizeH="0" baseline="0" noProof="0" dirty="0" err="1">
                <a:ln>
                  <a:noFill/>
                </a:ln>
                <a:solidFill>
                  <a:srgbClr val="000000"/>
                </a:solidFill>
                <a:effectLst/>
                <a:uLnTx/>
                <a:uFillTx/>
                <a:latin typeface="Lato"/>
                <a:ea typeface="Lato"/>
                <a:cs typeface="Lato"/>
                <a:sym typeface="Lato"/>
              </a:rPr>
              <a:t>also</a:t>
            </a:r>
            <a:endParaRPr kumimoji="0" sz="1800" b="0" i="0" u="none" strike="noStrike" kern="0" cap="none" spc="0" normalizeH="0" baseline="0" noProof="0" dirty="0">
              <a:ln>
                <a:noFill/>
              </a:ln>
              <a:solidFill>
                <a:srgbClr val="FFC000"/>
              </a:solidFill>
              <a:effectLst/>
              <a:uLnTx/>
              <a:uFillTx/>
              <a:latin typeface="Lato"/>
              <a:ea typeface="Lato"/>
              <a:cs typeface="Lato"/>
              <a:sym typeface="Lato"/>
            </a:endParaRPr>
          </a:p>
        </p:txBody>
      </p:sp>
      <p:sp>
        <p:nvSpPr>
          <p:cNvPr id="14" name="Google Shape;248;p56">
            <a:extLst>
              <a:ext uri="{FF2B5EF4-FFF2-40B4-BE49-F238E27FC236}">
                <a16:creationId xmlns:a16="http://schemas.microsoft.com/office/drawing/2014/main" id="{7235C6C4-F575-8668-07D0-A79ECFBDDC99}"/>
              </a:ext>
            </a:extLst>
          </p:cNvPr>
          <p:cNvSpPr txBox="1"/>
          <p:nvPr/>
        </p:nvSpPr>
        <p:spPr>
          <a:xfrm>
            <a:off x="4064000" y="1258240"/>
            <a:ext cx="4937334" cy="322854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fr-FR" dirty="0" err="1">
                <a:solidFill>
                  <a:schemeClr val="tx1"/>
                </a:solidFill>
                <a:latin typeface="Lato"/>
                <a:ea typeface="Lato"/>
                <a:cs typeface="Lato"/>
                <a:sym typeface="Lato"/>
              </a:rPr>
              <a:t>joining</a:t>
            </a:r>
            <a:r>
              <a:rPr lang="fr-FR" dirty="0">
                <a:solidFill>
                  <a:schemeClr val="tx1"/>
                </a:solidFill>
                <a:latin typeface="Lato"/>
                <a:ea typeface="Lato"/>
                <a:cs typeface="Lato"/>
                <a:sym typeface="Lato"/>
              </a:rPr>
              <a:t> </a:t>
            </a:r>
            <a:r>
              <a:rPr lang="fr-FR" dirty="0" err="1">
                <a:solidFill>
                  <a:schemeClr val="tx1"/>
                </a:solidFill>
                <a:latin typeface="Lato"/>
                <a:ea typeface="Lato"/>
                <a:cs typeface="Lato"/>
                <a:sym typeface="Lato"/>
              </a:rPr>
              <a:t>two</a:t>
            </a:r>
            <a:r>
              <a:rPr lang="fr-FR" dirty="0">
                <a:solidFill>
                  <a:schemeClr val="tx1"/>
                </a:solidFill>
                <a:latin typeface="Lato"/>
                <a:ea typeface="Lato"/>
                <a:cs typeface="Lato"/>
                <a:sym typeface="Lato"/>
              </a:rPr>
              <a:t> tables, </a:t>
            </a:r>
            <a:r>
              <a:rPr lang="fr-FR" dirty="0" err="1">
                <a:solidFill>
                  <a:schemeClr val="tx1"/>
                </a:solidFill>
                <a:latin typeface="Lato"/>
                <a:ea typeface="Lato"/>
                <a:cs typeface="Lato"/>
                <a:sym typeface="Lato"/>
              </a:rPr>
              <a:t>creates</a:t>
            </a:r>
            <a:r>
              <a:rPr lang="fr-FR" dirty="0">
                <a:solidFill>
                  <a:schemeClr val="tx1"/>
                </a:solidFill>
                <a:latin typeface="Lato"/>
                <a:ea typeface="Lato"/>
                <a:cs typeface="Lato"/>
                <a:sym typeface="Lato"/>
              </a:rPr>
              <a:t> a projection, a </a:t>
            </a:r>
            <a:r>
              <a:rPr lang="fr-FR" dirty="0" err="1">
                <a:solidFill>
                  <a:schemeClr val="tx1"/>
                </a:solidFill>
                <a:latin typeface="Lato"/>
                <a:ea typeface="Lato"/>
                <a:cs typeface="Lato"/>
                <a:sym typeface="Lato"/>
              </a:rPr>
              <a:t>virtual</a:t>
            </a:r>
            <a:r>
              <a:rPr lang="fr-FR" dirty="0">
                <a:solidFill>
                  <a:schemeClr val="tx1"/>
                </a:solidFill>
                <a:latin typeface="Lato"/>
                <a:ea typeface="Lato"/>
                <a:cs typeface="Lato"/>
                <a:sym typeface="Lato"/>
              </a:rPr>
              <a:t> </a:t>
            </a:r>
            <a:r>
              <a:rPr lang="fr-FR" dirty="0" err="1">
                <a:solidFill>
                  <a:schemeClr val="tx1"/>
                </a:solidFill>
                <a:latin typeface="Lato"/>
                <a:ea typeface="Lato"/>
                <a:cs typeface="Lato"/>
                <a:sym typeface="Lato"/>
              </a:rPr>
              <a:t>what</a:t>
            </a:r>
            <a:r>
              <a:rPr lang="fr-FR" dirty="0">
                <a:solidFill>
                  <a:schemeClr val="tx1"/>
                </a:solidFill>
                <a:latin typeface="Lato"/>
                <a:ea typeface="Lato"/>
                <a:cs typeface="Lato"/>
                <a:sym typeface="Lato"/>
              </a:rPr>
              <a:t>-if </a:t>
            </a:r>
            <a:r>
              <a:rPr lang="fr-FR" dirty="0" err="1">
                <a:solidFill>
                  <a:schemeClr val="tx1"/>
                </a:solidFill>
                <a:latin typeface="Lato"/>
                <a:ea typeface="Lato"/>
                <a:cs typeface="Lato"/>
                <a:sym typeface="Lato"/>
              </a:rPr>
              <a:t>result</a:t>
            </a:r>
            <a:r>
              <a:rPr lang="fr-FR" dirty="0">
                <a:solidFill>
                  <a:schemeClr val="tx1"/>
                </a:solidFill>
                <a:latin typeface="Lato"/>
                <a:ea typeface="Lato"/>
                <a:cs typeface="Lato"/>
                <a:sym typeface="Lato"/>
              </a:rPr>
              <a:t> set</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a 1M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row</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table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joined</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with</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a 1M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row</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table,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creates</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a percentage of 1,000 billion/B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row</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intermediate</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a:t>
            </a:r>
            <a:r>
              <a:rPr kumimoji="0" lang="fr-FR" sz="1200" b="0" i="0" u="none" strike="noStrike" kern="0" cap="none" spc="0" normalizeH="0" baseline="0" noProof="0" dirty="0" err="1">
                <a:ln>
                  <a:noFill/>
                </a:ln>
                <a:solidFill>
                  <a:schemeClr val="tx1"/>
                </a:solidFill>
                <a:effectLst/>
                <a:uLnTx/>
                <a:uFillTx/>
                <a:latin typeface="Lato"/>
                <a:ea typeface="Lato"/>
                <a:cs typeface="Lato"/>
                <a:sym typeface="Lato"/>
              </a:rPr>
              <a:t>result</a:t>
            </a:r>
            <a:r>
              <a:rPr kumimoji="0" lang="fr-FR" sz="1200" b="0" i="0" u="none" strike="noStrike" kern="0" cap="none" spc="0" normalizeH="0" baseline="0" noProof="0" dirty="0">
                <a:ln>
                  <a:noFill/>
                </a:ln>
                <a:solidFill>
                  <a:schemeClr val="tx1"/>
                </a:solidFill>
                <a:effectLst/>
                <a:uLnTx/>
                <a:uFillTx/>
                <a:latin typeface="Lato"/>
                <a:ea typeface="Lato"/>
                <a:cs typeface="Lato"/>
                <a:sym typeface="Lato"/>
              </a:rPr>
              <a:t>, (percent of 1 trillion/T)</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fr-FR" sz="1200" dirty="0" err="1">
                <a:solidFill>
                  <a:schemeClr val="tx1"/>
                </a:solidFill>
                <a:latin typeface="Lato"/>
                <a:ea typeface="Lato"/>
                <a:cs typeface="Lato"/>
                <a:sym typeface="Lato"/>
              </a:rPr>
              <a:t>when</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both</a:t>
            </a:r>
            <a:r>
              <a:rPr lang="fr-FR" sz="1200" dirty="0">
                <a:solidFill>
                  <a:schemeClr val="tx1"/>
                </a:solidFill>
                <a:latin typeface="Lato"/>
                <a:ea typeface="Lato"/>
                <a:cs typeface="Lato"/>
                <a:sym typeface="Lato"/>
              </a:rPr>
              <a:t> tables have </a:t>
            </a:r>
            <a:r>
              <a:rPr lang="fr-FR" sz="1200" dirty="0" err="1">
                <a:solidFill>
                  <a:schemeClr val="tx1"/>
                </a:solidFill>
                <a:latin typeface="Lato"/>
                <a:ea typeface="Lato"/>
                <a:cs typeface="Lato"/>
                <a:sym typeface="Lato"/>
              </a:rPr>
              <a:t>filters</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you</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might</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never</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see</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this</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result</a:t>
            </a:r>
            <a:r>
              <a:rPr lang="fr-FR" sz="1200" dirty="0">
                <a:solidFill>
                  <a:schemeClr val="tx1"/>
                </a:solidFill>
                <a:latin typeface="Lato"/>
                <a:ea typeface="Lato"/>
                <a:cs typeface="Lato"/>
                <a:sym typeface="Lato"/>
              </a:rPr>
              <a:t> set. </a:t>
            </a:r>
            <a:r>
              <a:rPr lang="fr-FR" sz="1200" dirty="0" err="1">
                <a:solidFill>
                  <a:schemeClr val="tx1"/>
                </a:solidFill>
                <a:latin typeface="Lato"/>
                <a:ea typeface="Lato"/>
                <a:cs typeface="Lato"/>
                <a:sym typeface="Lato"/>
              </a:rPr>
              <a:t>you</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feel</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it</a:t>
            </a:r>
            <a:r>
              <a:rPr lang="fr-FR" sz="1200" dirty="0">
                <a:solidFill>
                  <a:schemeClr val="tx1"/>
                </a:solidFill>
                <a:latin typeface="Lato"/>
                <a:ea typeface="Lato"/>
                <a:cs typeface="Lato"/>
                <a:sym typeface="Lato"/>
              </a:rPr>
              <a:t> (slow </a:t>
            </a:r>
            <a:r>
              <a:rPr lang="fr-FR" sz="1200" dirty="0" err="1">
                <a:solidFill>
                  <a:schemeClr val="tx1"/>
                </a:solidFill>
                <a:latin typeface="Lato"/>
                <a:ea typeface="Lato"/>
                <a:cs typeface="Lato"/>
                <a:sym typeface="Lato"/>
              </a:rPr>
              <a:t>query</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busy</a:t>
            </a:r>
            <a:r>
              <a:rPr lang="fr-FR" sz="1200" dirty="0">
                <a:solidFill>
                  <a:schemeClr val="tx1"/>
                </a:solidFill>
                <a:latin typeface="Lato"/>
                <a:ea typeface="Lato"/>
                <a:cs typeface="Lato"/>
                <a:sym typeface="Lato"/>
              </a:rPr>
              <a:t> CPU), but </a:t>
            </a:r>
            <a:r>
              <a:rPr lang="fr-FR" sz="1200" dirty="0" err="1">
                <a:solidFill>
                  <a:schemeClr val="tx1"/>
                </a:solidFill>
                <a:latin typeface="Lato"/>
                <a:ea typeface="Lato"/>
                <a:cs typeface="Lato"/>
                <a:sym typeface="Lato"/>
              </a:rPr>
              <a:t>you</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never</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see</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it</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you</a:t>
            </a:r>
            <a:r>
              <a:rPr lang="fr-FR" sz="1200" dirty="0">
                <a:solidFill>
                  <a:schemeClr val="tx1"/>
                </a:solidFill>
                <a:latin typeface="Lato"/>
                <a:ea typeface="Lato"/>
                <a:cs typeface="Lato"/>
                <a:sym typeface="Lato"/>
              </a:rPr>
              <a:t> </a:t>
            </a:r>
            <a:r>
              <a:rPr lang="fr-FR" sz="1200" dirty="0" err="1">
                <a:solidFill>
                  <a:schemeClr val="tx1"/>
                </a:solidFill>
                <a:latin typeface="Lato"/>
                <a:ea typeface="Lato"/>
                <a:cs typeface="Lato"/>
                <a:sym typeface="Lato"/>
              </a:rPr>
              <a:t>never</a:t>
            </a:r>
            <a:r>
              <a:rPr lang="fr-FR" sz="1200" dirty="0">
                <a:solidFill>
                  <a:schemeClr val="tx1"/>
                </a:solidFill>
                <a:latin typeface="Lato"/>
                <a:ea typeface="Lato"/>
                <a:cs typeface="Lato"/>
                <a:sym typeface="Lato"/>
              </a:rPr>
              <a:t> return </a:t>
            </a:r>
            <a:r>
              <a:rPr lang="fr-FR" sz="1200" dirty="0" err="1">
                <a:solidFill>
                  <a:schemeClr val="tx1"/>
                </a:solidFill>
                <a:latin typeface="Lato"/>
                <a:ea typeface="Lato"/>
                <a:cs typeface="Lato"/>
                <a:sym typeface="Lato"/>
              </a:rPr>
              <a:t>it</a:t>
            </a:r>
            <a:r>
              <a:rPr lang="fr-FR" sz="1200" dirty="0">
                <a:solidFill>
                  <a:schemeClr val="tx1"/>
                </a:solidFill>
                <a:latin typeface="Lato"/>
                <a:ea typeface="Lato"/>
                <a:cs typeface="Lato"/>
                <a:sym typeface="Lato"/>
              </a:rPr>
              <a:t> to the client</a:t>
            </a:r>
            <a:endParaRPr kumimoji="0" lang="fr-FR" sz="1200" b="0" i="0" u="none" strike="noStrike" kern="0" cap="none" spc="0" normalizeH="0" baseline="0" noProof="0" dirty="0">
              <a:ln>
                <a:noFill/>
              </a:ln>
              <a:solidFill>
                <a:schemeClr val="tx1"/>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fr-FR" dirty="0">
              <a:solidFill>
                <a:schemeClr val="tx1"/>
              </a:solidFill>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tx1"/>
                </a:solidFill>
                <a:latin typeface="Lato"/>
                <a:ea typeface="Lato"/>
                <a:cs typeface="Lato"/>
                <a:sym typeface="Lato"/>
              </a:rPr>
              <a:t>you don’t know if you do not count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chemeClr val="tx1"/>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tx1"/>
                </a:solidFill>
                <a:latin typeface="Lato"/>
                <a:ea typeface="Lato"/>
                <a:cs typeface="Lato"/>
                <a:sym typeface="Lato"/>
              </a:rPr>
              <a:t>we say FJS (filter </a:t>
            </a:r>
            <a:r>
              <a:rPr lang="en-US" dirty="0">
                <a:solidFill>
                  <a:schemeClr val="tx1"/>
                </a:solidFill>
                <a:latin typeface="Lato"/>
                <a:ea typeface="Lato"/>
                <a:cs typeface="Lato"/>
                <a:sym typeface="Wingdings" panose="05000000000000000000" pitchFamily="2" charset="2"/>
              </a:rPr>
              <a:t></a:t>
            </a:r>
            <a:r>
              <a:rPr lang="en-US" dirty="0">
                <a:solidFill>
                  <a:schemeClr val="tx1"/>
                </a:solidFill>
                <a:latin typeface="Lato"/>
                <a:ea typeface="Lato"/>
                <a:cs typeface="Lato"/>
                <a:sym typeface="Lato"/>
              </a:rPr>
              <a:t> join </a:t>
            </a:r>
            <a:r>
              <a:rPr lang="en-US" dirty="0">
                <a:solidFill>
                  <a:schemeClr val="tx1"/>
                </a:solidFill>
                <a:latin typeface="Lato"/>
                <a:ea typeface="Lato"/>
                <a:cs typeface="Lato"/>
                <a:sym typeface="Wingdings" panose="05000000000000000000" pitchFamily="2" charset="2"/>
              </a:rPr>
              <a:t></a:t>
            </a:r>
            <a:r>
              <a:rPr lang="en-US" dirty="0">
                <a:solidFill>
                  <a:schemeClr val="tx1"/>
                </a:solidFill>
                <a:latin typeface="Lato"/>
                <a:ea typeface="Lato"/>
                <a:cs typeface="Lato"/>
                <a:sym typeface="Lato"/>
              </a:rPr>
              <a:t> sort)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tx1"/>
                </a:solidFill>
                <a:latin typeface="Lato"/>
                <a:ea typeface="Lato"/>
                <a:cs typeface="Lato"/>
                <a:sym typeface="Lato"/>
              </a:rPr>
              <a:t>but really it can be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tx1"/>
                </a:solidFill>
                <a:latin typeface="Lato"/>
                <a:ea typeface="Lato"/>
                <a:cs typeface="Lato"/>
                <a:sym typeface="Lato"/>
              </a:rPr>
              <a:t>      filter </a:t>
            </a:r>
            <a:r>
              <a:rPr lang="en-US" dirty="0">
                <a:solidFill>
                  <a:schemeClr val="tx1"/>
                </a:solidFill>
                <a:latin typeface="Lato"/>
                <a:ea typeface="Lato"/>
                <a:cs typeface="Lato"/>
                <a:sym typeface="Wingdings" panose="05000000000000000000" pitchFamily="2" charset="2"/>
              </a:rPr>
              <a:t></a:t>
            </a:r>
            <a:r>
              <a:rPr lang="en-US" dirty="0">
                <a:solidFill>
                  <a:schemeClr val="tx1"/>
                </a:solidFill>
                <a:latin typeface="Lato"/>
                <a:ea typeface="Lato"/>
                <a:cs typeface="Lato"/>
                <a:sym typeface="Lato"/>
              </a:rPr>
              <a:t> join </a:t>
            </a:r>
            <a:r>
              <a:rPr lang="en-US" dirty="0">
                <a:solidFill>
                  <a:schemeClr val="tx1"/>
                </a:solidFill>
                <a:latin typeface="Lato"/>
                <a:ea typeface="Lato"/>
                <a:cs typeface="Lato"/>
                <a:sym typeface="Wingdings" panose="05000000000000000000" pitchFamily="2" charset="2"/>
              </a:rPr>
              <a:t> filter  join  filter …</a:t>
            </a:r>
            <a:endParaRPr kumimoji="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29449876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E120F4D-0ADC-F6AA-AD9F-3C98444E5DE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877EF37-C8C6-31B9-6C78-5B0DACBC69F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i="1" dirty="0">
                <a:solidFill>
                  <a:schemeClr val="accent2"/>
                </a:solidFill>
                <a:latin typeface="Lato"/>
                <a:ea typeface="Lato"/>
                <a:cs typeface="Lato"/>
                <a:sym typeface="Lato"/>
              </a:rPr>
              <a:t>logically</a:t>
            </a:r>
            <a:r>
              <a:rPr lang="en" dirty="0">
                <a:solidFill>
                  <a:schemeClr val="accent2"/>
                </a:solidFill>
                <a:latin typeface="Lato"/>
                <a:ea typeface="Lato"/>
                <a:cs typeface="Lato"/>
                <a:sym typeface="Lato"/>
              </a:rPr>
              <a:t>,  how SELECT DISTINCT gets processed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FA3DA1E-D307-A8BF-AEFA-DBA465BE234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06731AD-D828-C0A1-9028-7FCCA34BDBD2}"/>
              </a:ext>
            </a:extLst>
          </p:cNvPr>
          <p:cNvSpPr txBox="1"/>
          <p:nvPr/>
        </p:nvSpPr>
        <p:spPr>
          <a:xfrm>
            <a:off x="315981" y="1244428"/>
            <a:ext cx="8272606" cy="2733026"/>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process the query to get a result set</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we need to do this first because a result set might come from multiple tables, or derived columns; the result set isn’t available to process until it exists</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b="1" dirty="0">
                <a:latin typeface="Lato"/>
                <a:ea typeface="Lato"/>
                <a:cs typeface="Lato"/>
                <a:sym typeface="Lato"/>
              </a:rPr>
              <a:t>sort on the value of every column </a:t>
            </a:r>
            <a:r>
              <a:rPr lang="en-US" b="1" dirty="0">
                <a:latin typeface="Lato"/>
                <a:ea typeface="Lato"/>
                <a:cs typeface="Lato"/>
                <a:sym typeface="Lato"/>
              </a:rPr>
              <a:t>i</a:t>
            </a:r>
            <a:r>
              <a:rPr lang="en" b="1" dirty="0">
                <a:latin typeface="Lato"/>
                <a:ea typeface="Lato"/>
                <a:cs typeface="Lato"/>
                <a:sym typeface="Lato"/>
              </a:rPr>
              <a:t>n the column list   </a:t>
            </a:r>
            <a:r>
              <a:rPr lang="en" dirty="0">
                <a:latin typeface="Lato"/>
                <a:ea typeface="Lato"/>
                <a:cs typeface="Lato"/>
                <a:sym typeface="Lato"/>
              </a:rPr>
              <a:t>(blecht)</a:t>
            </a:r>
          </a:p>
          <a:p>
            <a:pPr marL="227012" marR="0" lvl="0" defTabSz="914400" rtl="0" eaLnBrk="1" fontAlgn="auto" latinLnBrk="0" hangingPunct="1">
              <a:lnSpc>
                <a:spcPct val="115000"/>
              </a:lnSpc>
              <a:spcBef>
                <a:spcPts val="0"/>
              </a:spcBef>
              <a:spcAft>
                <a:spcPts val="0"/>
              </a:spcAft>
              <a:buClr>
                <a:srgbClr val="000000"/>
              </a:buClr>
              <a:buSzTx/>
              <a:tabLst/>
              <a:defRPr/>
            </a:pPr>
            <a:r>
              <a:rPr lang="en" sz="1200" dirty="0">
                <a:latin typeface="Lato"/>
                <a:ea typeface="Lato"/>
                <a:cs typeface="Lato"/>
                <a:sym typeface="Lato"/>
              </a:rPr>
              <a:t>sorts-</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all sorts are blocking operations, a total data set operation. (blocking because the last tuple produced might sort first)</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distributed systems; you can push (sub-sorts) to individual nodes, but, you then have either one of two choices-</a:t>
            </a:r>
          </a:p>
          <a:p>
            <a:pPr marL="5746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broadcast, re-distribute these sub-sorted results to complete (processing)</a:t>
            </a:r>
          </a:p>
          <a:p>
            <a:pPr marL="5746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push the sub-sorts to a single node for the final (processing)</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merge</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remove adjacent duplicate entries</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6049395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CBEF027-40DE-0B4B-5906-1ACD3BB35FFD}"/>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B987B49-A784-0D69-7682-4454097C318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05: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404DDF6-79E7-CEB2-8EF9-23F0C69F50F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EE13833-69C9-B97E-067C-4E5F2E22EF09}"/>
              </a:ext>
            </a:extLst>
          </p:cNvPr>
          <p:cNvSpPr txBox="1"/>
          <p:nvPr/>
        </p:nvSpPr>
        <p:spPr>
          <a:xfrm>
            <a:off x="315981" y="1067848"/>
            <a:ext cx="8272606" cy="2485265"/>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col4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col5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col6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col7   TIMESTAMP,</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col8   NUMERIC,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col9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col10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2724321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09FA7B1-821F-7479-9D01-67BA12551F0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D1FBD71-6C17-FD71-5998-661CA1A203D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05: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A47ADA3-6995-1E10-0FE9-F099B1825BE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617219B-CB76-027A-0DB8-43621A829E1C}"/>
              </a:ext>
            </a:extLst>
          </p:cNvPr>
          <p:cNvSpPr txBox="1"/>
          <p:nvPr/>
        </p:nvSpPr>
        <p:spPr>
          <a:xfrm>
            <a:off x="315981" y="933169"/>
            <a:ext cx="8272606" cy="2485265"/>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t1 (col1, col2, col3, col4, col5, col6, col7, col8, col9, col10)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 % 1000,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 % 50,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'name_' ||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'category_' || (g % 20),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 % 7,</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TIMESTAMP '2026-01-01' + (g % 365) * INTERVAL '1 day',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 % 10000) / 100.0,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'ref_' || (g % 500),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repeat('The quick brown fox jumps over the lazy dog. ', 5) || 'entity #' ||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FROM generate_series(1, 100000) AS g;</a:t>
            </a:r>
            <a:endParaRPr kumimoji="0"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88770218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FB064E0-0165-D28B-104A-989C4B8A6AE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50808DE-13AA-82E6-11B4-C1E2B15E179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05: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BA04F46-EDB9-AFCA-9A47-D451BBD6B6C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273049D-3FC3-38C3-3DBC-28F867227413}"/>
              </a:ext>
            </a:extLst>
          </p:cNvPr>
          <p:cNvSpPr txBox="1"/>
          <p:nvPr/>
        </p:nvSpPr>
        <p:spPr>
          <a:xfrm>
            <a:off x="315981" y="812667"/>
            <a:ext cx="8272606" cy="337012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BIGINT,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status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t2 (id, col1, status)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 - 1) % 100000) + 1,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CASE WHEN g % 3 = 0 THEN 'active' ELSE 'inactive' END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FROM generate_series(1, 1000000) AS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INDEX t2_col1_idx ON t2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t2;</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8075041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909888F-4B77-71A7-43B8-50E3F270747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A71A85B-9D4C-D415-C6B3-B0D30CD4561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05: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6D439F4-58F8-7256-736C-1974BA8CEC8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9009BAEE-6D38-2C66-D3D8-8A8F48BBBDC2}"/>
              </a:ext>
            </a:extLst>
          </p:cNvPr>
          <p:cNvSpPr txBox="1"/>
          <p:nvPr/>
        </p:nvSpPr>
        <p:spPr>
          <a:xfrm>
            <a:off x="315981" y="695841"/>
            <a:ext cx="8272606" cy="4078009"/>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Unique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(cost=232668.46..236755.04 rows=200000 width=270)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time=1570.274..1676.840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Sort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(cost=232668.46..233485.77 rows=326927 width=270)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time=1570.271..1598.808 rows=333333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1"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Sort Key: t1.col1, t1.col4, t1.col9, t1.col10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Sort Method: external merge  Disk: 92360kB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Hash Join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(cost=35561.17..120033.22 rows=326927 width=270)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time=681.834..1343.021 rows=333333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Hash Cond: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(t2.col1 = t1.col1)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Seq Scan on t2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(cost=21.10..73127.94 rows=339867 width=12)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time=4.819..474.296 rows=333333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Storage Filter: (status = 'active'::text)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Hash</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(cost=30774.07..30774.07 rows=100000 width=262)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time=676.910..676.911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Buckets: 32768  Batches: 4  Memory Usage: 7582kB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Seq Scan on t1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(cost=21.09..30774.07 rows=100000 width=262)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time=7.532..633.983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55.844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1701.840 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15206 kB</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075825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8D46EB8D-FCA0-2B75-EBD3-D7F330F7EBDC}"/>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37705A3B-F75E-FD46-C3DB-4E413976C12D}"/>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4C584E02-7550-C014-0ADF-D56B9B377155}"/>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a:t>
            </a:r>
            <a:r>
              <a:rPr lang="en-US" sz="2800" dirty="0">
                <a:solidFill>
                  <a:srgbClr val="FFFFFF"/>
                </a:solidFill>
                <a:latin typeface="Rubik"/>
                <a:ea typeface="Rubik"/>
                <a:cs typeface="Rubik"/>
                <a:sym typeface="Rubik"/>
              </a:rPr>
              <a:t>5</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F2B58707-1821-9C33-FB5D-3C209BB862AF}"/>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C1F5CB86-3699-F223-AD5B-877C8A78E52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EBE80E89-F57B-D83E-827F-4489CCC61CD8}"/>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B917E375-6C0F-66CD-2CC1-4897411AF851}"/>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8442751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C3981F7-1BB4-09CF-071B-EDB52AFA30E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626C9D1-24DC-016F-5FAC-7805554C264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SELECT DISTINCT, why are we doing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5ABDF65-A10C-78F0-360F-3DF80063B26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F65AF97-2C7A-F724-7103-86E8F05EC5CC}"/>
              </a:ext>
            </a:extLst>
          </p:cNvPr>
          <p:cNvSpPr txBox="1"/>
          <p:nvPr/>
        </p:nvSpPr>
        <p:spPr>
          <a:xfrm>
            <a:off x="315981" y="826687"/>
            <a:ext cx="8272606" cy="3157757"/>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ad-hoc and exploratory analysis</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what distinct product categories had sales last quarter </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occasional or one-off queries no one knew in advance. you can’t resonably model an attribute/table for this</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combining multiple independent sources into one list</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when it is structurally required, not just convenient-</a:t>
            </a: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when a join crosses a 1:M or M:M relationship, but the business question is about the "one" side only</a:t>
            </a:r>
          </a:p>
          <a:p>
            <a:pPr marL="5746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happens infrequently, okay</a:t>
            </a:r>
          </a:p>
          <a:p>
            <a:pPr marL="5746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happens often, should this be an attribute in the "one" side, the parent table</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if you allow triggers; this can be automated. no triggers, then it's business logic</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latin typeface="Lato"/>
                <a:ea typeface="Lato"/>
                <a:cs typeface="Lato"/>
                <a:sym typeface="Lato"/>
              </a:rPr>
              <a:t>should this computation be paid for at run time, repetitively, or maintained (live)</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often though, this could be a lazy add to a query that no one fully understood</a:t>
            </a:r>
          </a:p>
        </p:txBody>
      </p:sp>
    </p:spTree>
    <p:extLst>
      <p:ext uri="{BB962C8B-B14F-4D97-AF65-F5344CB8AC3E}">
        <p14:creationId xmlns:p14="http://schemas.microsoft.com/office/powerpoint/2010/main" val="15410922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610962D-D627-B472-8AAD-DD7375A8495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ACAF518-E504-8E06-F02A-982730DED43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SELECT DISTINCT, how to find/avoid/repair-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372D695-EA3B-09DB-C930-7D2A1E90EB1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22DAE01-98BE-4810-2FEF-57BA2FFEF181}"/>
              </a:ext>
            </a:extLst>
          </p:cNvPr>
          <p:cNvSpPr txBox="1"/>
          <p:nvPr/>
        </p:nvSpPr>
        <p:spPr>
          <a:xfrm>
            <a:off x="315981" y="989247"/>
            <a:ext cx="8272606" cy="3228546"/>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implied on prior page-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if used often, this is "state", an attribute. model as a column in a parent table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is this customer in default (payment). if this question happens often, it is state, an attribute</a:t>
            </a:r>
          </a:p>
          <a:p>
            <a:pPr marL="230187" marR="0" lvl="0" defTabSz="914400" rtl="0" eaLnBrk="1" fontAlgn="auto" latinLnBrk="0" hangingPunct="1">
              <a:lnSpc>
                <a:spcPct val="115000"/>
              </a:lnSpc>
              <a:spcBef>
                <a:spcPts val="0"/>
              </a:spcBef>
              <a:spcAft>
                <a:spcPts val="0"/>
              </a:spcAft>
              <a:buClr>
                <a:srgbClr val="000000"/>
              </a:buClr>
              <a:buSzTx/>
              <a:tabLst/>
              <a:defRPr/>
            </a:pPr>
            <a:endParaRPr lang="en" sz="1200" dirty="0">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how to find/avoid/repair-</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select count tables in the relationship; is the inner table truly a many</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change the query shape</a:t>
            </a:r>
          </a:p>
          <a:p>
            <a:pPr marL="568325" marR="0" lvl="0" indent="-10795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b="0" i="0" u="none" strike="noStrike" kern="0" cap="none" spc="0" normalizeH="0" baseline="0" noProof="0" dirty="0">
                <a:ln>
                  <a:noFill/>
                </a:ln>
                <a:solidFill>
                  <a:srgbClr val="000000"/>
                </a:solidFill>
                <a:effectLst/>
                <a:uLnTx/>
                <a:uFillTx/>
                <a:latin typeface="Lato"/>
                <a:ea typeface="Lato"/>
                <a:cs typeface="Lato"/>
                <a:sym typeface="Lato"/>
              </a:rPr>
              <a:t>do the outer query, remove duplicates if needed</a:t>
            </a:r>
          </a:p>
          <a:p>
            <a:pPr marL="568325" marR="0" lvl="0" indent="-10795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then join to a subquery (not a correlated subquery</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can this be moved to a smaller set of columns. example (PostgreSQL specific, not ANSI SQL, returns first in group), </a:t>
            </a:r>
          </a:p>
          <a:p>
            <a:pPr marL="346075" marR="0" lvl="0" indent="-115888"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DISTINCT ON (location) location, time, report</a:t>
            </a:r>
          </a:p>
          <a:p>
            <a:pPr marL="346075" marR="0" lvl="0" indent="-115888"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weather_reports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346075" marR="0" lvl="0" indent="-115888"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 location, time DESC;</a:t>
            </a:r>
            <a:endParaRPr kumimoji="0" lang="en"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7913902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30C6EF0E-FD69-ABEE-2B96-09FBBBFB3F41}"/>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00E63CF1-1E92-2F88-DBA5-43FF7EFDFF4F}"/>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1314414A-E7F0-C6A2-E5AB-C1A3B1948ABA}"/>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3DD8054B-0A30-06E2-F887-7417104C872B}"/>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9CE9E569-2CD3-B639-922A-8745979CF04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30F34ABD-7A52-C2C4-652A-B4759CE2863E}"/>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ABB5432D-ECEF-4735-451F-3B69574E05DE}"/>
              </a:ext>
            </a:extLst>
          </p:cNvPr>
          <p:cNvSpPr txBox="1"/>
          <p:nvPr/>
        </p:nvSpPr>
        <p:spPr>
          <a:xfrm>
            <a:off x="2560699" y="861880"/>
            <a:ext cx="5911751" cy="821733"/>
          </a:xfrm>
          <a:prstGeom prst="rect">
            <a:avLst/>
          </a:prstGeom>
          <a:noFill/>
          <a:ln>
            <a:noFill/>
          </a:ln>
        </p:spPr>
        <p:txBody>
          <a:bodyPr spcFirstLastPara="1" wrap="square" lIns="91425" tIns="91425" rIns="91425" bIns="91425" anchor="t" anchorCtr="0">
            <a:spAutoFit/>
          </a:bodyPr>
          <a:lstStyle/>
          <a:p>
            <a:pPr marL="112713" lvl="0" indent="-112713">
              <a:lnSpc>
                <a:spcPct val="115000"/>
              </a:lnSpc>
              <a:buFont typeface="Arial" panose="020B0604020202020204" pitchFamily="34" charset="0"/>
              <a:buChar char="•"/>
              <a:defRPr/>
            </a:pPr>
            <a:r>
              <a:rPr lang="en-US" sz="1200" dirty="0">
                <a:solidFill>
                  <a:schemeClr val="tx1"/>
                </a:solidFill>
              </a:rPr>
              <a:t>you have a list of 100 queries from your system sorted by run time descending (longest queries at the top of the list); which single, optional keyword appears in at least ¼ of the top 10 worst queries</a:t>
            </a:r>
            <a:endParaRPr kumimoji="0" sz="12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11500725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B7DAA4F6-45B6-DA89-B291-22C33A56F4A2}"/>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B8759F09-0696-0051-7231-60DEC10BC1D2}"/>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DF9C5613-6965-45EA-6123-5F17D37CDAF8}"/>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05</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1B3622F7-3B56-18FA-D86F-2BB7E820E0A7}"/>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E6FC81F3-A958-63F5-5273-A2D77EC3DE6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87BDC13-E753-7F64-EF8F-49E39DC9EDD2}"/>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28B32D56-1C3D-1534-763D-90758C74539C}"/>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E61C9B40-77BF-3F7C-2021-A95EDC56C1B3}"/>
              </a:ext>
            </a:extLst>
          </p:cNvPr>
          <p:cNvSpPr txBox="1"/>
          <p:nvPr/>
        </p:nvSpPr>
        <p:spPr>
          <a:xfrm>
            <a:off x="4898141" y="2744721"/>
            <a:ext cx="3466926" cy="432396"/>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a:t>
            </a:r>
            <a:r>
              <a:rPr lang="en" dirty="0">
                <a:latin typeface="Lato"/>
                <a:ea typeface="Lato"/>
                <a:cs typeface="Lato"/>
                <a:sym typeface="Lato"/>
              </a:rPr>
              <a:t>5</a:t>
            </a: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7045660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082AB42B-BE57-DDB3-1C72-EE97790BD13E}"/>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1D79EF0F-EAF8-DD3C-234F-61B7D7ED3F8D}"/>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293ACB31-3B90-3D66-1411-CA6675E5BC83}"/>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a:t>
            </a:r>
            <a:r>
              <a:rPr lang="en-US" sz="2800" dirty="0">
                <a:solidFill>
                  <a:srgbClr val="FFFFFF"/>
                </a:solidFill>
                <a:latin typeface="Rubik"/>
                <a:ea typeface="Rubik"/>
                <a:cs typeface="Rubik"/>
                <a:sym typeface="Rubik"/>
              </a:rPr>
              <a:t>6</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5B8DE82D-1744-BA73-9A1D-32F5A22BB516}"/>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9F8C9675-90CB-5B8C-3A28-7B88168E4FF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872E0C5-E85A-4483-343A-1F4DAFD2F9D3}"/>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C4EB5BE5-FCC6-8BDF-A7ED-9A09E7A4FF71}"/>
              </a:ext>
            </a:extLst>
          </p:cNvPr>
          <p:cNvSpPr/>
          <p:nvPr/>
        </p:nvSpPr>
        <p:spPr>
          <a:xfrm>
            <a:off x="313605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ED7C886C-C91F-EC2E-0DEC-6B2DE51EA473}"/>
              </a:ext>
            </a:extLst>
          </p:cNvPr>
          <p:cNvSpPr/>
          <p:nvPr/>
        </p:nvSpPr>
        <p:spPr>
          <a:xfrm>
            <a:off x="354446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643BC332-C1B1-B5D9-6E07-857C6C6A2D6E}"/>
              </a:ext>
            </a:extLst>
          </p:cNvPr>
          <p:cNvSpPr/>
          <p:nvPr/>
        </p:nvSpPr>
        <p:spPr>
          <a:xfrm>
            <a:off x="395286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2D6C0D65-7FDB-87F9-2BBD-77903DE9E1F1}"/>
              </a:ext>
            </a:extLst>
          </p:cNvPr>
          <p:cNvSpPr/>
          <p:nvPr/>
        </p:nvSpPr>
        <p:spPr>
          <a:xfrm>
            <a:off x="436127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E22A657B-E4FC-F1EA-E26A-F38AB716C44A}"/>
              </a:ext>
            </a:extLst>
          </p:cNvPr>
          <p:cNvSpPr/>
          <p:nvPr/>
        </p:nvSpPr>
        <p:spPr>
          <a:xfrm>
            <a:off x="599490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728CCF9C-BCED-9F69-808D-3A00D8C32FD3}"/>
              </a:ext>
            </a:extLst>
          </p:cNvPr>
          <p:cNvSpPr/>
          <p:nvPr/>
        </p:nvSpPr>
        <p:spPr>
          <a:xfrm>
            <a:off x="558650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A107B9FC-31A7-D772-E045-6B39355B61BA}"/>
              </a:ext>
            </a:extLst>
          </p:cNvPr>
          <p:cNvSpPr/>
          <p:nvPr/>
        </p:nvSpPr>
        <p:spPr>
          <a:xfrm>
            <a:off x="640331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90F367B1-8E00-4618-C14D-48C8336EE992}"/>
              </a:ext>
            </a:extLst>
          </p:cNvPr>
          <p:cNvSpPr/>
          <p:nvPr/>
        </p:nvSpPr>
        <p:spPr>
          <a:xfrm>
            <a:off x="4769685"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B08094DC-8116-C833-DC89-95E09EE4DC9C}"/>
              </a:ext>
            </a:extLst>
          </p:cNvPr>
          <p:cNvSpPr/>
          <p:nvPr/>
        </p:nvSpPr>
        <p:spPr>
          <a:xfrm>
            <a:off x="5178093" y="1754293"/>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19FE7778-C63A-6F8F-8377-DC6D90D26F8D}"/>
              </a:ext>
            </a:extLst>
          </p:cNvPr>
          <p:cNvSpPr/>
          <p:nvPr/>
        </p:nvSpPr>
        <p:spPr>
          <a:xfrm>
            <a:off x="6811727" y="1754293"/>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6D3D2715-E42B-ACCD-CFD9-25F065A852D6}"/>
              </a:ext>
            </a:extLst>
          </p:cNvPr>
          <p:cNvSpPr txBox="1"/>
          <p:nvPr/>
        </p:nvSpPr>
        <p:spPr>
          <a:xfrm>
            <a:off x="3351103" y="2253251"/>
            <a:ext cx="5403037"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u="sng" dirty="0">
                <a:solidFill>
                  <a:schemeClr val="bg1">
                    <a:lumMod val="50000"/>
                  </a:schemeClr>
                </a:solidFill>
                <a:latin typeface="Lato"/>
                <a:ea typeface="Lato"/>
                <a:cs typeface="Lato"/>
                <a:sym typeface="Lato"/>
              </a:rPr>
              <a:t>common table expressions</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correlated subqueries, </a:t>
            </a:r>
            <a:r>
              <a:rPr lang="en-US" b="1" dirty="0">
                <a:solidFill>
                  <a:schemeClr val="bg1">
                    <a:lumMod val="50000"/>
                  </a:schemeClr>
                </a:solidFill>
                <a:latin typeface="Lato"/>
                <a:ea typeface="Lato"/>
                <a:cs typeface="Lato"/>
                <a:sym typeface="Lato"/>
              </a:rPr>
              <a:t>having</a:t>
            </a:r>
            <a:r>
              <a:rPr lang="en-US" dirty="0">
                <a:solidFill>
                  <a:schemeClr val="bg1">
                    <a:lumMod val="50000"/>
                  </a:schemeClr>
                </a:solidFill>
                <a:latin typeface="Lato"/>
                <a:ea typeface="Lato"/>
                <a:cs typeface="Lato"/>
                <a:sym typeface="Lato"/>
              </a:rPr>
              <a:t>  to consider cardinality between tables</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manual query re-writes to improve query plan performance</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35875532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1B38097-3012-9735-373A-EA9A280A2B3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F935052-4CEF-4242-D731-0488EB0643B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table expressions (CTEs)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6D61DB7-301D-102A-B436-3A9B4A3EB81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01ABFA8-A158-400C-95AB-AE726EE4DECD}"/>
              </a:ext>
            </a:extLst>
          </p:cNvPr>
          <p:cNvSpPr txBox="1"/>
          <p:nvPr/>
        </p:nvSpPr>
        <p:spPr>
          <a:xfrm>
            <a:off x="315981" y="1003424"/>
            <a:ext cx="7325284"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SQL standard, SQL:1999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CTEs (the WITH clause) were formally added in the fourth major SQL revision, with ISO standards issued 1999–2002.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f</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irst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commercial implementation: SQL Server 2005 — Microsoft was the first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major vendor to actually ship it, about six years after standardization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PostgreSQL — version 8.4, 2009</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MariaDB       — version 10.2.1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MySQL           — version 8.0, 2018 — notably late, over a decade behind SQL Server</a:t>
            </a:r>
          </a:p>
        </p:txBody>
      </p:sp>
    </p:spTree>
    <p:extLst>
      <p:ext uri="{BB962C8B-B14F-4D97-AF65-F5344CB8AC3E}">
        <p14:creationId xmlns:p14="http://schemas.microsoft.com/office/powerpoint/2010/main" val="235834754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1568832-E765-670C-1C16-6DF60344411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4017461-6B43-F522-0B62-0242BD12BE9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table expressions (CTEs), why-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44437BE-B549-D8D1-1B41-F1596B4359C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DD17665-50D1-97B7-8A9D-C66CE07F3A0B}"/>
              </a:ext>
            </a:extLst>
          </p:cNvPr>
          <p:cNvSpPr txBox="1"/>
          <p:nvPr/>
        </p:nvSpPr>
        <p:spPr>
          <a:xfrm>
            <a:off x="315981" y="893823"/>
            <a:ext cx="8360186"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readability is the primary benefit for the common case, but there are 3 genuine, real must use CTE scenarios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1. recursive/hierarchical queries — the clearest case. </a:t>
            </a:r>
            <a:r>
              <a:rPr lang="en-US" dirty="0">
                <a:latin typeface="Lato"/>
                <a:ea typeface="Lato"/>
                <a:cs typeface="Lato"/>
                <a:sym typeface="Lato"/>
              </a:rPr>
              <a:t>a</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subquery cannot reference itself. full stop</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2. data-modifying CTEs — genuinely unique capability, not just style</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PostgreSQL/YSQL let you chain an INSERT/UPDATE/DELETE ... RETURNING into a subsequent query, all in one atomic statement —</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e.g., delete expired rows and insert them into an archive table in a single DML statement, rather than two separate statements in a transaction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3. explicit optimizer control via MATERIALIZED / NOT MATERIALIZED — a real capability gap</a:t>
            </a:r>
          </a:p>
        </p:txBody>
      </p:sp>
    </p:spTree>
    <p:extLst>
      <p:ext uri="{BB962C8B-B14F-4D97-AF65-F5344CB8AC3E}">
        <p14:creationId xmlns:p14="http://schemas.microsoft.com/office/powerpoint/2010/main" val="417791845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59C2BC0-3754-F876-47DA-43FD3C6C636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63C8F23-C703-D689-039C-E9F0268E46A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table expressions (CTEs), example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1D2096B-C245-4400-5E7E-58FB52D9281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9AB57D37-D0EB-91CB-6FFB-FE4A67B7FAA9}"/>
              </a:ext>
            </a:extLst>
          </p:cNvPr>
          <p:cNvSpPr txBox="1"/>
          <p:nvPr/>
        </p:nvSpPr>
        <p:spPr>
          <a:xfrm>
            <a:off x="315981" y="890009"/>
            <a:ext cx="8272606" cy="3582489"/>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WITH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big_report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AS </a:t>
            </a:r>
            <a:r>
              <a:rPr kumimoji="0" lang="en-US" sz="1200" b="0" i="0" u="none" strike="noStrike" kern="0" cap="none" spc="0" normalizeH="0" baseline="0" noProof="0" dirty="0">
                <a:ln>
                  <a:noFill/>
                </a:ln>
                <a:solidFill>
                  <a:srgbClr val="00B0F0"/>
                </a:solidFill>
                <a:effectLst/>
                <a:uLnTx/>
                <a:uFillTx/>
                <a:latin typeface="Lato"/>
                <a:ea typeface="Lato"/>
                <a:cs typeface="Lato"/>
                <a:sym typeface="Lato"/>
              </a:rPr>
              <a:t>MATERIALIZED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SELECT * FROM orders                                                         -- computes ALL rows here, no filtering yet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 FROM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big_report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WHERE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42;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big_report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computes and stores every row in orders first — a full scan, materialized as a temp result — and only then filters down to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42. The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42 filter never gets to influence the CTE's own execution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WITH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big_report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AS </a:t>
            </a:r>
            <a:r>
              <a:rPr kumimoji="0" lang="en-US" sz="1200" b="0" i="0" u="none" strike="noStrike" kern="0" cap="none" spc="0" normalizeH="0" baseline="0" noProof="0" dirty="0">
                <a:ln>
                  <a:noFill/>
                </a:ln>
                <a:solidFill>
                  <a:srgbClr val="00B0F0"/>
                </a:solidFill>
                <a:effectLst/>
                <a:uLnTx/>
                <a:uFillTx/>
                <a:latin typeface="Lato"/>
                <a:ea typeface="Lato"/>
                <a:cs typeface="Lato"/>
                <a:sym typeface="Lato"/>
              </a:rPr>
              <a:t>NOT MATERIALIZED </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SELECT * FROM orders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 FROM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big_report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WHERE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42;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200" dirty="0">
                <a:latin typeface="Lato"/>
                <a:ea typeface="Lato"/>
                <a:cs typeface="Lato"/>
                <a:sym typeface="Lato"/>
              </a:rPr>
              <a:t>s</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ame</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SQL text, but now the planner is allowed to effectively rewrite this as SELECT * FROM orders WHERE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42 from the start — an index seek on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not a full scan followed by filtering</a:t>
            </a:r>
          </a:p>
        </p:txBody>
      </p:sp>
    </p:spTree>
    <p:extLst>
      <p:ext uri="{BB962C8B-B14F-4D97-AF65-F5344CB8AC3E}">
        <p14:creationId xmlns:p14="http://schemas.microsoft.com/office/powerpoint/2010/main" val="34070204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D6C6D7A-CEDE-24EC-09BD-B36088A1C77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C77C8D2-B2E8-2CCC-2488-8CA80EF1F08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table expressions (CTEs), why-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5FEBD67-1B72-0F6A-C6AA-BE81188CDBE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1B9A062-8343-39EA-56C6-B672523AE6FA}"/>
              </a:ext>
            </a:extLst>
          </p:cNvPr>
          <p:cNvSpPr txBox="1"/>
          <p:nvPr/>
        </p:nvSpPr>
        <p:spPr>
          <a:xfrm>
            <a:off x="315981" y="770892"/>
            <a:ext cx="8272606" cy="290999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wo real reasons to force it, both about control, not raw speed: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339725"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ide-effect functions. if our CTE calls something like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nextval</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or a volatile function, NOT MATERIALIZED could let the planner evaluate it more than once (once per outer reference) — MATERIALIZED guarantees it runs exactly once, with a stable, reusable result</a:t>
            </a:r>
          </a:p>
          <a:p>
            <a:pPr marL="339725"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we know better than the planner for this specific query. </a:t>
            </a:r>
            <a:r>
              <a:rPr lang="en-US" dirty="0">
                <a:latin typeface="Lato"/>
                <a:ea typeface="Lato"/>
                <a:cs typeface="Lato"/>
                <a:sym typeface="Lato"/>
              </a:rPr>
              <a:t>s</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ometimes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the planner's guess at pushing filters in is wrong, and forcing full materialization first is actually</a:t>
            </a:r>
          </a:p>
          <a:p>
            <a:pPr marL="112712" marR="0" lvl="0" defTabSz="914400" rtl="0" eaLnBrk="1" fontAlgn="auto" latinLnBrk="0" hangingPunct="1">
              <a:lnSpc>
                <a:spcPct val="115000"/>
              </a:lnSpc>
              <a:spcBef>
                <a:spcPts val="0"/>
              </a:spcBef>
              <a:spcAft>
                <a:spcPts val="0"/>
              </a:spcAft>
              <a:buClr>
                <a:srgbClr val="000000"/>
              </a:buClr>
              <a:buSzTx/>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default, if you specify neither, PostgreSQL/YSQL picks for you, using a simple rule: </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referenced more than once, or recursive → materialized</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r</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eferenced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exactly once, non-recursive → not materialized   (i.e., eligible for inlining/pushdown)</a:t>
            </a:r>
          </a:p>
        </p:txBody>
      </p:sp>
    </p:spTree>
    <p:extLst>
      <p:ext uri="{BB962C8B-B14F-4D97-AF65-F5344CB8AC3E}">
        <p14:creationId xmlns:p14="http://schemas.microsoft.com/office/powerpoint/2010/main" val="1295982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3BAA327-F394-1BF8-3A0A-39DFB71AB47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9867B0C-BDBB-64A5-C649-087C88C56C9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latin typeface="Lato"/>
                <a:ea typeface="Lato"/>
                <a:cs typeface="Lato"/>
                <a:sym typeface="Lato"/>
              </a:rPr>
              <a:t>using CTEs to actually make a query faster, problem 1</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C6B76B3-CD16-6292-F75B-74D6049CA50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4C8AE38-04F7-B032-6F9D-EBDAB6AFC62C}"/>
              </a:ext>
            </a:extLst>
          </p:cNvPr>
          <p:cNvSpPr txBox="1"/>
          <p:nvPr/>
        </p:nvSpPr>
        <p:spPr>
          <a:xfrm>
            <a:off x="315980" y="1045953"/>
            <a:ext cx="8570019"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c.name,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(SELECT COUNT(*)             </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FROM orders o WHERE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o.customer_id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AS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order_count</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(SELECT SUM(</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FROM orders o WHERE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o.customer_id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AS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total_spent</a:t>
            </a:r>
            <a:endParaRPr kumimoji="0" lang="en-US" b="0" i="0" u="none" strike="noStrike" kern="0" cap="none" spc="0" normalizeH="0" baseline="0" noProof="0" dirty="0">
              <a:ln>
                <a:noFill/>
              </a:ln>
              <a:solidFill>
                <a:srgbClr val="00B0F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customers 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c.region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'West';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D410669C-8496-7E29-C7FE-215615A5BF39}"/>
              </a:ext>
            </a:extLst>
          </p:cNvPr>
          <p:cNvSpPr txBox="1"/>
          <p:nvPr/>
        </p:nvSpPr>
        <p:spPr>
          <a:xfrm>
            <a:off x="286991" y="2642548"/>
            <a:ext cx="5851540"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f</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or every single customer row, this fires two separate correlated subquery executions against orders — one to count, one to sum, each independently seeking/scanning for that customer's rows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f</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or 10,000 West-region customers, that's up to 20,000 separate subquery invocations against orders, not one pass over the table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74FA187F-C25F-CF66-8A38-042D300827B3}"/>
              </a:ext>
            </a:extLst>
          </p:cNvPr>
          <p:cNvPicPr>
            <a:picLocks noChangeAspect="1"/>
          </p:cNvPicPr>
          <p:nvPr/>
        </p:nvPicPr>
        <p:blipFill>
          <a:blip r:embed="rId3"/>
          <a:stretch>
            <a:fillRect/>
          </a:stretch>
        </p:blipFill>
        <p:spPr>
          <a:xfrm>
            <a:off x="6640972" y="1940122"/>
            <a:ext cx="1900801" cy="2532339"/>
          </a:xfrm>
          <a:prstGeom prst="rect">
            <a:avLst/>
          </a:prstGeom>
        </p:spPr>
      </p:pic>
      <p:sp>
        <p:nvSpPr>
          <p:cNvPr id="8" name="Google Shape;248;p56">
            <a:extLst>
              <a:ext uri="{FF2B5EF4-FFF2-40B4-BE49-F238E27FC236}">
                <a16:creationId xmlns:a16="http://schemas.microsoft.com/office/drawing/2014/main" id="{5F7EE9F8-A5B7-9E31-E653-3F538606C71E}"/>
              </a:ext>
            </a:extLst>
          </p:cNvPr>
          <p:cNvSpPr txBox="1"/>
          <p:nvPr/>
        </p:nvSpPr>
        <p:spPr>
          <a:xfrm rot="492174">
            <a:off x="6960619" y="2648144"/>
            <a:ext cx="1152612" cy="1140282"/>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correlated</a:t>
            </a:r>
            <a:r>
              <a:rPr kumimoji="0" lang="en-US" sz="18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 subquery</a:t>
            </a: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1800" dirty="0" err="1">
                <a:solidFill>
                  <a:srgbClr val="FFC000"/>
                </a:solidFill>
                <a:latin typeface="Lato" panose="020B0604020202020204" charset="0"/>
                <a:ea typeface="Lato"/>
                <a:cs typeface="Lato" panose="020B0604020202020204" charset="0"/>
                <a:sym typeface="Lato"/>
              </a:rPr>
              <a:t>blecht</a:t>
            </a:r>
            <a:endParaRPr kumimoji="0" lang="en" sz="18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29627759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F358D48-E6F5-3B68-39DF-C88A5E52478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E0653D6-8E54-4DDE-3036-BB5953E80B8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latin typeface="Lato"/>
                <a:ea typeface="Lato"/>
                <a:cs typeface="Lato"/>
                <a:sym typeface="Lato"/>
              </a:rPr>
              <a:t>using CTEs to actually make a query faster, problem 1</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6AAE479-B10B-6D9C-455C-2AD99943C31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98BB7E46-99F1-BE25-3383-33073906DD10}"/>
              </a:ext>
            </a:extLst>
          </p:cNvPr>
          <p:cNvSpPr txBox="1"/>
          <p:nvPr/>
        </p:nvSpPr>
        <p:spPr>
          <a:xfrm>
            <a:off x="315980" y="1045953"/>
            <a:ext cx="8570019"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c.name,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(SELECT COUNT(*)             </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FROM orders o WHERE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o.customer_id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AS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order_count</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(SELECT SUM(</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FROM orders o WHERE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o.customer_id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AS </a:t>
            </a: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total_spent</a:t>
            </a:r>
            <a:endParaRPr kumimoji="0" lang="en-US" b="0" i="0" u="none" strike="noStrike" kern="0" cap="none" spc="0" normalizeH="0" baseline="0" noProof="0" dirty="0">
              <a:ln>
                <a:noFill/>
              </a:ln>
              <a:solidFill>
                <a:srgbClr val="00B0F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customers 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c.region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'West';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CD4CB7B4-28BB-76BB-3D77-4D10AA1FD71A}"/>
              </a:ext>
            </a:extLst>
          </p:cNvPr>
          <p:cNvSpPr txBox="1"/>
          <p:nvPr/>
        </p:nvSpPr>
        <p:spPr>
          <a:xfrm>
            <a:off x="286991" y="2642548"/>
            <a:ext cx="5851540"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historically, correlated subqueries are always bad-</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before CTEs we tried to rewrite these as joins</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the issue is always cardinality; if the (inner) table produces multiple rows, now we output (n) rows from the parent, not just one row</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this then caused us to use DISINCT, already covered</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because we have an aggregate here, we produce one inner row </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3F95FC71-DC12-2A49-850F-478D000B15A9}"/>
              </a:ext>
            </a:extLst>
          </p:cNvPr>
          <p:cNvPicPr>
            <a:picLocks noChangeAspect="1"/>
          </p:cNvPicPr>
          <p:nvPr/>
        </p:nvPicPr>
        <p:blipFill>
          <a:blip r:embed="rId3"/>
          <a:stretch>
            <a:fillRect/>
          </a:stretch>
        </p:blipFill>
        <p:spPr>
          <a:xfrm>
            <a:off x="6640972" y="1940122"/>
            <a:ext cx="1900801" cy="2532339"/>
          </a:xfrm>
          <a:prstGeom prst="rect">
            <a:avLst/>
          </a:prstGeom>
        </p:spPr>
      </p:pic>
      <p:sp>
        <p:nvSpPr>
          <p:cNvPr id="8" name="Google Shape;248;p56">
            <a:extLst>
              <a:ext uri="{FF2B5EF4-FFF2-40B4-BE49-F238E27FC236}">
                <a16:creationId xmlns:a16="http://schemas.microsoft.com/office/drawing/2014/main" id="{E507EDE6-3D0B-1D67-4B2E-9C1120A1ABE5}"/>
              </a:ext>
            </a:extLst>
          </p:cNvPr>
          <p:cNvSpPr txBox="1"/>
          <p:nvPr/>
        </p:nvSpPr>
        <p:spPr>
          <a:xfrm rot="492174">
            <a:off x="6960619" y="2488870"/>
            <a:ext cx="1152612" cy="1458831"/>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correlated</a:t>
            </a:r>
            <a:r>
              <a:rPr kumimoji="0" lang="en-US" sz="18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 subquery</a:t>
            </a: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1800" dirty="0">
                <a:solidFill>
                  <a:srgbClr val="FFC000"/>
                </a:solidFill>
                <a:latin typeface="Lato" panose="020B0604020202020204" charset="0"/>
                <a:ea typeface="Lato"/>
                <a:cs typeface="Lato" panose="020B0604020202020204" charset="0"/>
                <a:sym typeface="Lato"/>
              </a:rPr>
              <a:t>always </a:t>
            </a:r>
            <a:r>
              <a:rPr lang="en-US" sz="1800" i="1" dirty="0" err="1">
                <a:solidFill>
                  <a:srgbClr val="FFC000"/>
                </a:solidFill>
                <a:latin typeface="Lato" panose="020B0604020202020204" charset="0"/>
                <a:ea typeface="Lato"/>
                <a:cs typeface="Lato" panose="020B0604020202020204" charset="0"/>
                <a:sym typeface="Lato"/>
              </a:rPr>
              <a:t>blecht</a:t>
            </a:r>
            <a:endParaRPr kumimoji="0" lang="en" sz="1800" b="0" i="1"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endParaRPr>
          </a:p>
        </p:txBody>
      </p:sp>
    </p:spTree>
    <p:extLst>
      <p:ext uri="{BB962C8B-B14F-4D97-AF65-F5344CB8AC3E}">
        <p14:creationId xmlns:p14="http://schemas.microsoft.com/office/powerpoint/2010/main" val="189242115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4C77273-A2E7-6BEF-E800-6882D37927E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DECFF49E-6335-67C9-5B7E-9DFFC6310AD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lvl="0"/>
            <a:r>
              <a:rPr lang="en-US" dirty="0">
                <a:solidFill>
                  <a:schemeClr val="accent2"/>
                </a:solidFill>
                <a:latin typeface="Lato"/>
                <a:ea typeface="Lato"/>
                <a:cs typeface="Lato"/>
                <a:sym typeface="Lato"/>
              </a:rPr>
              <a:t>using CTEs to actually make a query faster, solution 1</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54D29E0-D654-FD3F-CE16-7E4D0664E84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9A1F336E-DC6F-2A45-290D-22181B4493A3}"/>
              </a:ext>
            </a:extLst>
          </p:cNvPr>
          <p:cNvSpPr txBox="1"/>
          <p:nvPr/>
        </p:nvSpPr>
        <p:spPr>
          <a:xfrm>
            <a:off x="315981" y="801027"/>
            <a:ext cx="8272606" cy="3582489"/>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WITH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order_stats</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SELECT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COUNT(*) AS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order_count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SUM(amount) AS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total_spent</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FROM orders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GROUP BY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c.name,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os.order_count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os.total_spent</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FROM customers 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JOIN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order_stats</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os</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ON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os.customer_id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c.customer_id</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c.region</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'West';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o</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rders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gets scanned and aggregated exactly once — a single GROUP BY pass producing one summary row per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and that result is joined to customers. whether we have 100 customers or 100,000, orders is still touched exactly once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correlated version's cost scales with the number of outer rows; the CTE version's cost scales with the size of the data being aggregated, computed a single time.</a:t>
            </a:r>
          </a:p>
        </p:txBody>
      </p:sp>
    </p:spTree>
    <p:extLst>
      <p:ext uri="{BB962C8B-B14F-4D97-AF65-F5344CB8AC3E}">
        <p14:creationId xmlns:p14="http://schemas.microsoft.com/office/powerpoint/2010/main" val="31125565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5662F04-6DCD-B03D-B820-4EBFBA6C297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717657C-267D-C5B5-BC40-66639224D7A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table expressions (CTEs), solution 1, verifying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07B3305-42AF-D360-C75D-93830848806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2426851-2EC2-280F-AA60-3875A8B9FD22}"/>
              </a:ext>
            </a:extLst>
          </p:cNvPr>
          <p:cNvSpPr txBox="1"/>
          <p:nvPr/>
        </p:nvSpPr>
        <p:spPr>
          <a:xfrm>
            <a:off x="315981" y="911274"/>
            <a:ext cx="8272606" cy="241447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whether the CTE version is actually faster depends on real factors — </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whether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orders.customer_id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is indexed (the correlated version leans hard on that index existing; without it, each correlated subquery is its own mini table scan, making the slow version catastrophically slow rather than just moderately slow)</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how selective the region filter is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the way to confirm, run EXPLAIN ANALYZE on both versions and look for the correlated version showing the subquery plan node repeated inside a loop (</a:t>
            </a:r>
            <a:r>
              <a:rPr lang="en-US" dirty="0">
                <a:latin typeface="Lato"/>
                <a:ea typeface="Lato"/>
                <a:cs typeface="Lato"/>
                <a:sym typeface="Lato"/>
              </a:rPr>
              <a:t>n</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ested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Loop, subplan re-executed) versus the CTE version showing one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GroupAggregate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or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HashAggregate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node feeding a single join</a:t>
            </a:r>
          </a:p>
        </p:txBody>
      </p:sp>
    </p:spTree>
    <p:extLst>
      <p:ext uri="{BB962C8B-B14F-4D97-AF65-F5344CB8AC3E}">
        <p14:creationId xmlns:p14="http://schemas.microsoft.com/office/powerpoint/2010/main" val="137065167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6DCB6DD-F305-4EED-DE3A-DA5D07F7D3F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144551B-3637-38C7-E6E4-A06505508E7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table expressions (CTEs),  </a:t>
            </a:r>
            <a:r>
              <a:rPr lang="en" i="1" dirty="0">
                <a:solidFill>
                  <a:schemeClr val="accent2"/>
                </a:solidFill>
                <a:latin typeface="Lato"/>
                <a:ea typeface="Lato"/>
                <a:cs typeface="Lato"/>
                <a:sym typeface="Lato"/>
              </a:rPr>
              <a:t>other repetitive execution patterns</a:t>
            </a:r>
            <a:endParaRPr i="1"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C604E1E-F96C-D301-9D88-3E325D9CA76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9A851AAD-AB19-4949-A3E5-2671B10CE2EB}"/>
              </a:ext>
            </a:extLst>
          </p:cNvPr>
          <p:cNvSpPr txBox="1"/>
          <p:nvPr/>
        </p:nvSpPr>
        <p:spPr>
          <a:xfrm>
            <a:off x="797990" y="1396074"/>
            <a:ext cx="5872168" cy="19189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same non-correlated subquery pasted in multiple places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multiple UNION branches each re-filtering the same expensive base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repeated self-joins to the same huge table for period comparisons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repeated complex expression case</a:t>
            </a:r>
          </a:p>
        </p:txBody>
      </p:sp>
      <p:sp>
        <p:nvSpPr>
          <p:cNvPr id="4" name="Oval 3">
            <a:extLst>
              <a:ext uri="{FF2B5EF4-FFF2-40B4-BE49-F238E27FC236}">
                <a16:creationId xmlns:a16="http://schemas.microsoft.com/office/drawing/2014/main" id="{C2CD2F4D-6B6D-C790-C284-13146EDF2823}"/>
              </a:ext>
            </a:extLst>
          </p:cNvPr>
          <p:cNvSpPr/>
          <p:nvPr/>
        </p:nvSpPr>
        <p:spPr>
          <a:xfrm>
            <a:off x="467833" y="1474381"/>
            <a:ext cx="276447" cy="27644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1</a:t>
            </a:r>
          </a:p>
        </p:txBody>
      </p:sp>
      <p:sp>
        <p:nvSpPr>
          <p:cNvPr id="6" name="Oval 5">
            <a:extLst>
              <a:ext uri="{FF2B5EF4-FFF2-40B4-BE49-F238E27FC236}">
                <a16:creationId xmlns:a16="http://schemas.microsoft.com/office/drawing/2014/main" id="{627B2246-D679-5F59-0FA9-A5C8385827C4}"/>
              </a:ext>
            </a:extLst>
          </p:cNvPr>
          <p:cNvSpPr/>
          <p:nvPr/>
        </p:nvSpPr>
        <p:spPr>
          <a:xfrm>
            <a:off x="467832" y="1959198"/>
            <a:ext cx="276447" cy="27644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2</a:t>
            </a:r>
          </a:p>
        </p:txBody>
      </p:sp>
      <p:sp>
        <p:nvSpPr>
          <p:cNvPr id="8" name="Oval 7">
            <a:extLst>
              <a:ext uri="{FF2B5EF4-FFF2-40B4-BE49-F238E27FC236}">
                <a16:creationId xmlns:a16="http://schemas.microsoft.com/office/drawing/2014/main" id="{F5A5CDA7-AF78-9E70-A6A1-4BAE9B6B2844}"/>
              </a:ext>
            </a:extLst>
          </p:cNvPr>
          <p:cNvSpPr/>
          <p:nvPr/>
        </p:nvSpPr>
        <p:spPr>
          <a:xfrm>
            <a:off x="467833" y="2444015"/>
            <a:ext cx="276447" cy="27644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3</a:t>
            </a:r>
          </a:p>
        </p:txBody>
      </p:sp>
      <p:sp>
        <p:nvSpPr>
          <p:cNvPr id="10" name="Oval 9">
            <a:extLst>
              <a:ext uri="{FF2B5EF4-FFF2-40B4-BE49-F238E27FC236}">
                <a16:creationId xmlns:a16="http://schemas.microsoft.com/office/drawing/2014/main" id="{642831FF-D7A4-9948-591B-C026FDF16B17}"/>
              </a:ext>
            </a:extLst>
          </p:cNvPr>
          <p:cNvSpPr/>
          <p:nvPr/>
        </p:nvSpPr>
        <p:spPr>
          <a:xfrm>
            <a:off x="467833" y="2963826"/>
            <a:ext cx="276447" cy="27644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4</a:t>
            </a:r>
          </a:p>
        </p:txBody>
      </p:sp>
    </p:spTree>
    <p:extLst>
      <p:ext uri="{BB962C8B-B14F-4D97-AF65-F5344CB8AC3E}">
        <p14:creationId xmlns:p14="http://schemas.microsoft.com/office/powerpoint/2010/main" val="221543976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32B1420-39FE-1227-AF1C-8742C44AEFC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525DFC4-4606-F23B-54A8-3E0D0A1EB8E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r>
              <a:rPr lang="en" dirty="0">
                <a:solidFill>
                  <a:schemeClr val="accent2"/>
                </a:solidFill>
                <a:latin typeface="Lato"/>
                <a:ea typeface="Lato"/>
                <a:cs typeface="Lato"/>
                <a:sym typeface="Lato"/>
              </a:rPr>
              <a:t>CTEs, </a:t>
            </a:r>
            <a:r>
              <a:rPr lang="en-US" dirty="0">
                <a:solidFill>
                  <a:srgbClr val="000000"/>
                </a:solidFill>
                <a:latin typeface="Lato"/>
                <a:ea typeface="Lato"/>
                <a:cs typeface="Lato"/>
                <a:sym typeface="Lato"/>
              </a:rPr>
              <a:t>same non-correlated subquery pasted in multiple places, problem</a:t>
            </a:r>
            <a:br>
              <a:rPr lang="en-US" dirty="0">
                <a:solidFill>
                  <a:srgbClr val="000000"/>
                </a:solidFill>
                <a:latin typeface="Lato"/>
                <a:ea typeface="Lato"/>
                <a:cs typeface="Lato"/>
                <a:sym typeface="Lato"/>
              </a:rPr>
            </a:b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BA8FAA8-2465-F27E-7B5E-E4F7693DD67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26571EC-F036-487C-48D1-E21987992128}"/>
              </a:ext>
            </a:extLst>
          </p:cNvPr>
          <p:cNvSpPr txBox="1"/>
          <p:nvPr/>
        </p:nvSpPr>
        <p:spPr>
          <a:xfrm>
            <a:off x="315981" y="925452"/>
            <a:ext cx="8272606" cy="244987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(SELECT AVG(amount) FROM orders WHERE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order_date</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&gt;= '2026-01-01') AS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company_avg</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amount,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amount - (SELECT AVG(amount) FROM orders WHERE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order_date</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&gt;= '2026-01-01') AS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diff_from_avg</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FROM orders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WHERE amount &gt; (SELECT AVG(amount) FROM orders WHERE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order_date</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&gt;= '2026-01-01') * 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same AVG(amount) calculation over the same date-filtered orders table appears three separate times — it's not correlated (doesn't depend on the outer row), but many optimizers still won't recognize "these three subqueries are textually identical" and dedupe them automatically</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3" name="Oval 2">
            <a:extLst>
              <a:ext uri="{FF2B5EF4-FFF2-40B4-BE49-F238E27FC236}">
                <a16:creationId xmlns:a16="http://schemas.microsoft.com/office/drawing/2014/main" id="{5D3090FF-FEB2-83AD-8B77-EC0BE29EBE71}"/>
              </a:ext>
            </a:extLst>
          </p:cNvPr>
          <p:cNvSpPr/>
          <p:nvPr/>
        </p:nvSpPr>
        <p:spPr>
          <a:xfrm>
            <a:off x="7605823" y="3657600"/>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1</a:t>
            </a:r>
          </a:p>
        </p:txBody>
      </p:sp>
    </p:spTree>
    <p:extLst>
      <p:ext uri="{BB962C8B-B14F-4D97-AF65-F5344CB8AC3E}">
        <p14:creationId xmlns:p14="http://schemas.microsoft.com/office/powerpoint/2010/main" val="299963632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BC0C5BD-41FD-1368-FCD2-605DF4E6923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2880EE3-166F-989B-4CDD-0E9399750BA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r>
              <a:rPr lang="en" dirty="0">
                <a:solidFill>
                  <a:schemeClr val="accent2"/>
                </a:solidFill>
                <a:latin typeface="Lato"/>
                <a:ea typeface="Lato"/>
                <a:cs typeface="Lato"/>
                <a:sym typeface="Lato"/>
              </a:rPr>
              <a:t>CTEs, </a:t>
            </a:r>
            <a:r>
              <a:rPr lang="en-US" dirty="0">
                <a:solidFill>
                  <a:srgbClr val="000000"/>
                </a:solidFill>
                <a:latin typeface="Lato"/>
                <a:ea typeface="Lato"/>
                <a:cs typeface="Lato"/>
                <a:sym typeface="Lato"/>
              </a:rPr>
              <a:t>same non-correlated subquery pasted in multiple places, solution</a:t>
            </a:r>
            <a:br>
              <a:rPr lang="en-US" dirty="0">
                <a:solidFill>
                  <a:srgbClr val="000000"/>
                </a:solidFill>
                <a:latin typeface="Lato"/>
                <a:ea typeface="Lato"/>
                <a:cs typeface="Lato"/>
                <a:sym typeface="Lato"/>
              </a:rPr>
            </a:b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C3D46AD-DB78-D388-FF05-C890C9A67DC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285EB2C-A665-E3BF-0F84-2CC11B697428}"/>
              </a:ext>
            </a:extLst>
          </p:cNvPr>
          <p:cNvSpPr txBox="1"/>
          <p:nvPr/>
        </p:nvSpPr>
        <p:spPr>
          <a:xfrm>
            <a:off x="315981" y="1244428"/>
            <a:ext cx="8272606" cy="216671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WITH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company_avg</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SELECT AVG(amount) AS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avg_amount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FROM orders WHERE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order_date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&gt;= '2026-01-01'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ca.avg_amount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AS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company_avg</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ca.avg_amount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AS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diff_from_avg</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orders o,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company_avg</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&gt;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ca.avg_amount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2;</a:t>
            </a:r>
          </a:p>
        </p:txBody>
      </p:sp>
      <p:sp>
        <p:nvSpPr>
          <p:cNvPr id="4" name="Oval 3">
            <a:extLst>
              <a:ext uri="{FF2B5EF4-FFF2-40B4-BE49-F238E27FC236}">
                <a16:creationId xmlns:a16="http://schemas.microsoft.com/office/drawing/2014/main" id="{87DB1EEB-1430-A6BF-C08B-5EB1DBA3AEA4}"/>
              </a:ext>
            </a:extLst>
          </p:cNvPr>
          <p:cNvSpPr/>
          <p:nvPr/>
        </p:nvSpPr>
        <p:spPr>
          <a:xfrm>
            <a:off x="7605823" y="3657600"/>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1</a:t>
            </a:r>
          </a:p>
        </p:txBody>
      </p:sp>
    </p:spTree>
    <p:extLst>
      <p:ext uri="{BB962C8B-B14F-4D97-AF65-F5344CB8AC3E}">
        <p14:creationId xmlns:p14="http://schemas.microsoft.com/office/powerpoint/2010/main" val="32072249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78241E0-199D-0683-4043-54C166C0E19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9E26CAAB-EBA1-E123-8D86-4993B85E7A3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lvl="0"/>
            <a:r>
              <a:rPr lang="en" sz="1800" dirty="0">
                <a:solidFill>
                  <a:schemeClr val="accent2"/>
                </a:solidFill>
                <a:latin typeface="Lato"/>
                <a:ea typeface="Lato"/>
                <a:cs typeface="Lato"/>
                <a:sym typeface="Lato"/>
              </a:rPr>
              <a:t>CTEs, </a:t>
            </a:r>
            <a:r>
              <a:rPr lang="en-US" sz="1800" dirty="0">
                <a:solidFill>
                  <a:srgbClr val="000000"/>
                </a:solidFill>
                <a:latin typeface="Lato"/>
                <a:ea typeface="Lato"/>
                <a:cs typeface="Lato"/>
                <a:sym typeface="Lato"/>
              </a:rPr>
              <a:t>multiple UNION branches each re-filtering the same expensive base, problem</a:t>
            </a:r>
            <a:r>
              <a:rPr lang="en" sz="1800" dirty="0">
                <a:solidFill>
                  <a:schemeClr val="accent2"/>
                </a:solidFill>
                <a:latin typeface="Lato"/>
                <a:ea typeface="Lato"/>
                <a:cs typeface="Lato"/>
                <a:sym typeface="Lato"/>
              </a:rPr>
              <a:t> </a:t>
            </a:r>
            <a:endParaRPr sz="1800"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27ECF11-A58F-DE9A-8C90-DB0E9BCD6E7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0291FAD-3123-7A15-6538-66C46CE2171F}"/>
              </a:ext>
            </a:extLst>
          </p:cNvPr>
          <p:cNvSpPr txBox="1"/>
          <p:nvPr/>
        </p:nvSpPr>
        <p:spPr>
          <a:xfrm>
            <a:off x="315981" y="904186"/>
            <a:ext cx="8272606" cy="2909997"/>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slow</a:t>
            </a:r>
            <a:r>
              <a:rPr lang="en-US" dirty="0">
                <a:latin typeface="Lato"/>
                <a:ea typeface="Lato"/>
                <a:cs typeface="Lato"/>
                <a:sym typeface="Lato"/>
              </a:rPr>
              <a: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the expensive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join+filter</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runs independently in each branch</a:t>
            </a: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high_value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AS segment, COUNT(*)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orders o JOIN customers c ON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o.customer_id</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c.region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'West' AND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o.amount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&gt; 1000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UNION ALL</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repeat_buyer</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COUNT(*)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orders o JOIN customers c ON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o.customer_id</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c.region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'West' AND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o.order_count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b</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oth</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branches independently redo the same orders JOIN customers WHERE region = 'West' work</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Oval 3">
            <a:extLst>
              <a:ext uri="{FF2B5EF4-FFF2-40B4-BE49-F238E27FC236}">
                <a16:creationId xmlns:a16="http://schemas.microsoft.com/office/drawing/2014/main" id="{E5930B24-5B14-6619-7775-DE0C6501EBBC}"/>
              </a:ext>
            </a:extLst>
          </p:cNvPr>
          <p:cNvSpPr/>
          <p:nvPr/>
        </p:nvSpPr>
        <p:spPr>
          <a:xfrm>
            <a:off x="7605823" y="3767759"/>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2</a:t>
            </a:r>
          </a:p>
        </p:txBody>
      </p:sp>
    </p:spTree>
    <p:extLst>
      <p:ext uri="{BB962C8B-B14F-4D97-AF65-F5344CB8AC3E}">
        <p14:creationId xmlns:p14="http://schemas.microsoft.com/office/powerpoint/2010/main" val="365282797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C1208BC-2117-590D-A5BC-6BA6606593B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2C7422B-17D4-BDD7-4583-28CF2532A94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lvl="0"/>
            <a:r>
              <a:rPr lang="en" sz="1800" dirty="0">
                <a:solidFill>
                  <a:schemeClr val="accent2"/>
                </a:solidFill>
                <a:latin typeface="Lato"/>
                <a:ea typeface="Lato"/>
                <a:cs typeface="Lato"/>
                <a:sym typeface="Lato"/>
              </a:rPr>
              <a:t>CTEs, </a:t>
            </a:r>
            <a:r>
              <a:rPr lang="en-US" sz="1800" dirty="0">
                <a:solidFill>
                  <a:srgbClr val="000000"/>
                </a:solidFill>
                <a:latin typeface="Lato"/>
                <a:ea typeface="Lato"/>
                <a:cs typeface="Lato"/>
                <a:sym typeface="Lato"/>
              </a:rPr>
              <a:t>multiple UNION branches each re-filtering the same expensive base, solution</a:t>
            </a:r>
            <a:r>
              <a:rPr lang="en" sz="1800" dirty="0">
                <a:solidFill>
                  <a:schemeClr val="accent2"/>
                </a:solidFill>
                <a:latin typeface="Lato"/>
                <a:ea typeface="Lato"/>
                <a:cs typeface="Lato"/>
                <a:sym typeface="Lato"/>
              </a:rPr>
              <a:t> </a:t>
            </a:r>
            <a:endParaRPr sz="1800"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4484923-9D06-0FF2-018B-2F46D7FDDA7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B2A2EF6-205C-E048-A98C-657F9B0C5090}"/>
              </a:ext>
            </a:extLst>
          </p:cNvPr>
          <p:cNvSpPr txBox="1"/>
          <p:nvPr/>
        </p:nvSpPr>
        <p:spPr>
          <a:xfrm>
            <a:off x="315981" y="904186"/>
            <a:ext cx="8272606" cy="1918957"/>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dirty="0">
                <a:latin typeface="Lato"/>
                <a:ea typeface="Lato"/>
                <a:cs typeface="Lato"/>
                <a:sym typeface="Lato"/>
              </a:rPr>
              <a:t>WITH </a:t>
            </a:r>
            <a:r>
              <a:rPr lang="en-US" dirty="0" err="1">
                <a:latin typeface="Lato"/>
                <a:ea typeface="Lato"/>
                <a:cs typeface="Lato"/>
                <a:sym typeface="Lato"/>
              </a:rPr>
              <a:t>west_orders</a:t>
            </a:r>
            <a:r>
              <a:rPr lang="en-US" dirty="0">
                <a:latin typeface="Lato"/>
                <a:ea typeface="Lato"/>
                <a:cs typeface="Lato"/>
                <a:sym typeface="Lato"/>
              </a:rPr>
              <a:t> AS (</a:t>
            </a:r>
          </a:p>
          <a:p>
            <a:pPr lvl="0">
              <a:lnSpc>
                <a:spcPct val="115000"/>
              </a:lnSpc>
              <a:defRPr/>
            </a:pPr>
            <a:r>
              <a:rPr lang="en-US" dirty="0">
                <a:latin typeface="Lato"/>
                <a:ea typeface="Lato"/>
                <a:cs typeface="Lato"/>
                <a:sym typeface="Lato"/>
              </a:rPr>
              <a:t>    SELECT o.* FROM orders o JOIN customers c ON </a:t>
            </a:r>
            <a:r>
              <a:rPr lang="en-US" dirty="0" err="1">
                <a:latin typeface="Lato"/>
                <a:ea typeface="Lato"/>
                <a:cs typeface="Lato"/>
                <a:sym typeface="Lato"/>
              </a:rPr>
              <a:t>c.customer_id</a:t>
            </a:r>
            <a:r>
              <a:rPr lang="en-US" dirty="0">
                <a:latin typeface="Lato"/>
                <a:ea typeface="Lato"/>
                <a:cs typeface="Lato"/>
                <a:sym typeface="Lato"/>
              </a:rPr>
              <a:t> = </a:t>
            </a:r>
            <a:r>
              <a:rPr lang="en-US" dirty="0" err="1">
                <a:latin typeface="Lato"/>
                <a:ea typeface="Lato"/>
                <a:cs typeface="Lato"/>
                <a:sym typeface="Lato"/>
              </a:rPr>
              <a:t>o.customer_id</a:t>
            </a:r>
            <a:endParaRPr lang="en-US" dirty="0">
              <a:latin typeface="Lato"/>
              <a:ea typeface="Lato"/>
              <a:cs typeface="Lato"/>
              <a:sym typeface="Lato"/>
            </a:endParaRPr>
          </a:p>
          <a:p>
            <a:pPr lvl="0">
              <a:lnSpc>
                <a:spcPct val="115000"/>
              </a:lnSpc>
              <a:defRPr/>
            </a:pPr>
            <a:r>
              <a:rPr lang="en-US" dirty="0">
                <a:latin typeface="Lato"/>
                <a:ea typeface="Lato"/>
                <a:cs typeface="Lato"/>
                <a:sym typeface="Lato"/>
              </a:rPr>
              <a:t>    WHERE </a:t>
            </a:r>
            <a:r>
              <a:rPr lang="en-US" dirty="0" err="1">
                <a:latin typeface="Lato"/>
                <a:ea typeface="Lato"/>
                <a:cs typeface="Lato"/>
                <a:sym typeface="Lato"/>
              </a:rPr>
              <a:t>c.region</a:t>
            </a:r>
            <a:r>
              <a:rPr lang="en-US" dirty="0">
                <a:latin typeface="Lato"/>
                <a:ea typeface="Lato"/>
                <a:cs typeface="Lato"/>
                <a:sym typeface="Lato"/>
              </a:rPr>
              <a:t> = 'West'</a:t>
            </a:r>
          </a:p>
          <a:p>
            <a:pPr lvl="0">
              <a:lnSpc>
                <a:spcPct val="115000"/>
              </a:lnSpc>
              <a:defRPr/>
            </a:pPr>
            <a:r>
              <a:rPr lang="en-US" dirty="0">
                <a:latin typeface="Lato"/>
                <a:ea typeface="Lato"/>
                <a:cs typeface="Lato"/>
                <a:sym typeface="Lato"/>
              </a:rPr>
              <a:t>)</a:t>
            </a:r>
          </a:p>
          <a:p>
            <a:pPr lvl="0">
              <a:lnSpc>
                <a:spcPct val="115000"/>
              </a:lnSpc>
              <a:defRPr/>
            </a:pPr>
            <a:r>
              <a:rPr lang="en-US" dirty="0">
                <a:latin typeface="Lato"/>
                <a:ea typeface="Lato"/>
                <a:cs typeface="Lato"/>
                <a:sym typeface="Lato"/>
              </a:rPr>
              <a:t>SELECT '</a:t>
            </a:r>
            <a:r>
              <a:rPr lang="en-US" dirty="0" err="1">
                <a:latin typeface="Lato"/>
                <a:ea typeface="Lato"/>
                <a:cs typeface="Lato"/>
                <a:sym typeface="Lato"/>
              </a:rPr>
              <a:t>high_value</a:t>
            </a:r>
            <a:r>
              <a:rPr lang="en-US" dirty="0">
                <a:latin typeface="Lato"/>
                <a:ea typeface="Lato"/>
                <a:cs typeface="Lato"/>
                <a:sym typeface="Lato"/>
              </a:rPr>
              <a:t>', COUNT(*) FROM </a:t>
            </a:r>
            <a:r>
              <a:rPr lang="en-US" dirty="0" err="1">
                <a:latin typeface="Lato"/>
                <a:ea typeface="Lato"/>
                <a:cs typeface="Lato"/>
                <a:sym typeface="Lato"/>
              </a:rPr>
              <a:t>west_orders</a:t>
            </a:r>
            <a:r>
              <a:rPr lang="en-US" dirty="0">
                <a:latin typeface="Lato"/>
                <a:ea typeface="Lato"/>
                <a:cs typeface="Lato"/>
                <a:sym typeface="Lato"/>
              </a:rPr>
              <a:t> WHERE amount &gt; 1000</a:t>
            </a:r>
          </a:p>
          <a:p>
            <a:pPr lvl="0">
              <a:lnSpc>
                <a:spcPct val="115000"/>
              </a:lnSpc>
              <a:defRPr/>
            </a:pPr>
            <a:r>
              <a:rPr lang="en-US" dirty="0">
                <a:latin typeface="Lato"/>
                <a:ea typeface="Lato"/>
                <a:cs typeface="Lato"/>
                <a:sym typeface="Lato"/>
              </a:rPr>
              <a:t>UNION ALL</a:t>
            </a:r>
          </a:p>
          <a:p>
            <a:pPr lvl="0">
              <a:lnSpc>
                <a:spcPct val="115000"/>
              </a:lnSpc>
              <a:defRPr/>
            </a:pPr>
            <a:r>
              <a:rPr lang="en-US" dirty="0">
                <a:latin typeface="Lato"/>
                <a:ea typeface="Lato"/>
                <a:cs typeface="Lato"/>
                <a:sym typeface="Lato"/>
              </a:rPr>
              <a:t>SELECT '</a:t>
            </a:r>
            <a:r>
              <a:rPr lang="en-US" dirty="0" err="1">
                <a:latin typeface="Lato"/>
                <a:ea typeface="Lato"/>
                <a:cs typeface="Lato"/>
                <a:sym typeface="Lato"/>
              </a:rPr>
              <a:t>repeat_buyer</a:t>
            </a:r>
            <a:r>
              <a:rPr lang="en-US" dirty="0">
                <a:latin typeface="Lato"/>
                <a:ea typeface="Lato"/>
                <a:cs typeface="Lato"/>
                <a:sym typeface="Lato"/>
              </a:rPr>
              <a:t>', COUNT(*) FROM </a:t>
            </a:r>
            <a:r>
              <a:rPr lang="en-US" dirty="0" err="1">
                <a:latin typeface="Lato"/>
                <a:ea typeface="Lato"/>
                <a:cs typeface="Lato"/>
                <a:sym typeface="Lato"/>
              </a:rPr>
              <a:t>west_orders</a:t>
            </a:r>
            <a:r>
              <a:rPr lang="en-US" dirty="0">
                <a:latin typeface="Lato"/>
                <a:ea typeface="Lato"/>
                <a:cs typeface="Lato"/>
                <a:sym typeface="Lato"/>
              </a:rPr>
              <a:t> WHERE </a:t>
            </a:r>
            <a:r>
              <a:rPr lang="en-US" dirty="0" err="1">
                <a:latin typeface="Lato"/>
                <a:ea typeface="Lato"/>
                <a:cs typeface="Lato"/>
                <a:sym typeface="Lato"/>
              </a:rPr>
              <a:t>order_count</a:t>
            </a:r>
            <a:r>
              <a:rPr lang="en-US" dirty="0">
                <a:latin typeface="Lato"/>
                <a:ea typeface="Lato"/>
                <a:cs typeface="Lato"/>
                <a:sym typeface="Lato"/>
              </a:rPr>
              <a:t> &gt; 5;</a:t>
            </a:r>
          </a:p>
        </p:txBody>
      </p:sp>
      <p:sp>
        <p:nvSpPr>
          <p:cNvPr id="4" name="Oval 3">
            <a:extLst>
              <a:ext uri="{FF2B5EF4-FFF2-40B4-BE49-F238E27FC236}">
                <a16:creationId xmlns:a16="http://schemas.microsoft.com/office/drawing/2014/main" id="{08537C04-BB92-6EBA-D259-09A2BE5A7355}"/>
              </a:ext>
            </a:extLst>
          </p:cNvPr>
          <p:cNvSpPr/>
          <p:nvPr/>
        </p:nvSpPr>
        <p:spPr>
          <a:xfrm>
            <a:off x="7605823" y="3767759"/>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2</a:t>
            </a:r>
          </a:p>
        </p:txBody>
      </p:sp>
    </p:spTree>
    <p:extLst>
      <p:ext uri="{BB962C8B-B14F-4D97-AF65-F5344CB8AC3E}">
        <p14:creationId xmlns:p14="http://schemas.microsoft.com/office/powerpoint/2010/main" val="56449323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444F470-CB6A-40C7-3519-A428528F7A1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B7DB5C4-9C9B-1B05-9212-92D7A0D3662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r>
              <a:rPr lang="en" sz="1800" dirty="0">
                <a:solidFill>
                  <a:schemeClr val="accent2"/>
                </a:solidFill>
                <a:latin typeface="Lato"/>
                <a:ea typeface="Lato"/>
                <a:cs typeface="Lato"/>
                <a:sym typeface="Lato"/>
              </a:rPr>
              <a:t>CTEs, </a:t>
            </a:r>
            <a:r>
              <a:rPr lang="en-US" sz="1800" dirty="0">
                <a:solidFill>
                  <a:srgbClr val="000000"/>
                </a:solidFill>
                <a:latin typeface="Lato"/>
                <a:ea typeface="Lato"/>
                <a:cs typeface="Lato"/>
                <a:sym typeface="Lato"/>
              </a:rPr>
              <a:t>repeated self-joins to the same huge table for period comparisons, problem </a:t>
            </a:r>
            <a:br>
              <a:rPr lang="en-US" sz="1800" dirty="0">
                <a:solidFill>
                  <a:srgbClr val="000000"/>
                </a:solidFill>
                <a:latin typeface="Lato"/>
                <a:ea typeface="Lato"/>
                <a:cs typeface="Lato"/>
                <a:sym typeface="Lato"/>
              </a:rPr>
            </a:br>
            <a:endParaRPr sz="1800"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9A61B4F-51C1-DFA1-3BBF-3A5F6278B63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957010F-8151-A38B-ED4B-A3613123EDF1}"/>
              </a:ext>
            </a:extLst>
          </p:cNvPr>
          <p:cNvSpPr txBox="1"/>
          <p:nvPr/>
        </p:nvSpPr>
        <p:spPr>
          <a:xfrm>
            <a:off x="315981" y="868991"/>
            <a:ext cx="8272606" cy="2662237"/>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Slow: orders gets independently scanned/filtered twice, once per period</a:t>
            </a: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SUM(CASE WHEN o1.order_date &gt;= '2026-06-01' THEN o1.amount END) AS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this_period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SUM(CASE WHEN o2.order_date &gt;= '2026-01-01' AND o2.order_date &lt; '2026-06-01' THEN o2.amount END) AS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last_period</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FROM customers 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LEFT JOIN orders o1 ON o1.customer_id =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AND o1.order_date &gt;= '2026-06-01'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LEFT JOIN orders o2 ON o2.customer_id =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AND o2.order_date &gt;= '2026-01-01' AND o2.order_date &lt; '2026-06-01'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GROUP BY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orders gets joined to twice, each join independently scanning/filtering the whole table for its own date window</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Oval 3">
            <a:extLst>
              <a:ext uri="{FF2B5EF4-FFF2-40B4-BE49-F238E27FC236}">
                <a16:creationId xmlns:a16="http://schemas.microsoft.com/office/drawing/2014/main" id="{610D9FA7-A5C3-777F-DF14-669557A23A39}"/>
              </a:ext>
            </a:extLst>
          </p:cNvPr>
          <p:cNvSpPr/>
          <p:nvPr/>
        </p:nvSpPr>
        <p:spPr>
          <a:xfrm>
            <a:off x="7605823" y="3767759"/>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3</a:t>
            </a:r>
          </a:p>
        </p:txBody>
      </p:sp>
    </p:spTree>
    <p:extLst>
      <p:ext uri="{BB962C8B-B14F-4D97-AF65-F5344CB8AC3E}">
        <p14:creationId xmlns:p14="http://schemas.microsoft.com/office/powerpoint/2010/main" val="262932862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9326CCA-3949-8915-7A21-5612F2E05A6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0721CF4-52A5-0006-B4F5-44C722BA23B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r>
              <a:rPr lang="en" sz="1800" dirty="0">
                <a:solidFill>
                  <a:schemeClr val="accent2"/>
                </a:solidFill>
                <a:latin typeface="Lato"/>
                <a:ea typeface="Lato"/>
                <a:cs typeface="Lato"/>
                <a:sym typeface="Lato"/>
              </a:rPr>
              <a:t>CTEs, </a:t>
            </a:r>
            <a:r>
              <a:rPr lang="en-US" sz="1800" dirty="0">
                <a:solidFill>
                  <a:srgbClr val="000000"/>
                </a:solidFill>
                <a:latin typeface="Lato"/>
                <a:ea typeface="Lato"/>
                <a:cs typeface="Lato"/>
                <a:sym typeface="Lato"/>
              </a:rPr>
              <a:t>repeated self-joins to the same huge table for period comparisons, solution </a:t>
            </a:r>
            <a:br>
              <a:rPr lang="en-US" sz="1800" dirty="0">
                <a:solidFill>
                  <a:srgbClr val="000000"/>
                </a:solidFill>
                <a:latin typeface="Lato"/>
                <a:ea typeface="Lato"/>
                <a:cs typeface="Lato"/>
                <a:sym typeface="Lato"/>
              </a:rPr>
            </a:br>
            <a:endParaRPr sz="1800"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9B5C2FD-5D06-51F4-744F-C83977A59B9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E21E624-2DFF-8C27-70BE-47BEC6878062}"/>
              </a:ext>
            </a:extLst>
          </p:cNvPr>
          <p:cNvSpPr txBox="1"/>
          <p:nvPr/>
        </p:nvSpPr>
        <p:spPr>
          <a:xfrm>
            <a:off x="315981" y="882921"/>
            <a:ext cx="8272606" cy="322854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 p</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re-aggregate each period once into its own small CTE, then join those small results </a:t>
            </a: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instead of the raw table: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WITH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this_period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SELECT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SUM(amount) AS total FROM orders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WHERE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order_date</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'2026-06-01' GROUP BY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customer_id</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last_period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SELECT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SUM(amount) AS total FROM orders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WHERE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order_date</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'2026-01-01' AND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order_date</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&lt; '2026-06-01' GROUP BY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customer_id</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SELECT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tp.total</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AS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this_period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lp.total</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AS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last_period</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FROM customers 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LEFT JOIN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this_period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tp</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ON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tp.customer_id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c.customer_id</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LEFT JOIN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last_period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lp</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ON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lp.customer_id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c.customer_id</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p:txBody>
      </p:sp>
      <p:sp>
        <p:nvSpPr>
          <p:cNvPr id="4" name="Oval 3">
            <a:extLst>
              <a:ext uri="{FF2B5EF4-FFF2-40B4-BE49-F238E27FC236}">
                <a16:creationId xmlns:a16="http://schemas.microsoft.com/office/drawing/2014/main" id="{EE0612F0-0409-43E2-E5EF-7D6209659D62}"/>
              </a:ext>
            </a:extLst>
          </p:cNvPr>
          <p:cNvSpPr/>
          <p:nvPr/>
        </p:nvSpPr>
        <p:spPr>
          <a:xfrm>
            <a:off x="7605823" y="3767759"/>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3</a:t>
            </a:r>
          </a:p>
        </p:txBody>
      </p:sp>
    </p:spTree>
    <p:extLst>
      <p:ext uri="{BB962C8B-B14F-4D97-AF65-F5344CB8AC3E}">
        <p14:creationId xmlns:p14="http://schemas.microsoft.com/office/powerpoint/2010/main" val="244028574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85F37DE-505B-2FC3-B12F-CA0594338D7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090BA74-14E9-DDCC-91D1-165CF64523A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r>
              <a:rPr lang="en" dirty="0">
                <a:solidFill>
                  <a:schemeClr val="accent2"/>
                </a:solidFill>
                <a:latin typeface="Lato"/>
                <a:ea typeface="Lato"/>
                <a:cs typeface="Lato"/>
                <a:sym typeface="Lato"/>
              </a:rPr>
              <a:t>CTEs, </a:t>
            </a:r>
            <a:r>
              <a:rPr lang="en-US" dirty="0">
                <a:solidFill>
                  <a:srgbClr val="000000"/>
                </a:solidFill>
                <a:latin typeface="Lato"/>
                <a:ea typeface="Lato"/>
                <a:cs typeface="Lato"/>
                <a:sym typeface="Lato"/>
              </a:rPr>
              <a:t>repeated complex expression case, problem (vector search example)</a:t>
            </a:r>
            <a:br>
              <a:rPr lang="en-US" dirty="0">
                <a:solidFill>
                  <a:srgbClr val="000000"/>
                </a:solidFill>
                <a:latin typeface="Lato"/>
                <a:ea typeface="Lato"/>
                <a:cs typeface="Lato"/>
                <a:sym typeface="Lato"/>
              </a:rPr>
            </a:b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9C8A095-1488-2FA3-7631-17185A22D16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90471E5-5064-2355-19A5-44339443D50C}"/>
              </a:ext>
            </a:extLst>
          </p:cNvPr>
          <p:cNvSpPr txBox="1"/>
          <p:nvPr/>
        </p:nvSpPr>
        <p:spPr>
          <a:xfrm>
            <a:off x="315981" y="882151"/>
            <a:ext cx="8272606" cy="322854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id, content, embedding &lt;=&gt; '[0.12, 0.05, ...]' AS distance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FROM documents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WHERE embedding &lt;=&gt; '[0.12, 0.05, ...]' &lt; 0.3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ORDER BY embedding &lt;=&gt; '[0.12, 0.05,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LIMIT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hat embedding &lt;=&gt; '[...]' (cosine/L2 distance against your query vector) shows up once in SELECT, once in WHERE, once in 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u</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nlike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 cheap predicate like region = 'West', computing vector distance is real, non-trivial per-row math across every dimension of the embedding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r</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epeating</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it three times per row roughly triples that cost, and Postgres/YSQL doesn't automatically recognize "these three expressions are textually identical, compute once" the way you might assume — each clause gets evaluated independently</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Oval 3">
            <a:extLst>
              <a:ext uri="{FF2B5EF4-FFF2-40B4-BE49-F238E27FC236}">
                <a16:creationId xmlns:a16="http://schemas.microsoft.com/office/drawing/2014/main" id="{5CEFC370-55F3-7BEA-0636-D044F011B2BC}"/>
              </a:ext>
            </a:extLst>
          </p:cNvPr>
          <p:cNvSpPr/>
          <p:nvPr/>
        </p:nvSpPr>
        <p:spPr>
          <a:xfrm>
            <a:off x="7605823" y="3767759"/>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4</a:t>
            </a:r>
          </a:p>
        </p:txBody>
      </p:sp>
    </p:spTree>
    <p:extLst>
      <p:ext uri="{BB962C8B-B14F-4D97-AF65-F5344CB8AC3E}">
        <p14:creationId xmlns:p14="http://schemas.microsoft.com/office/powerpoint/2010/main" val="130482836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4AE4DF8-1E8A-B3F4-4A55-DA46E6EF1EDD}"/>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932FA1A7-3219-D1CA-5ADC-2AC618898AD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r>
              <a:rPr lang="en" dirty="0">
                <a:solidFill>
                  <a:schemeClr val="accent2"/>
                </a:solidFill>
                <a:latin typeface="Lato"/>
                <a:ea typeface="Lato"/>
                <a:cs typeface="Lato"/>
                <a:sym typeface="Lato"/>
              </a:rPr>
              <a:t>CTEs, </a:t>
            </a:r>
            <a:r>
              <a:rPr lang="en-US" dirty="0">
                <a:solidFill>
                  <a:srgbClr val="000000"/>
                </a:solidFill>
                <a:latin typeface="Lato"/>
                <a:ea typeface="Lato"/>
                <a:cs typeface="Lato"/>
                <a:sym typeface="Lato"/>
              </a:rPr>
              <a:t>repeated complex expression case, solution</a:t>
            </a:r>
            <a:br>
              <a:rPr lang="en-US" dirty="0">
                <a:solidFill>
                  <a:srgbClr val="000000"/>
                </a:solidFill>
                <a:latin typeface="Lato"/>
                <a:ea typeface="Lato"/>
                <a:cs typeface="Lato"/>
                <a:sym typeface="Lato"/>
              </a:rPr>
            </a:b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D911CA8-2419-318A-66D1-9D0B372066F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8CDDBC4-2041-A73B-DE4B-A3A4644F8636}"/>
              </a:ext>
            </a:extLst>
          </p:cNvPr>
          <p:cNvSpPr txBox="1"/>
          <p:nvPr/>
        </p:nvSpPr>
        <p:spPr>
          <a:xfrm>
            <a:off x="315981" y="932540"/>
            <a:ext cx="8272606" cy="3086969"/>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WITH scored AS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SELECT id, content, embedding &lt;=&gt; '[0.12, 0.05, ...]' AS distance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FROM documents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id, content, distance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FROM scored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WHERE distance &lt; 0.3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ORDER BY distance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LIMIT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the expensive vector-distance calculation runs once per row, gets a name (distance), and everything downstream just references that already-computed value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Oval 3">
            <a:extLst>
              <a:ext uri="{FF2B5EF4-FFF2-40B4-BE49-F238E27FC236}">
                <a16:creationId xmlns:a16="http://schemas.microsoft.com/office/drawing/2014/main" id="{E8A9D24C-C0EE-1CAC-4917-397BCDF9CE07}"/>
              </a:ext>
            </a:extLst>
          </p:cNvPr>
          <p:cNvSpPr/>
          <p:nvPr/>
        </p:nvSpPr>
        <p:spPr>
          <a:xfrm>
            <a:off x="7605823" y="3767759"/>
            <a:ext cx="567070" cy="5670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4</a:t>
            </a:r>
          </a:p>
        </p:txBody>
      </p:sp>
    </p:spTree>
    <p:extLst>
      <p:ext uri="{BB962C8B-B14F-4D97-AF65-F5344CB8AC3E}">
        <p14:creationId xmlns:p14="http://schemas.microsoft.com/office/powerpoint/2010/main" val="12473217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E61C01F-F087-4251-70A5-C7BED498E5D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2099C75-AB99-A6DF-4F3B-6D9F76796EA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5AC245A-292A-C011-0DBE-21397CEAB68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15D1D88-2193-D02B-26DB-1B09031A4AC3}"/>
              </a:ext>
            </a:extLst>
          </p:cNvPr>
          <p:cNvSpPr txBox="1"/>
          <p:nvPr/>
        </p:nvSpPr>
        <p:spPr>
          <a:xfrm>
            <a:off x="315981" y="1168608"/>
            <a:ext cx="8272606"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t1 = the "one side" table (e.g. customers), 20,000 rows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 PRIMARY KEY,     -- entity id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TEXT                 -- category/region, used as a filter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t2 = the "many side" table (e.g. orders), 100,000 rows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 PRIMARY KEY,     -- row id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                 -- foreign key back to t1.col1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NUMERIC(10,2)        -- a numeric value to aggregate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endParaRPr kumimoji="0" b="0" i="0" u="none" strike="noStrike" kern="0" cap="none" spc="0" normalizeH="0" baseline="0" noProof="0" dirty="0">
              <a:ln>
                <a:noFill/>
              </a:ln>
              <a:solidFill>
                <a:srgbClr val="FFC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8695258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7CD3E1C-41D4-9032-8798-11F5ECAD473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9285E490-7164-51E5-6F78-3A8AEE96EB9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FB38EE9-D6EE-E75F-92A9-AD392397982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4EC19E3-1BD6-6402-B1C5-BE8F6AF0A238}"/>
              </a:ext>
            </a:extLst>
          </p:cNvPr>
          <p:cNvSpPr txBox="1"/>
          <p:nvPr/>
        </p:nvSpPr>
        <p:spPr>
          <a:xfrm>
            <a:off x="315981" y="870771"/>
            <a:ext cx="8272606"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INDEX idx_t2_col2 ON t2 (col2 ASC);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-- 20,000 </a:t>
            </a:r>
            <a:r>
              <a:rPr kumimoji="0" lang="fr-FR"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rows</a:t>
            </a: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fr-FR"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into</a:t>
            </a: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t1, </a:t>
            </a:r>
            <a:r>
              <a:rPr kumimoji="0" lang="fr-FR"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evenly</a:t>
            </a: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split </a:t>
            </a:r>
            <a:r>
              <a:rPr kumimoji="0" lang="fr-FR"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across</a:t>
            </a: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4 </a:t>
            </a:r>
            <a:r>
              <a:rPr kumimoji="0" lang="fr-FR"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categories</a:t>
            </a:r>
            <a:endPar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t1 (col1,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CASE WHEN g % 4 = 0 THEN 'West'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WHEN g % 4 = 1 THEN 'East'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WHEN g % 4 = 2 THEN 'North'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ELSE 'South' END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fr-FR"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generate_series</a:t>
            </a:r>
            <a:r>
              <a:rPr kumimoji="0" lang="fr-FR"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(1, 20000) g;</a:t>
            </a:r>
            <a:endParaRPr kumimoji="0" b="0" i="0" u="none" strike="noStrike" kern="0" cap="none" spc="0" normalizeH="0" baseline="0" noProof="0" dirty="0">
              <a:ln>
                <a:noFill/>
              </a:ln>
              <a:solidFill>
                <a:srgbClr val="FFC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8079420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A20F7D3-0BDD-4647-E336-88BB4E34F82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FB226C8-9A97-561F-AAA9-FDB0CF568C2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CFEFF09-381C-2091-5C93-EC2A2DDF653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8C90056-77DA-94EE-35FB-F197FDFEAD09}"/>
              </a:ext>
            </a:extLst>
          </p:cNvPr>
          <p:cNvSpPr txBox="1"/>
          <p:nvPr/>
        </p:nvSpPr>
        <p:spPr>
          <a:xfrm>
            <a:off x="315981" y="870771"/>
            <a:ext cx="8272606" cy="19189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-- 100,000 rows into t2, ~5 rows per t1 entity on average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t2 (col1, col2, 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 ((g % 20000) + 1), (random() * 500)::numeric(10,2)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generate_series(1, 100000)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fr-FR"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fr-FR"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ANALYZE t2;</a:t>
            </a:r>
            <a:endParaRPr kumimoji="0" b="0" i="0" u="none" strike="noStrike" kern="0" cap="none" spc="0" normalizeH="0" baseline="0" noProof="0" dirty="0">
              <a:ln>
                <a:noFill/>
              </a:ln>
              <a:solidFill>
                <a:srgbClr val="FFC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69486304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405524E-06F9-5BE6-2B2C-BADD3D0BA4E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E2FD37F-1EF5-943B-8569-691D7F66FE1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C6F3FE6-6708-2D7B-B5B0-B07AFB733E1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B14A947-E978-4DFF-69CF-B824D0FD0617}"/>
              </a:ext>
            </a:extLst>
          </p:cNvPr>
          <p:cNvSpPr txBox="1"/>
          <p:nvPr/>
        </p:nvSpPr>
        <p:spPr>
          <a:xfrm>
            <a:off x="258000" y="1643996"/>
            <a:ext cx="8272606"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 BUFFERS)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t1.col1, t1.col2,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COUNT(*) FROM t2     WHERE t2.col2 = t1.col1)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row_count</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SUM(t2.col3) FROM t2 WHERE t2.col2 = t1.col1)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total_val</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t1.col2 = 'West';</a:t>
            </a:r>
            <a:endParaRPr kumimoji="0" b="0" i="0" u="none" strike="noStrike" kern="0" cap="none" spc="0" normalizeH="0" baseline="0" noProof="0" dirty="0">
              <a:ln>
                <a:noFill/>
              </a:ln>
              <a:solidFill>
                <a:srgbClr val="FFC000"/>
              </a:solidFill>
              <a:effectLst/>
              <a:uLnTx/>
              <a:uFillTx/>
              <a:latin typeface="Courier New" panose="02070309020205020404" pitchFamily="49" charset="0"/>
              <a:ea typeface="Lato"/>
              <a:cs typeface="Courier New" panose="02070309020205020404" pitchFamily="49" charset="0"/>
              <a:sym typeface="Lato"/>
            </a:endParaRPr>
          </a:p>
        </p:txBody>
      </p:sp>
      <p:sp>
        <p:nvSpPr>
          <p:cNvPr id="4" name="Google Shape;248;p56">
            <a:extLst>
              <a:ext uri="{FF2B5EF4-FFF2-40B4-BE49-F238E27FC236}">
                <a16:creationId xmlns:a16="http://schemas.microsoft.com/office/drawing/2014/main" id="{A1F1155C-4EE5-2BF6-A39F-ED42B44DD88D}"/>
              </a:ext>
            </a:extLst>
          </p:cNvPr>
          <p:cNvSpPr txBox="1"/>
          <p:nvPr/>
        </p:nvSpPr>
        <p:spPr>
          <a:xfrm>
            <a:off x="6102002" y="157113"/>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8CC991B7-806B-E1FF-4009-5AC50AE39936}"/>
              </a:ext>
            </a:extLst>
          </p:cNvPr>
          <p:cNvSpPr txBox="1"/>
          <p:nvPr/>
        </p:nvSpPr>
        <p:spPr>
          <a:xfrm>
            <a:off x="6102002" y="3218055"/>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Tree>
    <p:extLst>
      <p:ext uri="{BB962C8B-B14F-4D97-AF65-F5344CB8AC3E}">
        <p14:creationId xmlns:p14="http://schemas.microsoft.com/office/powerpoint/2010/main" val="14938406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DF71553-EF47-ECC8-7CCD-5C886836FEA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1C5FAAF-58BE-1DC4-9ECC-50760BAC163D}"/>
              </a:ext>
            </a:extLst>
          </p:cNvPr>
          <p:cNvPicPr>
            <a:picLocks noChangeAspect="1"/>
          </p:cNvPicPr>
          <p:nvPr/>
        </p:nvPicPr>
        <p:blipFill>
          <a:blip r:embed="rId3"/>
          <a:stretch>
            <a:fillRect/>
          </a:stretch>
        </p:blipFill>
        <p:spPr>
          <a:xfrm flipH="1">
            <a:off x="1799329" y="2155441"/>
            <a:ext cx="1900801" cy="2532339"/>
          </a:xfrm>
          <a:prstGeom prst="rect">
            <a:avLst/>
          </a:prstGeom>
        </p:spPr>
      </p:pic>
      <p:sp>
        <p:nvSpPr>
          <p:cNvPr id="10" name="Google Shape;248;p56">
            <a:extLst>
              <a:ext uri="{FF2B5EF4-FFF2-40B4-BE49-F238E27FC236}">
                <a16:creationId xmlns:a16="http://schemas.microsoft.com/office/drawing/2014/main" id="{CA8633F0-B115-6AFC-FCD3-0F8222140738}"/>
              </a:ext>
            </a:extLst>
          </p:cNvPr>
          <p:cNvSpPr txBox="1"/>
          <p:nvPr/>
        </p:nvSpPr>
        <p:spPr>
          <a:xfrm rot="21072430">
            <a:off x="2232675" y="2756555"/>
            <a:ext cx="1152612" cy="1600408"/>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rPr>
              <a:t>we didn’t detail the aggregate method names</a:t>
            </a:r>
            <a:endParaRPr kumimoji="0" lang="en" sz="1800" b="0" i="0" u="none" strike="noStrike" kern="0" cap="none" spc="0" normalizeH="0" baseline="0" noProof="0" dirty="0">
              <a:ln>
                <a:noFill/>
              </a:ln>
              <a:solidFill>
                <a:srgbClr val="FFC000"/>
              </a:solidFill>
              <a:effectLst/>
              <a:uLnTx/>
              <a:uFillTx/>
              <a:latin typeface="Lato" panose="020B0604020202020204" charset="0"/>
              <a:ea typeface="Lato"/>
              <a:cs typeface="Lato" panose="020B0604020202020204" charset="0"/>
              <a:sym typeface="Lato"/>
            </a:endParaRPr>
          </a:p>
        </p:txBody>
      </p:sp>
      <p:sp>
        <p:nvSpPr>
          <p:cNvPr id="242" name="Google Shape;242;p56">
            <a:extLst>
              <a:ext uri="{FF2B5EF4-FFF2-40B4-BE49-F238E27FC236}">
                <a16:creationId xmlns:a16="http://schemas.microsoft.com/office/drawing/2014/main" id="{1A913BC0-9D5A-7FD6-8672-A582112A0E8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 how does this query execute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F75D630-8970-ACB3-FBA3-C0D0A5AFB64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6FDC7B8-80AB-EAFB-B1EB-E75A3A8CFFC8}"/>
              </a:ext>
            </a:extLst>
          </p:cNvPr>
          <p:cNvSpPr txBox="1"/>
          <p:nvPr/>
        </p:nvSpPr>
        <p:spPr>
          <a:xfrm>
            <a:off x="199844" y="948748"/>
            <a:ext cx="3783821" cy="160040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 BUFFERS)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t1.col1, t1.col2,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COUNT(*) FROM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t2.col2 = t1.col1) AS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row_count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SUM(t2.col3) FROM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t2.col2 = t1.col1) AS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total_val</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t1.col2 = 'West';</a:t>
            </a:r>
            <a:endParaRPr kumimoji="0" sz="1000" b="0" i="0" u="none" strike="noStrike" kern="0" cap="none" spc="0" normalizeH="0" baseline="0" noProof="0" dirty="0">
              <a:ln>
                <a:noFill/>
              </a:ln>
              <a:solidFill>
                <a:srgbClr val="FFC000"/>
              </a:solidFill>
              <a:effectLst/>
              <a:uLnTx/>
              <a:uFillTx/>
              <a:latin typeface="Courier New" panose="02070309020205020404" pitchFamily="49" charset="0"/>
              <a:ea typeface="Lato"/>
              <a:cs typeface="Courier New" panose="02070309020205020404" pitchFamily="49" charset="0"/>
              <a:sym typeface="Lato"/>
            </a:endParaRPr>
          </a:p>
        </p:txBody>
      </p:sp>
      <p:sp>
        <p:nvSpPr>
          <p:cNvPr id="5" name="Google Shape;248;p56">
            <a:extLst>
              <a:ext uri="{FF2B5EF4-FFF2-40B4-BE49-F238E27FC236}">
                <a16:creationId xmlns:a16="http://schemas.microsoft.com/office/drawing/2014/main" id="{CDFAE872-10FD-574F-948A-A424C287FF44}"/>
              </a:ext>
            </a:extLst>
          </p:cNvPr>
          <p:cNvSpPr txBox="1"/>
          <p:nvPr/>
        </p:nvSpPr>
        <p:spPr>
          <a:xfrm>
            <a:off x="4655974" y="822185"/>
            <a:ext cx="4230025" cy="3157757"/>
          </a:xfrm>
          <a:prstGeom prst="rect">
            <a:avLst/>
          </a:prstGeom>
          <a:noFill/>
          <a:ln>
            <a:noFill/>
          </a:ln>
        </p:spPr>
        <p:txBody>
          <a:bodyPr spcFirstLastPara="1" wrap="square" lIns="91425" tIns="91425" rIns="91425" bIns="91425" anchor="t" anchorCtr="0">
            <a:spAutoFit/>
          </a:bodyPr>
          <a:lstStyle/>
          <a:p>
            <a:pPr marL="227013" lvl="1" indent="-227013">
              <a:lnSpc>
                <a:spcPct val="115000"/>
              </a:lnSpc>
              <a:buFont typeface="Arial" panose="020B0604020202020204" pitchFamily="34" charset="0"/>
              <a:buChar char="•"/>
              <a:defRPr/>
            </a:pPr>
            <a:r>
              <a:rPr kumimoji="0" lang="en" sz="1200" u="none" strike="noStrike" kern="0" cap="none" spc="0" normalizeH="0" baseline="0" noProof="0" dirty="0">
                <a:ln>
                  <a:noFill/>
                </a:ln>
                <a:solidFill>
                  <a:srgbClr val="00B0F0"/>
                </a:solidFill>
                <a:effectLst/>
                <a:uLnTx/>
                <a:uFillTx/>
                <a:latin typeface="Lato"/>
                <a:ea typeface="Lato"/>
                <a:cs typeface="Lato"/>
                <a:sym typeface="Lato"/>
              </a:rPr>
              <a:t>how many tables do we have</a:t>
            </a:r>
            <a:endParaRPr lang="en" sz="1200" dirty="0">
              <a:solidFill>
                <a:srgbClr val="00B0F0"/>
              </a:solidFill>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what relationship do the tables have (we did discuss this)</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u="none" strike="noStrike" kern="0" cap="none" spc="0" normalizeH="0" baseline="0" noProof="0" dirty="0">
                <a:ln>
                  <a:noFill/>
                </a:ln>
                <a:solidFill>
                  <a:srgbClr val="00B0F0"/>
                </a:solidFill>
                <a:effectLst/>
                <a:uLnTx/>
                <a:uFillTx/>
                <a:latin typeface="Lato"/>
                <a:ea typeface="Lato"/>
                <a:cs typeface="Lato"/>
                <a:sym typeface="Lato"/>
              </a:rPr>
              <a:t>what is the cardinality </a:t>
            </a:r>
            <a:r>
              <a:rPr lang="en" sz="1200" dirty="0">
                <a:solidFill>
                  <a:srgbClr val="00B0F0"/>
                </a:solidFill>
                <a:latin typeface="Lato"/>
                <a:ea typeface="Lato"/>
                <a:cs typeface="Lato"/>
                <a:sym typeface="Lato"/>
              </a:rPr>
              <a:t>between the </a:t>
            </a:r>
            <a:r>
              <a:rPr kumimoji="0" lang="en" sz="1200" u="none" strike="noStrike" kern="0" cap="none" spc="0" normalizeH="0" baseline="0" noProof="0" dirty="0">
                <a:ln>
                  <a:noFill/>
                </a:ln>
                <a:solidFill>
                  <a:srgbClr val="00B0F0"/>
                </a:solidFill>
                <a:effectLst/>
                <a:uLnTx/>
                <a:uFillTx/>
                <a:latin typeface="Lato"/>
                <a:ea typeface="Lato"/>
                <a:cs typeface="Lato"/>
                <a:sym typeface="Lato"/>
              </a:rPr>
              <a:t>tables</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what is the access method per table</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which table is read first</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u="none" strike="noStrike" kern="0" cap="none" spc="0" normalizeH="0" baseline="0" noProof="0" dirty="0">
              <a:ln>
                <a:noFill/>
              </a:ln>
              <a:solidFill>
                <a:srgbClr val="00B0F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generally, what performance do we expect</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u="none" strike="noStrike" kern="0" cap="none" spc="0" normalizeH="0" baseline="0" noProof="0" dirty="0">
              <a:ln>
                <a:noFill/>
              </a:ln>
              <a:solidFill>
                <a:srgbClr val="00B0F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what manual re-write should we consider and why</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1" u="none" strike="noStrike" kern="0" cap="none" spc="0" normalizeH="0" baseline="0" noProof="0" dirty="0">
                <a:ln>
                  <a:noFill/>
                </a:ln>
                <a:solidFill>
                  <a:srgbClr val="00B0F0"/>
                </a:solidFill>
                <a:effectLst/>
                <a:uLnTx/>
                <a:uFillTx/>
                <a:latin typeface="Lato"/>
                <a:ea typeface="Lato"/>
                <a:cs typeface="Lato"/>
                <a:sym typeface="Lato"/>
              </a:rPr>
              <a:t>improve readability/maintenance</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and  …</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i="1" u="none" strike="noStrike" kern="0" cap="none" spc="0" normalizeH="0" baseline="0" noProof="0" dirty="0">
              <a:ln>
                <a:noFill/>
              </a:ln>
              <a:solidFill>
                <a:srgbClr val="00B0F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are we missing an index ? what query would we run to check if should create that index </a:t>
            </a:r>
            <a:endParaRPr kumimoji="0" lang="en" sz="1200" u="none" strike="noStrike" kern="0" cap="none" spc="0" normalizeH="0" baseline="0" noProof="0" dirty="0">
              <a:ln>
                <a:noFill/>
              </a:ln>
              <a:solidFill>
                <a:srgbClr val="00B0F0"/>
              </a:solidFill>
              <a:effectLst/>
              <a:uLnTx/>
              <a:uFillTx/>
              <a:latin typeface="Lato"/>
              <a:ea typeface="Lato"/>
              <a:cs typeface="Lato"/>
              <a:sym typeface="Lato"/>
            </a:endParaRPr>
          </a:p>
        </p:txBody>
      </p:sp>
    </p:spTree>
    <p:extLst>
      <p:ext uri="{BB962C8B-B14F-4D97-AF65-F5344CB8AC3E}">
        <p14:creationId xmlns:p14="http://schemas.microsoft.com/office/powerpoint/2010/main" val="42473760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51DF4D11-A0CF-21C2-1671-A8198833B661}"/>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188DF10E-1703-698C-F9B2-286320B0D63C}"/>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AF2C38C2-CBF1-892A-4024-99E87F05A91E}"/>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06</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D1408BB3-1B72-E55A-9EB0-40F3ACA96898}"/>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EF8D5EC7-FDD6-3936-84AE-F1C33A3E346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03EC01C1-8921-965A-4503-EA546D98256F}"/>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3FCA321B-300E-49BD-A519-883B872DC07E}"/>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03304362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34E6A46-FE3D-8091-1CB9-E8CD05456AB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D7B4C9BB-74B1-7188-23A6-B0D81421CD3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A2FA3C25-7C05-ABCA-2E1F-E5CACD2EAF0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4800393-D4C8-4B8F-5857-10DED92D02D9}"/>
              </a:ext>
            </a:extLst>
          </p:cNvPr>
          <p:cNvSpPr txBox="1"/>
          <p:nvPr/>
        </p:nvSpPr>
        <p:spPr>
          <a:xfrm>
            <a:off x="315981" y="709717"/>
            <a:ext cx="8272606" cy="4078009"/>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Seq Scan on t1  (cost=21.09..370083.31 rows=5000 width=49)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(actual time=5.216..16155.093 rows=5000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Storage Filter: (col2 = 'West'::text)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000" b="0" i="0" u="none" strike="noStrike" kern="0" cap="none" spc="0" normalizeH="0" baseline="0" noProof="0" dirty="0" err="1">
                <a:ln>
                  <a:noFill/>
                </a:ln>
                <a:solidFill>
                  <a:srgbClr val="00B0F0"/>
                </a:solidFill>
                <a:effectLst/>
                <a:uLnTx/>
                <a:uFillTx/>
                <a:latin typeface="Lato"/>
                <a:ea typeface="Lato"/>
                <a:cs typeface="Lato"/>
                <a:sym typeface="Lato"/>
              </a:rPr>
              <a:t>SubPlan</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Finalize Aggregate  (cost=24.42..24.43 rows=1 width=8)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(actual time=1.118..1.119 rows=1 loops=5000)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Index Only Scan using idx_t2_col2 on t2  (cost=24.09..24.41 rows=5 width=0)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(actual time=1.095..1.098 rows=1 loops=5000)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Index Cond: (col2 = t1.col1)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Heap Fetches: 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Partial Aggregate: true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000" b="0" i="0" u="none" strike="noStrike" kern="0" cap="none" spc="0" normalizeH="0" baseline="0" noProof="0" dirty="0" err="1">
                <a:ln>
                  <a:noFill/>
                </a:ln>
                <a:solidFill>
                  <a:srgbClr val="00B0F0"/>
                </a:solidFill>
                <a:effectLst/>
                <a:uLnTx/>
                <a:uFillTx/>
                <a:latin typeface="Lato"/>
                <a:ea typeface="Lato"/>
                <a:cs typeface="Lato"/>
                <a:sym typeface="Lato"/>
              </a:rPr>
              <a:t>SubPlan</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Aggregate  (cost=49.30..49.31 rows=1 width=32)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(actual time=2.105..2.105 rows=1 loops=5000)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Index Scan using idx_t2_col2 on t2 t2_1  (cost=48.18..49.28 rows=5 width=6)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Lato"/>
                <a:ea typeface="Lato"/>
                <a:cs typeface="Lato"/>
                <a:sym typeface="Lato"/>
              </a:rPr>
              <a:t>                        </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(actual time=2.077..2.082 rows=5 loops=5000)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Index Cond: (col2 = t1.col1)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Planning Time: 18.111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ms</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Execution Time: 16159.895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ms</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Peak Memory Usage: 717 kB</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EB1DCF26-D06C-4B33-7360-94D87231A63B}"/>
              </a:ext>
            </a:extLst>
          </p:cNvPr>
          <p:cNvSpPr txBox="1"/>
          <p:nvPr/>
        </p:nvSpPr>
        <p:spPr>
          <a:xfrm>
            <a:off x="5585937" y="193675"/>
            <a:ext cx="3002650" cy="3228546"/>
          </a:xfrm>
          <a:prstGeom prst="rect">
            <a:avLst/>
          </a:prstGeom>
          <a:solidFill>
            <a:schemeClr val="lt1"/>
          </a:solidFill>
          <a:ln>
            <a:noFill/>
          </a:ln>
        </p:spPr>
        <p:txBody>
          <a:bodyPr spcFirstLastPara="1" wrap="square" lIns="91425" tIns="91425" rIns="91425" bIns="91425" anchor="t" anchorCtr="0">
            <a:spAutoFit/>
          </a:bodyPr>
          <a:lstStyle/>
          <a:p>
            <a:pPr lvl="1">
              <a:lnSpc>
                <a:spcPct val="115000"/>
              </a:lnSpc>
              <a:defRPr/>
            </a:pPr>
            <a:r>
              <a:rPr kumimoji="0" lang="en-US" sz="1200" u="none" strike="noStrike" kern="0" cap="none" spc="0" normalizeH="0" baseline="0" noProof="0" dirty="0" err="1">
                <a:ln>
                  <a:noFill/>
                </a:ln>
                <a:solidFill>
                  <a:srgbClr val="00B0F0"/>
                </a:solidFill>
                <a:effectLst/>
                <a:uLnTx/>
                <a:uFillTx/>
                <a:latin typeface="Lato"/>
                <a:ea typeface="Lato"/>
                <a:cs typeface="Lato"/>
                <a:sym typeface="Lato"/>
              </a:rPr>
              <a:t>SubPlan</a:t>
            </a:r>
            <a:r>
              <a:rPr kumimoji="0" lang="en-US" sz="1200" u="none" strike="noStrike" kern="0" cap="none" spc="0" normalizeH="0" baseline="0" noProof="0" dirty="0">
                <a:ln>
                  <a:noFill/>
                </a:ln>
                <a:solidFill>
                  <a:srgbClr val="00B0F0"/>
                </a:solidFill>
                <a:effectLst/>
                <a:uLnTx/>
                <a:uFillTx/>
                <a:latin typeface="Lato"/>
                <a:ea typeface="Lato"/>
                <a:cs typeface="Lato"/>
                <a:sym typeface="Lato"/>
              </a:rPr>
              <a:t> — a correlated (or sometimes uncorrelated) subquery executed as its own mini-plan, potentially many times, one per outer row. </a:t>
            </a:r>
            <a:r>
              <a:rPr lang="en-US" sz="1200" dirty="0">
                <a:solidFill>
                  <a:srgbClr val="00B0F0"/>
                </a:solidFill>
                <a:latin typeface="Lato"/>
                <a:ea typeface="Lato"/>
                <a:cs typeface="Lato"/>
                <a:sym typeface="Lato"/>
              </a:rPr>
              <a:t>t</a:t>
            </a:r>
            <a:r>
              <a:rPr kumimoji="0" lang="en-US" sz="1200" u="none" strike="noStrike" kern="0" cap="none" spc="0" normalizeH="0" baseline="0" noProof="0" dirty="0">
                <a:ln>
                  <a:noFill/>
                </a:ln>
                <a:solidFill>
                  <a:srgbClr val="00B0F0"/>
                </a:solidFill>
                <a:effectLst/>
                <a:uLnTx/>
                <a:uFillTx/>
                <a:latin typeface="Lato"/>
                <a:ea typeface="Lato"/>
                <a:cs typeface="Lato"/>
                <a:sym typeface="Lato"/>
              </a:rPr>
              <a:t>his is what we have</a:t>
            </a:r>
          </a:p>
          <a:p>
            <a:pPr lvl="1">
              <a:lnSpc>
                <a:spcPct val="115000"/>
              </a:lnSpc>
              <a:defRPr/>
            </a:pPr>
            <a:endParaRPr lang="en-US" sz="1200" dirty="0">
              <a:solidFill>
                <a:srgbClr val="00B0F0"/>
              </a:solidFill>
              <a:latin typeface="Lato"/>
              <a:ea typeface="Lato"/>
              <a:cs typeface="Lato"/>
              <a:sym typeface="Lato"/>
            </a:endParaRPr>
          </a:p>
          <a:p>
            <a:pPr marL="230188" lvl="1">
              <a:lnSpc>
                <a:spcPct val="115000"/>
              </a:lnSpc>
              <a:defRPr/>
            </a:pPr>
            <a:r>
              <a:rPr kumimoji="0" lang="en-US" sz="1000" u="none" strike="noStrike" kern="0" cap="none" spc="0" normalizeH="0" baseline="0" noProof="0" dirty="0">
                <a:ln>
                  <a:noFill/>
                </a:ln>
                <a:solidFill>
                  <a:srgbClr val="00B0F0"/>
                </a:solidFill>
                <a:effectLst/>
                <a:uLnTx/>
                <a:uFillTx/>
                <a:latin typeface="Lato"/>
                <a:ea typeface="Lato"/>
                <a:cs typeface="Lato"/>
                <a:sym typeface="Lato"/>
              </a:rPr>
              <a:t>not able to batch nested loop join across </a:t>
            </a:r>
            <a:r>
              <a:rPr kumimoji="0" lang="en-US" sz="1000" u="none" strike="noStrike" kern="0" cap="none" spc="0" normalizeH="0" baseline="0" noProof="0" dirty="0" err="1">
                <a:ln>
                  <a:noFill/>
                </a:ln>
                <a:solidFill>
                  <a:srgbClr val="00B0F0"/>
                </a:solidFill>
                <a:effectLst/>
                <a:uLnTx/>
                <a:uFillTx/>
                <a:latin typeface="Lato"/>
                <a:ea typeface="Lato"/>
                <a:cs typeface="Lato"/>
                <a:sym typeface="Lato"/>
              </a:rPr>
              <a:t>SubPlan</a:t>
            </a:r>
            <a:r>
              <a:rPr lang="en-US" sz="1000" dirty="0">
                <a:solidFill>
                  <a:srgbClr val="00B0F0"/>
                </a:solidFill>
                <a:latin typeface="Lato"/>
                <a:ea typeface="Lato"/>
                <a:cs typeface="Lato"/>
                <a:sym typeface="Lato"/>
              </a:rPr>
              <a:t> boundaries</a:t>
            </a:r>
            <a:r>
              <a:rPr kumimoji="0" lang="en-US" sz="1000" u="none" strike="noStrike" kern="0" cap="none" spc="0" normalizeH="0" baseline="0" noProof="0" dirty="0">
                <a:ln>
                  <a:noFill/>
                </a:ln>
                <a:solidFill>
                  <a:srgbClr val="00B0F0"/>
                </a:solidFill>
                <a:effectLst/>
                <a:uLnTx/>
                <a:uFillTx/>
                <a:latin typeface="Lato"/>
                <a:ea typeface="Lato"/>
                <a:cs typeface="Lato"/>
                <a:sym typeface="Lato"/>
              </a:rPr>
              <a:t> </a:t>
            </a:r>
            <a:endParaRPr lang="en-US" sz="1000" dirty="0">
              <a:solidFill>
                <a:srgbClr val="00B0F0"/>
              </a:solidFill>
              <a:latin typeface="Lato"/>
              <a:ea typeface="Lato"/>
              <a:cs typeface="Lato"/>
              <a:sym typeface="Lato"/>
            </a:endParaRPr>
          </a:p>
          <a:p>
            <a:pPr marL="230188" lvl="1">
              <a:lnSpc>
                <a:spcPct val="115000"/>
              </a:lnSpc>
              <a:defRPr/>
            </a:pPr>
            <a:r>
              <a:rPr kumimoji="0" lang="en-US" sz="1000" i="1" u="none" strike="noStrike" kern="0" cap="none" spc="0" normalizeH="0" baseline="0" noProof="0" dirty="0">
                <a:ln>
                  <a:noFill/>
                </a:ln>
                <a:solidFill>
                  <a:srgbClr val="00B0F0"/>
                </a:solidFill>
                <a:effectLst/>
                <a:uLnTx/>
                <a:uFillTx/>
                <a:latin typeface="Lato"/>
                <a:ea typeface="Lato"/>
                <a:cs typeface="Lato"/>
                <a:sym typeface="Lato"/>
              </a:rPr>
              <a:t>and</a:t>
            </a:r>
            <a:r>
              <a:rPr kumimoji="0" lang="en-US" sz="1000" u="none" strike="noStrike" kern="0" cap="none" spc="0" normalizeH="0" baseline="0" noProof="0" dirty="0">
                <a:ln>
                  <a:noFill/>
                </a:ln>
                <a:solidFill>
                  <a:srgbClr val="00B0F0"/>
                </a:solidFill>
                <a:effectLst/>
                <a:uLnTx/>
                <a:uFillTx/>
                <a:latin typeface="Lato"/>
                <a:ea typeface="Lato"/>
                <a:cs typeface="Lato"/>
                <a:sym typeface="Lato"/>
              </a:rPr>
              <a:t>, when distributed, these are RPC calls/costs, not just a cached, local result</a:t>
            </a:r>
          </a:p>
          <a:p>
            <a:pPr lvl="1">
              <a:lnSpc>
                <a:spcPct val="115000"/>
              </a:lnSpc>
              <a:defRPr/>
            </a:pPr>
            <a:endParaRPr kumimoji="0" lang="en-US" sz="1200" u="none" strike="noStrike" kern="0" cap="none" spc="0" normalizeH="0" baseline="0" noProof="0" dirty="0">
              <a:ln>
                <a:noFill/>
              </a:ln>
              <a:solidFill>
                <a:srgbClr val="00B0F0"/>
              </a:solidFill>
              <a:effectLst/>
              <a:uLnTx/>
              <a:uFillTx/>
              <a:latin typeface="Lato"/>
              <a:ea typeface="Lato"/>
              <a:cs typeface="Lato"/>
              <a:sym typeface="Lato"/>
            </a:endParaRPr>
          </a:p>
          <a:p>
            <a:pPr lvl="1">
              <a:lnSpc>
                <a:spcPct val="115000"/>
              </a:lnSpc>
              <a:defRPr/>
            </a:pPr>
            <a:r>
              <a:rPr kumimoji="0" lang="en-US" sz="1200" u="none" strike="noStrike" kern="0" cap="none" spc="0" normalizeH="0" baseline="0" noProof="0" dirty="0" err="1">
                <a:ln>
                  <a:noFill/>
                </a:ln>
                <a:solidFill>
                  <a:srgbClr val="00B0F0"/>
                </a:solidFill>
                <a:effectLst/>
                <a:uLnTx/>
                <a:uFillTx/>
                <a:latin typeface="Lato"/>
                <a:ea typeface="Lato"/>
                <a:cs typeface="Lato"/>
                <a:sym typeface="Lato"/>
              </a:rPr>
              <a:t>InitPlan</a:t>
            </a:r>
            <a:r>
              <a:rPr kumimoji="0" lang="en-US" sz="1200" u="none" strike="noStrike" kern="0" cap="none" spc="0" normalizeH="0" baseline="0" noProof="0" dirty="0">
                <a:ln>
                  <a:noFill/>
                </a:ln>
                <a:solidFill>
                  <a:srgbClr val="00B0F0"/>
                </a:solidFill>
                <a:effectLst/>
                <a:uLnTx/>
                <a:uFillTx/>
                <a:latin typeface="Lato"/>
                <a:ea typeface="Lato"/>
                <a:cs typeface="Lato"/>
                <a:sym typeface="Lato"/>
              </a:rPr>
              <a:t> (not shown) — the uncorrelated special case: a subquery with no reference to the outer row, so it only needs to run once total (its result is a constant reused for every outer row)</a:t>
            </a:r>
            <a:endParaRPr kumimoji="0" lang="en" sz="1200" u="none" strike="noStrike" kern="0" cap="none" spc="0" normalizeH="0" baseline="0" noProof="0" dirty="0">
              <a:ln>
                <a:noFill/>
              </a:ln>
              <a:solidFill>
                <a:srgbClr val="00B0F0"/>
              </a:solidFill>
              <a:effectLst/>
              <a:uLnTx/>
              <a:uFillTx/>
              <a:latin typeface="Lato"/>
              <a:ea typeface="Lato"/>
              <a:cs typeface="Lato"/>
              <a:sym typeface="Lato"/>
            </a:endParaRPr>
          </a:p>
        </p:txBody>
      </p:sp>
    </p:spTree>
    <p:extLst>
      <p:ext uri="{BB962C8B-B14F-4D97-AF65-F5344CB8AC3E}">
        <p14:creationId xmlns:p14="http://schemas.microsoft.com/office/powerpoint/2010/main" val="22304043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7BC7D8E-8F9F-0027-588A-D538C9BAA41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32F0A8A-14D8-524A-FA1A-6729DCF9FBC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06b: manual rewrite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A836314E-2ECD-2467-D6D6-9893FB644AC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5810C82-74FA-F0E3-892A-3523558D8931}"/>
              </a:ext>
            </a:extLst>
          </p:cNvPr>
          <p:cNvSpPr txBox="1"/>
          <p:nvPr/>
        </p:nvSpPr>
        <p:spPr>
          <a:xfrm>
            <a:off x="315981" y="1024688"/>
            <a:ext cx="8272606"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 BUFFERS)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WITH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agg</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col2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entity_id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COUNT(*)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row_count</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SUM(col3)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total_val</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FROM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GROUP BY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t1.col1, t1.col2,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agg.row_count</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agg.total_val</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JOIN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agg</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ON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agg.entity_id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t1.col1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t1.col2 = 'West';</a:t>
            </a:r>
            <a:endParaRPr kumimoji="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12855550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BFD3217-4123-9835-88E9-9695BA64647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F35251A-F190-7664-1A4B-BBD18825516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06b: manual rewrite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63B96B0-E272-6F5B-7088-B8D25DD0266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0992FD9-9D8E-009F-0A91-015A11D11EFA}"/>
              </a:ext>
            </a:extLst>
          </p:cNvPr>
          <p:cNvSpPr txBox="1"/>
          <p:nvPr/>
        </p:nvSpPr>
        <p:spPr>
          <a:xfrm>
            <a:off x="315981" y="890009"/>
            <a:ext cx="8272606" cy="3193152"/>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Hash Join  (cost=11498.26..12110.88 rows=4991 width=49) (actual time=150.750..164.493 rows=5000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Hash Cond: (t2.col2 = t1.col1)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Buffers: temp read=60 written=129</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HashAggregate</a:t>
            </a: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(cost=10054.70..10304.24 rows=19963 width=44) (actual time=144.144..152.721 rows=20000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Group Key: t2.col2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Lato"/>
                <a:ea typeface="Lato"/>
                <a:cs typeface="Lato"/>
                <a:sym typeface="Lato"/>
              </a:rPr>
              <a:t>         Batches: 5  Memory Usage: 8241kB  Disk Usage: 696kB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Buffers: temp read=60 written=129</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Seq Scan on t2  (cost=21.09..9304.70 rows=100000 width=10) (actual time=1.407..93.302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Hash  (cost=1381.05..1381.05 rows=5000 width=9) (actual time=6.570..6.571 rows=5000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Buckets: 8192  Batches: 1  Memory Usage: 265kB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-&gt;  Seq Scan on t1  (cost=21.09..1381.05 rows=5000 width=9) (actual time=1.281..5.344 rows=5000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Storage Filter: (col2 = 'West'::text)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Planning Time: 17.392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ms</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 Execution Time: 165.904 </a:t>
            </a:r>
            <a:r>
              <a:rPr kumimoji="0" lang="en-US" sz="1000" b="0" i="0" u="none" strike="noStrike" kern="0" cap="none" spc="0" normalizeH="0" baseline="0" noProof="0" dirty="0" err="1">
                <a:ln>
                  <a:noFill/>
                </a:ln>
                <a:solidFill>
                  <a:srgbClr val="000000"/>
                </a:solidFill>
                <a:effectLst/>
                <a:uLnTx/>
                <a:uFillTx/>
                <a:latin typeface="Lato"/>
                <a:ea typeface="Lato"/>
                <a:cs typeface="Lato"/>
                <a:sym typeface="Lato"/>
              </a:rPr>
              <a:t>ms</a:t>
            </a:r>
            <a:endParaRPr kumimoji="0" lang="en-US" sz="1000"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Lato"/>
                <a:ea typeface="Lato"/>
                <a:cs typeface="Lato"/>
                <a:sym typeface="Lato"/>
              </a:rPr>
              <a:t> Peak Memory Usage: 8932 kB</a:t>
            </a:r>
            <a:endParaRPr kumimoji="0" sz="100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72A096C3-BEB7-5141-62DF-7192488E1F0C}"/>
              </a:ext>
            </a:extLst>
          </p:cNvPr>
          <p:cNvSpPr txBox="1"/>
          <p:nvPr/>
        </p:nvSpPr>
        <p:spPr>
          <a:xfrm>
            <a:off x="5982886" y="3495323"/>
            <a:ext cx="2324686" cy="1175676"/>
          </a:xfrm>
          <a:prstGeom prst="rect">
            <a:avLst/>
          </a:prstGeom>
          <a:noFill/>
          <a:ln>
            <a:noFill/>
          </a:ln>
        </p:spPr>
        <p:txBody>
          <a:bodyPr spcFirstLastPara="1" wrap="square" lIns="91425" tIns="91425" rIns="91425" bIns="91425" anchor="t" anchorCtr="0">
            <a:spAutoFit/>
          </a:bodyPr>
          <a:lstStyle/>
          <a:p>
            <a:pPr lvl="1">
              <a:lnSpc>
                <a:spcPct val="115000"/>
              </a:lnSpc>
              <a:defRPr/>
            </a:pPr>
            <a:r>
              <a:rPr kumimoji="0" lang="en-US" sz="1200" u="none" strike="noStrike" kern="0" cap="none" spc="0" normalizeH="0" baseline="0" noProof="0" dirty="0">
                <a:ln>
                  <a:noFill/>
                </a:ln>
                <a:solidFill>
                  <a:srgbClr val="00B0F0"/>
                </a:solidFill>
                <a:effectLst/>
                <a:uLnTx/>
                <a:uFillTx/>
                <a:latin typeface="Lato"/>
                <a:ea typeface="Lato"/>
                <a:cs typeface="Lato"/>
                <a:sym typeface="Lato"/>
              </a:rPr>
              <a:t>-- the first plan</a:t>
            </a:r>
          </a:p>
          <a:p>
            <a:pPr lvl="0">
              <a:lnSpc>
                <a:spcPct val="115000"/>
              </a:lnSpc>
              <a:defRPr/>
            </a:pPr>
            <a:r>
              <a:rPr lang="en-US" sz="1000" dirty="0">
                <a:solidFill>
                  <a:srgbClr val="00B0F0"/>
                </a:solidFill>
                <a:latin typeface="Lato"/>
                <a:ea typeface="Lato"/>
                <a:cs typeface="Lato"/>
                <a:sym typeface="Lato"/>
              </a:rPr>
              <a:t> Planning Time: 18.111 </a:t>
            </a:r>
            <a:r>
              <a:rPr lang="en-US" sz="1000" dirty="0" err="1">
                <a:solidFill>
                  <a:srgbClr val="00B0F0"/>
                </a:solidFill>
                <a:latin typeface="Lato"/>
                <a:ea typeface="Lato"/>
                <a:cs typeface="Lato"/>
                <a:sym typeface="Lato"/>
              </a:rPr>
              <a:t>ms</a:t>
            </a:r>
            <a:endParaRPr lang="en-US" sz="1000" dirty="0">
              <a:solidFill>
                <a:srgbClr val="00B0F0"/>
              </a:solidFill>
              <a:latin typeface="Lato"/>
              <a:ea typeface="Lato"/>
              <a:cs typeface="Lato"/>
              <a:sym typeface="Lato"/>
            </a:endParaRPr>
          </a:p>
          <a:p>
            <a:pPr lvl="0">
              <a:lnSpc>
                <a:spcPct val="115000"/>
              </a:lnSpc>
              <a:defRPr/>
            </a:pPr>
            <a:r>
              <a:rPr lang="en-US" sz="1000" dirty="0">
                <a:solidFill>
                  <a:srgbClr val="00B0F0"/>
                </a:solidFill>
                <a:latin typeface="Lato"/>
                <a:ea typeface="Lato"/>
                <a:cs typeface="Lato"/>
                <a:sym typeface="Lato"/>
              </a:rPr>
              <a:t> Execution Time: 16159.895 </a:t>
            </a:r>
            <a:r>
              <a:rPr lang="en-US" sz="1000" dirty="0" err="1">
                <a:solidFill>
                  <a:srgbClr val="00B0F0"/>
                </a:solidFill>
                <a:latin typeface="Lato"/>
                <a:ea typeface="Lato"/>
                <a:cs typeface="Lato"/>
                <a:sym typeface="Lato"/>
              </a:rPr>
              <a:t>ms</a:t>
            </a:r>
            <a:endParaRPr lang="en-US" sz="1000" dirty="0">
              <a:solidFill>
                <a:srgbClr val="00B0F0"/>
              </a:solidFill>
              <a:latin typeface="Lato"/>
              <a:ea typeface="Lato"/>
              <a:cs typeface="Lato"/>
              <a:sym typeface="Lato"/>
            </a:endParaRPr>
          </a:p>
          <a:p>
            <a:pPr marL="171450" lvl="1" indent="-171450">
              <a:lnSpc>
                <a:spcPct val="115000"/>
              </a:lnSpc>
              <a:buFont typeface="Wingdings" panose="05000000000000000000" pitchFamily="2" charset="2"/>
              <a:buChar char="n"/>
              <a:defRPr/>
            </a:pPr>
            <a:endParaRPr kumimoji="0" lang="en-US" sz="1200" u="none" strike="noStrike" kern="0" cap="none" spc="0" normalizeH="0" baseline="0" noProof="0" dirty="0">
              <a:ln>
                <a:noFill/>
              </a:ln>
              <a:solidFill>
                <a:srgbClr val="00B0F0"/>
              </a:solidFill>
              <a:effectLst/>
              <a:uLnTx/>
              <a:uFillTx/>
              <a:latin typeface="Lato"/>
              <a:ea typeface="Lato"/>
              <a:cs typeface="Lato"/>
              <a:sym typeface="Lato"/>
            </a:endParaRPr>
          </a:p>
          <a:p>
            <a:pPr marL="171450" lvl="1" indent="-171450">
              <a:lnSpc>
                <a:spcPct val="115000"/>
              </a:lnSpc>
              <a:buFont typeface="Wingdings" panose="05000000000000000000" pitchFamily="2" charset="2"/>
              <a:buChar char="n"/>
              <a:defRPr/>
            </a:pPr>
            <a:endParaRPr kumimoji="0" lang="en" sz="1200" u="none" strike="noStrike" kern="0" cap="none" spc="0" normalizeH="0" baseline="0" noProof="0" dirty="0">
              <a:ln>
                <a:noFill/>
              </a:ln>
              <a:solidFill>
                <a:srgbClr val="00B0F0"/>
              </a:solidFill>
              <a:effectLst/>
              <a:uLnTx/>
              <a:uFillTx/>
              <a:latin typeface="Lato"/>
              <a:ea typeface="Lato"/>
              <a:cs typeface="Lato"/>
              <a:sym typeface="Lato"/>
            </a:endParaRPr>
          </a:p>
        </p:txBody>
      </p:sp>
    </p:spTree>
    <p:extLst>
      <p:ext uri="{BB962C8B-B14F-4D97-AF65-F5344CB8AC3E}">
        <p14:creationId xmlns:p14="http://schemas.microsoft.com/office/powerpoint/2010/main" val="139239680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A8D2628-CA78-F11C-22D3-5119F5A027A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51B32BD-4199-61F8-1226-2A4B0C5EA6A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 what else can be done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A07C70D-839B-201F-CCC2-5516E4D8D2E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3" name="Picture 2">
            <a:extLst>
              <a:ext uri="{FF2B5EF4-FFF2-40B4-BE49-F238E27FC236}">
                <a16:creationId xmlns:a16="http://schemas.microsoft.com/office/drawing/2014/main" id="{C8EAB6E3-539E-B95B-3034-B2FF072A8672}"/>
              </a:ext>
            </a:extLst>
          </p:cNvPr>
          <p:cNvPicPr>
            <a:picLocks noChangeAspect="1"/>
          </p:cNvPicPr>
          <p:nvPr/>
        </p:nvPicPr>
        <p:blipFill>
          <a:blip r:embed="rId3"/>
          <a:stretch>
            <a:fillRect/>
          </a:stretch>
        </p:blipFill>
        <p:spPr>
          <a:xfrm>
            <a:off x="5839241" y="1047779"/>
            <a:ext cx="1902677" cy="3345367"/>
          </a:xfrm>
          <a:prstGeom prst="rect">
            <a:avLst/>
          </a:prstGeom>
        </p:spPr>
      </p:pic>
    </p:spTree>
    <p:extLst>
      <p:ext uri="{BB962C8B-B14F-4D97-AF65-F5344CB8AC3E}">
        <p14:creationId xmlns:p14="http://schemas.microsoft.com/office/powerpoint/2010/main" val="11900080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18E40CD-6BF2-4791-F7E7-F8E2535FEAD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2DEC8DC-81FB-E825-4E0A-7F35AE88856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06c: what else can be done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A7A8036-FDDB-BB7B-6A3F-2C78CC94DF6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3" name="Rectangle 2">
            <a:extLst>
              <a:ext uri="{FF2B5EF4-FFF2-40B4-BE49-F238E27FC236}">
                <a16:creationId xmlns:a16="http://schemas.microsoft.com/office/drawing/2014/main" id="{EEF6B9D0-690C-3F89-45A0-02928CB267AD}"/>
              </a:ext>
            </a:extLst>
          </p:cNvPr>
          <p:cNvSpPr/>
          <p:nvPr/>
        </p:nvSpPr>
        <p:spPr>
          <a:xfrm>
            <a:off x="475998" y="1063991"/>
            <a:ext cx="8151050" cy="49300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C45492D5-EBB1-C882-7ED0-DEBED2ACC672}"/>
              </a:ext>
            </a:extLst>
          </p:cNvPr>
          <p:cNvSpPr txBox="1"/>
          <p:nvPr/>
        </p:nvSpPr>
        <p:spPr>
          <a:xfrm>
            <a:off x="516952" y="1104920"/>
            <a:ext cx="1481177" cy="276999"/>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tuning</a:t>
            </a:r>
          </a:p>
        </p:txBody>
      </p:sp>
      <p:cxnSp>
        <p:nvCxnSpPr>
          <p:cNvPr id="5" name="Straight Connector 4">
            <a:extLst>
              <a:ext uri="{FF2B5EF4-FFF2-40B4-BE49-F238E27FC236}">
                <a16:creationId xmlns:a16="http://schemas.microsoft.com/office/drawing/2014/main" id="{434F3B7F-CF6C-528D-41C0-E2E51A86FF4E}"/>
              </a:ext>
            </a:extLst>
          </p:cNvPr>
          <p:cNvCxnSpPr>
            <a:cxnSpLocks/>
          </p:cNvCxnSpPr>
          <p:nvPr/>
        </p:nvCxnSpPr>
        <p:spPr>
          <a:xfrm>
            <a:off x="483086"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B84E2CF-2152-3E3D-4229-1A8D00F83B79}"/>
              </a:ext>
            </a:extLst>
          </p:cNvPr>
          <p:cNvCxnSpPr>
            <a:cxnSpLocks/>
          </p:cNvCxnSpPr>
          <p:nvPr/>
        </p:nvCxnSpPr>
        <p:spPr>
          <a:xfrm>
            <a:off x="475998" y="1053828"/>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2989E0B-AEFE-CD8E-F136-607E65BE7BE1}"/>
              </a:ext>
            </a:extLst>
          </p:cNvPr>
          <p:cNvCxnSpPr>
            <a:cxnSpLocks/>
          </p:cNvCxnSpPr>
          <p:nvPr/>
        </p:nvCxnSpPr>
        <p:spPr>
          <a:xfrm>
            <a:off x="3809470"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568F204-9E32-AF91-676F-F8358E866C3D}"/>
              </a:ext>
            </a:extLst>
          </p:cNvPr>
          <p:cNvSpPr txBox="1"/>
          <p:nvPr/>
        </p:nvSpPr>
        <p:spPr>
          <a:xfrm>
            <a:off x="3912363" y="1060602"/>
            <a:ext cx="1681035" cy="276999"/>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result</a:t>
            </a:r>
          </a:p>
        </p:txBody>
      </p:sp>
      <p:sp>
        <p:nvSpPr>
          <p:cNvPr id="9" name="TextBox 8">
            <a:extLst>
              <a:ext uri="{FF2B5EF4-FFF2-40B4-BE49-F238E27FC236}">
                <a16:creationId xmlns:a16="http://schemas.microsoft.com/office/drawing/2014/main" id="{AE6A05D9-ACC4-E0A3-9F69-C4537BBDA2BC}"/>
              </a:ext>
            </a:extLst>
          </p:cNvPr>
          <p:cNvSpPr txBox="1"/>
          <p:nvPr/>
        </p:nvSpPr>
        <p:spPr>
          <a:xfrm>
            <a:off x="5325968" y="1104920"/>
            <a:ext cx="2668245" cy="276999"/>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verdict</a:t>
            </a:r>
          </a:p>
        </p:txBody>
      </p:sp>
      <p:cxnSp>
        <p:nvCxnSpPr>
          <p:cNvPr id="10" name="Straight Connector 9">
            <a:extLst>
              <a:ext uri="{FF2B5EF4-FFF2-40B4-BE49-F238E27FC236}">
                <a16:creationId xmlns:a16="http://schemas.microsoft.com/office/drawing/2014/main" id="{9000F564-51DD-0A14-889F-075FE6A7997A}"/>
              </a:ext>
            </a:extLst>
          </p:cNvPr>
          <p:cNvCxnSpPr>
            <a:cxnSpLocks/>
          </p:cNvCxnSpPr>
          <p:nvPr/>
        </p:nvCxnSpPr>
        <p:spPr>
          <a:xfrm>
            <a:off x="8610692" y="1053828"/>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D2D78FF-F765-8E9A-1E5F-EAF3629BBF85}"/>
              </a:ext>
            </a:extLst>
          </p:cNvPr>
          <p:cNvCxnSpPr>
            <a:cxnSpLocks/>
          </p:cNvCxnSpPr>
          <p:nvPr/>
        </p:nvCxnSpPr>
        <p:spPr>
          <a:xfrm>
            <a:off x="5325973"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FF3EA3-AD0A-5984-7F24-518DDBE7BF01}"/>
              </a:ext>
            </a:extLst>
          </p:cNvPr>
          <p:cNvCxnSpPr>
            <a:cxnSpLocks/>
          </p:cNvCxnSpPr>
          <p:nvPr/>
        </p:nvCxnSpPr>
        <p:spPr>
          <a:xfrm>
            <a:off x="475998" y="1566585"/>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D533D02-E3C6-D5D5-91F3-53A9ADCECFBE}"/>
              </a:ext>
            </a:extLst>
          </p:cNvPr>
          <p:cNvCxnSpPr>
            <a:cxnSpLocks/>
          </p:cNvCxnSpPr>
          <p:nvPr/>
        </p:nvCxnSpPr>
        <p:spPr>
          <a:xfrm>
            <a:off x="475998" y="2275746"/>
            <a:ext cx="813469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3BDA5AE-82FE-5E57-653A-D1922D708A04}"/>
              </a:ext>
            </a:extLst>
          </p:cNvPr>
          <p:cNvCxnSpPr>
            <a:cxnSpLocks/>
          </p:cNvCxnSpPr>
          <p:nvPr/>
        </p:nvCxnSpPr>
        <p:spPr>
          <a:xfrm>
            <a:off x="475998" y="4291486"/>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BFCEB53-0770-AC60-0116-E56515E64404}"/>
              </a:ext>
            </a:extLst>
          </p:cNvPr>
          <p:cNvSpPr txBox="1"/>
          <p:nvPr/>
        </p:nvSpPr>
        <p:spPr>
          <a:xfrm>
            <a:off x="498842" y="1632945"/>
            <a:ext cx="2733454" cy="276999"/>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SET </a:t>
            </a:r>
            <a:r>
              <a:rPr lang="en-US" sz="1200" dirty="0" err="1">
                <a:solidFill>
                  <a:srgbClr val="00B0F0"/>
                </a:solidFill>
                <a:latin typeface="Lato" panose="020B0604020202020204" charset="0"/>
                <a:cs typeface="Lato" panose="020B0604020202020204" charset="0"/>
              </a:rPr>
              <a:t>work_mem</a:t>
            </a:r>
            <a:r>
              <a:rPr lang="en-US" sz="1200" dirty="0">
                <a:solidFill>
                  <a:srgbClr val="00B0F0"/>
                </a:solidFill>
                <a:latin typeface="Lato" panose="020B0604020202020204" charset="0"/>
                <a:cs typeface="Lato" panose="020B0604020202020204" charset="0"/>
              </a:rPr>
              <a:t> = '64MB'</a:t>
            </a:r>
          </a:p>
        </p:txBody>
      </p:sp>
      <p:sp>
        <p:nvSpPr>
          <p:cNvPr id="16" name="TextBox 15">
            <a:extLst>
              <a:ext uri="{FF2B5EF4-FFF2-40B4-BE49-F238E27FC236}">
                <a16:creationId xmlns:a16="http://schemas.microsoft.com/office/drawing/2014/main" id="{7658B585-43D3-2025-9CD8-4122DDAF7EA4}"/>
              </a:ext>
            </a:extLst>
          </p:cNvPr>
          <p:cNvSpPr txBox="1"/>
          <p:nvPr/>
        </p:nvSpPr>
        <p:spPr>
          <a:xfrm>
            <a:off x="5382326" y="2460302"/>
            <a:ext cx="3189454" cy="830997"/>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wash — the batched-nested-loop probe into the index to pre-filter costs about what it saves in aggregation. Not worth the added complexity here.</a:t>
            </a:r>
          </a:p>
        </p:txBody>
      </p:sp>
      <p:sp>
        <p:nvSpPr>
          <p:cNvPr id="17" name="TextBox 16">
            <a:extLst>
              <a:ext uri="{FF2B5EF4-FFF2-40B4-BE49-F238E27FC236}">
                <a16:creationId xmlns:a16="http://schemas.microsoft.com/office/drawing/2014/main" id="{5DD36E16-BDAB-C8D0-3671-2710322A6297}"/>
              </a:ext>
            </a:extLst>
          </p:cNvPr>
          <p:cNvSpPr txBox="1"/>
          <p:nvPr/>
        </p:nvSpPr>
        <p:spPr>
          <a:xfrm>
            <a:off x="3809470" y="2460302"/>
            <a:ext cx="1665281" cy="276999"/>
          </a:xfrm>
          <a:prstGeom prst="rect">
            <a:avLst/>
          </a:prstGeom>
          <a:noFill/>
        </p:spPr>
        <p:txBody>
          <a:bodyPr wrap="square" rtlCol="0">
            <a:spAutoFit/>
          </a:bodyPr>
          <a:lstStyle/>
          <a:p>
            <a:r>
              <a:rPr lang="en-US" sz="1200">
                <a:solidFill>
                  <a:srgbClr val="00B0F0"/>
                </a:solidFill>
                <a:latin typeface="Lato" panose="020B0604020202020204" charset="0"/>
                <a:cs typeface="Lato" panose="020B0604020202020204" charset="0"/>
              </a:rPr>
              <a:t>~142ms</a:t>
            </a:r>
            <a:endParaRPr lang="en-US" sz="1200" dirty="0">
              <a:solidFill>
                <a:srgbClr val="00B0F0"/>
              </a:solidFill>
              <a:latin typeface="Lato" panose="020B0604020202020204" charset="0"/>
              <a:cs typeface="Lato" panose="020B0604020202020204" charset="0"/>
            </a:endParaRPr>
          </a:p>
        </p:txBody>
      </p:sp>
      <p:sp>
        <p:nvSpPr>
          <p:cNvPr id="18" name="TextBox 17">
            <a:extLst>
              <a:ext uri="{FF2B5EF4-FFF2-40B4-BE49-F238E27FC236}">
                <a16:creationId xmlns:a16="http://schemas.microsoft.com/office/drawing/2014/main" id="{92B71414-20F9-6AFF-0383-E8C481157F1F}"/>
              </a:ext>
            </a:extLst>
          </p:cNvPr>
          <p:cNvSpPr txBox="1"/>
          <p:nvPr/>
        </p:nvSpPr>
        <p:spPr>
          <a:xfrm>
            <a:off x="5368036" y="1625593"/>
            <a:ext cx="3103205" cy="276999"/>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modest win (~17%), free/no schema change</a:t>
            </a:r>
          </a:p>
        </p:txBody>
      </p:sp>
      <p:sp>
        <p:nvSpPr>
          <p:cNvPr id="19" name="TextBox 18">
            <a:extLst>
              <a:ext uri="{FF2B5EF4-FFF2-40B4-BE49-F238E27FC236}">
                <a16:creationId xmlns:a16="http://schemas.microsoft.com/office/drawing/2014/main" id="{9FC7A31B-99E6-D636-0190-2317FC2A8462}"/>
              </a:ext>
            </a:extLst>
          </p:cNvPr>
          <p:cNvSpPr txBox="1"/>
          <p:nvPr/>
        </p:nvSpPr>
        <p:spPr>
          <a:xfrm>
            <a:off x="3809470" y="1612643"/>
            <a:ext cx="1665281" cy="461665"/>
          </a:xfrm>
          <a:prstGeom prst="rect">
            <a:avLst/>
          </a:prstGeom>
          <a:noFill/>
        </p:spPr>
        <p:txBody>
          <a:bodyPr wrap="square" rtlCol="0">
            <a:spAutoFit/>
          </a:bodyPr>
          <a:lstStyle/>
          <a:p>
            <a:r>
              <a:rPr lang="en-US" sz="1200">
                <a:solidFill>
                  <a:srgbClr val="00B0F0"/>
                </a:solidFill>
                <a:latin typeface="Lato" panose="020B0604020202020204" charset="0"/>
                <a:cs typeface="Lato" panose="020B0604020202020204" charset="0"/>
              </a:rPr>
              <a:t>~137ms, Batches: 1 (no disk spill)</a:t>
            </a:r>
            <a:endParaRPr lang="en-US" sz="1200" dirty="0">
              <a:solidFill>
                <a:srgbClr val="00B0F0"/>
              </a:solidFill>
              <a:latin typeface="Lato" panose="020B0604020202020204" charset="0"/>
              <a:cs typeface="Lato" panose="020B0604020202020204" charset="0"/>
            </a:endParaRPr>
          </a:p>
        </p:txBody>
      </p:sp>
      <p:sp>
        <p:nvSpPr>
          <p:cNvPr id="20" name="TextBox 19">
            <a:extLst>
              <a:ext uri="{FF2B5EF4-FFF2-40B4-BE49-F238E27FC236}">
                <a16:creationId xmlns:a16="http://schemas.microsoft.com/office/drawing/2014/main" id="{24BD6D1C-7851-D858-6241-CE71C0DF0499}"/>
              </a:ext>
            </a:extLst>
          </p:cNvPr>
          <p:cNvSpPr txBox="1"/>
          <p:nvPr/>
        </p:nvSpPr>
        <p:spPr>
          <a:xfrm>
            <a:off x="498843" y="2319167"/>
            <a:ext cx="3143740" cy="646331"/>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filter t2 via join before aggregating (CTE pre-filters to West’s 5,000 entities, then aggregates only their rows)</a:t>
            </a:r>
          </a:p>
        </p:txBody>
      </p:sp>
      <p:cxnSp>
        <p:nvCxnSpPr>
          <p:cNvPr id="21" name="Straight Connector 20">
            <a:extLst>
              <a:ext uri="{FF2B5EF4-FFF2-40B4-BE49-F238E27FC236}">
                <a16:creationId xmlns:a16="http://schemas.microsoft.com/office/drawing/2014/main" id="{FFAA7A5A-14E6-EF35-D3FF-E43D9569437A}"/>
              </a:ext>
            </a:extLst>
          </p:cNvPr>
          <p:cNvCxnSpPr>
            <a:cxnSpLocks/>
          </p:cNvCxnSpPr>
          <p:nvPr/>
        </p:nvCxnSpPr>
        <p:spPr>
          <a:xfrm>
            <a:off x="475998" y="3443827"/>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E11A9F1-75D4-AAF8-0357-8FD0EE0EAFA1}"/>
              </a:ext>
            </a:extLst>
          </p:cNvPr>
          <p:cNvSpPr txBox="1"/>
          <p:nvPr/>
        </p:nvSpPr>
        <p:spPr>
          <a:xfrm>
            <a:off x="5400436" y="3553582"/>
            <a:ext cx="2653950" cy="276999"/>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clear winner — ~2.3x over baseline</a:t>
            </a:r>
          </a:p>
        </p:txBody>
      </p:sp>
      <p:sp>
        <p:nvSpPr>
          <p:cNvPr id="25" name="TextBox 24">
            <a:extLst>
              <a:ext uri="{FF2B5EF4-FFF2-40B4-BE49-F238E27FC236}">
                <a16:creationId xmlns:a16="http://schemas.microsoft.com/office/drawing/2014/main" id="{24EAFE36-A370-C429-DAE5-8A2D8AD99E0E}"/>
              </a:ext>
            </a:extLst>
          </p:cNvPr>
          <p:cNvSpPr txBox="1"/>
          <p:nvPr/>
        </p:nvSpPr>
        <p:spPr>
          <a:xfrm>
            <a:off x="3827580" y="3553582"/>
            <a:ext cx="1665281" cy="276999"/>
          </a:xfrm>
          <a:prstGeom prst="rect">
            <a:avLst/>
          </a:prstGeom>
          <a:noFill/>
        </p:spPr>
        <p:txBody>
          <a:bodyPr wrap="square" rtlCol="0">
            <a:spAutoFit/>
          </a:bodyPr>
          <a:lstStyle/>
          <a:p>
            <a:r>
              <a:rPr lang="en-US" sz="1200">
                <a:solidFill>
                  <a:srgbClr val="00B0F0"/>
                </a:solidFill>
                <a:latin typeface="Lato" panose="020B0604020202020204" charset="0"/>
                <a:cs typeface="Lato" panose="020B0604020202020204" charset="0"/>
              </a:rPr>
              <a:t>~73ms</a:t>
            </a:r>
            <a:endParaRPr lang="en-US" sz="1200" dirty="0">
              <a:solidFill>
                <a:srgbClr val="00B0F0"/>
              </a:solidFill>
              <a:latin typeface="Lato" panose="020B0604020202020204" charset="0"/>
              <a:cs typeface="Lato" panose="020B0604020202020204" charset="0"/>
            </a:endParaRPr>
          </a:p>
        </p:txBody>
      </p:sp>
      <p:sp>
        <p:nvSpPr>
          <p:cNvPr id="27" name="TextBox 26">
            <a:extLst>
              <a:ext uri="{FF2B5EF4-FFF2-40B4-BE49-F238E27FC236}">
                <a16:creationId xmlns:a16="http://schemas.microsoft.com/office/drawing/2014/main" id="{0C8BC5BD-38D3-6101-82A3-F8DC9970E79C}"/>
              </a:ext>
            </a:extLst>
          </p:cNvPr>
          <p:cNvSpPr txBox="1"/>
          <p:nvPr/>
        </p:nvSpPr>
        <p:spPr>
          <a:xfrm>
            <a:off x="516951" y="3507415"/>
            <a:ext cx="3161849" cy="646331"/>
          </a:xfrm>
          <a:prstGeom prst="rect">
            <a:avLst/>
          </a:prstGeom>
          <a:noFill/>
        </p:spPr>
        <p:txBody>
          <a:bodyPr wrap="square" rtlCol="0">
            <a:spAutoFit/>
          </a:bodyPr>
          <a:lstStyle/>
          <a:p>
            <a:r>
              <a:rPr lang="en-US" sz="1200" dirty="0">
                <a:solidFill>
                  <a:srgbClr val="00B0F0"/>
                </a:solidFill>
                <a:latin typeface="Lato" panose="020B0604020202020204" charset="0"/>
                <a:cs typeface="Lato" panose="020B0604020202020204" charset="0"/>
              </a:rPr>
              <a:t>covering index: CREATE INDEX idx_t2_col2_covering ON t2 (col2 ASC) INCLUDE (col3)</a:t>
            </a:r>
          </a:p>
        </p:txBody>
      </p:sp>
    </p:spTree>
    <p:extLst>
      <p:ext uri="{BB962C8B-B14F-4D97-AF65-F5344CB8AC3E}">
        <p14:creationId xmlns:p14="http://schemas.microsoft.com/office/powerpoint/2010/main" val="403055481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6C3A9161-E45F-8A06-B90C-FE47C844AC9B}"/>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965A3452-7952-4D9F-378B-DDDE9E8E9486}"/>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B14DF0C0-3007-62D7-76A8-0E635C736258}"/>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CC1C5150-D765-D2B1-E996-C7BD63358174}"/>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A507275B-5957-C007-C3BE-DC50AE2BBB6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B9B3CEE3-6893-C1C9-8125-714D82866C43}"/>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0F29771A-255D-19B8-846E-C746924B1E89}"/>
              </a:ext>
            </a:extLst>
          </p:cNvPr>
          <p:cNvSpPr txBox="1"/>
          <p:nvPr/>
        </p:nvSpPr>
        <p:spPr>
          <a:xfrm>
            <a:off x="2687303" y="157453"/>
            <a:ext cx="6271640" cy="3653278"/>
          </a:xfrm>
          <a:prstGeom prst="rect">
            <a:avLst/>
          </a:prstGeom>
          <a:noFill/>
          <a:ln>
            <a:noFill/>
          </a:ln>
        </p:spPr>
        <p:txBody>
          <a:bodyPr spcFirstLastPara="1" wrap="square" lIns="91425" tIns="91425" rIns="91425" bIns="91425" anchor="t" anchorCtr="0">
            <a:spAutoFit/>
          </a:bodyPr>
          <a:lstStyle/>
          <a:p>
            <a:pPr marL="227013" lvl="0" indent="-227013">
              <a:lnSpc>
                <a:spcPct val="115000"/>
              </a:lnSpc>
              <a:buFont typeface="Arial" panose="020B0604020202020204" pitchFamily="34" charset="0"/>
              <a:buChar char="•"/>
              <a:defRPr/>
            </a:pPr>
            <a:r>
              <a:rPr lang="en-US" dirty="0">
                <a:solidFill>
                  <a:schemeClr val="tx1"/>
                </a:solidFill>
              </a:rPr>
              <a:t>CTEs (why)</a:t>
            </a:r>
          </a:p>
          <a:p>
            <a:pPr marL="460375" lvl="0" indent="-230188">
              <a:lnSpc>
                <a:spcPct val="115000"/>
              </a:lnSpc>
              <a:buFont typeface="Arial" panose="020B0604020202020204" pitchFamily="34" charset="0"/>
              <a:buChar char="•"/>
              <a:defRPr/>
            </a:pPr>
            <a:r>
              <a:rPr lang="en-US" i="1" dirty="0">
                <a:solidFill>
                  <a:schemeClr val="tx1"/>
                </a:solidFill>
                <a:latin typeface="Lato"/>
                <a:ea typeface="Lato"/>
                <a:cs typeface="Lato"/>
                <a:sym typeface="Lato"/>
              </a:rPr>
              <a:t>readability</a:t>
            </a:r>
            <a:r>
              <a:rPr lang="en-US" dirty="0">
                <a:solidFill>
                  <a:schemeClr val="tx1"/>
                </a:solidFill>
                <a:latin typeface="Lato"/>
                <a:ea typeface="Lato"/>
                <a:cs typeface="Lato"/>
                <a:sym typeface="Lato"/>
              </a:rPr>
              <a:t>, (surface nesting, other)</a:t>
            </a:r>
          </a:p>
          <a:p>
            <a:pPr marL="460375" lvl="0" indent="-230188">
              <a:lnSpc>
                <a:spcPct val="115000"/>
              </a:lnSpc>
              <a:buFont typeface="Arial" panose="020B0604020202020204" pitchFamily="34" charset="0"/>
              <a:buChar char="•"/>
              <a:defRPr/>
            </a:pPr>
            <a:r>
              <a:rPr lang="en-US" i="1" dirty="0">
                <a:solidFill>
                  <a:schemeClr val="tx1"/>
                </a:solidFill>
                <a:latin typeface="Lato"/>
                <a:ea typeface="Lato"/>
                <a:cs typeface="Lato"/>
                <a:sym typeface="Lato"/>
              </a:rPr>
              <a:t>required for</a:t>
            </a:r>
            <a:r>
              <a:rPr lang="en-US" dirty="0">
                <a:solidFill>
                  <a:schemeClr val="tx1"/>
                </a:solidFill>
                <a:latin typeface="Lato"/>
                <a:ea typeface="Lato"/>
                <a:cs typeface="Lato"/>
                <a:sym typeface="Lato"/>
              </a:rPr>
              <a:t>-</a:t>
            </a:r>
          </a:p>
          <a:p>
            <a:pPr marL="684213" lvl="0" indent="-223838">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recursion/hierarchical</a:t>
            </a:r>
          </a:p>
          <a:p>
            <a:pPr marL="684213" lvl="0" indent="-223838">
              <a:lnSpc>
                <a:spcPct val="115000"/>
              </a:lnSpc>
              <a:buFont typeface="Arial" panose="020B0604020202020204" pitchFamily="34" charset="0"/>
              <a:buChar char="•"/>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data modifying</a:t>
            </a:r>
          </a:p>
          <a:p>
            <a:pPr marL="684213" lvl="0" indent="-223838">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explicit control</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460375" lvl="0" indent="-230188">
              <a:lnSpc>
                <a:spcPct val="115000"/>
              </a:lnSpc>
              <a:buFont typeface="Arial" panose="020B0604020202020204" pitchFamily="34" charset="0"/>
              <a:buChar char="•"/>
              <a:defRPr/>
            </a:pPr>
            <a:r>
              <a:rPr kumimoji="0" lang="en-US" b="0" i="1" u="none" strike="noStrike" kern="0" cap="none" spc="0" normalizeH="0" baseline="0" noProof="0" dirty="0">
                <a:ln>
                  <a:noFill/>
                </a:ln>
                <a:solidFill>
                  <a:schemeClr val="tx1"/>
                </a:solidFill>
                <a:effectLst/>
                <a:uLnTx/>
                <a:uFillTx/>
                <a:latin typeface="Lato"/>
                <a:ea typeface="Lato"/>
                <a:cs typeface="Lato"/>
                <a:sym typeface="Lato"/>
              </a:rPr>
              <a:t>reduce repetition </a:t>
            </a:r>
            <a:r>
              <a:rPr kumimoji="0" lang="en-US" b="0" i="0" u="none" strike="noStrike" kern="0" cap="none" spc="0" normalizeH="0" baseline="0" noProof="0" dirty="0">
                <a:ln>
                  <a:noFill/>
                </a:ln>
                <a:solidFill>
                  <a:schemeClr val="tx1"/>
                </a:solidFill>
                <a:effectLst/>
                <a:uLnTx/>
                <a:uFillTx/>
                <a:latin typeface="Lato"/>
                <a:ea typeface="Lato"/>
                <a:cs typeface="Lato"/>
                <a:sym typeface="Lato"/>
              </a:rPr>
              <a:t>(optimization, one-pass versus n probes)</a:t>
            </a:r>
          </a:p>
          <a:p>
            <a:pPr marL="684213" lvl="0" indent="-223838">
              <a:lnSpc>
                <a:spcPct val="115000"/>
              </a:lnSpc>
              <a:buFont typeface="Arial" panose="020B0604020202020204" pitchFamily="34" charset="0"/>
              <a:buChar char="•"/>
              <a:tabLst>
                <a:tab pos="514350" algn="l"/>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same </a:t>
            </a:r>
            <a:r>
              <a:rPr lang="en-US" sz="1200" dirty="0">
                <a:solidFill>
                  <a:schemeClr val="tx1"/>
                </a:solidFill>
                <a:latin typeface="Lato"/>
                <a:ea typeface="Lato"/>
                <a:cs typeface="Lato"/>
                <a:sym typeface="Lato"/>
              </a:rPr>
              <a:t>s</a:t>
            </a:r>
            <a:r>
              <a:rPr kumimoji="0" lang="en-US" sz="1200" b="0" i="0" u="none" strike="noStrike" kern="0" cap="none" spc="0" normalizeH="0" baseline="0" noProof="0" dirty="0" err="1">
                <a:ln>
                  <a:noFill/>
                </a:ln>
                <a:solidFill>
                  <a:schemeClr val="tx1"/>
                </a:solidFill>
                <a:effectLst/>
                <a:uLnTx/>
                <a:uFillTx/>
                <a:latin typeface="Lato"/>
                <a:ea typeface="Lato"/>
                <a:cs typeface="Lato"/>
                <a:sym typeface="Lato"/>
              </a:rPr>
              <a:t>ubquery</a:t>
            </a: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 in multiple places</a:t>
            </a:r>
          </a:p>
          <a:p>
            <a:pPr marL="684213" lvl="0" indent="-223838">
              <a:lnSpc>
                <a:spcPct val="115000"/>
              </a:lnSpc>
              <a:buFont typeface="Arial" panose="020B0604020202020204" pitchFamily="34" charset="0"/>
              <a:buChar char="•"/>
              <a:tabLst>
                <a:tab pos="514350" algn="l"/>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multiple union branches with filter/re-filter</a:t>
            </a:r>
          </a:p>
          <a:p>
            <a:pPr marL="684213" lvl="0" indent="-223838">
              <a:lnSpc>
                <a:spcPct val="115000"/>
              </a:lnSpc>
              <a:buFont typeface="Arial" panose="020B0604020202020204" pitchFamily="34" charset="0"/>
              <a:buChar char="•"/>
              <a:tabLst>
                <a:tab pos="514350" algn="l"/>
              </a:tabLst>
              <a:defRPr/>
            </a:pPr>
            <a:r>
              <a:rPr lang="en-US" sz="1200" dirty="0">
                <a:solidFill>
                  <a:schemeClr val="tx1"/>
                </a:solidFill>
                <a:latin typeface="Lato"/>
                <a:ea typeface="Lato"/>
                <a:cs typeface="Lato"/>
                <a:sym typeface="Lato"/>
              </a:rPr>
              <a:t>repetitive self joins</a:t>
            </a:r>
          </a:p>
          <a:p>
            <a:pPr marL="684213" lvl="0" indent="-223838">
              <a:lnSpc>
                <a:spcPct val="115000"/>
              </a:lnSpc>
              <a:buFont typeface="Arial" panose="020B0604020202020204" pitchFamily="34" charset="0"/>
              <a:buChar char="•"/>
              <a:tabLst>
                <a:tab pos="514350" algn="l"/>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repetitive complex expressions</a:t>
            </a:r>
          </a:p>
          <a:p>
            <a:pPr marL="227013" lvl="0" indent="-227013">
              <a:lnSpc>
                <a:spcPct val="115000"/>
              </a:lnSpc>
              <a:buFont typeface="Arial" panose="020B0604020202020204" pitchFamily="34" charset="0"/>
              <a:buChar char="•"/>
              <a:defRPr/>
            </a:pPr>
            <a:r>
              <a:rPr lang="en-US" dirty="0">
                <a:solidFill>
                  <a:schemeClr val="tx1"/>
                </a:solidFill>
                <a:latin typeface="Lato"/>
                <a:ea typeface="Lato"/>
                <a:cs typeface="Lato"/>
                <a:sym typeface="Lato"/>
              </a:rPr>
              <a:t>non-correlated/correlated subqueries</a:t>
            </a:r>
          </a:p>
          <a:p>
            <a:pPr lvl="0">
              <a:lnSpc>
                <a:spcPct val="115000"/>
              </a:lnSpc>
              <a:defRPr/>
            </a:pPr>
            <a:endParaRPr lang="en-US" dirty="0">
              <a:solidFill>
                <a:schemeClr val="tx1"/>
              </a:solidFill>
              <a:latin typeface="Lato"/>
              <a:ea typeface="Lato"/>
              <a:cs typeface="Lato"/>
              <a:sym typeface="Lato"/>
            </a:endParaRPr>
          </a:p>
          <a:p>
            <a:pPr marL="227013" lvl="0" indent="-227013">
              <a:lnSpc>
                <a:spcPct val="115000"/>
              </a:lnSpc>
              <a:buFont typeface="Arial" panose="020B0604020202020204" pitchFamily="34" charset="0"/>
              <a:buChar char="•"/>
              <a:defRPr/>
            </a:pPr>
            <a:r>
              <a:rPr lang="en-US" dirty="0">
                <a:solidFill>
                  <a:schemeClr val="tx1"/>
                </a:solidFill>
                <a:latin typeface="Lato"/>
                <a:ea typeface="Lato"/>
                <a:cs typeface="Lato"/>
                <a:sym typeface="Lato"/>
              </a:rPr>
              <a:t>count, understand operations inside query execution; filters, cardinality between joined tables</a:t>
            </a:r>
            <a:endParaRPr kumimoji="0" lang="en-US"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1761406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65042342-424A-9B64-9DC7-8EABCF5D8E0D}"/>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D4B1ADCA-DDB5-8B7A-AD66-69BA9378E817}"/>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14CE1D72-3F51-3573-9B1B-A1923F8E537F}"/>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a:t>
            </a:r>
            <a:r>
              <a:rPr lang="en-US" sz="2800" dirty="0">
                <a:solidFill>
                  <a:srgbClr val="FFFFFF"/>
                </a:solidFill>
                <a:latin typeface="Rubik"/>
                <a:ea typeface="Rubik"/>
                <a:cs typeface="Rubik"/>
                <a:sym typeface="Rubik"/>
              </a:rPr>
              <a:t>6</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0BBF6705-85D9-6861-DC81-E9E410EDBA44}"/>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0D3E5FC6-1571-2BED-521B-EBEE1589C45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0E4EA31B-4531-D4A8-8599-11462D9D83D8}"/>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F0754302-7759-88EE-BB67-5EF7B994B21F}"/>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A181143A-DB16-1123-A01D-2FE713BCBC35}"/>
              </a:ext>
            </a:extLst>
          </p:cNvPr>
          <p:cNvSpPr txBox="1"/>
          <p:nvPr/>
        </p:nvSpPr>
        <p:spPr>
          <a:xfrm>
            <a:off x="4898141" y="2744721"/>
            <a:ext cx="2463600" cy="432396"/>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06b</a:t>
            </a:r>
          </a:p>
        </p:txBody>
      </p:sp>
    </p:spTree>
    <p:extLst>
      <p:ext uri="{BB962C8B-B14F-4D97-AF65-F5344CB8AC3E}">
        <p14:creationId xmlns:p14="http://schemas.microsoft.com/office/powerpoint/2010/main" val="230569004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355CA8CA-8409-D57D-CAB6-5DF3B0EF6A71}"/>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BCA4D94D-7829-5E1A-CE1C-36FEE6193F4F}"/>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36235797-5E7A-B242-972C-EEC49E6ED84C}"/>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discussion</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0B692DDA-8152-AF94-225C-CE4814ACDD71}"/>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000B7F4E-B8B9-C766-7C6D-EE2386B6715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99DF6372-C956-6EEC-315D-3576C6719B56}"/>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6D090DEC-C5B7-0737-DB39-98515108A0EA}"/>
              </a:ext>
            </a:extLst>
          </p:cNvPr>
          <p:cNvSpPr txBox="1"/>
          <p:nvPr/>
        </p:nvSpPr>
        <p:spPr>
          <a:xfrm>
            <a:off x="2684288" y="821646"/>
            <a:ext cx="6148139" cy="252066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600" dirty="0">
                <a:latin typeface="Lato"/>
                <a:ea typeface="Lato"/>
                <a:cs typeface="Lato"/>
                <a:sym typeface="Lato"/>
              </a:rPr>
              <a:t>rules based optimizers</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the last two rules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 sz="1600"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600" dirty="0">
                <a:latin typeface="Lato"/>
                <a:ea typeface="Lato"/>
                <a:cs typeface="Lato"/>
                <a:sym typeface="Lato"/>
              </a:rPr>
              <a:t>cost based optimizers (CBO)</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the CBO pipeline</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what actually gets compared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what statistics actually contain</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query optimizer hints</a:t>
            </a:r>
          </a:p>
        </p:txBody>
      </p:sp>
    </p:spTree>
    <p:extLst>
      <p:ext uri="{BB962C8B-B14F-4D97-AF65-F5344CB8AC3E}">
        <p14:creationId xmlns:p14="http://schemas.microsoft.com/office/powerpoint/2010/main" val="214743890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2ACB59F-EC98-46C2-FB01-2E39B3B30C7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F14DCBB-EF3C-D92C-557B-D53DABD1CDA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rules based optimizers: the last two rules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867B3D9-4DA2-3682-F823-9F7A3715603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5AE9C825-3439-3BE3-D7AE-C970813668E8}"/>
              </a:ext>
            </a:extLst>
          </p:cNvPr>
          <p:cNvSpPr txBox="1"/>
          <p:nvPr/>
        </p:nvSpPr>
        <p:spPr>
          <a:xfrm>
            <a:off x="315981" y="1244428"/>
            <a:ext cx="1905672"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C33FE643-6F31-E01E-0A8B-1D0EDE8C28BE}"/>
              </a:ext>
            </a:extLst>
          </p:cNvPr>
          <p:cNvSpPr txBox="1"/>
          <p:nvPr/>
        </p:nvSpPr>
        <p:spPr>
          <a:xfrm>
            <a:off x="3853256" y="1244428"/>
            <a:ext cx="4619194" cy="1529619"/>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solidFill>
                  <a:srgbClr val="00B0F0"/>
                </a:solidFill>
                <a:latin typeface="Lato"/>
                <a:ea typeface="Lato"/>
                <a:cs typeface="Lato"/>
                <a:sym typeface="Lato"/>
              </a:rPr>
              <a:t>table size                           (a statistic, worst table first)</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table cardinality</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BB48A5AE-9051-7032-B969-30A59DB490F4}"/>
              </a:ext>
            </a:extLst>
          </p:cNvPr>
          <p:cNvSpPr txBox="1"/>
          <p:nvPr/>
        </p:nvSpPr>
        <p:spPr>
          <a:xfrm>
            <a:off x="3853256" y="2864973"/>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chemeClr val="tx1"/>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chemeClr val="tx1"/>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chemeClr val="tx1"/>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chemeClr val="tx1"/>
                </a:solidFill>
                <a:latin typeface="Lato"/>
                <a:ea typeface="Lato"/>
                <a:cs typeface="Lato"/>
                <a:sym typeface="Lato"/>
              </a:rPr>
              <a:t>t</a:t>
            </a:r>
            <a:r>
              <a:rPr kumimoji="0" lang="en" sz="1200" b="0" i="1" u="none" strike="noStrike" kern="0" cap="none" spc="0" normalizeH="0" baseline="0" noProof="0" dirty="0">
                <a:ln>
                  <a:noFill/>
                </a:ln>
                <a:solidFill>
                  <a:schemeClr val="tx1"/>
                </a:solidFill>
                <a:effectLst/>
                <a:uLnTx/>
                <a:uFillTx/>
                <a:latin typeface="Lato"/>
                <a:ea typeface="Lato"/>
                <a:cs typeface="Lato"/>
                <a:sym typeface="Lato"/>
              </a:rPr>
              <a:t>able order</a:t>
            </a:r>
          </a:p>
        </p:txBody>
      </p:sp>
    </p:spTree>
    <p:extLst>
      <p:ext uri="{BB962C8B-B14F-4D97-AF65-F5344CB8AC3E}">
        <p14:creationId xmlns:p14="http://schemas.microsoft.com/office/powerpoint/2010/main" val="358862737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2A47AED-EB70-E790-3740-BB31DB30F896}"/>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EC40434-443F-BF8D-F77B-EDBF55AA069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the cost based optimizer (CBO) pipeline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258BBA3-D984-6AF1-5A9E-E2DF448E756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51413479-CB7D-9AB2-B600-8703ED0E139D}"/>
              </a:ext>
            </a:extLst>
          </p:cNvPr>
          <p:cNvSpPr txBox="1"/>
          <p:nvPr/>
        </p:nvSpPr>
        <p:spPr>
          <a:xfrm>
            <a:off x="315981" y="1244428"/>
            <a:ext cx="8272606" cy="1671196"/>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1.)  parse &amp; rewrite — normalize the query, flatten eligible subqueries/views into the main plan</a:t>
            </a:r>
          </a:p>
          <a:p>
            <a:pPr marL="230188"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2.)  generate candidate plans — different access paths, join orders, join algorithms, aggregation strategies</a:t>
            </a:r>
          </a:p>
          <a:p>
            <a:pPr marL="230188"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3.)  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stimate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cardinality for every sub-step, using table/column statistics</a:t>
            </a:r>
          </a:p>
          <a:p>
            <a:pPr marL="230188"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4.)  a</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pply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cost formulas — I/O cost (sequential vs. random page reads) + CPU cost (per-tuple processing)</a:t>
            </a:r>
          </a:p>
          <a:p>
            <a:pPr marL="230188"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5.)  compare total costs across candidates</a:t>
            </a:r>
          </a:p>
          <a:p>
            <a:pPr marL="230188"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6.)  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elect the minimum-cost plan and execute (or cache it for reuse)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3545278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B266E42-8D03-4DEB-BBB1-B4EA732F6836}"/>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994775A1-FFE1-BD1C-97F5-6B583F8ABA3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what actually gets compared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A8AE7943-0502-4BB8-1B5C-AFB992D1B4C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7552654-E44C-B3DB-18FE-612EE1111947}"/>
              </a:ext>
            </a:extLst>
          </p:cNvPr>
          <p:cNvSpPr txBox="1"/>
          <p:nvPr/>
        </p:nvSpPr>
        <p:spPr>
          <a:xfrm>
            <a:off x="444674" y="1027681"/>
            <a:ext cx="6951806" cy="2662237"/>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ccess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path per table: sequential scan, index scan, index-only scan, bitmap scan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j</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oin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order: which table drives, which is probed — grows combinatorially as tables are added                   (3+ tables </a:t>
            </a:r>
            <a:r>
              <a:rPr kumimoji="0" lang="en-US"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real search problem, not a lookup)</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j</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oin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algorithm: nested loop, batched nested loop, hash join, merge join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ggregation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strategy: hash aggregate vs. sorted/group aggregate</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m</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aterialization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choices: inline a CTE vs. materialize it; flatten a subquery into a join vs. keep it as a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SubPlan</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s</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earch</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space explosion is why query planners fall back to heuristics/genetic search past a certain table count (e.g., Postgres’s GEQO)</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7496818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B14AB53-48EF-59A5-BF46-F0F16FBE8F1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78BFF24-1267-BB90-7170-8E393075D8D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what statistics actually contain (table and column level)</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3450C69-00A2-A61C-3F66-F3566A7CCDD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4527103-44E3-92D7-AB14-396527AA5C63}"/>
              </a:ext>
            </a:extLst>
          </p:cNvPr>
          <p:cNvSpPr txBox="1"/>
          <p:nvPr/>
        </p:nvSpPr>
        <p:spPr>
          <a:xfrm>
            <a:off x="315981" y="1244428"/>
            <a:ext cx="8272606" cy="290999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able-level:</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stimated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row count, disk page count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p</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er column (Postgres/YSQL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null_frac</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fraction of NULLs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avg_width</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average stored byte size</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n_distinct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distinct-value estimate</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most_common_vals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most_common_freqs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explicit top-N values and their exact frequencies (the MCV list)</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histogram_bounds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equi</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-depth buckets covering everything not in the MCV list</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correlation — how closely physical storage order matches sorted order (-1 to 1); affects the cost of range/ORDER BY scans</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12696813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3501E22-A7BD-68A9-E64F-5BC73BF85A66}"/>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E0C3CF5-C756-40C0-65DD-B3AD88F825FD}"/>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what statistics actually contain (beyond single columns)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F6D27FC-33C8-9D87-2B7D-CFBB8A1C0DB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329AF51-E3DC-6DE3-CD63-967179823F8D}"/>
              </a:ext>
            </a:extLst>
          </p:cNvPr>
          <p:cNvSpPr txBox="1"/>
          <p:nvPr/>
        </p:nvSpPr>
        <p:spPr>
          <a:xfrm>
            <a:off x="315981" y="1244428"/>
            <a:ext cx="8272606" cy="2414477"/>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xtended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/multivariate statistics (CREATE STATISTICS) — fixes the default “columns are independent” assumption:</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combined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n_distinct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across a column group</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functional-dependency strength between correlated columns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multivariate MCV lists</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i</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ndex</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-level stats — index size, distinct key values under that index</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f</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reshness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matters as much as accuracy: gathered by ANALYZE (manual or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autovacuum</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-triggered); sample size is configurable — stale or under-sampled stats produce bad cardinality estimates regardless of how good the cost formulas are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45621263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C6CCD61-6303-56D9-646F-271EAD038DB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81DCDCB-D5D7-4E9B-02DC-DC0EB19B84B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atop distributed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78DA371-65C0-D367-3D98-46959016DDB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2E26495-9B02-6695-5AC4-D339509160E4}"/>
              </a:ext>
            </a:extLst>
          </p:cNvPr>
          <p:cNvSpPr txBox="1"/>
          <p:nvPr/>
        </p:nvSpPr>
        <p:spPr>
          <a:xfrm>
            <a:off x="315981" y="1244428"/>
            <a:ext cx="8272606" cy="2909997"/>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c</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lassic</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statistics answer [ how many rows ]. a distributed cost model also needs: how many tablets does this plan touch, and what does each network round-trip cost</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b</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atching</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changes the arithmetic: a batched </a:t>
            </a:r>
            <a:r>
              <a:rPr lang="en-US" dirty="0">
                <a:latin typeface="Lato"/>
                <a:ea typeface="Lato"/>
                <a:cs typeface="Lato"/>
                <a:sym typeface="Lato"/>
              </a:rPr>
              <a:t>n</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ested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loop </a:t>
            </a:r>
            <a:r>
              <a:rPr lang="en-US" dirty="0">
                <a:latin typeface="Lato"/>
                <a:ea typeface="Lato"/>
                <a:cs typeface="Lato"/>
                <a:sym typeface="Lato"/>
              </a:rPr>
              <a:t>j</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oin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folds up to ~1,024 join keys into a single RPC instead of one-per-row — same underlying statistics, very different real cost</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Proof from our previous examples, same cluster, same table stats: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xercise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06 (correlated subqueries, one RPC-equivalent probe per row): ~16.2s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xercise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06b (rewritten as one GROUP BY pass): ~166ms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s</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ame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optimizer, same statistics on t1/t2 — the ~100x gap came entirely from how many round trips each query shape required</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on a distributed database, query shape interacts with the cost model as strongly as the statistics do</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424042310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A29723E-A67D-E8B4-709E-27CEED2B5F7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91F92DF-511B-F6C5-C760-A461E5B0E80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hints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9036B70-BBBF-3FB2-D265-819D714AF89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024C7C2-2355-955C-2E1F-B73049EB1490}"/>
              </a:ext>
            </a:extLst>
          </p:cNvPr>
          <p:cNvSpPr txBox="1"/>
          <p:nvPr/>
        </p:nvSpPr>
        <p:spPr>
          <a:xfrm>
            <a:off x="315981" y="1244428"/>
            <a:ext cx="8272606" cy="1671196"/>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directive embedded in or near a SQL statement that overrides the query optimizer’s own cost-based choice</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c</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hanges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how the engine gets the answer, never what the answer is</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xists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because the optimizer’s statistics or cost model can be wrong, stale, or simply absent for an edge case</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treated by most vendors as a last resort, not a first-line tuning tool</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25984310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AA3BC3F-F62F-4E68-62D7-51AC38626F9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1CE0D94-6C69-6784-6EDD-5BF44CA379B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what optimizer hints typically control</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FAA3355-0ADE-900E-B30A-C6C36E6D131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E2C66E6-511E-5A75-1141-D7B712772D6E}"/>
              </a:ext>
            </a:extLst>
          </p:cNvPr>
          <p:cNvSpPr txBox="1"/>
          <p:nvPr/>
        </p:nvSpPr>
        <p:spPr>
          <a:xfrm>
            <a:off x="315981" y="1244428"/>
            <a:ext cx="8272606" cy="1423436"/>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table j</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oin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order — which table drives the query, which gets probed</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j</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oin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algorithm — nested loop vs. hash join vs. merge join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ccess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path per file/table — sequential scan vs. index scan vs. index-only scan vs. bitmap scan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o</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ccasionally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parallelism degree, materialization points, or manual row/cost estimate overrides</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91062568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E191975-EC5F-76B9-28B1-58A1356F78C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012C18C-7497-62B3-E974-0488CC5A95D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two ways to hint in PostgreSQL/yugabyteDB</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ECCA51E-3B39-7F26-7374-B7DA9870104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B1A663C-EFEC-4742-6B7D-D24DA20F6E54}"/>
              </a:ext>
            </a:extLst>
          </p:cNvPr>
          <p:cNvSpPr txBox="1"/>
          <p:nvPr/>
        </p:nvSpPr>
        <p:spPr>
          <a:xfrm>
            <a:off x="315981" y="1244428"/>
            <a:ext cx="8272606" cy="2166717"/>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pg_hint_plan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extension — structured hints inside a /*+ ... */ comment placed directly above the query</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s</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ession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-level GUCs — SET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enable_hashjoin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off; etc. — blunter, disables a whole strategy class for the entire session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two combine well: GUCs remove entire categories of alternative plans, hints pin the exact remaining choice</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b</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oth</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require the hinting mechanism to be installed/enabled server-side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pg_hint_plan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must be in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shared_preload_libraries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70514310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55A1D4F-2284-BCCE-F3D2-B90F013E868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CA1FDC0-BA14-76D7-024D-3D9A806D12D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hints: good use, bad use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5435D9A-7B2A-BB39-7355-E91B1A7BAC9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926A2E2-C88C-07BC-A717-91CD2D91A16D}"/>
              </a:ext>
            </a:extLst>
          </p:cNvPr>
          <p:cNvSpPr txBox="1"/>
          <p:nvPr/>
        </p:nvSpPr>
        <p:spPr>
          <a:xfrm>
            <a:off x="315981" y="1244428"/>
            <a:ext cx="8272606" cy="3157757"/>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g</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ood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use</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reproducing a historical/vendor-reported plan; a short-term stopgap while the real fix (statistics, indexing) is rolled out</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working around a known, narrow optimizer blind spot</a:t>
            </a:r>
          </a:p>
          <a:p>
            <a:pPr marR="0" lvl="0" defTabSz="914400" rtl="0" eaLnBrk="1" fontAlgn="auto" latinLnBrk="0" hangingPunct="1">
              <a:lnSpc>
                <a:spcPct val="115000"/>
              </a:lnSpc>
              <a:spcBef>
                <a:spcPts val="0"/>
              </a:spcBef>
              <a:spcAft>
                <a:spcPts val="0"/>
              </a:spcAft>
              <a:buClr>
                <a:srgbClr val="000000"/>
              </a:buClr>
              <a:buSzTx/>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b</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ad use:</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a permanent substitute for accurate statistics or proper index design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latin typeface="Lato"/>
              <a:ea typeface="Lato"/>
              <a:cs typeface="Lato"/>
              <a:sym typeface="Lato"/>
            </a:endParaRP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risk:</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a hint that’s correct today can force a bad plan tomorrow once data volume or distribution shifts — the optimizer would have adapted on its own; a hint won’t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48298785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A66364F-B221-E20B-8DCF-9DFFCD10019D}"/>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657FDB3-C17E-8914-93D9-0C64156B448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hints example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732B604-F0F0-FAE5-33DF-12E91EBAC17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E9F2666-B077-760B-6024-973E1B1A1D0B}"/>
              </a:ext>
            </a:extLst>
          </p:cNvPr>
          <p:cNvSpPr txBox="1"/>
          <p:nvPr/>
        </p:nvSpPr>
        <p:spPr>
          <a:xfrm>
            <a:off x="315981" y="817708"/>
            <a:ext cx="8272606" cy="388334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SET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enable_hashjoin</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 off;</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SET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enable_mergejoin</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 off;</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SET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enable_seqscan</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 off;</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00B0F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Leading(((t1 t2) t3))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NestLoop</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NestLoop</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(t1 t2 t3)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IndexScan</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(t1 idx_t1_col1_col2)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IndexScan</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(t2 idx_t2_col1_col2_col3)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  </a:t>
            </a:r>
            <a:r>
              <a:rPr kumimoji="0" lang="en-US" sz="1100" b="0" i="0" u="none" strike="noStrike" kern="0" cap="none" spc="0" normalizeH="0" baseline="0" noProof="0" dirty="0" err="1">
                <a:ln>
                  <a:noFill/>
                </a:ln>
                <a:solidFill>
                  <a:srgbClr val="00B0F0"/>
                </a:solidFill>
                <a:effectLst/>
                <a:uLnTx/>
                <a:uFillTx/>
                <a:latin typeface="Lato"/>
                <a:ea typeface="Lato"/>
                <a:cs typeface="Lato"/>
                <a:sym typeface="Lato"/>
              </a:rPr>
              <a:t>IndexScan</a:t>
            </a: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(t3 t3_pkey)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B0F0"/>
                </a:solidFill>
                <a:effectLst/>
                <a:uLnTx/>
                <a:uFillTx/>
                <a:latin typeface="Lato"/>
                <a:ea typeface="Lato"/>
                <a:cs typeface="Lato"/>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Lato"/>
                <a:ea typeface="Lato"/>
                <a:cs typeface="Lato"/>
                <a:sym typeface="Lato"/>
              </a:rPr>
              <a:t>EXPLAIN (ANALYZE, BUFFERS)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Lato"/>
                <a:ea typeface="Lato"/>
                <a:cs typeface="Lato"/>
                <a:sym typeface="Lato"/>
              </a:rPr>
              <a:t>SELECT t1.col1, t1.col2, t2.col3, t3.col1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Lato"/>
                <a:ea typeface="Lato"/>
                <a:cs typeface="Lato"/>
                <a:sym typeface="Lato"/>
              </a:rPr>
              <a:t>FROM t1, t2, t3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Lato"/>
                <a:ea typeface="Lato"/>
                <a:cs typeface="Lato"/>
                <a:sym typeface="Lato"/>
              </a:rPr>
              <a:t>WHERE t1.col1 = 'LA'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Lato"/>
                <a:ea typeface="Lato"/>
                <a:cs typeface="Lato"/>
                <a:sym typeface="Lato"/>
              </a:rPr>
              <a:t>  AND t1.col2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Lato"/>
                <a:ea typeface="Lato"/>
                <a:cs typeface="Lato"/>
                <a:sym typeface="Lato"/>
              </a:rPr>
              <a:t>  AND t2.col3 = 'FLT-00025'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Lato"/>
                <a:ea typeface="Lato"/>
                <a:cs typeface="Lato"/>
                <a:sym typeface="Lato"/>
              </a:rPr>
              <a:t>  AND t2.col3 = t3.col1;</a:t>
            </a:r>
          </a:p>
        </p:txBody>
      </p:sp>
    </p:spTree>
    <p:extLst>
      <p:ext uri="{BB962C8B-B14F-4D97-AF65-F5344CB8AC3E}">
        <p14:creationId xmlns:p14="http://schemas.microsoft.com/office/powerpoint/2010/main" val="141475467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1DA50619-2735-A375-1E3B-CBEFEF128C33}"/>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AC29F9E5-82D2-FA5B-7A3D-51BB8E71F8B2}"/>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88E60FC-D569-3B17-CFD2-3B4BA87980F9}"/>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07</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4A576CB7-A55E-FA4E-39D8-DD59004B647D}"/>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961E052C-842F-D057-51E1-D9A0ECFA32D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087EAF71-1E2E-7AC7-DDAB-C6CDA2C24054}"/>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94F93A5F-A84B-5D74-6804-4E44B1935B5D}"/>
              </a:ext>
            </a:extLst>
          </p:cNvPr>
          <p:cNvSpPr/>
          <p:nvPr/>
        </p:nvSpPr>
        <p:spPr>
          <a:xfrm>
            <a:off x="3136053"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5EF43069-005E-2A38-B4D5-66D674816AAC}"/>
              </a:ext>
            </a:extLst>
          </p:cNvPr>
          <p:cNvSpPr/>
          <p:nvPr/>
        </p:nvSpPr>
        <p:spPr>
          <a:xfrm>
            <a:off x="3544461"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B00443BE-06F1-3197-F926-FD2C05317F26}"/>
              </a:ext>
            </a:extLst>
          </p:cNvPr>
          <p:cNvSpPr/>
          <p:nvPr/>
        </p:nvSpPr>
        <p:spPr>
          <a:xfrm>
            <a:off x="3952869"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9E330526-97A5-DECE-1FF9-BC0BAD9588A8}"/>
              </a:ext>
            </a:extLst>
          </p:cNvPr>
          <p:cNvSpPr/>
          <p:nvPr/>
        </p:nvSpPr>
        <p:spPr>
          <a:xfrm>
            <a:off x="4361277"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C924D600-9342-8F4B-1C42-7310D4018920}"/>
              </a:ext>
            </a:extLst>
          </p:cNvPr>
          <p:cNvSpPr/>
          <p:nvPr/>
        </p:nvSpPr>
        <p:spPr>
          <a:xfrm>
            <a:off x="5994909"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69F14457-2ED3-1067-386E-3578468B1F9B}"/>
              </a:ext>
            </a:extLst>
          </p:cNvPr>
          <p:cNvSpPr/>
          <p:nvPr/>
        </p:nvSpPr>
        <p:spPr>
          <a:xfrm>
            <a:off x="5586501" y="740667"/>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AC8A1F3D-738A-8C8B-C509-FEF1C0713571}"/>
              </a:ext>
            </a:extLst>
          </p:cNvPr>
          <p:cNvSpPr/>
          <p:nvPr/>
        </p:nvSpPr>
        <p:spPr>
          <a:xfrm>
            <a:off x="6403317"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5A473B5A-EC26-DF17-F82A-E0BB978DF501}"/>
              </a:ext>
            </a:extLst>
          </p:cNvPr>
          <p:cNvSpPr/>
          <p:nvPr/>
        </p:nvSpPr>
        <p:spPr>
          <a:xfrm>
            <a:off x="4769685"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CD0B9E74-6034-12EF-1C11-3A52028B32E9}"/>
              </a:ext>
            </a:extLst>
          </p:cNvPr>
          <p:cNvSpPr/>
          <p:nvPr/>
        </p:nvSpPr>
        <p:spPr>
          <a:xfrm>
            <a:off x="5178093" y="740667"/>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E29946D5-C71E-8B1D-CFA7-485C182CC0D1}"/>
              </a:ext>
            </a:extLst>
          </p:cNvPr>
          <p:cNvSpPr/>
          <p:nvPr/>
        </p:nvSpPr>
        <p:spPr>
          <a:xfrm>
            <a:off x="6811727" y="740667"/>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748DFEA9-1C88-EDC7-F9AD-62BE3E3FBBD0}"/>
              </a:ext>
            </a:extLst>
          </p:cNvPr>
          <p:cNvSpPr txBox="1"/>
          <p:nvPr/>
        </p:nvSpPr>
        <p:spPr>
          <a:xfrm>
            <a:off x="3351103" y="1239625"/>
            <a:ext cx="3958307"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      graduation; the final example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bg1">
                    <a:lumMod val="50000"/>
                  </a:schemeClr>
                </a:solidFill>
                <a:effectLst/>
                <a:uLnTx/>
                <a:uFillTx/>
                <a:latin typeface="Lato"/>
                <a:ea typeface="Lato"/>
                <a:cs typeface="Lato"/>
                <a:sym typeface="Lato"/>
              </a:rPr>
              <a:t>      bringing it all together</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141625574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E1F0398-0B83-5379-B4E3-CEA31212642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513E19C-B1B4-9CD8-73C5-DC5AD70529E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graduation, the "upside down filter problem"</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B33A723-BA2C-9446-5F6C-D449F47778F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02D8957-9678-5ED1-F590-E7667B43564C}"/>
              </a:ext>
            </a:extLst>
          </p:cNvPr>
          <p:cNvSpPr txBox="1"/>
          <p:nvPr/>
        </p:nvSpPr>
        <p:spPr>
          <a:xfrm>
            <a:off x="315981" y="992871"/>
            <a:ext cx="8272606" cy="3157757"/>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originally-</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5 minute query down to subsecond (was rules based)</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now, cost based</a:t>
            </a:r>
            <a:r>
              <a:rPr lang="en" dirty="0">
                <a:latin typeface="Lato"/>
                <a:ea typeface="Lato"/>
                <a:cs typeface="Lato"/>
                <a:sym typeface="Lato"/>
              </a:rPr>
              <a:t>, the query optimizer knows; no chance, do this differently, but still slow</a:t>
            </a:r>
          </a:p>
          <a:p>
            <a:pPr marL="227012" marR="0" lvl="0" defTabSz="914400" rtl="0" eaLnBrk="1" fontAlgn="auto" latinLnBrk="0" hangingPunct="1">
              <a:lnSpc>
                <a:spcPct val="115000"/>
              </a:lnSpc>
              <a:spcBef>
                <a:spcPts val="0"/>
              </a:spcBef>
              <a:spcAft>
                <a:spcPts val="0"/>
              </a:spcAft>
              <a:buClr>
                <a:srgbClr val="000000"/>
              </a:buClr>
              <a:buSzTx/>
              <a:tabLst/>
              <a:defRPr/>
            </a:pPr>
            <a:r>
              <a:rPr lang="en" dirty="0">
                <a:latin typeface="Lato"/>
                <a:ea typeface="Lato"/>
                <a:cs typeface="Lato"/>
                <a:sym typeface="Lato"/>
              </a:rPr>
              <a:t> </a:t>
            </a: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classic pattern, happens often with ISV/COTS software, reinforces all we have discussed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and reinforces how cost based is much better</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we use hints to show it totally broken</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b="1" i="1" dirty="0">
                <a:latin typeface="Lato"/>
                <a:ea typeface="Lato"/>
                <a:cs typeface="Lato"/>
                <a:sym typeface="Lato"/>
              </a:rPr>
              <a:t>how</a:t>
            </a:r>
            <a:r>
              <a:rPr lang="en" i="1" dirty="0">
                <a:latin typeface="Lato"/>
                <a:ea typeface="Lato"/>
                <a:cs typeface="Lato"/>
                <a:sym typeface="Lato"/>
              </a:rPr>
              <a:t>  would you observe this, look to improve</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then run pure cost based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then run even more highly optimized run time (better indexes)</a:t>
            </a: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9084581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44BA851-C8C9-0D3B-F687-4D31FFC1FAA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0C09AF5-699F-6B48-0CD8-BBE222C3F44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the code behind this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3B30AE4-E71A-F516-DB0A-D7DA62DE3D9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F2754BA-65B4-6F0F-8261-3649D2AF39B3}"/>
              </a:ext>
            </a:extLst>
          </p:cNvPr>
          <p:cNvSpPr txBox="1"/>
          <p:nvPr/>
        </p:nvSpPr>
        <p:spPr>
          <a:xfrm>
            <a:off x="315981" y="963140"/>
            <a:ext cx="8272606" cy="252066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col4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col5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col6  TIMESTAMP,</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col7  NUMERIC(10,2),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col8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PRIMARY KEY (col1 HASH, col2 ASC)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p:txBody>
      </p:sp>
    </p:spTree>
    <p:extLst>
      <p:ext uri="{BB962C8B-B14F-4D97-AF65-F5344CB8AC3E}">
        <p14:creationId xmlns:p14="http://schemas.microsoft.com/office/powerpoint/2010/main" val="313045120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42CE860-C19C-A37C-ACC1-E1737E934FA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EC9CE5D-65C5-16A7-386A-49264E956FB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the code behind this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0254967-1CD7-FEB5-DA5E-619F6A65B4E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DBB66B9-1CEB-4119-6C46-2FEEC806F621}"/>
              </a:ext>
            </a:extLst>
          </p:cNvPr>
          <p:cNvSpPr txBox="1"/>
          <p:nvPr/>
        </p:nvSpPr>
        <p:spPr>
          <a:xfrm>
            <a:off x="315981" y="963140"/>
            <a:ext cx="8272606" cy="209592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BIGINT,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SMALLINT,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CREATE INDEX idx_t2_col1_col2_col3 ON t2 (col1 HASH, col2 ASC, col3 ASC);</a:t>
            </a:r>
          </a:p>
        </p:txBody>
      </p:sp>
    </p:spTree>
    <p:extLst>
      <p:ext uri="{BB962C8B-B14F-4D97-AF65-F5344CB8AC3E}">
        <p14:creationId xmlns:p14="http://schemas.microsoft.com/office/powerpoint/2010/main" val="22000013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CB934F4-C4DE-A26E-3704-EC28CCF7562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864B701-0A5E-EB70-DF05-64AC35A29CF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the code behind this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09F9F05-9809-E91F-5A50-99C1B4342AE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674C43D-A85C-CF92-82A8-67B5FAD02852}"/>
              </a:ext>
            </a:extLst>
          </p:cNvPr>
          <p:cNvSpPr txBox="1"/>
          <p:nvPr/>
        </p:nvSpPr>
        <p:spPr>
          <a:xfrm>
            <a:off x="315981" y="963140"/>
            <a:ext cx="8272606" cy="252066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t3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col4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col5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col6  TIMESTAMP,</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col7  NUMERIC(10,2),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col8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91600710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53DB3C4-6463-95FD-3CDE-FBF9D938B91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49CFC93-56ED-3676-7062-08DE1107BAB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613D456-2C93-445D-DD25-0F6361A154E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63763F3-267B-6EF9-E743-61CEBD41BF41}"/>
              </a:ext>
            </a:extLst>
          </p:cNvPr>
          <p:cNvSpPr txBox="1"/>
          <p:nvPr/>
        </p:nvSpPr>
        <p:spPr>
          <a:xfrm>
            <a:off x="315981" y="1244428"/>
            <a:ext cx="4797886"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SELECT t1.col1, t1.col2, t2.col3, t3.col1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FROM t1, t2, t3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t1.col1 = 'LA'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t1.col2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t2.col3 = 'FLT-00025'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t2.col3 = t3.col1;</a:t>
            </a:r>
          </a:p>
        </p:txBody>
      </p:sp>
      <p:sp>
        <p:nvSpPr>
          <p:cNvPr id="4" name="Google Shape;248;p56">
            <a:extLst>
              <a:ext uri="{FF2B5EF4-FFF2-40B4-BE49-F238E27FC236}">
                <a16:creationId xmlns:a16="http://schemas.microsoft.com/office/drawing/2014/main" id="{75FD3323-C5DD-0CA0-2380-BA56B085E275}"/>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C8367FCC-D9A2-6523-806E-030571AF547C}"/>
              </a:ext>
            </a:extLst>
          </p:cNvPr>
          <p:cNvSpPr txBox="1"/>
          <p:nvPr/>
        </p:nvSpPr>
        <p:spPr>
          <a:xfrm>
            <a:off x="6102002" y="2893099"/>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Tree>
    <p:extLst>
      <p:ext uri="{BB962C8B-B14F-4D97-AF65-F5344CB8AC3E}">
        <p14:creationId xmlns:p14="http://schemas.microsoft.com/office/powerpoint/2010/main" val="329702297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F78F3CA-1626-F77A-B32E-E833FAAE05BB}"/>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7BBD95C2-B18A-79AB-B0BE-EE4C695990CF}"/>
              </a:ext>
            </a:extLst>
          </p:cNvPr>
          <p:cNvPicPr>
            <a:picLocks noChangeAspect="1"/>
          </p:cNvPicPr>
          <p:nvPr/>
        </p:nvPicPr>
        <p:blipFill>
          <a:blip r:embed="rId3"/>
          <a:stretch>
            <a:fillRect/>
          </a:stretch>
        </p:blipFill>
        <p:spPr>
          <a:xfrm>
            <a:off x="7211972" y="1081856"/>
            <a:ext cx="1630597" cy="2869223"/>
          </a:xfrm>
          <a:prstGeom prst="rect">
            <a:avLst/>
          </a:prstGeom>
        </p:spPr>
      </p:pic>
      <p:sp>
        <p:nvSpPr>
          <p:cNvPr id="242" name="Google Shape;242;p56">
            <a:extLst>
              <a:ext uri="{FF2B5EF4-FFF2-40B4-BE49-F238E27FC236}">
                <a16:creationId xmlns:a16="http://schemas.microsoft.com/office/drawing/2014/main" id="{8B45D3B9-E8E2-8BAE-6810-C93071DDE0E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gather information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B683583-16CE-9DD5-14F4-A3442DC56C9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358E717D-2236-0FAB-8A94-1C022F79D665}"/>
              </a:ext>
            </a:extLst>
          </p:cNvPr>
          <p:cNvPicPr>
            <a:picLocks noChangeAspect="1"/>
          </p:cNvPicPr>
          <p:nvPr/>
        </p:nvPicPr>
        <p:blipFill>
          <a:blip r:embed="rId4"/>
          <a:stretch>
            <a:fillRect/>
          </a:stretch>
        </p:blipFill>
        <p:spPr>
          <a:xfrm>
            <a:off x="258000" y="1160909"/>
            <a:ext cx="2009159" cy="2121659"/>
          </a:xfrm>
          <a:prstGeom prst="rect">
            <a:avLst/>
          </a:prstGeom>
        </p:spPr>
      </p:pic>
      <p:pic>
        <p:nvPicPr>
          <p:cNvPr id="6" name="Picture 5">
            <a:extLst>
              <a:ext uri="{FF2B5EF4-FFF2-40B4-BE49-F238E27FC236}">
                <a16:creationId xmlns:a16="http://schemas.microsoft.com/office/drawing/2014/main" id="{E6BC2418-0FE1-6FFB-25CD-348312E88963}"/>
              </a:ext>
            </a:extLst>
          </p:cNvPr>
          <p:cNvPicPr>
            <a:picLocks noChangeAspect="1"/>
          </p:cNvPicPr>
          <p:nvPr/>
        </p:nvPicPr>
        <p:blipFill>
          <a:blip r:embed="rId4"/>
          <a:stretch>
            <a:fillRect/>
          </a:stretch>
        </p:blipFill>
        <p:spPr>
          <a:xfrm>
            <a:off x="2420291" y="2315027"/>
            <a:ext cx="2208810" cy="2332489"/>
          </a:xfrm>
          <a:prstGeom prst="rect">
            <a:avLst/>
          </a:prstGeom>
        </p:spPr>
      </p:pic>
      <p:pic>
        <p:nvPicPr>
          <p:cNvPr id="8" name="Picture 7">
            <a:extLst>
              <a:ext uri="{FF2B5EF4-FFF2-40B4-BE49-F238E27FC236}">
                <a16:creationId xmlns:a16="http://schemas.microsoft.com/office/drawing/2014/main" id="{A47E69D4-22FE-76DF-C95D-502E4D1D3BB1}"/>
              </a:ext>
            </a:extLst>
          </p:cNvPr>
          <p:cNvPicPr>
            <a:picLocks noChangeAspect="1"/>
          </p:cNvPicPr>
          <p:nvPr/>
        </p:nvPicPr>
        <p:blipFill>
          <a:blip r:embed="rId4"/>
          <a:stretch>
            <a:fillRect/>
          </a:stretch>
        </p:blipFill>
        <p:spPr>
          <a:xfrm>
            <a:off x="5239697" y="573548"/>
            <a:ext cx="1630597" cy="1721900"/>
          </a:xfrm>
          <a:prstGeom prst="rect">
            <a:avLst/>
          </a:prstGeom>
        </p:spPr>
      </p:pic>
      <p:pic>
        <p:nvPicPr>
          <p:cNvPr id="14" name="Picture 13">
            <a:extLst>
              <a:ext uri="{FF2B5EF4-FFF2-40B4-BE49-F238E27FC236}">
                <a16:creationId xmlns:a16="http://schemas.microsoft.com/office/drawing/2014/main" id="{AF5DB1D8-3227-6E92-AA18-88EB708A7616}"/>
              </a:ext>
            </a:extLst>
          </p:cNvPr>
          <p:cNvPicPr>
            <a:picLocks noChangeAspect="1"/>
          </p:cNvPicPr>
          <p:nvPr/>
        </p:nvPicPr>
        <p:blipFill>
          <a:blip r:embed="rId5"/>
          <a:stretch>
            <a:fillRect/>
          </a:stretch>
        </p:blipFill>
        <p:spPr>
          <a:xfrm rot="12836176">
            <a:off x="1405521" y="2286648"/>
            <a:ext cx="1316850" cy="670618"/>
          </a:xfrm>
          <a:prstGeom prst="rect">
            <a:avLst/>
          </a:prstGeom>
        </p:spPr>
      </p:pic>
      <p:pic>
        <p:nvPicPr>
          <p:cNvPr id="16" name="Picture 5">
            <a:extLst>
              <a:ext uri="{FF2B5EF4-FFF2-40B4-BE49-F238E27FC236}">
                <a16:creationId xmlns:a16="http://schemas.microsoft.com/office/drawing/2014/main" id="{FE0CEF5C-6EB2-EB5D-EC26-0BAF7619FC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560470">
            <a:off x="4347608" y="1620181"/>
            <a:ext cx="842616" cy="179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Google Shape;242;p56">
            <a:extLst>
              <a:ext uri="{FF2B5EF4-FFF2-40B4-BE49-F238E27FC236}">
                <a16:creationId xmlns:a16="http://schemas.microsoft.com/office/drawing/2014/main" id="{8C42C4D1-A44C-AD22-619A-57C3D69D9823}"/>
              </a:ext>
            </a:extLst>
          </p:cNvPr>
          <p:cNvSpPr txBox="1">
            <a:spLocks/>
          </p:cNvSpPr>
          <p:nvPr/>
        </p:nvSpPr>
        <p:spPr>
          <a:xfrm>
            <a:off x="367853" y="1402372"/>
            <a:ext cx="1899307"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146 columns</a:t>
            </a:r>
          </a:p>
          <a:p>
            <a:r>
              <a:rPr lang="en-US" sz="1400" dirty="0">
                <a:solidFill>
                  <a:schemeClr val="bg1"/>
                </a:solidFill>
                <a:latin typeface="Lato"/>
                <a:ea typeface="Lato"/>
                <a:cs typeface="Lato"/>
                <a:sym typeface="Lato"/>
              </a:rPr>
              <a:t>70,000 rows</a:t>
            </a:r>
          </a:p>
          <a:p>
            <a:r>
              <a:rPr lang="en-US" sz="1400" dirty="0">
                <a:solidFill>
                  <a:schemeClr val="bg1"/>
                </a:solidFill>
                <a:latin typeface="Lato"/>
                <a:ea typeface="Lato"/>
                <a:cs typeface="Lato"/>
                <a:sym typeface="Lato"/>
              </a:rPr>
              <a:t>1223 byte rows</a:t>
            </a:r>
          </a:p>
          <a:p>
            <a:r>
              <a:rPr lang="en-US" sz="1400" dirty="0">
                <a:solidFill>
                  <a:schemeClr val="bg1"/>
                </a:solidFill>
                <a:latin typeface="Lato"/>
                <a:ea typeface="Lato"/>
                <a:cs typeface="Lato"/>
                <a:sym typeface="Lato"/>
              </a:rPr>
              <a:t>4 indexes</a:t>
            </a:r>
          </a:p>
          <a:p>
            <a:r>
              <a:rPr lang="en-US" sz="1400" dirty="0">
                <a:solidFill>
                  <a:schemeClr val="bg1"/>
                </a:solidFill>
                <a:latin typeface="Lato"/>
                <a:ea typeface="Lato"/>
                <a:cs typeface="Lato"/>
                <a:sym typeface="Lato"/>
              </a:rPr>
              <a:t>   2 unique</a:t>
            </a:r>
          </a:p>
          <a:p>
            <a:r>
              <a:rPr lang="en-US" sz="1400" dirty="0">
                <a:solidFill>
                  <a:schemeClr val="bg1"/>
                </a:solidFill>
                <a:latin typeface="Lato"/>
                <a:ea typeface="Lato"/>
                <a:cs typeface="Lato"/>
                <a:sym typeface="Lato"/>
              </a:rPr>
              <a:t>   2 duplicate</a:t>
            </a:r>
          </a:p>
        </p:txBody>
      </p:sp>
      <p:sp>
        <p:nvSpPr>
          <p:cNvPr id="20" name="Oval 19">
            <a:extLst>
              <a:ext uri="{FF2B5EF4-FFF2-40B4-BE49-F238E27FC236}">
                <a16:creationId xmlns:a16="http://schemas.microsoft.com/office/drawing/2014/main" id="{142E99DB-0942-72AD-8908-13E6DECAE081}"/>
              </a:ext>
            </a:extLst>
          </p:cNvPr>
          <p:cNvSpPr/>
          <p:nvPr/>
        </p:nvSpPr>
        <p:spPr>
          <a:xfrm>
            <a:off x="1639445" y="875641"/>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t1</a:t>
            </a:r>
          </a:p>
        </p:txBody>
      </p:sp>
      <p:sp>
        <p:nvSpPr>
          <p:cNvPr id="22" name="Oval 21">
            <a:extLst>
              <a:ext uri="{FF2B5EF4-FFF2-40B4-BE49-F238E27FC236}">
                <a16:creationId xmlns:a16="http://schemas.microsoft.com/office/drawing/2014/main" id="{77A7DB46-7FFF-96FD-678F-2985693BE9E5}"/>
              </a:ext>
            </a:extLst>
          </p:cNvPr>
          <p:cNvSpPr/>
          <p:nvPr/>
        </p:nvSpPr>
        <p:spPr>
          <a:xfrm>
            <a:off x="3921597" y="4218618"/>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t2</a:t>
            </a:r>
          </a:p>
        </p:txBody>
      </p:sp>
      <p:sp>
        <p:nvSpPr>
          <p:cNvPr id="24" name="Oval 23">
            <a:extLst>
              <a:ext uri="{FF2B5EF4-FFF2-40B4-BE49-F238E27FC236}">
                <a16:creationId xmlns:a16="http://schemas.microsoft.com/office/drawing/2014/main" id="{ED1AB323-1054-BFB7-68BC-B4DFD37B868B}"/>
              </a:ext>
            </a:extLst>
          </p:cNvPr>
          <p:cNvSpPr/>
          <p:nvPr/>
        </p:nvSpPr>
        <p:spPr>
          <a:xfrm>
            <a:off x="6611568" y="969219"/>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t3</a:t>
            </a:r>
          </a:p>
        </p:txBody>
      </p:sp>
      <p:sp>
        <p:nvSpPr>
          <p:cNvPr id="26" name="Google Shape;242;p56">
            <a:extLst>
              <a:ext uri="{FF2B5EF4-FFF2-40B4-BE49-F238E27FC236}">
                <a16:creationId xmlns:a16="http://schemas.microsoft.com/office/drawing/2014/main" id="{76E0B14D-D8FE-E352-0121-F9D596CBC497}"/>
              </a:ext>
            </a:extLst>
          </p:cNvPr>
          <p:cNvSpPr txBox="1">
            <a:spLocks/>
          </p:cNvSpPr>
          <p:nvPr/>
        </p:nvSpPr>
        <p:spPr>
          <a:xfrm>
            <a:off x="2543800" y="2660529"/>
            <a:ext cx="1899307"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7 columns</a:t>
            </a:r>
          </a:p>
          <a:p>
            <a:r>
              <a:rPr lang="en-US" sz="1400" dirty="0">
                <a:solidFill>
                  <a:schemeClr val="bg1"/>
                </a:solidFill>
                <a:latin typeface="Lato"/>
                <a:ea typeface="Lato"/>
                <a:cs typeface="Lato"/>
                <a:sym typeface="Lato"/>
              </a:rPr>
              <a:t>95,000 rows</a:t>
            </a:r>
          </a:p>
          <a:p>
            <a:r>
              <a:rPr lang="en-US" sz="1400" dirty="0">
                <a:solidFill>
                  <a:schemeClr val="bg1"/>
                </a:solidFill>
                <a:latin typeface="Lato"/>
                <a:ea typeface="Lato"/>
                <a:cs typeface="Lato"/>
                <a:sym typeface="Lato"/>
              </a:rPr>
              <a:t>82 byte row length</a:t>
            </a:r>
          </a:p>
          <a:p>
            <a:r>
              <a:rPr lang="en-US" sz="1400" dirty="0">
                <a:solidFill>
                  <a:schemeClr val="bg1"/>
                </a:solidFill>
                <a:latin typeface="Lato"/>
                <a:ea typeface="Lato"/>
                <a:cs typeface="Lato"/>
                <a:sym typeface="Lato"/>
              </a:rPr>
              <a:t>7 indexes</a:t>
            </a:r>
          </a:p>
          <a:p>
            <a:r>
              <a:rPr lang="en-US" sz="1400" dirty="0">
                <a:solidFill>
                  <a:schemeClr val="bg1"/>
                </a:solidFill>
                <a:latin typeface="Lato"/>
                <a:ea typeface="Lato"/>
                <a:cs typeface="Lato"/>
                <a:sym typeface="Lato"/>
              </a:rPr>
              <a:t>   1 unique</a:t>
            </a:r>
          </a:p>
          <a:p>
            <a:r>
              <a:rPr lang="en-US" sz="1400" dirty="0">
                <a:solidFill>
                  <a:schemeClr val="bg1"/>
                </a:solidFill>
                <a:latin typeface="Lato"/>
                <a:ea typeface="Lato"/>
                <a:cs typeface="Lato"/>
                <a:sym typeface="Lato"/>
              </a:rPr>
              <a:t>   6 duplicate</a:t>
            </a:r>
          </a:p>
        </p:txBody>
      </p:sp>
      <p:sp>
        <p:nvSpPr>
          <p:cNvPr id="28" name="Google Shape;242;p56">
            <a:extLst>
              <a:ext uri="{FF2B5EF4-FFF2-40B4-BE49-F238E27FC236}">
                <a16:creationId xmlns:a16="http://schemas.microsoft.com/office/drawing/2014/main" id="{15EA0DA0-88B9-E3D7-7322-F123E6E542B2}"/>
              </a:ext>
            </a:extLst>
          </p:cNvPr>
          <p:cNvSpPr txBox="1">
            <a:spLocks/>
          </p:cNvSpPr>
          <p:nvPr/>
        </p:nvSpPr>
        <p:spPr>
          <a:xfrm>
            <a:off x="5276181" y="814546"/>
            <a:ext cx="1899307"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54 columns</a:t>
            </a:r>
          </a:p>
          <a:p>
            <a:r>
              <a:rPr lang="en-US" sz="1400" dirty="0">
                <a:solidFill>
                  <a:schemeClr val="bg1"/>
                </a:solidFill>
                <a:latin typeface="Lato"/>
                <a:ea typeface="Lato"/>
                <a:cs typeface="Lato"/>
                <a:sym typeface="Lato"/>
              </a:rPr>
              <a:t>55,000 rows</a:t>
            </a:r>
          </a:p>
          <a:p>
            <a:r>
              <a:rPr lang="en-US" sz="1400" dirty="0">
                <a:solidFill>
                  <a:schemeClr val="bg1"/>
                </a:solidFill>
                <a:latin typeface="Lato"/>
                <a:ea typeface="Lato"/>
                <a:cs typeface="Lato"/>
                <a:sym typeface="Lato"/>
              </a:rPr>
              <a:t>507 byte rows</a:t>
            </a:r>
          </a:p>
          <a:p>
            <a:r>
              <a:rPr lang="en-US" sz="1400" dirty="0">
                <a:solidFill>
                  <a:schemeClr val="bg1"/>
                </a:solidFill>
                <a:latin typeface="Lato"/>
                <a:ea typeface="Lato"/>
                <a:cs typeface="Lato"/>
                <a:sym typeface="Lato"/>
              </a:rPr>
              <a:t>4 indexes</a:t>
            </a:r>
          </a:p>
          <a:p>
            <a:r>
              <a:rPr lang="en-US" sz="1400" dirty="0">
                <a:solidFill>
                  <a:schemeClr val="bg1"/>
                </a:solidFill>
                <a:latin typeface="Lato"/>
                <a:ea typeface="Lato"/>
                <a:cs typeface="Lato"/>
                <a:sym typeface="Lato"/>
              </a:rPr>
              <a:t>   2 unique</a:t>
            </a:r>
          </a:p>
          <a:p>
            <a:r>
              <a:rPr lang="en-US" sz="1400" dirty="0">
                <a:solidFill>
                  <a:schemeClr val="bg1"/>
                </a:solidFill>
                <a:latin typeface="Lato"/>
                <a:ea typeface="Lato"/>
                <a:cs typeface="Lato"/>
                <a:sym typeface="Lato"/>
              </a:rPr>
              <a:t>   2 duplicate</a:t>
            </a:r>
          </a:p>
        </p:txBody>
      </p:sp>
      <p:sp>
        <p:nvSpPr>
          <p:cNvPr id="30" name="Google Shape;242;p56">
            <a:extLst>
              <a:ext uri="{FF2B5EF4-FFF2-40B4-BE49-F238E27FC236}">
                <a16:creationId xmlns:a16="http://schemas.microsoft.com/office/drawing/2014/main" id="{007DCE66-2E2C-211B-63FF-69DCC1F555C9}"/>
              </a:ext>
            </a:extLst>
          </p:cNvPr>
          <p:cNvSpPr txBox="1">
            <a:spLocks/>
          </p:cNvSpPr>
          <p:nvPr/>
        </p:nvSpPr>
        <p:spPr>
          <a:xfrm>
            <a:off x="5211756" y="3318714"/>
            <a:ext cx="2500729"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600" dirty="0">
                <a:solidFill>
                  <a:schemeClr val="tx1"/>
                </a:solidFill>
                <a:latin typeface="Lato"/>
                <a:ea typeface="Lato"/>
                <a:cs typeface="Lato"/>
                <a:sym typeface="Lato"/>
              </a:rPr>
              <a:t>1 select, 3 tables</a:t>
            </a:r>
          </a:p>
          <a:p>
            <a:r>
              <a:rPr lang="en-US" sz="1600" dirty="0">
                <a:solidFill>
                  <a:schemeClr val="tx1"/>
                </a:solidFill>
                <a:latin typeface="Lato"/>
                <a:ea typeface="Lato"/>
                <a:cs typeface="Lato"/>
                <a:sym typeface="Lato"/>
              </a:rPr>
              <a:t>3-5 minute response</a:t>
            </a:r>
          </a:p>
          <a:p>
            <a:r>
              <a:rPr lang="en-US" sz="1600" dirty="0">
                <a:solidFill>
                  <a:schemeClr val="tx1"/>
                </a:solidFill>
                <a:latin typeface="Lato"/>
                <a:ea typeface="Lato"/>
                <a:cs typeface="Lato"/>
                <a:sym typeface="Lato"/>
              </a:rPr>
              <a:t>return 700 rows</a:t>
            </a:r>
          </a:p>
          <a:p>
            <a:r>
              <a:rPr lang="en-US" sz="1600" dirty="0">
                <a:solidFill>
                  <a:schemeClr val="tx1"/>
                </a:solidFill>
                <a:latin typeface="Lato"/>
                <a:ea typeface="Lato"/>
                <a:cs typeface="Lato"/>
                <a:sym typeface="Lato"/>
              </a:rPr>
              <a:t>      (1-2 rows per second)</a:t>
            </a:r>
          </a:p>
        </p:txBody>
      </p:sp>
    </p:spTree>
    <p:extLst>
      <p:ext uri="{BB962C8B-B14F-4D97-AF65-F5344CB8AC3E}">
        <p14:creationId xmlns:p14="http://schemas.microsoft.com/office/powerpoint/2010/main" val="160794645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027246C-55C6-EA41-193A-8F50FDDA4087}"/>
            </a:ext>
          </a:extLst>
        </p:cNvPr>
        <p:cNvGrpSpPr/>
        <p:nvPr/>
      </p:nvGrpSpPr>
      <p:grpSpPr>
        <a:xfrm>
          <a:off x="0" y="0"/>
          <a:ext cx="0" cy="0"/>
          <a:chOff x="0" y="0"/>
          <a:chExt cx="0" cy="0"/>
        </a:xfrm>
      </p:grpSpPr>
      <p:sp>
        <p:nvSpPr>
          <p:cNvPr id="223" name="Google Shape;242;p56">
            <a:extLst>
              <a:ext uri="{FF2B5EF4-FFF2-40B4-BE49-F238E27FC236}">
                <a16:creationId xmlns:a16="http://schemas.microsoft.com/office/drawing/2014/main" id="{047FC0B9-58F4-E3CE-FBE8-01C63211B7E1}"/>
              </a:ext>
            </a:extLst>
          </p:cNvPr>
          <p:cNvSpPr txBox="1">
            <a:spLocks/>
          </p:cNvSpPr>
          <p:nvPr/>
        </p:nvSpPr>
        <p:spPr>
          <a:xfrm>
            <a:off x="2650725" y="1180808"/>
            <a:ext cx="6060780"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600" dirty="0">
                <a:solidFill>
                  <a:schemeClr val="tx1"/>
                </a:solidFill>
                <a:latin typeface="Lato"/>
                <a:ea typeface="Lato"/>
                <a:cs typeface="Lato"/>
                <a:sym typeface="Lato"/>
              </a:rPr>
              <a:t>query plan table order, t1, t2, then t3</a:t>
            </a:r>
          </a:p>
          <a:p>
            <a:r>
              <a:rPr lang="en-US" sz="1600" dirty="0">
                <a:solidFill>
                  <a:schemeClr val="tx1"/>
                </a:solidFill>
                <a:latin typeface="Lato"/>
                <a:ea typeface="Lato"/>
                <a:cs typeface="Lato"/>
                <a:sym typeface="Lato"/>
              </a:rPr>
              <a:t>      SELECT * WHERE ...</a:t>
            </a:r>
          </a:p>
        </p:txBody>
      </p:sp>
      <p:sp>
        <p:nvSpPr>
          <p:cNvPr id="242" name="Google Shape;242;p56">
            <a:extLst>
              <a:ext uri="{FF2B5EF4-FFF2-40B4-BE49-F238E27FC236}">
                <a16:creationId xmlns:a16="http://schemas.microsoft.com/office/drawing/2014/main" id="{738ACC18-BCBC-9015-F733-B770BBDB626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information, explain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6772767-6FB4-2577-8DF0-87DC1F80A73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F8A3EF59-4AD4-E68D-A7ED-6971A758DDF6}"/>
              </a:ext>
            </a:extLst>
          </p:cNvPr>
          <p:cNvPicPr>
            <a:picLocks noChangeAspect="1"/>
          </p:cNvPicPr>
          <p:nvPr/>
        </p:nvPicPr>
        <p:blipFill>
          <a:blip r:embed="rId3"/>
          <a:stretch>
            <a:fillRect/>
          </a:stretch>
        </p:blipFill>
        <p:spPr>
          <a:xfrm>
            <a:off x="432495" y="1240531"/>
            <a:ext cx="1521479" cy="1606672"/>
          </a:xfrm>
          <a:prstGeom prst="rect">
            <a:avLst/>
          </a:prstGeom>
        </p:spPr>
      </p:pic>
      <p:sp>
        <p:nvSpPr>
          <p:cNvPr id="6" name="Google Shape;242;p56">
            <a:extLst>
              <a:ext uri="{FF2B5EF4-FFF2-40B4-BE49-F238E27FC236}">
                <a16:creationId xmlns:a16="http://schemas.microsoft.com/office/drawing/2014/main" id="{47779D3C-ACDA-7789-31C9-26F86821EC66}"/>
              </a:ext>
            </a:extLst>
          </p:cNvPr>
          <p:cNvSpPr txBox="1">
            <a:spLocks/>
          </p:cNvSpPr>
          <p:nvPr/>
        </p:nvSpPr>
        <p:spPr>
          <a:xfrm>
            <a:off x="460849" y="1561512"/>
            <a:ext cx="1604461"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col2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Unique index </a:t>
            </a:r>
          </a:p>
          <a:p>
            <a:r>
              <a:rPr lang="en-US" sz="1400" dirty="0">
                <a:solidFill>
                  <a:schemeClr val="bg1"/>
                </a:solidFill>
                <a:latin typeface="Lato"/>
                <a:ea typeface="Lato"/>
                <a:cs typeface="Lato"/>
                <a:sym typeface="Lato"/>
              </a:rPr>
              <a:t>      (col1, col2)</a:t>
            </a:r>
          </a:p>
        </p:txBody>
      </p:sp>
      <p:pic>
        <p:nvPicPr>
          <p:cNvPr id="8" name="Picture 7">
            <a:extLst>
              <a:ext uri="{FF2B5EF4-FFF2-40B4-BE49-F238E27FC236}">
                <a16:creationId xmlns:a16="http://schemas.microsoft.com/office/drawing/2014/main" id="{247EF7FF-B281-FC09-5E85-2B8D6CAC5789}"/>
              </a:ext>
            </a:extLst>
          </p:cNvPr>
          <p:cNvPicPr>
            <a:picLocks noChangeAspect="1"/>
          </p:cNvPicPr>
          <p:nvPr/>
        </p:nvPicPr>
        <p:blipFill>
          <a:blip r:embed="rId3"/>
          <a:stretch>
            <a:fillRect/>
          </a:stretch>
        </p:blipFill>
        <p:spPr>
          <a:xfrm>
            <a:off x="2988290" y="2787866"/>
            <a:ext cx="1628181" cy="1945531"/>
          </a:xfrm>
          <a:prstGeom prst="rect">
            <a:avLst/>
          </a:prstGeom>
        </p:spPr>
      </p:pic>
      <p:sp>
        <p:nvSpPr>
          <p:cNvPr id="10" name="Google Shape;242;p56">
            <a:extLst>
              <a:ext uri="{FF2B5EF4-FFF2-40B4-BE49-F238E27FC236}">
                <a16:creationId xmlns:a16="http://schemas.microsoft.com/office/drawing/2014/main" id="{E1A9A359-8C88-81BE-F61B-FE3C6068E3D2}"/>
              </a:ext>
            </a:extLst>
          </p:cNvPr>
          <p:cNvSpPr txBox="1">
            <a:spLocks/>
          </p:cNvSpPr>
          <p:nvPr/>
        </p:nvSpPr>
        <p:spPr>
          <a:xfrm>
            <a:off x="3016644" y="3108847"/>
            <a:ext cx="1899307" cy="6663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col2   NUMERIC</a:t>
            </a:r>
          </a:p>
          <a:p>
            <a:r>
              <a:rPr lang="en-US" sz="1400" dirty="0">
                <a:solidFill>
                  <a:schemeClr val="bg1"/>
                </a:solidFill>
                <a:latin typeface="Lato"/>
                <a:ea typeface="Lato"/>
                <a:cs typeface="Lato"/>
                <a:sym typeface="Lato"/>
              </a:rPr>
              <a:t>col3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Duplicate index </a:t>
            </a:r>
          </a:p>
          <a:p>
            <a:r>
              <a:rPr lang="en-US" sz="1400" dirty="0">
                <a:solidFill>
                  <a:schemeClr val="bg1"/>
                </a:solidFill>
                <a:latin typeface="Lato"/>
                <a:ea typeface="Lato"/>
                <a:cs typeface="Lato"/>
                <a:sym typeface="Lato"/>
              </a:rPr>
              <a:t>      (col1, col2, col3)</a:t>
            </a:r>
          </a:p>
        </p:txBody>
      </p:sp>
      <p:pic>
        <p:nvPicPr>
          <p:cNvPr id="12" name="Picture 11">
            <a:extLst>
              <a:ext uri="{FF2B5EF4-FFF2-40B4-BE49-F238E27FC236}">
                <a16:creationId xmlns:a16="http://schemas.microsoft.com/office/drawing/2014/main" id="{432AC546-EECB-5140-780B-4C5078A33AD5}"/>
              </a:ext>
            </a:extLst>
          </p:cNvPr>
          <p:cNvPicPr>
            <a:picLocks noChangeAspect="1"/>
          </p:cNvPicPr>
          <p:nvPr/>
        </p:nvPicPr>
        <p:blipFill>
          <a:blip r:embed="rId3"/>
          <a:stretch>
            <a:fillRect/>
          </a:stretch>
        </p:blipFill>
        <p:spPr>
          <a:xfrm>
            <a:off x="6736475" y="1560820"/>
            <a:ext cx="1521479" cy="1606672"/>
          </a:xfrm>
          <a:prstGeom prst="rect">
            <a:avLst/>
          </a:prstGeom>
        </p:spPr>
      </p:pic>
      <p:sp>
        <p:nvSpPr>
          <p:cNvPr id="14" name="Google Shape;242;p56">
            <a:extLst>
              <a:ext uri="{FF2B5EF4-FFF2-40B4-BE49-F238E27FC236}">
                <a16:creationId xmlns:a16="http://schemas.microsoft.com/office/drawing/2014/main" id="{A321A69B-BA4F-4CDB-D9E8-FFC8E536AE03}"/>
              </a:ext>
            </a:extLst>
          </p:cNvPr>
          <p:cNvSpPr txBox="1">
            <a:spLocks/>
          </p:cNvSpPr>
          <p:nvPr/>
        </p:nvSpPr>
        <p:spPr>
          <a:xfrm>
            <a:off x="6764829" y="1881801"/>
            <a:ext cx="1899307"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Unique index </a:t>
            </a:r>
          </a:p>
          <a:p>
            <a:r>
              <a:rPr lang="en-US" sz="1400" dirty="0">
                <a:solidFill>
                  <a:schemeClr val="bg1"/>
                </a:solidFill>
                <a:latin typeface="Lato"/>
                <a:ea typeface="Lato"/>
                <a:cs typeface="Lato"/>
                <a:sym typeface="Lato"/>
              </a:rPr>
              <a:t>      (col1)</a:t>
            </a:r>
          </a:p>
        </p:txBody>
      </p:sp>
      <p:sp>
        <p:nvSpPr>
          <p:cNvPr id="20" name="Oval 19">
            <a:extLst>
              <a:ext uri="{FF2B5EF4-FFF2-40B4-BE49-F238E27FC236}">
                <a16:creationId xmlns:a16="http://schemas.microsoft.com/office/drawing/2014/main" id="{6F958D82-CFEF-3749-0622-C0B3F210BABC}"/>
              </a:ext>
            </a:extLst>
          </p:cNvPr>
          <p:cNvSpPr/>
          <p:nvPr/>
        </p:nvSpPr>
        <p:spPr>
          <a:xfrm>
            <a:off x="7999228" y="1460395"/>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t3</a:t>
            </a:r>
          </a:p>
        </p:txBody>
      </p:sp>
      <p:sp>
        <p:nvSpPr>
          <p:cNvPr id="22" name="Oval 21">
            <a:extLst>
              <a:ext uri="{FF2B5EF4-FFF2-40B4-BE49-F238E27FC236}">
                <a16:creationId xmlns:a16="http://schemas.microsoft.com/office/drawing/2014/main" id="{9F0C74C4-B104-F36D-6B76-CC229C675EEF}"/>
              </a:ext>
            </a:extLst>
          </p:cNvPr>
          <p:cNvSpPr/>
          <p:nvPr/>
        </p:nvSpPr>
        <p:spPr>
          <a:xfrm>
            <a:off x="4357745" y="4427994"/>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t2</a:t>
            </a:r>
          </a:p>
        </p:txBody>
      </p:sp>
      <p:sp>
        <p:nvSpPr>
          <p:cNvPr id="24" name="Oval 23">
            <a:extLst>
              <a:ext uri="{FF2B5EF4-FFF2-40B4-BE49-F238E27FC236}">
                <a16:creationId xmlns:a16="http://schemas.microsoft.com/office/drawing/2014/main" id="{2819B400-9154-1FBA-A047-3D4BB3A0FF5C}"/>
              </a:ext>
            </a:extLst>
          </p:cNvPr>
          <p:cNvSpPr/>
          <p:nvPr/>
        </p:nvSpPr>
        <p:spPr>
          <a:xfrm>
            <a:off x="133015" y="2355893"/>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t1</a:t>
            </a:r>
          </a:p>
        </p:txBody>
      </p:sp>
      <p:sp>
        <p:nvSpPr>
          <p:cNvPr id="34" name="Google Shape;242;p56">
            <a:extLst>
              <a:ext uri="{FF2B5EF4-FFF2-40B4-BE49-F238E27FC236}">
                <a16:creationId xmlns:a16="http://schemas.microsoft.com/office/drawing/2014/main" id="{D0ADD55F-5DD3-EA56-5305-FBDB05532041}"/>
              </a:ext>
            </a:extLst>
          </p:cNvPr>
          <p:cNvSpPr txBox="1">
            <a:spLocks/>
          </p:cNvSpPr>
          <p:nvPr/>
        </p:nvSpPr>
        <p:spPr>
          <a:xfrm>
            <a:off x="2016745" y="788348"/>
            <a:ext cx="2187731"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FILTER t1.col1 = LITERAL</a:t>
            </a:r>
          </a:p>
        </p:txBody>
      </p:sp>
      <p:cxnSp>
        <p:nvCxnSpPr>
          <p:cNvPr id="36" name="Straight Connector 35">
            <a:extLst>
              <a:ext uri="{FF2B5EF4-FFF2-40B4-BE49-F238E27FC236}">
                <a16:creationId xmlns:a16="http://schemas.microsoft.com/office/drawing/2014/main" id="{20FB6355-A807-53AD-EE92-9CF514C364FE}"/>
              </a:ext>
            </a:extLst>
          </p:cNvPr>
          <p:cNvCxnSpPr>
            <a:cxnSpLocks/>
            <a:endCxn id="37" idx="2"/>
          </p:cNvCxnSpPr>
          <p:nvPr/>
        </p:nvCxnSpPr>
        <p:spPr>
          <a:xfrm>
            <a:off x="2297483" y="1171155"/>
            <a:ext cx="7938" cy="368025"/>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7" name="Arc 36">
            <a:extLst>
              <a:ext uri="{FF2B5EF4-FFF2-40B4-BE49-F238E27FC236}">
                <a16:creationId xmlns:a16="http://schemas.microsoft.com/office/drawing/2014/main" id="{6FBC3BEF-CE65-C804-77B1-E6308D6986C7}"/>
              </a:ext>
            </a:extLst>
          </p:cNvPr>
          <p:cNvSpPr/>
          <p:nvPr/>
        </p:nvSpPr>
        <p:spPr>
          <a:xfrm rot="16200000">
            <a:off x="2065488" y="1536650"/>
            <a:ext cx="479865" cy="48492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C81D98C2-A1CA-DBA9-BBE3-B18E0AABFE5E}"/>
              </a:ext>
            </a:extLst>
          </p:cNvPr>
          <p:cNvCxnSpPr>
            <a:cxnSpLocks/>
          </p:cNvCxnSpPr>
          <p:nvPr/>
        </p:nvCxnSpPr>
        <p:spPr>
          <a:xfrm flipH="1">
            <a:off x="1579528" y="1772512"/>
            <a:ext cx="485782" cy="0"/>
          </a:xfrm>
          <a:prstGeom prst="line">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1" name="Google Shape;242;p56">
            <a:extLst>
              <a:ext uri="{FF2B5EF4-FFF2-40B4-BE49-F238E27FC236}">
                <a16:creationId xmlns:a16="http://schemas.microsoft.com/office/drawing/2014/main" id="{D62A9694-63D7-9318-BB66-73015380C055}"/>
              </a:ext>
            </a:extLst>
          </p:cNvPr>
          <p:cNvSpPr txBox="1">
            <a:spLocks/>
          </p:cNvSpPr>
          <p:nvPr/>
        </p:nvSpPr>
        <p:spPr>
          <a:xfrm>
            <a:off x="883238" y="3499730"/>
            <a:ext cx="1897672"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JOIN t1.col2 = t2.col1</a:t>
            </a:r>
          </a:p>
        </p:txBody>
      </p:sp>
      <p:cxnSp>
        <p:nvCxnSpPr>
          <p:cNvPr id="42" name="Straight Connector 41">
            <a:extLst>
              <a:ext uri="{FF2B5EF4-FFF2-40B4-BE49-F238E27FC236}">
                <a16:creationId xmlns:a16="http://schemas.microsoft.com/office/drawing/2014/main" id="{10AF150C-AF1C-4808-F2BC-7C3DE56F2082}"/>
              </a:ext>
            </a:extLst>
          </p:cNvPr>
          <p:cNvCxnSpPr>
            <a:cxnSpLocks/>
          </p:cNvCxnSpPr>
          <p:nvPr/>
        </p:nvCxnSpPr>
        <p:spPr>
          <a:xfrm flipH="1" flipV="1">
            <a:off x="1736651" y="1998317"/>
            <a:ext cx="484497" cy="2765"/>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B4A5641B-02DA-108A-9BD8-95E68BA17F46}"/>
              </a:ext>
            </a:extLst>
          </p:cNvPr>
          <p:cNvSpPr/>
          <p:nvPr/>
        </p:nvSpPr>
        <p:spPr>
          <a:xfrm>
            <a:off x="2144026" y="1619026"/>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1</a:t>
            </a:r>
          </a:p>
        </p:txBody>
      </p:sp>
      <p:sp>
        <p:nvSpPr>
          <p:cNvPr id="52" name="Arc 51">
            <a:extLst>
              <a:ext uri="{FF2B5EF4-FFF2-40B4-BE49-F238E27FC236}">
                <a16:creationId xmlns:a16="http://schemas.microsoft.com/office/drawing/2014/main" id="{0B2BB049-8483-922D-A18C-CDF5CC77EBC8}"/>
              </a:ext>
            </a:extLst>
          </p:cNvPr>
          <p:cNvSpPr/>
          <p:nvPr/>
        </p:nvSpPr>
        <p:spPr>
          <a:xfrm>
            <a:off x="2109091" y="1998317"/>
            <a:ext cx="223478" cy="22583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55DFD557-0426-BE11-FE94-5DF04F6C7774}"/>
              </a:ext>
            </a:extLst>
          </p:cNvPr>
          <p:cNvCxnSpPr>
            <a:cxnSpLocks/>
          </p:cNvCxnSpPr>
          <p:nvPr/>
        </p:nvCxnSpPr>
        <p:spPr>
          <a:xfrm>
            <a:off x="2335175" y="2109496"/>
            <a:ext cx="0" cy="966276"/>
          </a:xfrm>
          <a:prstGeom prst="line">
            <a:avLst/>
          </a:prstGeom>
          <a:ln w="25400">
            <a:solidFill>
              <a:srgbClr val="FFC000"/>
            </a:solidFill>
            <a:tailEnd type="none"/>
          </a:ln>
        </p:spPr>
        <p:style>
          <a:lnRef idx="1">
            <a:schemeClr val="accent1"/>
          </a:lnRef>
          <a:fillRef idx="0">
            <a:schemeClr val="accent1"/>
          </a:fillRef>
          <a:effectRef idx="0">
            <a:schemeClr val="accent1"/>
          </a:effectRef>
          <a:fontRef idx="minor">
            <a:schemeClr val="tx1"/>
          </a:fontRef>
        </p:style>
      </p:cxnSp>
      <p:sp>
        <p:nvSpPr>
          <p:cNvPr id="61" name="Arc 60">
            <a:extLst>
              <a:ext uri="{FF2B5EF4-FFF2-40B4-BE49-F238E27FC236}">
                <a16:creationId xmlns:a16="http://schemas.microsoft.com/office/drawing/2014/main" id="{6F7C4474-225A-4DDB-2F14-32605A7B8C3E}"/>
              </a:ext>
            </a:extLst>
          </p:cNvPr>
          <p:cNvSpPr/>
          <p:nvPr/>
        </p:nvSpPr>
        <p:spPr>
          <a:xfrm>
            <a:off x="2093664" y="3075772"/>
            <a:ext cx="479865" cy="48492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62185618-47B9-22D4-D61A-DE47147F2618}"/>
              </a:ext>
            </a:extLst>
          </p:cNvPr>
          <p:cNvCxnSpPr>
            <a:cxnSpLocks/>
          </p:cNvCxnSpPr>
          <p:nvPr/>
        </p:nvCxnSpPr>
        <p:spPr>
          <a:xfrm flipH="1">
            <a:off x="2566335" y="3315976"/>
            <a:ext cx="544275" cy="0"/>
          </a:xfrm>
          <a:prstGeom prst="line">
            <a:avLst/>
          </a:prstGeom>
          <a:ln w="25400">
            <a:solidFill>
              <a:srgbClr val="FFC000"/>
            </a:solidFill>
            <a:headEnd type="triangle"/>
          </a:ln>
        </p:spPr>
        <p:style>
          <a:lnRef idx="1">
            <a:schemeClr val="accent1"/>
          </a:lnRef>
          <a:fillRef idx="0">
            <a:schemeClr val="accent1"/>
          </a:fillRef>
          <a:effectRef idx="0">
            <a:schemeClr val="accent1"/>
          </a:effectRef>
          <a:fontRef idx="minor">
            <a:schemeClr val="tx1"/>
          </a:fontRef>
        </p:style>
      </p:cxnSp>
      <p:sp>
        <p:nvSpPr>
          <p:cNvPr id="192" name="Oval 191">
            <a:extLst>
              <a:ext uri="{FF2B5EF4-FFF2-40B4-BE49-F238E27FC236}">
                <a16:creationId xmlns:a16="http://schemas.microsoft.com/office/drawing/2014/main" id="{1CF01FFB-75FA-8046-1DF2-8402A6E854E6}"/>
              </a:ext>
            </a:extLst>
          </p:cNvPr>
          <p:cNvSpPr/>
          <p:nvPr/>
        </p:nvSpPr>
        <p:spPr>
          <a:xfrm>
            <a:off x="2179144" y="3139073"/>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2</a:t>
            </a:r>
          </a:p>
        </p:txBody>
      </p:sp>
      <p:cxnSp>
        <p:nvCxnSpPr>
          <p:cNvPr id="196" name="Straight Connector 195">
            <a:extLst>
              <a:ext uri="{FF2B5EF4-FFF2-40B4-BE49-F238E27FC236}">
                <a16:creationId xmlns:a16="http://schemas.microsoft.com/office/drawing/2014/main" id="{6CEFBF1F-F81B-C3A3-6FE7-5FF4BD1A1A0D}"/>
              </a:ext>
            </a:extLst>
          </p:cNvPr>
          <p:cNvCxnSpPr>
            <a:cxnSpLocks/>
          </p:cNvCxnSpPr>
          <p:nvPr/>
        </p:nvCxnSpPr>
        <p:spPr>
          <a:xfrm flipH="1">
            <a:off x="4505005" y="3775224"/>
            <a:ext cx="967218" cy="0"/>
          </a:xfrm>
          <a:prstGeom prst="line">
            <a:avLst/>
          </a:prstGeom>
          <a:ln w="25400">
            <a:solidFill>
              <a:srgbClr val="FFC000"/>
            </a:solidFill>
            <a:headEnd type="triangle"/>
          </a:ln>
        </p:spPr>
        <p:style>
          <a:lnRef idx="1">
            <a:schemeClr val="accent1"/>
          </a:lnRef>
          <a:fillRef idx="0">
            <a:schemeClr val="accent1"/>
          </a:fillRef>
          <a:effectRef idx="0">
            <a:schemeClr val="accent1"/>
          </a:effectRef>
          <a:fontRef idx="minor">
            <a:schemeClr val="tx1"/>
          </a:fontRef>
        </p:style>
      </p:cxnSp>
      <p:sp>
        <p:nvSpPr>
          <p:cNvPr id="199" name="Google Shape;242;p56">
            <a:extLst>
              <a:ext uri="{FF2B5EF4-FFF2-40B4-BE49-F238E27FC236}">
                <a16:creationId xmlns:a16="http://schemas.microsoft.com/office/drawing/2014/main" id="{A776A4C5-97CF-0872-F2AA-31810160763A}"/>
              </a:ext>
            </a:extLst>
          </p:cNvPr>
          <p:cNvSpPr txBox="1">
            <a:spLocks/>
          </p:cNvSpPr>
          <p:nvPr/>
        </p:nvSpPr>
        <p:spPr>
          <a:xfrm>
            <a:off x="5587918" y="3589337"/>
            <a:ext cx="2187731"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FILTER t2.col3 = LITERAL</a:t>
            </a:r>
          </a:p>
        </p:txBody>
      </p:sp>
      <p:sp>
        <p:nvSpPr>
          <p:cNvPr id="203" name="Oval 202">
            <a:extLst>
              <a:ext uri="{FF2B5EF4-FFF2-40B4-BE49-F238E27FC236}">
                <a16:creationId xmlns:a16="http://schemas.microsoft.com/office/drawing/2014/main" id="{2589DA55-BA13-BEA5-48E2-9B99AC615149}"/>
              </a:ext>
            </a:extLst>
          </p:cNvPr>
          <p:cNvSpPr/>
          <p:nvPr/>
        </p:nvSpPr>
        <p:spPr>
          <a:xfrm>
            <a:off x="4881022" y="3822017"/>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3</a:t>
            </a:r>
          </a:p>
        </p:txBody>
      </p:sp>
      <p:cxnSp>
        <p:nvCxnSpPr>
          <p:cNvPr id="204" name="Straight Connector 203">
            <a:extLst>
              <a:ext uri="{FF2B5EF4-FFF2-40B4-BE49-F238E27FC236}">
                <a16:creationId xmlns:a16="http://schemas.microsoft.com/office/drawing/2014/main" id="{25EC58A8-7365-22AB-4416-3ECECF42B874}"/>
              </a:ext>
            </a:extLst>
          </p:cNvPr>
          <p:cNvCxnSpPr>
            <a:cxnSpLocks/>
          </p:cNvCxnSpPr>
          <p:nvPr/>
        </p:nvCxnSpPr>
        <p:spPr>
          <a:xfrm>
            <a:off x="5485267" y="3675992"/>
            <a:ext cx="0" cy="205784"/>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ED0DF072-DBD2-9DD0-34D7-D8A4D74353B7}"/>
              </a:ext>
            </a:extLst>
          </p:cNvPr>
          <p:cNvCxnSpPr>
            <a:cxnSpLocks/>
          </p:cNvCxnSpPr>
          <p:nvPr/>
        </p:nvCxnSpPr>
        <p:spPr>
          <a:xfrm flipH="1">
            <a:off x="4519888" y="3688966"/>
            <a:ext cx="308786" cy="302"/>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208" name="Arc 207">
            <a:extLst>
              <a:ext uri="{FF2B5EF4-FFF2-40B4-BE49-F238E27FC236}">
                <a16:creationId xmlns:a16="http://schemas.microsoft.com/office/drawing/2014/main" id="{01D1CA96-23BA-78FC-F940-B67C0A5E3280}"/>
              </a:ext>
            </a:extLst>
          </p:cNvPr>
          <p:cNvSpPr/>
          <p:nvPr/>
        </p:nvSpPr>
        <p:spPr>
          <a:xfrm rot="5198004">
            <a:off x="4709437" y="3463220"/>
            <a:ext cx="223478" cy="22583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1" name="Straight Connector 210">
            <a:extLst>
              <a:ext uri="{FF2B5EF4-FFF2-40B4-BE49-F238E27FC236}">
                <a16:creationId xmlns:a16="http://schemas.microsoft.com/office/drawing/2014/main" id="{F44F5046-F3BA-2A99-B559-1F0993C6DB6A}"/>
              </a:ext>
            </a:extLst>
          </p:cNvPr>
          <p:cNvCxnSpPr>
            <a:cxnSpLocks/>
            <a:stCxn id="214" idx="0"/>
            <a:endCxn id="208" idx="0"/>
          </p:cNvCxnSpPr>
          <p:nvPr/>
        </p:nvCxnSpPr>
        <p:spPr>
          <a:xfrm flipH="1">
            <a:off x="4933898" y="2205529"/>
            <a:ext cx="21709" cy="1363977"/>
          </a:xfrm>
          <a:prstGeom prst="line">
            <a:avLst/>
          </a:prstGeom>
          <a:ln w="2540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5436B96F-15D6-2597-9072-EAE6121A6A7B}"/>
              </a:ext>
            </a:extLst>
          </p:cNvPr>
          <p:cNvCxnSpPr>
            <a:cxnSpLocks/>
          </p:cNvCxnSpPr>
          <p:nvPr/>
        </p:nvCxnSpPr>
        <p:spPr>
          <a:xfrm flipH="1">
            <a:off x="5068524" y="2087183"/>
            <a:ext cx="1754034" cy="6611"/>
          </a:xfrm>
          <a:prstGeom prst="line">
            <a:avLst/>
          </a:prstGeom>
          <a:ln w="25400">
            <a:solidFill>
              <a:srgbClr val="FFC000"/>
            </a:solidFill>
            <a:headEnd type="triangle"/>
          </a:ln>
        </p:spPr>
        <p:style>
          <a:lnRef idx="1">
            <a:schemeClr val="accent1"/>
          </a:lnRef>
          <a:fillRef idx="0">
            <a:schemeClr val="accent1"/>
          </a:fillRef>
          <a:effectRef idx="0">
            <a:schemeClr val="accent1"/>
          </a:effectRef>
          <a:fontRef idx="minor">
            <a:schemeClr val="tx1"/>
          </a:fontRef>
        </p:style>
      </p:cxnSp>
      <p:sp>
        <p:nvSpPr>
          <p:cNvPr id="214" name="Arc 213">
            <a:extLst>
              <a:ext uri="{FF2B5EF4-FFF2-40B4-BE49-F238E27FC236}">
                <a16:creationId xmlns:a16="http://schemas.microsoft.com/office/drawing/2014/main" id="{5485D16D-5D41-0255-19DC-2001FCB2341E}"/>
              </a:ext>
            </a:extLst>
          </p:cNvPr>
          <p:cNvSpPr/>
          <p:nvPr/>
        </p:nvSpPr>
        <p:spPr>
          <a:xfrm rot="16200000">
            <a:off x="4956785" y="2092612"/>
            <a:ext cx="223478" cy="22583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8" name="Google Shape;242;p56">
            <a:extLst>
              <a:ext uri="{FF2B5EF4-FFF2-40B4-BE49-F238E27FC236}">
                <a16:creationId xmlns:a16="http://schemas.microsoft.com/office/drawing/2014/main" id="{3A81CD80-84D8-729C-170F-D57BA89F80A2}"/>
              </a:ext>
            </a:extLst>
          </p:cNvPr>
          <p:cNvSpPr txBox="1">
            <a:spLocks/>
          </p:cNvSpPr>
          <p:nvPr/>
        </p:nvSpPr>
        <p:spPr>
          <a:xfrm>
            <a:off x="4701892" y="3041364"/>
            <a:ext cx="1897672" cy="379076"/>
          </a:xfrm>
          <a:prstGeom prst="rect">
            <a:avLst/>
          </a:prstGeom>
          <a:solidFill>
            <a:schemeClr val="lt1"/>
          </a:solid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JOIN t2.col3 = t3.col1</a:t>
            </a:r>
          </a:p>
        </p:txBody>
      </p:sp>
      <p:sp>
        <p:nvSpPr>
          <p:cNvPr id="220" name="Oval 219">
            <a:extLst>
              <a:ext uri="{FF2B5EF4-FFF2-40B4-BE49-F238E27FC236}">
                <a16:creationId xmlns:a16="http://schemas.microsoft.com/office/drawing/2014/main" id="{BBA80B61-FCDB-E64B-388C-80FA3A8A9662}"/>
              </a:ext>
            </a:extLst>
          </p:cNvPr>
          <p:cNvSpPr/>
          <p:nvPr/>
        </p:nvSpPr>
        <p:spPr>
          <a:xfrm>
            <a:off x="4798309" y="2528844"/>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4</a:t>
            </a:r>
          </a:p>
        </p:txBody>
      </p:sp>
    </p:spTree>
    <p:extLst>
      <p:ext uri="{BB962C8B-B14F-4D97-AF65-F5344CB8AC3E}">
        <p14:creationId xmlns:p14="http://schemas.microsoft.com/office/powerpoint/2010/main" val="201479152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5D6EFA2-C3F1-2FEF-FD4A-472539DB1AB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DBD72E1-533C-B8B7-A3AD-828D8627046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discussion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D0BDCF8-8B33-981B-517F-6A53FE85B06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708DEAE0-A6BA-B7E5-B0B7-5DE78820DD54}"/>
              </a:ext>
            </a:extLst>
          </p:cNvPr>
          <p:cNvPicPr>
            <a:picLocks noChangeAspect="1"/>
          </p:cNvPicPr>
          <p:nvPr/>
        </p:nvPicPr>
        <p:blipFill>
          <a:blip r:embed="rId3"/>
          <a:stretch>
            <a:fillRect/>
          </a:stretch>
        </p:blipFill>
        <p:spPr>
          <a:xfrm>
            <a:off x="5136702" y="1845586"/>
            <a:ext cx="720196" cy="760522"/>
          </a:xfrm>
          <a:prstGeom prst="rect">
            <a:avLst/>
          </a:prstGeom>
        </p:spPr>
      </p:pic>
      <p:sp>
        <p:nvSpPr>
          <p:cNvPr id="6" name="Oval 5">
            <a:extLst>
              <a:ext uri="{FF2B5EF4-FFF2-40B4-BE49-F238E27FC236}">
                <a16:creationId xmlns:a16="http://schemas.microsoft.com/office/drawing/2014/main" id="{69EFAFBC-232B-6DE7-6C19-8FAE0D7C5279}"/>
              </a:ext>
            </a:extLst>
          </p:cNvPr>
          <p:cNvSpPr/>
          <p:nvPr/>
        </p:nvSpPr>
        <p:spPr>
          <a:xfrm>
            <a:off x="5580452" y="1584671"/>
            <a:ext cx="432390" cy="43605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t1</a:t>
            </a:r>
          </a:p>
        </p:txBody>
      </p:sp>
      <p:sp>
        <p:nvSpPr>
          <p:cNvPr id="2" name="Google Shape;248;p56">
            <a:extLst>
              <a:ext uri="{FF2B5EF4-FFF2-40B4-BE49-F238E27FC236}">
                <a16:creationId xmlns:a16="http://schemas.microsoft.com/office/drawing/2014/main" id="{89EFDE94-D69C-A93E-804A-E78BD65D3F82}"/>
              </a:ext>
            </a:extLst>
          </p:cNvPr>
          <p:cNvSpPr txBox="1"/>
          <p:nvPr/>
        </p:nvSpPr>
        <p:spPr>
          <a:xfrm>
            <a:off x="5136702" y="1941558"/>
            <a:ext cx="720196" cy="68015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rgbClr val="00B0F0"/>
                </a:solidFill>
                <a:effectLst/>
                <a:uLnTx/>
                <a:uFillTx/>
                <a:latin typeface="Lato"/>
                <a:ea typeface="Lato"/>
                <a:cs typeface="Lato"/>
                <a:sym typeface="Lato"/>
              </a:rPr>
              <a:t>index filter</a:t>
            </a:r>
            <a:endParaRPr kumimoji="0" b="1" i="0" u="none" strike="noStrike" kern="0" cap="none" spc="0" normalizeH="0" baseline="0" noProof="0" dirty="0">
              <a:ln>
                <a:noFill/>
              </a:ln>
              <a:solidFill>
                <a:srgbClr val="00B0F0"/>
              </a:solidFill>
              <a:effectLst/>
              <a:uLnTx/>
              <a:uFillTx/>
              <a:latin typeface="Lato"/>
              <a:ea typeface="Lato"/>
              <a:cs typeface="Lato"/>
              <a:sym typeface="Lato"/>
            </a:endParaRPr>
          </a:p>
        </p:txBody>
      </p:sp>
      <p:pic>
        <p:nvPicPr>
          <p:cNvPr id="10" name="Picture 9">
            <a:extLst>
              <a:ext uri="{FF2B5EF4-FFF2-40B4-BE49-F238E27FC236}">
                <a16:creationId xmlns:a16="http://schemas.microsoft.com/office/drawing/2014/main" id="{D8500F94-F561-15A6-79CE-96A4FA887A99}"/>
              </a:ext>
            </a:extLst>
          </p:cNvPr>
          <p:cNvPicPr>
            <a:picLocks noChangeAspect="1"/>
          </p:cNvPicPr>
          <p:nvPr/>
        </p:nvPicPr>
        <p:blipFill>
          <a:blip r:embed="rId3"/>
          <a:stretch>
            <a:fillRect/>
          </a:stretch>
        </p:blipFill>
        <p:spPr>
          <a:xfrm>
            <a:off x="6189324" y="2261018"/>
            <a:ext cx="986009" cy="1041219"/>
          </a:xfrm>
          <a:prstGeom prst="rect">
            <a:avLst/>
          </a:prstGeom>
        </p:spPr>
      </p:pic>
      <p:sp>
        <p:nvSpPr>
          <p:cNvPr id="12" name="Oval 11">
            <a:extLst>
              <a:ext uri="{FF2B5EF4-FFF2-40B4-BE49-F238E27FC236}">
                <a16:creationId xmlns:a16="http://schemas.microsoft.com/office/drawing/2014/main" id="{0DB5E157-8DFE-E538-5C10-1B168A63CFCB}"/>
              </a:ext>
            </a:extLst>
          </p:cNvPr>
          <p:cNvSpPr/>
          <p:nvPr/>
        </p:nvSpPr>
        <p:spPr>
          <a:xfrm>
            <a:off x="6775566" y="2020721"/>
            <a:ext cx="432390" cy="43605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t2</a:t>
            </a:r>
          </a:p>
        </p:txBody>
      </p:sp>
      <p:sp>
        <p:nvSpPr>
          <p:cNvPr id="14" name="Google Shape;248;p56">
            <a:extLst>
              <a:ext uri="{FF2B5EF4-FFF2-40B4-BE49-F238E27FC236}">
                <a16:creationId xmlns:a16="http://schemas.microsoft.com/office/drawing/2014/main" id="{46E1478B-72CA-1421-FED6-2BDCE3B29770}"/>
              </a:ext>
            </a:extLst>
          </p:cNvPr>
          <p:cNvSpPr txBox="1"/>
          <p:nvPr/>
        </p:nvSpPr>
        <p:spPr>
          <a:xfrm>
            <a:off x="6189325" y="2356991"/>
            <a:ext cx="986010" cy="92791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b="1" dirty="0">
                <a:solidFill>
                  <a:srgbClr val="00B0F0"/>
                </a:solidFill>
                <a:latin typeface="Lato"/>
                <a:ea typeface="Lato"/>
                <a:cs typeface="Lato"/>
                <a:sym typeface="Lato"/>
              </a:rPr>
              <a:t>duplicate key-only join</a:t>
            </a:r>
            <a:endParaRPr kumimoji="0" b="1" i="0" u="none" strike="noStrike" kern="0" cap="none" spc="0" normalizeH="0" baseline="0" noProof="0" dirty="0">
              <a:ln>
                <a:noFill/>
              </a:ln>
              <a:solidFill>
                <a:srgbClr val="00B0F0"/>
              </a:solidFill>
              <a:effectLst/>
              <a:uLnTx/>
              <a:uFillTx/>
              <a:latin typeface="Lato"/>
              <a:ea typeface="Lato"/>
              <a:cs typeface="Lato"/>
              <a:sym typeface="Lato"/>
            </a:endParaRPr>
          </a:p>
        </p:txBody>
      </p:sp>
      <p:pic>
        <p:nvPicPr>
          <p:cNvPr id="8" name="Picture 7">
            <a:extLst>
              <a:ext uri="{FF2B5EF4-FFF2-40B4-BE49-F238E27FC236}">
                <a16:creationId xmlns:a16="http://schemas.microsoft.com/office/drawing/2014/main" id="{94F0BD2B-5759-EFAF-32A6-14EF51217E59}"/>
              </a:ext>
            </a:extLst>
          </p:cNvPr>
          <p:cNvPicPr>
            <a:picLocks noChangeAspect="1"/>
          </p:cNvPicPr>
          <p:nvPr/>
        </p:nvPicPr>
        <p:blipFill>
          <a:blip r:embed="rId4"/>
          <a:stretch>
            <a:fillRect/>
          </a:stretch>
        </p:blipFill>
        <p:spPr>
          <a:xfrm rot="12836176">
            <a:off x="5705789" y="2302034"/>
            <a:ext cx="614104" cy="312738"/>
          </a:xfrm>
          <a:prstGeom prst="rect">
            <a:avLst/>
          </a:prstGeom>
        </p:spPr>
      </p:pic>
      <p:pic>
        <p:nvPicPr>
          <p:cNvPr id="16" name="Picture 15">
            <a:extLst>
              <a:ext uri="{FF2B5EF4-FFF2-40B4-BE49-F238E27FC236}">
                <a16:creationId xmlns:a16="http://schemas.microsoft.com/office/drawing/2014/main" id="{9A7AA15A-FC93-FDF1-A4A2-21EB85D283B7}"/>
              </a:ext>
            </a:extLst>
          </p:cNvPr>
          <p:cNvPicPr>
            <a:picLocks noChangeAspect="1"/>
          </p:cNvPicPr>
          <p:nvPr/>
        </p:nvPicPr>
        <p:blipFill>
          <a:blip r:embed="rId3"/>
          <a:stretch>
            <a:fillRect/>
          </a:stretch>
        </p:blipFill>
        <p:spPr>
          <a:xfrm>
            <a:off x="7414964" y="1684073"/>
            <a:ext cx="711660" cy="751508"/>
          </a:xfrm>
          <a:prstGeom prst="rect">
            <a:avLst/>
          </a:prstGeom>
        </p:spPr>
      </p:pic>
      <p:sp>
        <p:nvSpPr>
          <p:cNvPr id="18" name="Oval 17">
            <a:extLst>
              <a:ext uri="{FF2B5EF4-FFF2-40B4-BE49-F238E27FC236}">
                <a16:creationId xmlns:a16="http://schemas.microsoft.com/office/drawing/2014/main" id="{B2064558-67BF-1AB2-0E79-FABD40AA1174}"/>
              </a:ext>
            </a:extLst>
          </p:cNvPr>
          <p:cNvSpPr/>
          <p:nvPr/>
        </p:nvSpPr>
        <p:spPr>
          <a:xfrm>
            <a:off x="7910429" y="1366646"/>
            <a:ext cx="432390" cy="43605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t3</a:t>
            </a:r>
          </a:p>
        </p:txBody>
      </p:sp>
      <p:sp>
        <p:nvSpPr>
          <p:cNvPr id="20" name="Google Shape;248;p56">
            <a:extLst>
              <a:ext uri="{FF2B5EF4-FFF2-40B4-BE49-F238E27FC236}">
                <a16:creationId xmlns:a16="http://schemas.microsoft.com/office/drawing/2014/main" id="{9CC4729F-2379-00B5-C61F-B76BBEE4E401}"/>
              </a:ext>
            </a:extLst>
          </p:cNvPr>
          <p:cNvSpPr txBox="1"/>
          <p:nvPr/>
        </p:nvSpPr>
        <p:spPr>
          <a:xfrm>
            <a:off x="7324188" y="1702916"/>
            <a:ext cx="928285" cy="68015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b="1" dirty="0">
                <a:solidFill>
                  <a:srgbClr val="00B0F0"/>
                </a:solidFill>
                <a:latin typeface="Lato"/>
                <a:ea typeface="Lato"/>
                <a:cs typeface="Lato"/>
                <a:sym typeface="Lato"/>
              </a:rPr>
              <a:t>index join</a:t>
            </a:r>
            <a:endParaRPr kumimoji="0" b="1" i="0" u="none" strike="noStrike" kern="0" cap="none" spc="0" normalizeH="0" baseline="0" noProof="0" dirty="0">
              <a:ln>
                <a:noFill/>
              </a:ln>
              <a:solidFill>
                <a:srgbClr val="00B0F0"/>
              </a:solidFill>
              <a:effectLst/>
              <a:uLnTx/>
              <a:uFillTx/>
              <a:latin typeface="Lato"/>
              <a:ea typeface="Lato"/>
              <a:cs typeface="Lato"/>
              <a:sym typeface="Lato"/>
            </a:endParaRPr>
          </a:p>
        </p:txBody>
      </p:sp>
      <p:pic>
        <p:nvPicPr>
          <p:cNvPr id="22" name="Picture 21">
            <a:extLst>
              <a:ext uri="{FF2B5EF4-FFF2-40B4-BE49-F238E27FC236}">
                <a16:creationId xmlns:a16="http://schemas.microsoft.com/office/drawing/2014/main" id="{9717AE7F-662A-D6D6-7DD7-B57F0113B986}"/>
              </a:ext>
            </a:extLst>
          </p:cNvPr>
          <p:cNvPicPr>
            <a:picLocks noChangeAspect="1"/>
          </p:cNvPicPr>
          <p:nvPr/>
        </p:nvPicPr>
        <p:blipFill>
          <a:blip r:embed="rId4"/>
          <a:stretch>
            <a:fillRect/>
          </a:stretch>
        </p:blipFill>
        <p:spPr>
          <a:xfrm rot="8333731">
            <a:off x="7023381" y="2283493"/>
            <a:ext cx="614104" cy="312738"/>
          </a:xfrm>
          <a:prstGeom prst="rect">
            <a:avLst/>
          </a:prstGeom>
        </p:spPr>
      </p:pic>
      <p:sp>
        <p:nvSpPr>
          <p:cNvPr id="24" name="Google Shape;248;p56">
            <a:extLst>
              <a:ext uri="{FF2B5EF4-FFF2-40B4-BE49-F238E27FC236}">
                <a16:creationId xmlns:a16="http://schemas.microsoft.com/office/drawing/2014/main" id="{B5A968A7-995F-B055-E03D-D5B6E2E45180}"/>
              </a:ext>
            </a:extLst>
          </p:cNvPr>
          <p:cNvSpPr txBox="1"/>
          <p:nvPr/>
        </p:nvSpPr>
        <p:spPr>
          <a:xfrm>
            <a:off x="315981" y="1244428"/>
            <a:ext cx="4290856" cy="244987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600" dirty="0">
                <a:latin typeface="Lato"/>
                <a:ea typeface="Lato"/>
                <a:cs typeface="Lato"/>
                <a:sym typeface="Lato"/>
              </a:rPr>
              <a:t>analyze </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did seem to indicate an efficient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600" dirty="0">
                <a:latin typeface="Lato"/>
                <a:ea typeface="Lato"/>
                <a:cs typeface="Lato"/>
                <a:sym typeface="Lato"/>
              </a:rPr>
              <a:t>   index  </a:t>
            </a:r>
            <a:r>
              <a:rPr lang="en-US" sz="1600" dirty="0">
                <a:latin typeface="Lato"/>
                <a:ea typeface="Lato"/>
                <a:cs typeface="Lato"/>
                <a:sym typeface="Wingdings" panose="05000000000000000000" pitchFamily="2" charset="2"/>
              </a:rPr>
              <a:t> </a:t>
            </a:r>
            <a:r>
              <a:rPr lang="en-US" sz="1600" dirty="0">
                <a:latin typeface="Lato"/>
                <a:ea typeface="Lato"/>
                <a:cs typeface="Lato"/>
                <a:sym typeface="Lato"/>
              </a:rPr>
              <a:t> index  </a:t>
            </a:r>
            <a:r>
              <a:rPr lang="en-US" sz="1600" dirty="0">
                <a:latin typeface="Lato"/>
                <a:ea typeface="Lato"/>
                <a:cs typeface="Lato"/>
                <a:sym typeface="Wingdings" panose="05000000000000000000" pitchFamily="2" charset="2"/>
              </a:rPr>
              <a:t></a:t>
            </a:r>
            <a:r>
              <a:rPr lang="en-US" sz="1600" dirty="0">
                <a:latin typeface="Lato"/>
                <a:ea typeface="Lato"/>
                <a:cs typeface="Lato"/>
                <a:sym typeface="Lato"/>
              </a:rPr>
              <a:t>  index</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600" dirty="0">
                <a:latin typeface="Lato"/>
                <a:ea typeface="Lato"/>
                <a:cs typeface="Lato"/>
                <a:sym typeface="Lato"/>
              </a:rPr>
              <a:t>   </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no temporary tables </a:t>
            </a:r>
            <a:r>
              <a:rPr lang="en-US" sz="1600" dirty="0">
                <a:latin typeface="Lato"/>
                <a:ea typeface="Lato"/>
                <a:cs typeface="Lato"/>
                <a:sym typeface="Lato"/>
              </a:rPr>
              <a:t>/ </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temporary files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sz="1600"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sz="1600"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600" dirty="0">
                <a:latin typeface="Lato"/>
                <a:ea typeface="Lato"/>
                <a:cs typeface="Lato"/>
                <a:sym typeface="Lato"/>
              </a:rPr>
              <a:t>y</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et the SQL SELECT returned only 700 rows in three to five minutes</a:t>
            </a:r>
          </a:p>
        </p:txBody>
      </p:sp>
    </p:spTree>
    <p:extLst>
      <p:ext uri="{BB962C8B-B14F-4D97-AF65-F5344CB8AC3E}">
        <p14:creationId xmlns:p14="http://schemas.microsoft.com/office/powerpoint/2010/main" val="87784752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ED81E5A-839C-3D5D-38A4-9CD2FF164C3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995B458F-7F2C-F6F6-84A9-27B8B9079AD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simplify the test case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4768602-CED1-6223-A778-7794C25F61A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12" name="Picture 11">
            <a:extLst>
              <a:ext uri="{FF2B5EF4-FFF2-40B4-BE49-F238E27FC236}">
                <a16:creationId xmlns:a16="http://schemas.microsoft.com/office/drawing/2014/main" id="{D75E4782-4774-7914-E908-96CCD7923572}"/>
              </a:ext>
            </a:extLst>
          </p:cNvPr>
          <p:cNvPicPr>
            <a:picLocks noChangeAspect="1"/>
          </p:cNvPicPr>
          <p:nvPr/>
        </p:nvPicPr>
        <p:blipFill>
          <a:blip r:embed="rId3"/>
          <a:stretch>
            <a:fillRect/>
          </a:stretch>
        </p:blipFill>
        <p:spPr>
          <a:xfrm>
            <a:off x="833171" y="1389669"/>
            <a:ext cx="720196" cy="760522"/>
          </a:xfrm>
          <a:prstGeom prst="rect">
            <a:avLst/>
          </a:prstGeom>
        </p:spPr>
      </p:pic>
      <p:pic>
        <p:nvPicPr>
          <p:cNvPr id="8" name="Picture 7">
            <a:extLst>
              <a:ext uri="{FF2B5EF4-FFF2-40B4-BE49-F238E27FC236}">
                <a16:creationId xmlns:a16="http://schemas.microsoft.com/office/drawing/2014/main" id="{EDFEA190-3AE0-FDEB-EE0E-40CD0D906542}"/>
              </a:ext>
            </a:extLst>
          </p:cNvPr>
          <p:cNvPicPr>
            <a:picLocks noChangeAspect="1"/>
          </p:cNvPicPr>
          <p:nvPr/>
        </p:nvPicPr>
        <p:blipFill>
          <a:blip r:embed="rId3"/>
          <a:stretch>
            <a:fillRect/>
          </a:stretch>
        </p:blipFill>
        <p:spPr>
          <a:xfrm>
            <a:off x="423453" y="1607694"/>
            <a:ext cx="720196" cy="760522"/>
          </a:xfrm>
          <a:prstGeom prst="rect">
            <a:avLst/>
          </a:prstGeom>
        </p:spPr>
      </p:pic>
      <p:sp>
        <p:nvSpPr>
          <p:cNvPr id="4" name="Oval 3">
            <a:extLst>
              <a:ext uri="{FF2B5EF4-FFF2-40B4-BE49-F238E27FC236}">
                <a16:creationId xmlns:a16="http://schemas.microsoft.com/office/drawing/2014/main" id="{1E023BBC-A8E1-B4DB-1B88-4BCCE17F51DA}"/>
              </a:ext>
            </a:extLst>
          </p:cNvPr>
          <p:cNvSpPr/>
          <p:nvPr/>
        </p:nvSpPr>
        <p:spPr>
          <a:xfrm>
            <a:off x="195922" y="1740894"/>
            <a:ext cx="432390" cy="43605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t1</a:t>
            </a:r>
          </a:p>
        </p:txBody>
      </p:sp>
      <p:pic>
        <p:nvPicPr>
          <p:cNvPr id="10" name="Picture 9">
            <a:extLst>
              <a:ext uri="{FF2B5EF4-FFF2-40B4-BE49-F238E27FC236}">
                <a16:creationId xmlns:a16="http://schemas.microsoft.com/office/drawing/2014/main" id="{C3BAEC40-2F7A-5392-30A9-8B993FF19AF9}"/>
              </a:ext>
            </a:extLst>
          </p:cNvPr>
          <p:cNvPicPr>
            <a:picLocks noChangeAspect="1"/>
          </p:cNvPicPr>
          <p:nvPr/>
        </p:nvPicPr>
        <p:blipFill>
          <a:blip r:embed="rId4"/>
          <a:stretch>
            <a:fillRect/>
          </a:stretch>
        </p:blipFill>
        <p:spPr>
          <a:xfrm>
            <a:off x="258000" y="1123694"/>
            <a:ext cx="1432684" cy="1670449"/>
          </a:xfrm>
          <a:prstGeom prst="rect">
            <a:avLst/>
          </a:prstGeom>
        </p:spPr>
      </p:pic>
      <p:sp>
        <p:nvSpPr>
          <p:cNvPr id="14" name="Oval 13">
            <a:extLst>
              <a:ext uri="{FF2B5EF4-FFF2-40B4-BE49-F238E27FC236}">
                <a16:creationId xmlns:a16="http://schemas.microsoft.com/office/drawing/2014/main" id="{4F017258-C078-A126-FF9D-BB901ED7FC68}"/>
              </a:ext>
            </a:extLst>
          </p:cNvPr>
          <p:cNvSpPr/>
          <p:nvPr/>
        </p:nvSpPr>
        <p:spPr>
          <a:xfrm>
            <a:off x="1387372" y="1416129"/>
            <a:ext cx="432390" cy="43605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t2</a:t>
            </a:r>
          </a:p>
        </p:txBody>
      </p:sp>
      <p:sp>
        <p:nvSpPr>
          <p:cNvPr id="15" name="Arrow: Right 14">
            <a:extLst>
              <a:ext uri="{FF2B5EF4-FFF2-40B4-BE49-F238E27FC236}">
                <a16:creationId xmlns:a16="http://schemas.microsoft.com/office/drawing/2014/main" id="{BE2200A3-66D6-5FBC-2AEE-DEEA84A73E32}"/>
              </a:ext>
            </a:extLst>
          </p:cNvPr>
          <p:cNvSpPr/>
          <p:nvPr/>
        </p:nvSpPr>
        <p:spPr>
          <a:xfrm>
            <a:off x="1856137" y="1605311"/>
            <a:ext cx="654205" cy="966439"/>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oogle Shape;248;p56">
            <a:extLst>
              <a:ext uri="{FF2B5EF4-FFF2-40B4-BE49-F238E27FC236}">
                <a16:creationId xmlns:a16="http://schemas.microsoft.com/office/drawing/2014/main" id="{FEDE8A82-32CD-549A-1A94-A416B402C71C}"/>
              </a:ext>
            </a:extLst>
          </p:cNvPr>
          <p:cNvSpPr txBox="1"/>
          <p:nvPr/>
        </p:nvSpPr>
        <p:spPr>
          <a:xfrm>
            <a:off x="1813539" y="1473997"/>
            <a:ext cx="498551" cy="1246465"/>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6000" b="1" i="0" u="none" strike="noStrike" kern="0" cap="none" spc="0" normalizeH="0" baseline="0" noProof="0" dirty="0">
                <a:ln>
                  <a:noFill/>
                </a:ln>
                <a:solidFill>
                  <a:schemeClr val="bg1"/>
                </a:solidFill>
                <a:effectLst/>
                <a:uLnTx/>
                <a:uFillTx/>
                <a:latin typeface="Lato"/>
                <a:ea typeface="Lato"/>
                <a:cs typeface="Lato"/>
                <a:sym typeface="Lato"/>
              </a:rPr>
              <a:t>=</a:t>
            </a:r>
            <a:endParaRPr kumimoji="0" sz="600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24" name="Rectangle 23">
            <a:extLst>
              <a:ext uri="{FF2B5EF4-FFF2-40B4-BE49-F238E27FC236}">
                <a16:creationId xmlns:a16="http://schemas.microsoft.com/office/drawing/2014/main" id="{20BD6439-FEEA-333B-5AC9-A5EC1B7270D6}"/>
              </a:ext>
            </a:extLst>
          </p:cNvPr>
          <p:cNvSpPr/>
          <p:nvPr/>
        </p:nvSpPr>
        <p:spPr>
          <a:xfrm>
            <a:off x="1813539" y="2790415"/>
            <a:ext cx="654205" cy="27145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Google Shape;248;p56">
            <a:extLst>
              <a:ext uri="{FF2B5EF4-FFF2-40B4-BE49-F238E27FC236}">
                <a16:creationId xmlns:a16="http://schemas.microsoft.com/office/drawing/2014/main" id="{0CEBD8E8-9281-C42B-82CC-388B33DF212D}"/>
              </a:ext>
            </a:extLst>
          </p:cNvPr>
          <p:cNvSpPr txBox="1"/>
          <p:nvPr/>
        </p:nvSpPr>
        <p:spPr>
          <a:xfrm>
            <a:off x="1889781" y="2709944"/>
            <a:ext cx="844620"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M:1</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pic>
        <p:nvPicPr>
          <p:cNvPr id="28" name="Picture 27">
            <a:extLst>
              <a:ext uri="{FF2B5EF4-FFF2-40B4-BE49-F238E27FC236}">
                <a16:creationId xmlns:a16="http://schemas.microsoft.com/office/drawing/2014/main" id="{50FB8FB9-79EE-D28D-4952-62A27B2ED8E9}"/>
              </a:ext>
            </a:extLst>
          </p:cNvPr>
          <p:cNvPicPr>
            <a:picLocks noChangeAspect="1"/>
          </p:cNvPicPr>
          <p:nvPr/>
        </p:nvPicPr>
        <p:blipFill>
          <a:blip r:embed="rId3"/>
          <a:stretch>
            <a:fillRect/>
          </a:stretch>
        </p:blipFill>
        <p:spPr>
          <a:xfrm>
            <a:off x="3646975" y="1611805"/>
            <a:ext cx="1521479" cy="1606672"/>
          </a:xfrm>
          <a:prstGeom prst="rect">
            <a:avLst/>
          </a:prstGeom>
        </p:spPr>
      </p:pic>
      <p:sp>
        <p:nvSpPr>
          <p:cNvPr id="30" name="Google Shape;242;p56">
            <a:extLst>
              <a:ext uri="{FF2B5EF4-FFF2-40B4-BE49-F238E27FC236}">
                <a16:creationId xmlns:a16="http://schemas.microsoft.com/office/drawing/2014/main" id="{A5C811EC-5E6C-47BF-B6C1-5AC035BCDC37}"/>
              </a:ext>
            </a:extLst>
          </p:cNvPr>
          <p:cNvSpPr txBox="1">
            <a:spLocks/>
          </p:cNvSpPr>
          <p:nvPr/>
        </p:nvSpPr>
        <p:spPr>
          <a:xfrm>
            <a:off x="3675329" y="1932786"/>
            <a:ext cx="1899307"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Unique index </a:t>
            </a:r>
          </a:p>
          <a:p>
            <a:r>
              <a:rPr lang="en-US" sz="1400" dirty="0">
                <a:solidFill>
                  <a:schemeClr val="bg1"/>
                </a:solidFill>
                <a:latin typeface="Lato"/>
                <a:ea typeface="Lato"/>
                <a:cs typeface="Lato"/>
                <a:sym typeface="Lato"/>
              </a:rPr>
              <a:t>      (col1)</a:t>
            </a:r>
          </a:p>
        </p:txBody>
      </p:sp>
      <p:sp>
        <p:nvSpPr>
          <p:cNvPr id="32" name="Oval 31">
            <a:extLst>
              <a:ext uri="{FF2B5EF4-FFF2-40B4-BE49-F238E27FC236}">
                <a16:creationId xmlns:a16="http://schemas.microsoft.com/office/drawing/2014/main" id="{B5F9F5D2-C71B-507C-8D78-7587346B44F1}"/>
              </a:ext>
            </a:extLst>
          </p:cNvPr>
          <p:cNvSpPr/>
          <p:nvPr/>
        </p:nvSpPr>
        <p:spPr>
          <a:xfrm>
            <a:off x="4909728" y="1511380"/>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t3</a:t>
            </a:r>
          </a:p>
        </p:txBody>
      </p:sp>
      <p:sp>
        <p:nvSpPr>
          <p:cNvPr id="34" name="Google Shape;242;p56">
            <a:extLst>
              <a:ext uri="{FF2B5EF4-FFF2-40B4-BE49-F238E27FC236}">
                <a16:creationId xmlns:a16="http://schemas.microsoft.com/office/drawing/2014/main" id="{3A0079DB-36C3-7544-06B6-38B707141B7D}"/>
              </a:ext>
            </a:extLst>
          </p:cNvPr>
          <p:cNvSpPr txBox="1">
            <a:spLocks/>
          </p:cNvSpPr>
          <p:nvPr/>
        </p:nvSpPr>
        <p:spPr>
          <a:xfrm>
            <a:off x="2128538" y="1010191"/>
            <a:ext cx="1897672" cy="379076"/>
          </a:xfrm>
          <a:prstGeom prst="rect">
            <a:avLst/>
          </a:prstGeom>
          <a:solidFill>
            <a:schemeClr val="lt1"/>
          </a:solid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JOIN t2.col3 = t3.col1</a:t>
            </a:r>
          </a:p>
        </p:txBody>
      </p:sp>
      <p:cxnSp>
        <p:nvCxnSpPr>
          <p:cNvPr id="35" name="Straight Connector 34">
            <a:extLst>
              <a:ext uri="{FF2B5EF4-FFF2-40B4-BE49-F238E27FC236}">
                <a16:creationId xmlns:a16="http://schemas.microsoft.com/office/drawing/2014/main" id="{FDCEFAE4-0A12-A8DB-F954-CCB53904425D}"/>
              </a:ext>
            </a:extLst>
          </p:cNvPr>
          <p:cNvCxnSpPr>
            <a:cxnSpLocks/>
          </p:cNvCxnSpPr>
          <p:nvPr/>
        </p:nvCxnSpPr>
        <p:spPr>
          <a:xfrm>
            <a:off x="3166840" y="1478955"/>
            <a:ext cx="587798" cy="0"/>
          </a:xfrm>
          <a:prstGeom prst="line">
            <a:avLst/>
          </a:prstGeom>
          <a:ln w="2540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96D13F6-8485-77F3-0F4D-46F18D03B5B4}"/>
              </a:ext>
            </a:extLst>
          </p:cNvPr>
          <p:cNvCxnSpPr>
            <a:cxnSpLocks/>
          </p:cNvCxnSpPr>
          <p:nvPr/>
        </p:nvCxnSpPr>
        <p:spPr>
          <a:xfrm flipV="1">
            <a:off x="3839407" y="1591108"/>
            <a:ext cx="0" cy="339642"/>
          </a:xfrm>
          <a:prstGeom prst="line">
            <a:avLst/>
          </a:prstGeom>
          <a:ln w="25400">
            <a:solidFill>
              <a:srgbClr val="FFC000"/>
            </a:solidFill>
            <a:headEnd type="triangle"/>
          </a:ln>
        </p:spPr>
        <p:style>
          <a:lnRef idx="1">
            <a:schemeClr val="accent1"/>
          </a:lnRef>
          <a:fillRef idx="0">
            <a:schemeClr val="accent1"/>
          </a:fillRef>
          <a:effectRef idx="0">
            <a:schemeClr val="accent1"/>
          </a:effectRef>
          <a:fontRef idx="minor">
            <a:schemeClr val="tx1"/>
          </a:fontRef>
        </p:style>
      </p:cxnSp>
      <p:sp>
        <p:nvSpPr>
          <p:cNvPr id="37" name="Arc 36">
            <a:extLst>
              <a:ext uri="{FF2B5EF4-FFF2-40B4-BE49-F238E27FC236}">
                <a16:creationId xmlns:a16="http://schemas.microsoft.com/office/drawing/2014/main" id="{2C2C685B-4E1E-C84C-2A3D-0FCFB2CE1DDB}"/>
              </a:ext>
            </a:extLst>
          </p:cNvPr>
          <p:cNvSpPr/>
          <p:nvPr/>
        </p:nvSpPr>
        <p:spPr>
          <a:xfrm>
            <a:off x="3615929" y="1478191"/>
            <a:ext cx="223478" cy="22583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Oval 37">
            <a:extLst>
              <a:ext uri="{FF2B5EF4-FFF2-40B4-BE49-F238E27FC236}">
                <a16:creationId xmlns:a16="http://schemas.microsoft.com/office/drawing/2014/main" id="{59B25B8A-AE3C-D200-10D0-67E700ED49EC}"/>
              </a:ext>
            </a:extLst>
          </p:cNvPr>
          <p:cNvSpPr/>
          <p:nvPr/>
        </p:nvSpPr>
        <p:spPr>
          <a:xfrm>
            <a:off x="2257616" y="751532"/>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4</a:t>
            </a:r>
          </a:p>
        </p:txBody>
      </p:sp>
      <p:sp>
        <p:nvSpPr>
          <p:cNvPr id="43" name="Google Shape;248;p56">
            <a:extLst>
              <a:ext uri="{FF2B5EF4-FFF2-40B4-BE49-F238E27FC236}">
                <a16:creationId xmlns:a16="http://schemas.microsoft.com/office/drawing/2014/main" id="{0DEB833F-985E-703F-1F4B-B4F2EFA7C378}"/>
              </a:ext>
            </a:extLst>
          </p:cNvPr>
          <p:cNvSpPr txBox="1"/>
          <p:nvPr/>
        </p:nvSpPr>
        <p:spPr>
          <a:xfrm>
            <a:off x="2463024" y="1798704"/>
            <a:ext cx="1281717" cy="609367"/>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1" i="0" u="none" strike="noStrike" kern="0" cap="none" spc="0" normalizeH="0" baseline="0" noProof="0" dirty="0">
                <a:ln>
                  <a:noFill/>
                </a:ln>
                <a:solidFill>
                  <a:srgbClr val="FF0000"/>
                </a:solidFill>
                <a:effectLst/>
                <a:uLnTx/>
                <a:uFillTx/>
                <a:latin typeface="Lato"/>
                <a:ea typeface="Lato"/>
                <a:cs typeface="Lato"/>
                <a:sym typeface="Lato"/>
              </a:rPr>
              <a:t>single column unique key</a:t>
            </a:r>
            <a:endParaRPr kumimoji="0" sz="1200" b="1" i="0" u="none" strike="noStrike" kern="0" cap="none" spc="0" normalizeH="0" baseline="0" noProof="0" dirty="0">
              <a:ln>
                <a:noFill/>
              </a:ln>
              <a:solidFill>
                <a:srgbClr val="FF0000"/>
              </a:solidFill>
              <a:effectLst/>
              <a:uLnTx/>
              <a:uFillTx/>
              <a:latin typeface="Lato"/>
              <a:ea typeface="Lato"/>
              <a:cs typeface="Lato"/>
              <a:sym typeface="Lato"/>
            </a:endParaRPr>
          </a:p>
        </p:txBody>
      </p:sp>
      <p:sp>
        <p:nvSpPr>
          <p:cNvPr id="46" name="Google Shape;248;p56">
            <a:extLst>
              <a:ext uri="{FF2B5EF4-FFF2-40B4-BE49-F238E27FC236}">
                <a16:creationId xmlns:a16="http://schemas.microsoft.com/office/drawing/2014/main" id="{ACEA8F8D-171D-061D-E990-DE950671B6FC}"/>
              </a:ext>
            </a:extLst>
          </p:cNvPr>
          <p:cNvSpPr txBox="1"/>
          <p:nvPr/>
        </p:nvSpPr>
        <p:spPr>
          <a:xfrm>
            <a:off x="5741672" y="1740894"/>
            <a:ext cx="2978875" cy="1883562"/>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600" dirty="0">
                <a:solidFill>
                  <a:schemeClr val="tx1"/>
                </a:solidFill>
                <a:latin typeface="Lato"/>
                <a:ea typeface="Lato"/>
                <a:cs typeface="Lato"/>
                <a:sym typeface="Lato"/>
              </a:rPr>
              <a:t>d</a:t>
            </a:r>
            <a:r>
              <a:rPr kumimoji="0" lang="en-US" sz="1600" i="0" u="none" strike="noStrike" kern="0" cap="none" spc="0" normalizeH="0" baseline="0" noProof="0" dirty="0" err="1">
                <a:ln>
                  <a:noFill/>
                </a:ln>
                <a:solidFill>
                  <a:schemeClr val="tx1"/>
                </a:solidFill>
                <a:effectLst/>
                <a:uLnTx/>
                <a:uFillTx/>
                <a:latin typeface="Lato"/>
                <a:ea typeface="Lato"/>
                <a:cs typeface="Lato"/>
                <a:sym typeface="Lato"/>
              </a:rPr>
              <a:t>rop</a:t>
            </a:r>
            <a:r>
              <a:rPr kumimoji="0" lang="en-US" sz="1600" i="0" u="none" strike="noStrike" kern="0" cap="none" spc="0" normalizeH="0" baseline="0" noProof="0" dirty="0">
                <a:ln>
                  <a:noFill/>
                </a:ln>
                <a:solidFill>
                  <a:schemeClr val="tx1"/>
                </a:solidFill>
                <a:effectLst/>
                <a:uLnTx/>
                <a:uFillTx/>
                <a:latin typeface="Lato"/>
                <a:ea typeface="Lato"/>
                <a:cs typeface="Lato"/>
                <a:sym typeface="Lato"/>
              </a:rPr>
              <a:t> table t3 from the query</a:t>
            </a:r>
          </a:p>
          <a:p>
            <a:pPr marR="0" lvl="0" defTabSz="914400" rtl="0" eaLnBrk="1" fontAlgn="auto" latinLnBrk="0" hangingPunct="1">
              <a:lnSpc>
                <a:spcPct val="115000"/>
              </a:lnSpc>
              <a:spcBef>
                <a:spcPts val="0"/>
              </a:spcBef>
              <a:spcAft>
                <a:spcPts val="0"/>
              </a:spcAft>
              <a:buClr>
                <a:srgbClr val="000000"/>
              </a:buClr>
              <a:buSzTx/>
              <a:tabLst/>
              <a:defRPr/>
            </a:pPr>
            <a:r>
              <a:rPr kumimoji="0" lang="en-US" sz="1600" i="0" u="none" strike="noStrike" kern="0" cap="none" spc="0" normalizeH="0" baseline="0" noProof="0" dirty="0">
                <a:ln>
                  <a:noFill/>
                </a:ln>
                <a:solidFill>
                  <a:schemeClr val="tx1"/>
                </a:solidFill>
                <a:effectLst/>
                <a:uLnTx/>
                <a:uFillTx/>
                <a:latin typeface="Lato"/>
                <a:ea typeface="Lato"/>
                <a:cs typeface="Lato"/>
                <a:sym typeface="Lato"/>
              </a:rPr>
              <a:t> </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600" dirty="0">
                <a:solidFill>
                  <a:schemeClr val="tx1"/>
                </a:solidFill>
                <a:latin typeface="Lato"/>
                <a:ea typeface="Lato"/>
                <a:cs typeface="Lato"/>
                <a:sym typeface="Lato"/>
              </a:rPr>
              <a:t>a</a:t>
            </a:r>
            <a:r>
              <a:rPr kumimoji="0" lang="en-US" sz="1600" i="0" u="none" strike="noStrike" kern="0" cap="none" spc="0" normalizeH="0" baseline="0" noProof="0" dirty="0">
                <a:ln>
                  <a:noFill/>
                </a:ln>
                <a:solidFill>
                  <a:schemeClr val="tx1"/>
                </a:solidFill>
                <a:effectLst/>
                <a:uLnTx/>
                <a:uFillTx/>
                <a:latin typeface="Lato"/>
                <a:ea typeface="Lato"/>
                <a:cs typeface="Lato"/>
                <a:sym typeface="Lato"/>
              </a:rPr>
              <a:t>s expected, dropping </a:t>
            </a:r>
            <a:r>
              <a:rPr lang="en-US" sz="1600" dirty="0">
                <a:solidFill>
                  <a:schemeClr val="tx1"/>
                </a:solidFill>
                <a:latin typeface="Lato"/>
                <a:ea typeface="Lato"/>
                <a:cs typeface="Lato"/>
                <a:sym typeface="Lato"/>
              </a:rPr>
              <a:t>t</a:t>
            </a:r>
            <a:r>
              <a:rPr kumimoji="0" lang="en-US" sz="1600" i="0" u="none" strike="noStrike" kern="0" cap="none" spc="0" normalizeH="0" baseline="0" noProof="0" dirty="0">
                <a:ln>
                  <a:noFill/>
                </a:ln>
                <a:solidFill>
                  <a:schemeClr val="tx1"/>
                </a:solidFill>
                <a:effectLst/>
                <a:uLnTx/>
                <a:uFillTx/>
                <a:latin typeface="Lato"/>
                <a:ea typeface="Lato"/>
                <a:cs typeface="Lato"/>
                <a:sym typeface="Lato"/>
              </a:rPr>
              <a:t>able t3 from the query did not measurably affect the performance of the query</a:t>
            </a:r>
            <a:endParaRPr kumimoji="0" sz="160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57925095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CEEC600-F8A3-7CAC-0BA5-FCDB9F321FB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B379DFD-4E51-74E9-3FAF-5CC6FC52D33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examine just tables t1 and t2</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28A16BF-3558-03B5-ACE3-86318D2FE02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3" name="Google Shape;274;p56">
            <a:extLst>
              <a:ext uri="{FF2B5EF4-FFF2-40B4-BE49-F238E27FC236}">
                <a16:creationId xmlns:a16="http://schemas.microsoft.com/office/drawing/2014/main" id="{EB113625-9F14-CFAD-E933-7A5B28182035}"/>
              </a:ext>
            </a:extLst>
          </p:cNvPr>
          <p:cNvSpPr txBox="1">
            <a:spLocks/>
          </p:cNvSpPr>
          <p:nvPr/>
        </p:nvSpPr>
        <p:spPr>
          <a:xfrm>
            <a:off x="8472450" y="4773850"/>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200" b="0" i="0" u="none" strike="noStrike" cap="none">
                <a:solidFill>
                  <a:srgbClr val="FF6E42"/>
                </a:solidFill>
                <a:latin typeface="Arial"/>
                <a:ea typeface="Arial"/>
                <a:cs typeface="Arial"/>
                <a:sym typeface="Arial"/>
              </a:defRPr>
            </a:lvl9pPr>
          </a:lstStyle>
          <a:p>
            <a:pPr>
              <a:defRPr/>
            </a:pPr>
            <a:fld id="{00000000-1234-1234-1234-123412341234}" type="slidenum">
              <a:rPr lang="en" smtClean="0"/>
              <a:pPr>
                <a:defRPr/>
              </a:pPr>
              <a:t>167</a:t>
            </a:fld>
            <a:endParaRPr lang="en" dirty="0"/>
          </a:p>
        </p:txBody>
      </p:sp>
      <p:pic>
        <p:nvPicPr>
          <p:cNvPr id="31" name="Picture 30">
            <a:extLst>
              <a:ext uri="{FF2B5EF4-FFF2-40B4-BE49-F238E27FC236}">
                <a16:creationId xmlns:a16="http://schemas.microsoft.com/office/drawing/2014/main" id="{057F8854-C483-6680-1CFD-8160179B1A95}"/>
              </a:ext>
            </a:extLst>
          </p:cNvPr>
          <p:cNvPicPr>
            <a:picLocks noChangeAspect="1"/>
          </p:cNvPicPr>
          <p:nvPr/>
        </p:nvPicPr>
        <p:blipFill>
          <a:blip r:embed="rId3"/>
          <a:stretch>
            <a:fillRect/>
          </a:stretch>
        </p:blipFill>
        <p:spPr>
          <a:xfrm>
            <a:off x="609393" y="1131448"/>
            <a:ext cx="3296924" cy="2880603"/>
          </a:xfrm>
          <a:prstGeom prst="rect">
            <a:avLst/>
          </a:prstGeom>
        </p:spPr>
      </p:pic>
      <p:sp>
        <p:nvSpPr>
          <p:cNvPr id="33" name="Google Shape;248;p56">
            <a:extLst>
              <a:ext uri="{FF2B5EF4-FFF2-40B4-BE49-F238E27FC236}">
                <a16:creationId xmlns:a16="http://schemas.microsoft.com/office/drawing/2014/main" id="{FDE291EB-46D3-DCA2-8324-4249B9A79D6C}"/>
              </a:ext>
            </a:extLst>
          </p:cNvPr>
          <p:cNvSpPr txBox="1"/>
          <p:nvPr/>
        </p:nvSpPr>
        <p:spPr>
          <a:xfrm>
            <a:off x="4762195" y="1771122"/>
            <a:ext cx="3826392" cy="1883562"/>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7475" algn="l"/>
              </a:tabLst>
              <a:defRPr/>
            </a:pPr>
            <a:r>
              <a:rPr lang="en" sz="1600" dirty="0">
                <a:latin typeface="Lato"/>
                <a:ea typeface="Lato"/>
                <a:cs typeface="Lato"/>
                <a:sym typeface="Lato"/>
              </a:rPr>
              <a:t>e</a:t>
            </a:r>
            <a:r>
              <a:rPr kumimoji="0" lang="en-US" sz="1600" b="0" i="0" u="none" strike="noStrike" kern="0" cap="none" spc="0" normalizeH="0" baseline="0" noProof="0" dirty="0" err="1">
                <a:ln>
                  <a:noFill/>
                </a:ln>
                <a:solidFill>
                  <a:srgbClr val="000000"/>
                </a:solidFill>
                <a:effectLst/>
                <a:uLnTx/>
                <a:uFillTx/>
                <a:latin typeface="Lato"/>
                <a:ea typeface="Lato"/>
                <a:cs typeface="Lato"/>
                <a:sym typeface="Lato"/>
              </a:rPr>
              <a:t>xamine</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 the performance of tables t1 and t2</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600" dirty="0">
              <a:latin typeface="Lato"/>
              <a:ea typeface="Lato"/>
              <a:cs typeface="Lato"/>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600" dirty="0">
                <a:latin typeface="Lato"/>
                <a:ea typeface="Lato"/>
                <a:cs typeface="Lato"/>
                <a:sym typeface="Lato"/>
              </a:rPr>
              <a:t>e</a:t>
            </a:r>
            <a:r>
              <a:rPr kumimoji="0" lang="en-US" sz="1600" b="0" i="0" u="none" strike="noStrike" kern="0" cap="none" spc="0" normalizeH="0" baseline="0" noProof="0" dirty="0" err="1">
                <a:ln>
                  <a:noFill/>
                </a:ln>
                <a:solidFill>
                  <a:srgbClr val="000000"/>
                </a:solidFill>
                <a:effectLst/>
                <a:uLnTx/>
                <a:uFillTx/>
                <a:latin typeface="Lato"/>
                <a:ea typeface="Lato"/>
                <a:cs typeface="Lato"/>
                <a:sym typeface="Lato"/>
              </a:rPr>
              <a:t>xamine</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 the tables separately, and then together</a:t>
            </a:r>
          </a:p>
          <a:p>
            <a:pPr marL="285750" marR="0" lvl="0" indent="-28575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6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81174155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88E46E8-D418-860B-FA11-5A51BEB3DE6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34A2970-078C-E1D0-81FA-F43003BFAED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measure selectivity of filters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1B3AF9C-F18C-4777-44F6-13AF2CFDAF4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58C636BE-3BE1-67AF-E5E2-1C5A7ADF83DC}"/>
              </a:ext>
            </a:extLst>
          </p:cNvPr>
          <p:cNvPicPr>
            <a:picLocks noChangeAspect="1"/>
          </p:cNvPicPr>
          <p:nvPr/>
        </p:nvPicPr>
        <p:blipFill>
          <a:blip r:embed="rId3"/>
          <a:stretch>
            <a:fillRect/>
          </a:stretch>
        </p:blipFill>
        <p:spPr>
          <a:xfrm>
            <a:off x="547236" y="1527414"/>
            <a:ext cx="3680949" cy="1829866"/>
          </a:xfrm>
          <a:prstGeom prst="rect">
            <a:avLst/>
          </a:prstGeom>
        </p:spPr>
      </p:pic>
      <p:sp>
        <p:nvSpPr>
          <p:cNvPr id="6" name="Google Shape;248;p56">
            <a:extLst>
              <a:ext uri="{FF2B5EF4-FFF2-40B4-BE49-F238E27FC236}">
                <a16:creationId xmlns:a16="http://schemas.microsoft.com/office/drawing/2014/main" id="{DC29CBF5-0F19-EA7A-C53A-90C4088414FA}"/>
              </a:ext>
            </a:extLst>
          </p:cNvPr>
          <p:cNvSpPr txBox="1"/>
          <p:nvPr/>
        </p:nvSpPr>
        <p:spPr>
          <a:xfrm>
            <a:off x="5056230" y="1793068"/>
            <a:ext cx="3882944" cy="2166717"/>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600" dirty="0">
                <a:latin typeface="Lato"/>
                <a:ea typeface="Lato"/>
                <a:cs typeface="Lato"/>
                <a:sym typeface="Lato"/>
              </a:rPr>
              <a:t>m</a:t>
            </a:r>
            <a:r>
              <a:rPr kumimoji="0" lang="en-US" sz="1600" b="0" i="0" u="none" strike="noStrike" kern="0" cap="none" spc="0" normalizeH="0" baseline="0" noProof="0" dirty="0" err="1">
                <a:ln>
                  <a:noFill/>
                </a:ln>
                <a:solidFill>
                  <a:srgbClr val="000000"/>
                </a:solidFill>
                <a:effectLst/>
                <a:uLnTx/>
                <a:uFillTx/>
                <a:latin typeface="Lato"/>
                <a:ea typeface="Lato"/>
                <a:cs typeface="Lato"/>
                <a:sym typeface="Lato"/>
              </a:rPr>
              <a:t>easure</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 the selectivity of the filter on table t1. test performance on </a:t>
            </a:r>
            <a:r>
              <a:rPr lang="en-US" sz="1600" dirty="0">
                <a:latin typeface="Lato"/>
                <a:ea typeface="Lato"/>
                <a:cs typeface="Lato"/>
                <a:sym typeface="Lato"/>
              </a:rPr>
              <a:t>t</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able t1</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600" b="0" i="0" u="none" strike="noStrike" kern="0" cap="none" spc="0" normalizeH="0" baseline="0" noProof="0" dirty="0">
              <a:ln>
                <a:noFill/>
              </a:ln>
              <a:solidFill>
                <a:srgbClr val="000000"/>
              </a:solidFill>
              <a:effectLst/>
              <a:uLnTx/>
              <a:uFillTx/>
              <a:latin typeface="Lato"/>
              <a:ea typeface="Lato"/>
              <a:cs typeface="Lato"/>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600" dirty="0">
                <a:latin typeface="Lato"/>
                <a:ea typeface="Lato"/>
                <a:cs typeface="Lato"/>
                <a:sym typeface="Lato"/>
              </a:rPr>
              <a:t>t</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his was a canned application system. every data item in the database seemed to lead with a code for location. this customer only had one location</a:t>
            </a:r>
            <a:endParaRPr kumimoji="0" sz="16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78432850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13D4E61-6F9F-512E-B5DA-337B6F20D41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600364A-1D71-679D-3B8E-412556A31D2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about unique constraints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E210F39-0E4B-8D61-A6C6-A068094F1B3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F28D5A6-F316-4A0C-850A-DCE5CC405332}"/>
              </a:ext>
            </a:extLst>
          </p:cNvPr>
          <p:cNvSpPr txBox="1"/>
          <p:nvPr/>
        </p:nvSpPr>
        <p:spPr>
          <a:xfrm>
            <a:off x="4973740" y="1042304"/>
            <a:ext cx="3760554" cy="1423436"/>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unique index on </a:t>
            </a: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 t1 was required from a business rule stand point</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i</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 was a unique index and provided a unique constraint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7FD6D1C2-DE64-7CBE-8381-90A65B4120FF}"/>
              </a:ext>
            </a:extLst>
          </p:cNvPr>
          <p:cNvPicPr>
            <a:picLocks noChangeAspect="1"/>
          </p:cNvPicPr>
          <p:nvPr/>
        </p:nvPicPr>
        <p:blipFill>
          <a:blip r:embed="rId3"/>
          <a:stretch>
            <a:fillRect/>
          </a:stretch>
        </p:blipFill>
        <p:spPr>
          <a:xfrm>
            <a:off x="917385" y="1244428"/>
            <a:ext cx="2506129" cy="2590018"/>
          </a:xfrm>
          <a:prstGeom prst="rect">
            <a:avLst/>
          </a:prstGeom>
        </p:spPr>
      </p:pic>
      <p:sp>
        <p:nvSpPr>
          <p:cNvPr id="6" name="Google Shape;248;p56">
            <a:extLst>
              <a:ext uri="{FF2B5EF4-FFF2-40B4-BE49-F238E27FC236}">
                <a16:creationId xmlns:a16="http://schemas.microsoft.com/office/drawing/2014/main" id="{49AD0C21-1DD3-B5C1-A5F3-C14223DC3F4A}"/>
              </a:ext>
            </a:extLst>
          </p:cNvPr>
          <p:cNvSpPr txBox="1"/>
          <p:nvPr/>
        </p:nvSpPr>
        <p:spPr>
          <a:xfrm rot="21340144">
            <a:off x="1075093" y="3064594"/>
            <a:ext cx="2334091" cy="46779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0" i="0" u="none" strike="noStrike" kern="0" cap="none" spc="0" normalizeH="0" baseline="0" noProof="0" dirty="0">
                <a:ln>
                  <a:noFill/>
                </a:ln>
                <a:solidFill>
                  <a:srgbClr val="FF0000"/>
                </a:solidFill>
                <a:effectLst/>
                <a:uLnTx/>
                <a:uFillTx/>
                <a:latin typeface="Lato"/>
                <a:ea typeface="Lato"/>
                <a:cs typeface="Lato"/>
                <a:sym typeface="Lato"/>
              </a:rPr>
              <a:t>constraints dept</a:t>
            </a:r>
            <a:endParaRPr kumimoji="0" sz="1600" b="0" i="0" u="none" strike="noStrike" kern="0" cap="none" spc="0" normalizeH="0" baseline="0" noProof="0" dirty="0">
              <a:ln>
                <a:noFill/>
              </a:ln>
              <a:solidFill>
                <a:srgbClr val="FF0000"/>
              </a:solidFill>
              <a:effectLst/>
              <a:uLnTx/>
              <a:uFillTx/>
              <a:latin typeface="Lato"/>
              <a:ea typeface="Lato"/>
              <a:cs typeface="Lato"/>
              <a:sym typeface="Lato"/>
            </a:endParaRPr>
          </a:p>
        </p:txBody>
      </p:sp>
      <p:pic>
        <p:nvPicPr>
          <p:cNvPr id="8" name="Picture 7">
            <a:extLst>
              <a:ext uri="{FF2B5EF4-FFF2-40B4-BE49-F238E27FC236}">
                <a16:creationId xmlns:a16="http://schemas.microsoft.com/office/drawing/2014/main" id="{06A35B8B-919C-1E2D-A1D8-7D0CE9CB292F}"/>
              </a:ext>
            </a:extLst>
          </p:cNvPr>
          <p:cNvPicPr>
            <a:picLocks noChangeAspect="1"/>
          </p:cNvPicPr>
          <p:nvPr/>
        </p:nvPicPr>
        <p:blipFill>
          <a:blip r:embed="rId4"/>
          <a:stretch>
            <a:fillRect/>
          </a:stretch>
        </p:blipFill>
        <p:spPr>
          <a:xfrm>
            <a:off x="2467611" y="1408319"/>
            <a:ext cx="722081" cy="702460"/>
          </a:xfrm>
          <a:prstGeom prst="rect">
            <a:avLst/>
          </a:prstGeom>
        </p:spPr>
      </p:pic>
      <p:sp>
        <p:nvSpPr>
          <p:cNvPr id="10" name="Arrow: Right 9">
            <a:extLst>
              <a:ext uri="{FF2B5EF4-FFF2-40B4-BE49-F238E27FC236}">
                <a16:creationId xmlns:a16="http://schemas.microsoft.com/office/drawing/2014/main" id="{8D5176D0-5DB4-FEFC-544C-8DE6494DF101}"/>
              </a:ext>
            </a:extLst>
          </p:cNvPr>
          <p:cNvSpPr/>
          <p:nvPr/>
        </p:nvSpPr>
        <p:spPr>
          <a:xfrm rot="10800000">
            <a:off x="3423514" y="1270803"/>
            <a:ext cx="1148486" cy="966439"/>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oogle Shape;248;p56">
            <a:extLst>
              <a:ext uri="{FF2B5EF4-FFF2-40B4-BE49-F238E27FC236}">
                <a16:creationId xmlns:a16="http://schemas.microsoft.com/office/drawing/2014/main" id="{6B1634BE-DBD2-CFEF-265E-445D61E2C861}"/>
              </a:ext>
            </a:extLst>
          </p:cNvPr>
          <p:cNvSpPr txBox="1"/>
          <p:nvPr/>
        </p:nvSpPr>
        <p:spPr>
          <a:xfrm>
            <a:off x="3423514" y="1555522"/>
            <a:ext cx="1639235"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1" i="0" u="none" strike="noStrike" kern="0" cap="none" spc="0" normalizeH="0" baseline="0" noProof="0" dirty="0">
                <a:ln>
                  <a:noFill/>
                </a:ln>
                <a:solidFill>
                  <a:schemeClr val="bg1"/>
                </a:solidFill>
                <a:effectLst/>
                <a:uLnTx/>
                <a:uFillTx/>
                <a:latin typeface="Lato"/>
                <a:ea typeface="Lato"/>
                <a:cs typeface="Lato"/>
                <a:sym typeface="Lato"/>
              </a:rPr>
              <a:t>duplicate data</a:t>
            </a:r>
            <a:endParaRPr kumimoji="0" sz="1200" b="1" i="0" u="none" strike="noStrike" kern="0" cap="none" spc="0" normalizeH="0" baseline="0" noProof="0" dirty="0">
              <a:ln>
                <a:noFill/>
              </a:ln>
              <a:solidFill>
                <a:schemeClr val="bg1"/>
              </a:solidFill>
              <a:effectLst/>
              <a:uLnTx/>
              <a:uFillTx/>
              <a:latin typeface="Lato"/>
              <a:ea typeface="Lato"/>
              <a:cs typeface="Lato"/>
              <a:sym typeface="Lato"/>
            </a:endParaRPr>
          </a:p>
        </p:txBody>
      </p:sp>
    </p:spTree>
    <p:extLst>
      <p:ext uri="{BB962C8B-B14F-4D97-AF65-F5344CB8AC3E}">
        <p14:creationId xmlns:p14="http://schemas.microsoft.com/office/powerpoint/2010/main" val="111098537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5021EFC-FD85-58D5-8C13-FAAA1B20130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ACEED09-1FCE-048B-E605-00F7562EC21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legacy systems: index versus sequential access method  (B-tree+ shown)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5A93186-7E87-199A-3DBC-E0FEBAABA30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59597A5-4BD2-86DD-4C87-81755AB08CFC}"/>
              </a:ext>
            </a:extLst>
          </p:cNvPr>
          <p:cNvSpPr txBox="1"/>
          <p:nvPr/>
        </p:nvSpPr>
        <p:spPr>
          <a:xfrm>
            <a:off x="5345443" y="1860032"/>
            <a:ext cx="3540557"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a</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SQL SELECT statement that was accessing just the leading column(s) of this index for filters or join conditions would actually run faster if the index was not used; if the index was dropped or altered</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31934C3E-66C8-50DC-B761-76114F603A4F}"/>
              </a:ext>
            </a:extLst>
          </p:cNvPr>
          <p:cNvPicPr>
            <a:picLocks noChangeAspect="1"/>
          </p:cNvPicPr>
          <p:nvPr/>
        </p:nvPicPr>
        <p:blipFill>
          <a:blip r:embed="rId3"/>
          <a:stretch>
            <a:fillRect/>
          </a:stretch>
        </p:blipFill>
        <p:spPr>
          <a:xfrm>
            <a:off x="749591" y="987394"/>
            <a:ext cx="4211964" cy="3540714"/>
          </a:xfrm>
          <a:prstGeom prst="rect">
            <a:avLst/>
          </a:prstGeom>
        </p:spPr>
      </p:pic>
    </p:spTree>
    <p:extLst>
      <p:ext uri="{BB962C8B-B14F-4D97-AF65-F5344CB8AC3E}">
        <p14:creationId xmlns:p14="http://schemas.microsoft.com/office/powerpoint/2010/main" val="273269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0D302B2-FD40-030E-EDA2-F1BE7FFC835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780D1B8-ECEC-EB89-3B9D-538D32EA9BE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about unique constraints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0DBD179-1017-D528-2AF0-ABD6FACA4DF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2329323-CC79-9F19-633A-A296FD4A8847}"/>
              </a:ext>
            </a:extLst>
          </p:cNvPr>
          <p:cNvSpPr txBox="1"/>
          <p:nvPr/>
        </p:nvSpPr>
        <p:spPr>
          <a:xfrm>
            <a:off x="4973740" y="2040306"/>
            <a:ext cx="3760554" cy="680156"/>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the column order of a unique constraint can be modified without violating the constraint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D24D8018-011F-4338-DD95-E66363D4B043}"/>
              </a:ext>
            </a:extLst>
          </p:cNvPr>
          <p:cNvPicPr>
            <a:picLocks noChangeAspect="1"/>
          </p:cNvPicPr>
          <p:nvPr/>
        </p:nvPicPr>
        <p:blipFill>
          <a:blip r:embed="rId3"/>
          <a:stretch>
            <a:fillRect/>
          </a:stretch>
        </p:blipFill>
        <p:spPr>
          <a:xfrm>
            <a:off x="917385" y="1244428"/>
            <a:ext cx="2506129" cy="2590018"/>
          </a:xfrm>
          <a:prstGeom prst="rect">
            <a:avLst/>
          </a:prstGeom>
        </p:spPr>
      </p:pic>
      <p:sp>
        <p:nvSpPr>
          <p:cNvPr id="6" name="Google Shape;248;p56">
            <a:extLst>
              <a:ext uri="{FF2B5EF4-FFF2-40B4-BE49-F238E27FC236}">
                <a16:creationId xmlns:a16="http://schemas.microsoft.com/office/drawing/2014/main" id="{6DFEA314-B4EC-B9E2-46F7-32ED7214D3B6}"/>
              </a:ext>
            </a:extLst>
          </p:cNvPr>
          <p:cNvSpPr txBox="1"/>
          <p:nvPr/>
        </p:nvSpPr>
        <p:spPr>
          <a:xfrm rot="21340144">
            <a:off x="1075093" y="3064594"/>
            <a:ext cx="2334091" cy="46779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0" i="0" u="none" strike="noStrike" kern="0" cap="none" spc="0" normalizeH="0" baseline="0" noProof="0" dirty="0">
                <a:ln>
                  <a:noFill/>
                </a:ln>
                <a:solidFill>
                  <a:srgbClr val="FF0000"/>
                </a:solidFill>
                <a:effectLst/>
                <a:uLnTx/>
                <a:uFillTx/>
                <a:latin typeface="Lato"/>
                <a:ea typeface="Lato"/>
                <a:cs typeface="Lato"/>
                <a:sym typeface="Lato"/>
              </a:rPr>
              <a:t>constraints dept</a:t>
            </a:r>
            <a:endParaRPr kumimoji="0" sz="1600" b="0" i="0" u="none" strike="noStrike" kern="0" cap="none" spc="0" normalizeH="0" baseline="0" noProof="0" dirty="0">
              <a:ln>
                <a:noFill/>
              </a:ln>
              <a:solidFill>
                <a:srgbClr val="FF0000"/>
              </a:solidFill>
              <a:effectLst/>
              <a:uLnTx/>
              <a:uFillTx/>
              <a:latin typeface="Lato"/>
              <a:ea typeface="Lato"/>
              <a:cs typeface="Lato"/>
              <a:sym typeface="Lato"/>
            </a:endParaRPr>
          </a:p>
        </p:txBody>
      </p:sp>
      <p:pic>
        <p:nvPicPr>
          <p:cNvPr id="8" name="Picture 7">
            <a:extLst>
              <a:ext uri="{FF2B5EF4-FFF2-40B4-BE49-F238E27FC236}">
                <a16:creationId xmlns:a16="http://schemas.microsoft.com/office/drawing/2014/main" id="{2B3B5F3B-E871-C2DD-6052-1838B0C1B249}"/>
              </a:ext>
            </a:extLst>
          </p:cNvPr>
          <p:cNvPicPr>
            <a:picLocks noChangeAspect="1"/>
          </p:cNvPicPr>
          <p:nvPr/>
        </p:nvPicPr>
        <p:blipFill>
          <a:blip r:embed="rId4"/>
          <a:stretch>
            <a:fillRect/>
          </a:stretch>
        </p:blipFill>
        <p:spPr>
          <a:xfrm>
            <a:off x="2467611" y="1408319"/>
            <a:ext cx="722081" cy="702460"/>
          </a:xfrm>
          <a:prstGeom prst="rect">
            <a:avLst/>
          </a:prstGeom>
        </p:spPr>
      </p:pic>
      <p:sp>
        <p:nvSpPr>
          <p:cNvPr id="10" name="Arrow: Right 9">
            <a:extLst>
              <a:ext uri="{FF2B5EF4-FFF2-40B4-BE49-F238E27FC236}">
                <a16:creationId xmlns:a16="http://schemas.microsoft.com/office/drawing/2014/main" id="{FAE97683-465B-DF55-B2C2-DB877738F837}"/>
              </a:ext>
            </a:extLst>
          </p:cNvPr>
          <p:cNvSpPr/>
          <p:nvPr/>
        </p:nvSpPr>
        <p:spPr>
          <a:xfrm rot="10800000">
            <a:off x="3423514" y="1270803"/>
            <a:ext cx="1207008" cy="1300946"/>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oogle Shape;248;p56">
            <a:extLst>
              <a:ext uri="{FF2B5EF4-FFF2-40B4-BE49-F238E27FC236}">
                <a16:creationId xmlns:a16="http://schemas.microsoft.com/office/drawing/2014/main" id="{425955E7-FA77-4661-891C-C92096003763}"/>
              </a:ext>
            </a:extLst>
          </p:cNvPr>
          <p:cNvSpPr txBox="1"/>
          <p:nvPr/>
        </p:nvSpPr>
        <p:spPr>
          <a:xfrm>
            <a:off x="3532910" y="1616592"/>
            <a:ext cx="1639235" cy="60936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1" i="0" u="none" strike="noStrike" kern="0" cap="none" spc="0" normalizeH="0" baseline="0" noProof="0" dirty="0">
                <a:ln>
                  <a:noFill/>
                </a:ln>
                <a:solidFill>
                  <a:schemeClr val="bg1"/>
                </a:solidFill>
                <a:effectLst/>
                <a:uLnTx/>
                <a:uFillTx/>
                <a:latin typeface="Lato"/>
                <a:ea typeface="Lato"/>
                <a:cs typeface="Lato"/>
                <a:sym typeface="Lato"/>
              </a:rPr>
              <a:t>duplicate data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200" b="1" dirty="0">
                <a:solidFill>
                  <a:schemeClr val="bg1"/>
                </a:solidFill>
                <a:latin typeface="Lato"/>
                <a:ea typeface="Lato"/>
                <a:cs typeface="Lato"/>
                <a:sym typeface="Lato"/>
              </a:rPr>
              <a:t>data duplicate</a:t>
            </a:r>
            <a:endParaRPr kumimoji="0" sz="1200" b="1" i="0" u="none" strike="noStrike" kern="0" cap="none" spc="0" normalizeH="0" baseline="0" noProof="0" dirty="0">
              <a:ln>
                <a:noFill/>
              </a:ln>
              <a:solidFill>
                <a:schemeClr val="bg1"/>
              </a:solidFill>
              <a:effectLst/>
              <a:uLnTx/>
              <a:uFillTx/>
              <a:latin typeface="Lato"/>
              <a:ea typeface="Lato"/>
              <a:cs typeface="Lato"/>
              <a:sym typeface="Lato"/>
            </a:endParaRPr>
          </a:p>
        </p:txBody>
      </p:sp>
    </p:spTree>
    <p:extLst>
      <p:ext uri="{BB962C8B-B14F-4D97-AF65-F5344CB8AC3E}">
        <p14:creationId xmlns:p14="http://schemas.microsoft.com/office/powerpoint/2010/main" val="21090826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E8C40E6-81C6-821A-01DE-B52601C81AD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6783D51-E219-2C58-1D72-5639BFFDE76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measure join relations, cardinality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8CFCA65-0162-298E-E422-ACBC3A17526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1D6C2CE-B617-6212-0712-A69EFCE32917}"/>
              </a:ext>
            </a:extLst>
          </p:cNvPr>
          <p:cNvSpPr txBox="1"/>
          <p:nvPr/>
        </p:nvSpPr>
        <p:spPr>
          <a:xfrm>
            <a:off x="5208422" y="1389344"/>
            <a:ext cx="3730752" cy="2662237"/>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c</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ompress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out </a:t>
            </a: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 t2 via an SQL GROUP BY clause</a:t>
            </a:r>
            <a:r>
              <a:rPr lang="en-US" dirty="0">
                <a:latin typeface="Lato"/>
                <a:ea typeface="Lato"/>
                <a:cs typeface="Lato"/>
                <a:sym typeface="Lato"/>
              </a:rPr>
              <a: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get counts of the join pairs</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his query returned the primary key from </a:t>
            </a: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 t1 and a count of the join pairs from table t2</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his query informed us that anywhere between eight and 4000 rows were joined from </a:t>
            </a: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 t2 to each single row from table t1, producing an intermediate product set of way too many rows</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EE9BCE72-EB96-A5A9-E150-6DE3454941D0}"/>
              </a:ext>
            </a:extLst>
          </p:cNvPr>
          <p:cNvPicPr>
            <a:picLocks noChangeAspect="1"/>
          </p:cNvPicPr>
          <p:nvPr/>
        </p:nvPicPr>
        <p:blipFill>
          <a:blip r:embed="rId3"/>
          <a:stretch>
            <a:fillRect/>
          </a:stretch>
        </p:blipFill>
        <p:spPr>
          <a:xfrm>
            <a:off x="633797" y="998715"/>
            <a:ext cx="3872365" cy="3679847"/>
          </a:xfrm>
          <a:prstGeom prst="rect">
            <a:avLst/>
          </a:prstGeom>
        </p:spPr>
      </p:pic>
    </p:spTree>
    <p:extLst>
      <p:ext uri="{BB962C8B-B14F-4D97-AF65-F5344CB8AC3E}">
        <p14:creationId xmlns:p14="http://schemas.microsoft.com/office/powerpoint/2010/main" val="6550021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C5D5F74-31A5-4B44-08F8-B99813B754F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5F1F71C-45A7-C08C-817F-F67679B7A30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more filter measurement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12C3237-DF0A-571F-F2AC-45436BC8A61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D67A0FA-012F-1F34-67A8-A71E8483B78A}"/>
              </a:ext>
            </a:extLst>
          </p:cNvPr>
          <p:cNvSpPr txBox="1"/>
          <p:nvPr/>
        </p:nvSpPr>
        <p:spPr>
          <a:xfrm>
            <a:off x="5347411" y="1120069"/>
            <a:ext cx="3673739" cy="1671196"/>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filter condition on </a:t>
            </a: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 t2 reduced the size of the resultant data set between </a:t>
            </a: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 t1 and </a:t>
            </a: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able t2 to 700 rows</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w</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e were building a large intermediate product set in the midst of the join, only to discard it later</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8" name="Picture 7">
            <a:extLst>
              <a:ext uri="{FF2B5EF4-FFF2-40B4-BE49-F238E27FC236}">
                <a16:creationId xmlns:a16="http://schemas.microsoft.com/office/drawing/2014/main" id="{0D243084-C560-4F87-C979-1BE198F4EAAF}"/>
              </a:ext>
            </a:extLst>
          </p:cNvPr>
          <p:cNvPicPr>
            <a:picLocks noChangeAspect="1"/>
          </p:cNvPicPr>
          <p:nvPr/>
        </p:nvPicPr>
        <p:blipFill>
          <a:blip r:embed="rId3"/>
          <a:stretch>
            <a:fillRect/>
          </a:stretch>
        </p:blipFill>
        <p:spPr>
          <a:xfrm>
            <a:off x="258000" y="1578558"/>
            <a:ext cx="6465758" cy="2941266"/>
          </a:xfrm>
          <a:prstGeom prst="rect">
            <a:avLst/>
          </a:prstGeom>
        </p:spPr>
      </p:pic>
    </p:spTree>
    <p:extLst>
      <p:ext uri="{BB962C8B-B14F-4D97-AF65-F5344CB8AC3E}">
        <p14:creationId xmlns:p14="http://schemas.microsoft.com/office/powerpoint/2010/main" val="272523668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81C5026-1986-DBB1-6264-471BA422FA7E}"/>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CC10C930-D5F3-9E9E-D886-8A11FAAB9998}"/>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D6B71FD0-B149-374B-8BFC-DB58951DBDF8}"/>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07</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69FC0BFC-BA54-0A80-BE55-05165B4018CD}"/>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D6657BA6-15DB-0922-66B7-1ACFF4CD42B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BB9A042D-4450-1352-D66D-63DD8A6BBDF7}"/>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2626012D-260D-122F-E179-D517B5AD3629}"/>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51808856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DF5981D-720F-81B3-9E10-04176276A9E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D426DB1-EADE-0858-3F30-1AC38FABF05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solution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DA6E7AD-9C87-3E18-5F39-E159175D339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1CB8767-DAEB-F1C0-EC03-5EF346E0913A}"/>
              </a:ext>
            </a:extLst>
          </p:cNvPr>
          <p:cNvSpPr txBox="1"/>
          <p:nvPr/>
        </p:nvSpPr>
        <p:spPr>
          <a:xfrm>
            <a:off x="315981" y="988396"/>
            <a:ext cx="7847782" cy="2662237"/>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the query plan just detailed was the ~</a:t>
            </a:r>
            <a:r>
              <a:rPr kumimoji="0" lang="en" b="0" i="1" u="none" strike="noStrike" kern="0" cap="none" spc="0" normalizeH="0" baseline="0" noProof="0" dirty="0">
                <a:ln>
                  <a:noFill/>
                </a:ln>
                <a:solidFill>
                  <a:srgbClr val="000000"/>
                </a:solidFill>
                <a:effectLst/>
                <a:uLnTx/>
                <a:uFillTx/>
                <a:latin typeface="Lato"/>
                <a:ea typeface="Lato"/>
                <a:cs typeface="Lato"/>
                <a:sym typeface="Lato"/>
              </a:rPr>
              <a:t>best</a:t>
            </a:r>
            <a:r>
              <a:rPr kumimoji="0" lang="en" b="0" i="0" u="none" strike="noStrike" kern="0" cap="none" spc="0" normalizeH="0" baseline="0" noProof="0" dirty="0">
                <a:ln>
                  <a:noFill/>
                </a:ln>
                <a:solidFill>
                  <a:srgbClr val="000000"/>
                </a:solidFill>
                <a:effectLst/>
                <a:uLnTx/>
                <a:uFillTx/>
                <a:latin typeface="Lato"/>
                <a:ea typeface="Lato"/>
                <a:cs typeface="Lato"/>
                <a:sym typeface="Lato"/>
              </a:rPr>
              <a:t> available (rbo </a:t>
            </a:r>
            <a:r>
              <a:rPr kumimoji="0" lang="en"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a:t>
            </a:r>
            <a:r>
              <a:rPr kumimoji="0" lang="en" b="0" i="0" u="none" strike="noStrike" kern="0" cap="none" spc="0" normalizeH="0" baseline="0" noProof="0" dirty="0">
                <a:ln>
                  <a:noFill/>
                </a:ln>
                <a:solidFill>
                  <a:srgbClr val="000000"/>
                </a:solidFill>
                <a:effectLst/>
                <a:uLnTx/>
                <a:uFillTx/>
                <a:latin typeface="Lato"/>
                <a:ea typeface="Lato"/>
                <a:cs typeface="Lato"/>
                <a:sym typeface="Lato"/>
              </a:rPr>
              <a:t> cbo)</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reading table t2 first is best, but that causes a default sequential scan against table t1</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query run times will never (allow) a secondary table to be sequential (will not allow repetitive/nested sequential scans)</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query run times will build a run time only index (hash) against t1 just for the processing of this one query. faster, but not zero seconds</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 dirty="0">
              <a:latin typeface="Lato"/>
              <a:ea typeface="Lato"/>
              <a:cs typeface="Lato"/>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the original query plan is so bad, you have to use query optimizer hints in order to replicate</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 cbo will build the needed index for us</a:t>
            </a:r>
            <a:endParaRPr lang="en" dirty="0">
              <a:latin typeface="Lato"/>
              <a:ea typeface="Lato"/>
              <a:cs typeface="Lato"/>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05621794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ECC9B73-1709-D622-FAE8-4F863679067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2D84626-3604-38F1-BCBD-38472DA9100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running the really bad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91D0A77-7D14-ADF5-8941-F111FCE00CE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279D3C0-5A3D-00DD-8E89-F4065FA2D378}"/>
              </a:ext>
            </a:extLst>
          </p:cNvPr>
          <p:cNvSpPr txBox="1"/>
          <p:nvPr/>
        </p:nvSpPr>
        <p:spPr>
          <a:xfrm>
            <a:off x="315981" y="915244"/>
            <a:ext cx="8272606" cy="372406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enable_hashjoin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off;</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enable_mergejoin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off;</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enable_seqscan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off;</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Leading(((t1 t2) t3))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NestLoop</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NestLoop</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(t1 t2 t3)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IndexScan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(t1 t1_pkey)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IndexScan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 idx_t2_col1_col2_col3)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IndexScan</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(t3 t3_pkey)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 BUFFERS)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t1.col1, t1.col2, t2.col3, t3.col1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 t2, t3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t1.col1 = 'LA'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AND t1.col2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AND t2.col3 = 'FLT-00025'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AND t2.col3 = t3.col1;</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31308804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734A437-45DA-E4E6-E243-8F28FFF624B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66FD035-81BB-656C-791F-20B6F3C7C25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query plan for the really bad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382453C-6D45-74C5-601E-7960390C80B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298F373-4296-CF41-0C9E-6A5DAF60D9CB}"/>
              </a:ext>
            </a:extLst>
          </p:cNvPr>
          <p:cNvSpPr txBox="1"/>
          <p:nvPr/>
        </p:nvSpPr>
        <p:spPr>
          <a:xfrm>
            <a:off x="315981" y="769943"/>
            <a:ext cx="8272606" cy="390103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Nested Loop  (cost=90.36..50107.88 rows=1890 width=38)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time=11.741..382.782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YB Batched Nested Loop Join  (cost=69.27..50063.05 rows=1890 width=28)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time=10.834..380.368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Join Filter: (t1.col2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t1_pkey on t1  (cost=21.09..6873.07 rows=68591 width=18)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time=2.297..19.531 rows=68600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'LA'::text)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idx_t2_col1_col2_col3 on t2  (cost=48.18..644.40 rows=31 width=25)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time=4.886..4.894 rows=28 loops=67)</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ANY (ARRAY[t1.col2, $1, $2, ..., $1023])) 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(col3 = 'FLT-00025'::text))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Materialize  (cost=21.09..21.21 rows=1 width=10) (actual time=0.001..0.001 rows=1 loops=1900)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t3_pkey on t3  (cost=21.09..21.20 rows=1 width=10)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time=0.893..0.895 rows=1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'FLT-00025'::text)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31.813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383.740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2049 kB</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50568738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F7C8F9E-10A2-0277-7513-9F48DC3555A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2DC5F47-B35F-7BA6-E567-73791667387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query plan for the really bad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936B8FB-3304-4323-BBCC-01D138F87C2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468C885-B31B-ACA0-BB9C-6DAAA08F0FAE}"/>
              </a:ext>
            </a:extLst>
          </p:cNvPr>
          <p:cNvSpPr txBox="1"/>
          <p:nvPr/>
        </p:nvSpPr>
        <p:spPr>
          <a:xfrm>
            <a:off x="535437" y="989399"/>
            <a:ext cx="7474707" cy="2839208"/>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table t1 first — index Scan using t1_pkey on t1 has loops=1</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t1 </a:t>
            </a:r>
            <a:r>
              <a:rPr lang="en-US" sz="1000" dirty="0" err="1">
                <a:latin typeface="Courier New" panose="02070309020205020404" pitchFamily="49" charset="0"/>
                <a:ea typeface="Lato"/>
                <a:cs typeface="Courier New" panose="02070309020205020404" pitchFamily="49" charset="0"/>
                <a:sym typeface="Lato"/>
              </a:rPr>
              <a:t>i</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 scanned exactly once, filtered by col1 = 'LA', producing all 68,600 matching rows</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his is the outermost driving table because it is the only index supported filter</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table t2 second — Index Scan using idx_t2_col1_col2_col3 on t2 has loops=67</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t2 </a:t>
            </a:r>
            <a:r>
              <a:rPr lang="en-US" sz="1000" dirty="0" err="1">
                <a:latin typeface="Courier New" panose="02070309020205020404" pitchFamily="49" charset="0"/>
                <a:ea typeface="Lato"/>
                <a:cs typeface="Courier New" panose="02070309020205020404" pitchFamily="49" charset="0"/>
                <a:sym typeface="Lato"/>
              </a:rPr>
              <a:t>i</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 probed once per batch of t1.col2 values (the YB Batched Nested Loop Join packs up to ~1024 values per batch; 68,600 rows / ~1024 ≈ 67 batches)</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his is the Join Filter: (t1.col2 = t2.col1) step — t2 is joined against t1’s output</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table t3 last — Materialize -&gt; Index Scan using t3_pkey on t3 has loops=1900</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probed once per surviving row that made it through the t1⋈t2 join (1,900 of them)</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m</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aterialize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caches the single result row after the first real lookup, so the other 1,899 loops are free —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bu</a:t>
            </a:r>
            <a:r>
              <a:rPr lang="en-US" sz="1000" dirty="0">
                <a:latin typeface="Courier New" panose="02070309020205020404" pitchFamily="49" charset="0"/>
                <a:ea typeface="Lato"/>
                <a:cs typeface="Courier New" panose="02070309020205020404" pitchFamily="49" charset="0"/>
                <a:sym typeface="Lato"/>
              </a:rPr>
              <a:t>t logically</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t3 is joined last, against the combined t1⋈t2 result</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the plan drives from t1’s weak filter (col1='LA', 98% of the table) first, joins into t2 second, and reaches t3</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5318292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0F9C336-99EC-350F-017A-081B0137B52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9C6B8C7-F38F-4723-73FA-E730615126F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07b: remove the hints, allow full (modern) cbo</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3AA13DD-C01B-AF33-FD62-0C9AFFB3315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25C7C40-A8BE-CC78-826F-659B452BFC17}"/>
              </a:ext>
            </a:extLst>
          </p:cNvPr>
          <p:cNvSpPr txBox="1"/>
          <p:nvPr/>
        </p:nvSpPr>
        <p:spPr>
          <a:xfrm>
            <a:off x="315981" y="761625"/>
            <a:ext cx="8272606" cy="337012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Nested Loop  (cost=63.27..6811.52 rows=1890 width=38) (actual time=26.163..41.345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t3_pkey on t3  (cost=21.09..21.20 rows=1 width=10)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time=0.314..0.316 rows=1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'FLT-00025'::text)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YB Batched Nested Loop Join  (cost=42.18..6771.41 rows=1890 width=28)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time=25.845..40.651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Join Filter: (t1.col2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Seq Scan on t2  (cost=21.09..5917.47 rows=1929 width=25)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time=20.370..30.504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Storage Filter: (col3 = 'FLT-00025'::text)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t1_pkey on t1  (cost=21.09..440.77 rows=1003 width=18)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time=4.141..4.295 rows=816 loops=2)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((col2 = ANY (ARRAY[t2.col1, $1, $2, ..., $1023])) AND (col1 = 'LA'::text))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113.674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42.254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1575 kB</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4" name="Google Shape;248;p56">
            <a:extLst>
              <a:ext uri="{FF2B5EF4-FFF2-40B4-BE49-F238E27FC236}">
                <a16:creationId xmlns:a16="http://schemas.microsoft.com/office/drawing/2014/main" id="{A5559B9A-4EB3-E737-9093-75804956C626}"/>
              </a:ext>
            </a:extLst>
          </p:cNvPr>
          <p:cNvSpPr txBox="1"/>
          <p:nvPr/>
        </p:nvSpPr>
        <p:spPr>
          <a:xfrm>
            <a:off x="5947601" y="3614698"/>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original/bad plan </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Planning Time: 31.813 </a:t>
            </a:r>
            <a:r>
              <a:rPr kumimoji="0" lang="en-US" sz="1200" i="0" u="none" strike="noStrike" kern="0" cap="none" spc="0" normalizeH="0" baseline="0" noProof="0" dirty="0" err="1">
                <a:ln>
                  <a:noFill/>
                </a:ln>
                <a:solidFill>
                  <a:srgbClr val="00B0F0"/>
                </a:solidFill>
                <a:effectLst/>
                <a:uLnTx/>
                <a:uFillTx/>
                <a:latin typeface="Lato"/>
                <a:ea typeface="Lato"/>
                <a:cs typeface="Lato"/>
                <a:sym typeface="Lato"/>
              </a:rPr>
              <a:t>ms</a:t>
            </a:r>
            <a:endParaRPr kumimoji="0" lang="en-US" sz="1200" i="0" u="none" strike="noStrike" kern="0" cap="none" spc="0" normalizeH="0" baseline="0" noProof="0" dirty="0">
              <a:ln>
                <a:noFill/>
              </a:ln>
              <a:solidFill>
                <a:srgbClr val="00B0F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Execution Time: 383.740 </a:t>
            </a:r>
            <a:r>
              <a:rPr kumimoji="0" lang="en-US" sz="1200" i="0" u="none" strike="noStrike" kern="0" cap="none" spc="0" normalizeH="0" baseline="0" noProof="0" dirty="0" err="1">
                <a:ln>
                  <a:noFill/>
                </a:ln>
                <a:solidFill>
                  <a:srgbClr val="00B0F0"/>
                </a:solidFill>
                <a:effectLst/>
                <a:uLnTx/>
                <a:uFillTx/>
                <a:latin typeface="Lato"/>
                <a:ea typeface="Lato"/>
                <a:cs typeface="Lato"/>
                <a:sym typeface="Lato"/>
              </a:rPr>
              <a:t>ms</a:t>
            </a:r>
            <a:endParaRPr kumimoji="0" lang="en-US" sz="1200" i="0" u="none" strike="noStrike" kern="0" cap="none" spc="0" normalizeH="0" baseline="0" noProof="0" dirty="0">
              <a:ln>
                <a:noFill/>
              </a:ln>
              <a:solidFill>
                <a:srgbClr val="00B0F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Peak Memory Usage: 2049 kB</a:t>
            </a:r>
          </a:p>
        </p:txBody>
      </p:sp>
    </p:spTree>
    <p:extLst>
      <p:ext uri="{BB962C8B-B14F-4D97-AF65-F5344CB8AC3E}">
        <p14:creationId xmlns:p14="http://schemas.microsoft.com/office/powerpoint/2010/main" val="79403487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A372097-174D-5912-38EB-C93AD86E84E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71D33F8-82CF-2C29-81B3-90DEF152D83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07b: remove the hints, allow full (modern) cbo</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7A86806-0FC7-DB32-A293-35AF019E5E0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9E6E472-BC45-B92D-1FE2-65175098ADC8}"/>
              </a:ext>
            </a:extLst>
          </p:cNvPr>
          <p:cNvSpPr txBox="1"/>
          <p:nvPr/>
        </p:nvSpPr>
        <p:spPr>
          <a:xfrm>
            <a:off x="315981" y="973766"/>
            <a:ext cx="8272606" cy="3193152"/>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table t3 first — Index Scan using t3_pkey on t3 has loops=1</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scanned once, filtered by the literal col1 = 'FLT-00025', returning its single matching row</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his is the outermost/driving step — and notice it needs no join filter at all, because the optimizer recognized the transitive equality (t2.col3 = 'FLT-00025' AND t2.col3 = t3.col1 implies t3.col1 = 'FLT-00025' too) and just resolved t3 independently via the constant</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table t2 second — Seq Scan on t2 has loops=1</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scanned once, with col3 = 'FLT-00025' applied as a Storage Filter, producing the 1,900 candidate rows</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his sits as the outer side of the YB Batched Nested Loop Join</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t1 last — Index Scan using t1_pkey on t1 has loops=2</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probed in batches of t2.col1 values (1,900 rows batched into ~1024-sized groups ≈ 2 loops), with Index Cond: (col2 = ANY (ARRAY[...]) AND col1 = 'LA')</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both the join key and the 'LA' filter combined into one seek</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000" dirty="0">
              <a:latin typeface="Courier New" panose="02070309020205020404" pitchFamily="49" charset="0"/>
              <a:ea typeface="Lato"/>
              <a:cs typeface="Courier New" panose="02070309020205020404" pitchFamily="49" charset="0"/>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this is the natural,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unhinted</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 (07b) — it drives from t3’s cheap point lookup first, then t2, then t1 last — the reverse of the FROM-clause order (t1, t2, t3) and the reverse of the hinted 07 plan</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his reversal, chosen entirely by the cost-based optimizer with no hints involved, is exactly why this query runs in ~42ms instead of ~380ms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16978555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5AE1B9C-25A0-2EC6-323A-BC80F693CED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DA79DF5-0C8C-59EC-CF74-1F5E3682764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07c: but an even faster plan   (flip the indexes over)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7842CC7-976B-69F7-6F4E-DD3B5CFC69A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643D71B-3605-786B-B6AF-95E66BDD50FC}"/>
              </a:ext>
            </a:extLst>
          </p:cNvPr>
          <p:cNvSpPr txBox="1"/>
          <p:nvPr/>
        </p:nvSpPr>
        <p:spPr>
          <a:xfrm>
            <a:off x="315981" y="856722"/>
            <a:ext cx="8272606" cy="372406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t4 (                   -- replacement for table t1, so table t1 still exists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col4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col5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col6  TIMESTAMP,</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col7  NUMERIC(10,2),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col8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(col2 HASH, col1 ASC)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t5 (                     -- replacement for table t2, so table t2 still exists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id    BIGINT,                      -- table t3 needed no change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SMALLINT,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PRIMARY KEY (id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INDEX idx_t5_col3_col2_col1 ON t5 (col3 HASH, col2 ASC, col1 ASC);</a:t>
            </a:r>
          </a:p>
        </p:txBody>
      </p:sp>
    </p:spTree>
    <p:extLst>
      <p:ext uri="{BB962C8B-B14F-4D97-AF65-F5344CB8AC3E}">
        <p14:creationId xmlns:p14="http://schemas.microsoft.com/office/powerpoint/2010/main" val="149263479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18B86EE-7010-0DB1-3794-5B6AE573016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55EB39B-78AD-2E17-C0DF-59224C87F67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07c: uses the original/unchanged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DE59F34-A754-F9C6-697A-33F23D38420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8863734-99C1-83B1-847C-2B1F826A1E74}"/>
              </a:ext>
            </a:extLst>
          </p:cNvPr>
          <p:cNvSpPr txBox="1"/>
          <p:nvPr/>
        </p:nvSpPr>
        <p:spPr>
          <a:xfrm>
            <a:off x="199844" y="667075"/>
            <a:ext cx="8272606" cy="3547095"/>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Nested Loop  (cost=66.27..739.72 rows=1914 width=38) (actual time=7.587..12.984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t3_pkey on t3  (cost=21.09..21.20 rows=1 width=10)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time=0.268..0.269 rows=1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'FLT-00025'::text)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YB Batched Nested Loop Join  (cost=45.18..699.38 rows=1914 width=28)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time=7.315..12.277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Join Filter: (t4.col2 = t5.col1)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Only Scan using idx_t5_col3_col2_col1 on t5  (cost=24.09..207.29 rows=1951 width=25)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time=0.447..0.889 rows=1900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(col3 = 'FLT-00025'::text)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Heap Fetches: 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t4_pkey on t4  (cost=21.09..245.72 rows=1005 width=18)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(actual time=4.865..5.000 rows=700 loops=2)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((col2 = ANY (ARRAY[t5.col1, $1, $2, ..., $1023])) AND (col1 = 'LA'::text))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Planning Time: 113.633 </a:t>
            </a:r>
            <a:r>
              <a:rPr kumimoji="0" lang="en-US" sz="1000"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Execution Time: 16.132 </a:t>
            </a:r>
            <a:r>
              <a:rPr kumimoji="0" lang="en-US" sz="1000"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1641 kB</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4" name="Google Shape;248;p56">
            <a:extLst>
              <a:ext uri="{FF2B5EF4-FFF2-40B4-BE49-F238E27FC236}">
                <a16:creationId xmlns:a16="http://schemas.microsoft.com/office/drawing/2014/main" id="{13485CD4-99F8-D370-6A1B-90F963EC7FC0}"/>
              </a:ext>
            </a:extLst>
          </p:cNvPr>
          <p:cNvSpPr txBox="1"/>
          <p:nvPr/>
        </p:nvSpPr>
        <p:spPr>
          <a:xfrm>
            <a:off x="3015654" y="3739751"/>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original/bad plan </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Planning Time: 31.813 </a:t>
            </a:r>
            <a:r>
              <a:rPr kumimoji="0" lang="en-US" sz="1200" i="0" u="none" strike="noStrike" kern="0" cap="none" spc="0" normalizeH="0" baseline="0" noProof="0" dirty="0" err="1">
                <a:ln>
                  <a:noFill/>
                </a:ln>
                <a:solidFill>
                  <a:srgbClr val="00B0F0"/>
                </a:solidFill>
                <a:effectLst/>
                <a:uLnTx/>
                <a:uFillTx/>
                <a:latin typeface="Lato"/>
                <a:ea typeface="Lato"/>
                <a:cs typeface="Lato"/>
                <a:sym typeface="Lato"/>
              </a:rPr>
              <a:t>ms</a:t>
            </a:r>
            <a:endParaRPr kumimoji="0" lang="en-US" sz="1200" i="0" u="none" strike="noStrike" kern="0" cap="none" spc="0" normalizeH="0" baseline="0" noProof="0" dirty="0">
              <a:ln>
                <a:noFill/>
              </a:ln>
              <a:solidFill>
                <a:srgbClr val="00B0F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Execution Time: 383.740 </a:t>
            </a:r>
            <a:r>
              <a:rPr kumimoji="0" lang="en-US" sz="1200" i="0" u="none" strike="noStrike" kern="0" cap="none" spc="0" normalizeH="0" baseline="0" noProof="0" dirty="0" err="1">
                <a:ln>
                  <a:noFill/>
                </a:ln>
                <a:solidFill>
                  <a:srgbClr val="00B0F0"/>
                </a:solidFill>
                <a:effectLst/>
                <a:uLnTx/>
                <a:uFillTx/>
                <a:latin typeface="Lato"/>
                <a:ea typeface="Lato"/>
                <a:cs typeface="Lato"/>
                <a:sym typeface="Lato"/>
              </a:rPr>
              <a:t>ms</a:t>
            </a:r>
            <a:endParaRPr kumimoji="0" lang="en-US" sz="1200" i="0" u="none" strike="noStrike" kern="0" cap="none" spc="0" normalizeH="0" baseline="0" noProof="0" dirty="0">
              <a:ln>
                <a:noFill/>
              </a:ln>
              <a:solidFill>
                <a:srgbClr val="00B0F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Peak Memory Usage: 2049 kB</a:t>
            </a:r>
          </a:p>
        </p:txBody>
      </p:sp>
      <p:sp>
        <p:nvSpPr>
          <p:cNvPr id="6" name="Google Shape;248;p56">
            <a:extLst>
              <a:ext uri="{FF2B5EF4-FFF2-40B4-BE49-F238E27FC236}">
                <a16:creationId xmlns:a16="http://schemas.microsoft.com/office/drawing/2014/main" id="{2C24DCB4-880B-F11E-6F37-45161D5CEC56}"/>
              </a:ext>
            </a:extLst>
          </p:cNvPr>
          <p:cNvSpPr txBox="1"/>
          <p:nvPr/>
        </p:nvSpPr>
        <p:spPr>
          <a:xfrm>
            <a:off x="5918876" y="3739751"/>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example 07b</a:t>
            </a: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Planning Time: 113.674 </a:t>
            </a:r>
            <a:r>
              <a:rPr kumimoji="0" lang="en-US" sz="1200" i="0" u="none" strike="noStrike" kern="0" cap="none" spc="0" normalizeH="0" baseline="0" noProof="0" dirty="0" err="1">
                <a:ln>
                  <a:noFill/>
                </a:ln>
                <a:solidFill>
                  <a:srgbClr val="00B0F0"/>
                </a:solidFill>
                <a:effectLst/>
                <a:uLnTx/>
                <a:uFillTx/>
                <a:latin typeface="Lato"/>
                <a:ea typeface="Lato"/>
                <a:cs typeface="Lato"/>
                <a:sym typeface="Lato"/>
              </a:rPr>
              <a:t>ms</a:t>
            </a:r>
            <a:endParaRPr kumimoji="0" lang="en-US" sz="1200" i="0" u="none" strike="noStrike" kern="0" cap="none" spc="0" normalizeH="0" baseline="0" noProof="0" dirty="0">
              <a:ln>
                <a:noFill/>
              </a:ln>
              <a:solidFill>
                <a:srgbClr val="00B0F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Execution Time: 42.254 </a:t>
            </a:r>
            <a:r>
              <a:rPr kumimoji="0" lang="en-US" sz="1200" i="0" u="none" strike="noStrike" kern="0" cap="none" spc="0" normalizeH="0" baseline="0" noProof="0" dirty="0" err="1">
                <a:ln>
                  <a:noFill/>
                </a:ln>
                <a:solidFill>
                  <a:srgbClr val="00B0F0"/>
                </a:solidFill>
                <a:effectLst/>
                <a:uLnTx/>
                <a:uFillTx/>
                <a:latin typeface="Lato"/>
                <a:ea typeface="Lato"/>
                <a:cs typeface="Lato"/>
                <a:sym typeface="Lato"/>
              </a:rPr>
              <a:t>ms</a:t>
            </a:r>
            <a:endParaRPr kumimoji="0" lang="en-US" sz="1200" i="0" u="none" strike="noStrike" kern="0" cap="none" spc="0" normalizeH="0" baseline="0" noProof="0" dirty="0">
              <a:ln>
                <a:noFill/>
              </a:ln>
              <a:solidFill>
                <a:srgbClr val="00B0F0"/>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rgbClr val="00B0F0"/>
                </a:solidFill>
                <a:effectLst/>
                <a:uLnTx/>
                <a:uFillTx/>
                <a:latin typeface="Lato"/>
                <a:ea typeface="Lato"/>
                <a:cs typeface="Lato"/>
                <a:sym typeface="Lato"/>
              </a:rPr>
              <a:t> Peak Memory Usage: 1575 kB</a:t>
            </a:r>
          </a:p>
        </p:txBody>
      </p:sp>
    </p:spTree>
    <p:extLst>
      <p:ext uri="{BB962C8B-B14F-4D97-AF65-F5344CB8AC3E}">
        <p14:creationId xmlns:p14="http://schemas.microsoft.com/office/powerpoint/2010/main" val="68725754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A9BA637-33A6-A0DA-62B7-371E747346B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C437EFC-3628-73AC-9AC7-14F6C7004AB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07c: cbo, and reversed indexes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202A068-BD7C-86CE-72E8-663836552C0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517ECC9F-DA01-AC94-DB45-82DB76CFACC8}"/>
              </a:ext>
            </a:extLst>
          </p:cNvPr>
          <p:cNvSpPr txBox="1"/>
          <p:nvPr/>
        </p:nvSpPr>
        <p:spPr>
          <a:xfrm>
            <a:off x="315981" y="776255"/>
            <a:ext cx="8272606" cy="3193152"/>
          </a:xfrm>
          <a:prstGeom prst="rect">
            <a:avLst/>
          </a:prstGeom>
          <a:noFill/>
          <a:ln>
            <a:noFill/>
          </a:ln>
        </p:spPr>
        <p:txBody>
          <a:bodyPr spcFirstLastPara="1" wrap="square" lIns="91425" tIns="91425" rIns="91425" bIns="91425" anchor="t" anchorCtr="0">
            <a:spAutoFit/>
          </a:bodyPr>
          <a:lstStyle/>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table t3 first — index Scan using t3_pkey on t3 has loops=1</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resolved once via the literal col1 = 'FLT-00025'</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same transitive-equality reasoning as before (no join filter needed against t2/t1 at this step)</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table t2 second — index Only Scan using idx_t2_col3_col2_col1 on t5 has loops=1</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scanned once, and this time col3 = 'FLT-00025' is a genuine Index Cond (not a Storage Filter like t2 was) — plus Heap Fetches: 0, meaning it’s fully satisfied from the index alone</a:t>
            </a:r>
          </a:p>
          <a:p>
            <a:pPr marL="344488"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his is the reordered index doing its job.</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t1 last — Index Scan using t1_pkey on t4 has loops=2: probed in batches of t2.col1 values, with Index Cond: (col2 = ANY (ARRAY[...]) AND col1 = 'LA') combining the join key and the 'LA' filter into one seek</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000" dirty="0">
              <a:latin typeface="Courier New" panose="02070309020205020404" pitchFamily="49" charset="0"/>
              <a:ea typeface="Lato"/>
              <a:cs typeface="Courier New" panose="02070309020205020404" pitchFamily="49" charset="0"/>
              <a:sym typeface="Lato"/>
            </a:endParaRPr>
          </a:p>
          <a:p>
            <a:pPr marR="0" lvl="0" defTabSz="914400" rtl="0" eaLnBrk="1" fontAlgn="auto" latinLnBrk="0" hangingPunct="1">
              <a:lnSpc>
                <a:spcPct val="115000"/>
              </a:lnSpc>
              <a:spcBef>
                <a:spcPts val="0"/>
              </a:spcBef>
              <a:spcAft>
                <a:spcPts val="0"/>
              </a:spcAft>
              <a:buClr>
                <a:srgbClr val="000000"/>
              </a:buClr>
              <a:buSzTx/>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table order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t3 → t2 → t1 — the same driving order as the natural 07b plan (t3 → t2 → t1), just with the reordered-index tables substituted in</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Courier New" panose="02070309020205020404" pitchFamily="49" charset="0"/>
                <a:ea typeface="Lato"/>
                <a:cs typeface="Courier New" panose="02070309020205020404" pitchFamily="49" charset="0"/>
                <a:sym typeface="Lato"/>
              </a:rPr>
              <a:t>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he only structural difference from 07b is t2’s access method: Index Only Scan with a true Index Cond instead of Seq Scan with a Storage Filter</a:t>
            </a:r>
          </a:p>
          <a:p>
            <a:pPr marL="117475" marR="0" lvl="0" indent="-11747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the ~3x speedup (07b’s ~42ms → this plan’s ~16ms) coming entirely from the index column reorder, not from any change in join order</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425797769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539BA5EC-0D29-2397-405D-C2C7698581D5}"/>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25F632D6-1C55-DA69-12A2-6CE7841AF983}"/>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97AD95F-CC9A-4E2F-10EE-39E6F818B509}"/>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07</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0739945D-1398-1CDE-DB10-E166B5D967C2}"/>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138AF91D-6164-9821-13B2-AEAC08CC24C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A2E9784E-1C48-52D3-1388-1A90519F9A46}"/>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5D28CF3B-EBC3-FAB4-7D37-C0E8755E3D72}"/>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652ADECE-F995-3F7F-9452-1BB230E17000}"/>
              </a:ext>
            </a:extLst>
          </p:cNvPr>
          <p:cNvSpPr txBox="1"/>
          <p:nvPr/>
        </p:nvSpPr>
        <p:spPr>
          <a:xfrm>
            <a:off x="4898141" y="2744721"/>
            <a:ext cx="2463600" cy="927916"/>
          </a:xfrm>
          <a:prstGeom prst="rect">
            <a:avLst/>
          </a:prstGeom>
          <a:no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07</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exercise 07b</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exercise 07c</a:t>
            </a:r>
          </a:p>
        </p:txBody>
      </p:sp>
    </p:spTree>
    <p:extLst>
      <p:ext uri="{BB962C8B-B14F-4D97-AF65-F5344CB8AC3E}">
        <p14:creationId xmlns:p14="http://schemas.microsoft.com/office/powerpoint/2010/main" val="52079686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A350D987-A5AF-70F8-F673-31DA85AE86A3}"/>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3D8BF7E8-5334-0E77-0466-D5EA5B18E3BF}"/>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8BAF1CED-FAB2-39D5-C557-C656DCDDFA0B}"/>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07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(and 01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rgbClr val="FFFFFF"/>
                </a:solidFill>
                <a:latin typeface="Rubik"/>
                <a:ea typeface="Rubik"/>
                <a:cs typeface="Rubik"/>
                <a:sym typeface="Rubik"/>
              </a:rPr>
              <a:t>   </a:t>
            </a: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06)</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635064B1-692E-7F29-4271-41F6FE315AF6}"/>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031AC745-C474-DDA1-760C-25418E46E7E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5E9D512-97C8-4BB8-A101-FC470A72C3AF}"/>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5262D6E5-99DC-90FC-60C5-4C2D526A9283}"/>
              </a:ext>
            </a:extLst>
          </p:cNvPr>
          <p:cNvSpPr txBox="1"/>
          <p:nvPr/>
        </p:nvSpPr>
        <p:spPr>
          <a:xfrm>
            <a:off x="2808566" y="1463268"/>
            <a:ext cx="5441354" cy="2131322"/>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lessons learned</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in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the real world, this query took 1+ hours to solve, </a:t>
            </a:r>
            <a:r>
              <a:rPr lang="en-US" dirty="0">
                <a:latin typeface="Lato"/>
                <a:ea typeface="Lato"/>
                <a:cs typeface="Lato"/>
                <a:sym typeface="Lato"/>
              </a:rPr>
              <a:t>and there could be 100(s) of these queries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creation of a "query harness"</a:t>
            </a:r>
          </a:p>
          <a:p>
            <a:pPr marL="684213" marR="0" lvl="0" indent="-22383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what is this</a:t>
            </a:r>
          </a:p>
          <a:p>
            <a:pPr marL="684213" marR="0" lvl="0" indent="-22383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why is it needed</a:t>
            </a:r>
          </a:p>
          <a:p>
            <a:pPr marL="684213" marR="0" lvl="0" indent="-22383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how is it used throughout the entire lifecycle of an application</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60628351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D38FAA2-2640-B0CB-C981-9427F104C1D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4F8A4D5-3566-9834-8433-7620B144A7B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latin typeface="Lato"/>
                <a:ea typeface="Lato"/>
                <a:cs typeface="Lato"/>
                <a:sym typeface="Lato"/>
              </a:rPr>
              <a:t>is schema synonymous with data model ?</a:t>
            </a:r>
          </a:p>
        </p:txBody>
      </p:sp>
      <p:sp>
        <p:nvSpPr>
          <p:cNvPr id="274" name="Google Shape;274;p56">
            <a:extLst>
              <a:ext uri="{FF2B5EF4-FFF2-40B4-BE49-F238E27FC236}">
                <a16:creationId xmlns:a16="http://schemas.microsoft.com/office/drawing/2014/main" id="{22F6A968-4329-45BD-0976-E99CA7C21D3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2698EB1-114C-31F3-2142-C5C2BBD3374B}"/>
              </a:ext>
            </a:extLst>
          </p:cNvPr>
          <p:cNvSpPr txBox="1"/>
          <p:nvPr/>
        </p:nvSpPr>
        <p:spPr>
          <a:xfrm>
            <a:off x="1480994" y="972204"/>
            <a:ext cx="3091006" cy="50318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800" u="sng" dirty="0">
                <a:latin typeface="Lato"/>
                <a:ea typeface="Lato"/>
                <a:cs typeface="Lato"/>
                <a:sym typeface="Lato"/>
              </a:rPr>
              <a:t>s</a:t>
            </a:r>
            <a:r>
              <a:rPr kumimoji="0" lang="en-US" sz="1800" b="0" i="0" u="sng" strike="noStrike" kern="0" cap="none" spc="0" normalizeH="0" baseline="0" noProof="0" dirty="0" err="1">
                <a:ln>
                  <a:noFill/>
                </a:ln>
                <a:solidFill>
                  <a:srgbClr val="000000"/>
                </a:solidFill>
                <a:effectLst/>
                <a:uLnTx/>
                <a:uFillTx/>
                <a:latin typeface="Lato"/>
                <a:ea typeface="Lato"/>
                <a:cs typeface="Lato"/>
                <a:sym typeface="Lato"/>
              </a:rPr>
              <a:t>chema</a:t>
            </a:r>
            <a:r>
              <a:rPr kumimoji="0" lang="en-US" sz="1800" b="0" i="0" u="sng" strike="noStrike" kern="0" cap="none" spc="0" normalizeH="0" baseline="0" noProof="0" dirty="0">
                <a:ln>
                  <a:noFill/>
                </a:ln>
                <a:solidFill>
                  <a:srgbClr val="000000"/>
                </a:solidFill>
                <a:effectLst/>
                <a:uLnTx/>
                <a:uFillTx/>
                <a:latin typeface="Lato"/>
                <a:ea typeface="Lato"/>
                <a:cs typeface="Lato"/>
                <a:sym typeface="Lato"/>
              </a:rPr>
              <a:t>: </a:t>
            </a:r>
            <a:r>
              <a:rPr kumimoji="0" lang="en-US" sz="1800" b="0" i="0" u="sng" strike="noStrike" kern="0" cap="none" spc="0" normalizeH="0" baseline="0" noProof="0" dirty="0">
                <a:ln>
                  <a:noFill/>
                </a:ln>
                <a:solidFill>
                  <a:srgbClr val="FF0000"/>
                </a:solidFill>
                <a:effectLst/>
                <a:uLnTx/>
                <a:uFillTx/>
                <a:latin typeface="Lato"/>
                <a:ea typeface="Lato"/>
                <a:cs typeface="Lato"/>
                <a:sym typeface="Lato"/>
              </a:rPr>
              <a:t>see Data Model</a:t>
            </a:r>
            <a:endParaRPr kumimoji="0" sz="1800" b="0" i="0" u="sng" strike="noStrike" kern="0" cap="none" spc="0" normalizeH="0" baseline="0" noProof="0" dirty="0">
              <a:ln>
                <a:noFill/>
              </a:ln>
              <a:solidFill>
                <a:srgbClr val="FF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E4AF768F-C5DE-CED9-EAFC-82E60E66F629}"/>
              </a:ext>
            </a:extLst>
          </p:cNvPr>
          <p:cNvSpPr txBox="1"/>
          <p:nvPr/>
        </p:nvSpPr>
        <p:spPr>
          <a:xfrm>
            <a:off x="5233341" y="287638"/>
            <a:ext cx="3091006" cy="1918957"/>
          </a:xfrm>
          <a:prstGeom prst="rect">
            <a:avLst/>
          </a:prstGeom>
          <a:solidFill>
            <a:schemeClr val="lt1"/>
          </a:solid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800" dirty="0">
                <a:latin typeface="Lato"/>
                <a:ea typeface="Lato"/>
                <a:cs typeface="Lato"/>
                <a:sym typeface="Lato"/>
              </a:rPr>
              <a:t>d</a:t>
            </a:r>
            <a:r>
              <a:rPr kumimoji="0" lang="en-US" sz="1800" b="0" i="0" u="none" strike="noStrike" kern="0" cap="none" spc="0" normalizeH="0" baseline="0" noProof="0" dirty="0" err="1">
                <a:ln>
                  <a:noFill/>
                </a:ln>
                <a:solidFill>
                  <a:srgbClr val="000000"/>
                </a:solidFill>
                <a:effectLst/>
                <a:uLnTx/>
                <a:uFillTx/>
                <a:latin typeface="Lato"/>
                <a:ea typeface="Lato"/>
                <a:cs typeface="Lato"/>
                <a:sym typeface="Lato"/>
              </a:rPr>
              <a:t>ata</a:t>
            </a:r>
            <a:r>
              <a:rPr kumimoji="0" lang="en-US" sz="1800" b="0" i="0" u="none" strike="noStrike" kern="0" cap="none" spc="0" normalizeH="0" baseline="0" noProof="0" dirty="0">
                <a:ln>
                  <a:noFill/>
                </a:ln>
                <a:solidFill>
                  <a:srgbClr val="000000"/>
                </a:solidFill>
                <a:effectLst/>
                <a:uLnTx/>
                <a:uFillTx/>
                <a:latin typeface="Lato"/>
                <a:ea typeface="Lato"/>
                <a:cs typeface="Lato"/>
                <a:sym typeface="Lato"/>
              </a:rPr>
              <a:t> model-</a:t>
            </a:r>
          </a:p>
          <a:p>
            <a:pPr marL="230188"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attribute</a:t>
            </a:r>
          </a:p>
          <a:p>
            <a:pPr marL="230188"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defining relationships</a:t>
            </a:r>
          </a:p>
          <a:p>
            <a:pPr marL="230188"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description of</a:t>
            </a:r>
          </a:p>
          <a:p>
            <a:pPr marL="230188" marR="0" lvl="0" defTabSz="914400" rtl="0" eaLnBrk="1" fontAlgn="auto" latinLnBrk="0" hangingPunct="1">
              <a:lnSpc>
                <a:spcPct val="115000"/>
              </a:lnSpc>
              <a:spcBef>
                <a:spcPts val="0"/>
              </a:spcBef>
              <a:spcAft>
                <a:spcPts val="0"/>
              </a:spcAft>
              <a:buClr>
                <a:srgbClr val="000000"/>
              </a:buClr>
              <a:buSzTx/>
              <a:buFont typeface="Arial"/>
              <a:buNone/>
              <a:tabLst/>
              <a:defRPr/>
            </a:pPr>
            <a:r>
              <a:rPr lang="en-US" sz="1600" i="1" dirty="0">
                <a:latin typeface="Lato"/>
                <a:ea typeface="Lato"/>
                <a:cs typeface="Lato"/>
                <a:sym typeface="Lato"/>
              </a:rPr>
              <a:t>s</a:t>
            </a:r>
            <a:r>
              <a:rPr kumimoji="0" lang="en-US" sz="1600" b="0" i="1" u="none" strike="noStrike" kern="0" cap="none" spc="0" normalizeH="0" baseline="0" noProof="0" dirty="0">
                <a:ln>
                  <a:noFill/>
                </a:ln>
                <a:solidFill>
                  <a:srgbClr val="000000"/>
                </a:solidFill>
                <a:effectLst/>
                <a:uLnTx/>
                <a:uFillTx/>
                <a:latin typeface="Lato"/>
                <a:ea typeface="Lato"/>
                <a:cs typeface="Lato"/>
                <a:sym typeface="Lato"/>
              </a:rPr>
              <a:t>ee also </a:t>
            </a:r>
            <a:r>
              <a:rPr kumimoji="0" lang="en-US" sz="1600" b="0" i="0" u="none" strike="noStrike" kern="0" cap="none" spc="0" normalizeH="0" baseline="0" noProof="0" dirty="0">
                <a:ln>
                  <a:noFill/>
                </a:ln>
                <a:solidFill>
                  <a:srgbClr val="FF0000"/>
                </a:solidFill>
                <a:effectLst/>
                <a:uLnTx/>
                <a:uFillTx/>
                <a:latin typeface="Lato"/>
                <a:ea typeface="Lato"/>
                <a:cs typeface="Lato"/>
                <a:sym typeface="Lato"/>
              </a:rPr>
              <a:t>Relational Model</a:t>
            </a:r>
          </a:p>
          <a:p>
            <a:pPr marL="230188"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table-relationships</a:t>
            </a:r>
            <a:endParaRPr kumimoji="0" sz="16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198683DD-F731-84A3-249F-3B29E94B557D}"/>
              </a:ext>
            </a:extLst>
          </p:cNvPr>
          <p:cNvSpPr txBox="1"/>
          <p:nvPr/>
        </p:nvSpPr>
        <p:spPr>
          <a:xfrm>
            <a:off x="1127185" y="1636977"/>
            <a:ext cx="3091006" cy="294539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600" dirty="0">
                <a:latin typeface="Lato"/>
                <a:ea typeface="Lato"/>
                <a:cs typeface="Lato"/>
                <a:sym typeface="Lato"/>
              </a:rPr>
              <a:t>r</a:t>
            </a:r>
            <a:r>
              <a:rPr kumimoji="0" lang="en-US" sz="1600" b="0" i="0" u="none" strike="noStrike" kern="0" cap="none" spc="0" normalizeH="0" baseline="0" noProof="0" dirty="0" err="1">
                <a:ln>
                  <a:noFill/>
                </a:ln>
                <a:solidFill>
                  <a:srgbClr val="000000"/>
                </a:solidFill>
                <a:effectLst/>
                <a:uLnTx/>
                <a:uFillTx/>
                <a:latin typeface="Lato"/>
                <a:ea typeface="Lato"/>
                <a:cs typeface="Lato"/>
                <a:sym typeface="Lato"/>
              </a:rPr>
              <a:t>elational</a:t>
            </a:r>
            <a:r>
              <a:rPr kumimoji="0" lang="en-US" sz="1600" b="0" i="0" u="none" strike="noStrike" kern="0" cap="none" spc="0" normalizeH="0" baseline="0" noProof="0" dirty="0">
                <a:ln>
                  <a:noFill/>
                </a:ln>
                <a:solidFill>
                  <a:srgbClr val="000000"/>
                </a:solidFill>
                <a:effectLst/>
                <a:uLnTx/>
                <a:uFillTx/>
                <a:latin typeface="Lato"/>
                <a:ea typeface="Lato"/>
                <a:cs typeface="Lato"/>
                <a:sym typeface="Lato"/>
              </a:rPr>
              <a:t> model-</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attribute</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FF0000"/>
                </a:solidFill>
                <a:effectLst/>
                <a:uLnTx/>
                <a:uFillTx/>
                <a:latin typeface="Lato"/>
                <a:ea typeface="Lato"/>
                <a:cs typeface="Lato"/>
                <a:sym typeface="Lato"/>
              </a:rPr>
              <a:t>description of</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diagramming</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entity</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join</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normalizing data</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projection</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rules for defining tables,</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rows, and columns</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table-relationships</a:t>
            </a:r>
          </a:p>
        </p:txBody>
      </p:sp>
      <p:sp>
        <p:nvSpPr>
          <p:cNvPr id="8" name="Google Shape;248;p56">
            <a:extLst>
              <a:ext uri="{FF2B5EF4-FFF2-40B4-BE49-F238E27FC236}">
                <a16:creationId xmlns:a16="http://schemas.microsoft.com/office/drawing/2014/main" id="{1AE5626E-C209-4290-D027-FC6B8057FAEF}"/>
              </a:ext>
            </a:extLst>
          </p:cNvPr>
          <p:cNvSpPr txBox="1"/>
          <p:nvPr/>
        </p:nvSpPr>
        <p:spPr>
          <a:xfrm>
            <a:off x="4779844" y="2641883"/>
            <a:ext cx="3091006" cy="46779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0000"/>
                </a:solidFill>
                <a:effectLst/>
                <a:uLnTx/>
                <a:uFillTx/>
                <a:latin typeface="Lato"/>
                <a:ea typeface="Lato"/>
                <a:cs typeface="Lato"/>
                <a:sym typeface="Lato"/>
              </a:rPr>
              <a:t>Description of Relational Model:</a:t>
            </a:r>
          </a:p>
        </p:txBody>
      </p:sp>
      <p:sp>
        <p:nvSpPr>
          <p:cNvPr id="10" name="Google Shape;248;p56">
            <a:extLst>
              <a:ext uri="{FF2B5EF4-FFF2-40B4-BE49-F238E27FC236}">
                <a16:creationId xmlns:a16="http://schemas.microsoft.com/office/drawing/2014/main" id="{749AA8C9-2578-9C07-AAB6-29F7F12FB32D}"/>
              </a:ext>
            </a:extLst>
          </p:cNvPr>
          <p:cNvSpPr txBox="1"/>
          <p:nvPr/>
        </p:nvSpPr>
        <p:spPr>
          <a:xfrm>
            <a:off x="4623465" y="2980442"/>
            <a:ext cx="3487479" cy="117567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based on the relational calculus devised</a:t>
            </a: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by E.F. Codd. In practical terms, it means</a:t>
            </a: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that all data is presented in the form of</a:t>
            </a: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tables comprising rows and columns. "</a:t>
            </a:r>
          </a:p>
        </p:txBody>
      </p:sp>
    </p:spTree>
    <p:extLst>
      <p:ext uri="{BB962C8B-B14F-4D97-AF65-F5344CB8AC3E}">
        <p14:creationId xmlns:p14="http://schemas.microsoft.com/office/powerpoint/2010/main" val="153276643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8B9BBD8-5C8E-2362-7FD1-B763DEA100E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2B14113-7930-5338-41E3-DADD4F28D21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steps to create a data model</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040870A-1FF8-864A-5E75-251608222DA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BC8EF8F-CD60-4CF1-9852-A26B4B9C517B}"/>
              </a:ext>
            </a:extLst>
          </p:cNvPr>
          <p:cNvSpPr txBox="1"/>
          <p:nvPr/>
        </p:nvSpPr>
        <p:spPr>
          <a:xfrm>
            <a:off x="687570" y="1325945"/>
            <a:ext cx="4160876" cy="2414477"/>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2713" algn="l"/>
              </a:tabLst>
              <a:defRPr/>
            </a:pPr>
            <a:r>
              <a:rPr lang="en-US" dirty="0" err="1">
                <a:latin typeface="Lato"/>
                <a:ea typeface="Lato"/>
                <a:cs typeface="Lato"/>
                <a:sym typeface="Lato"/>
              </a:rPr>
              <a:t>i</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dentify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principle data objects, (entities)</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2713" algn="l"/>
              </a:tabLst>
              <a:defRPr/>
            </a:pPr>
            <a:r>
              <a:rPr lang="en-US" dirty="0">
                <a:latin typeface="Lato"/>
                <a:ea typeface="Lato"/>
                <a:cs typeface="Lato"/>
                <a:sym typeface="Lato"/>
              </a:rPr>
              <a:t>d</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efine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relationships between entities </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2713" algn="l"/>
              </a:tabLst>
              <a:defRPr/>
            </a:pPr>
            <a:r>
              <a:rPr lang="en-US" dirty="0">
                <a:latin typeface="Lato"/>
                <a:ea typeface="Lato"/>
                <a:cs typeface="Lato"/>
                <a:sym typeface="Lato"/>
              </a:rPr>
              <a:t>i</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dentify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the attributes found in each entity</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2713" algn="l"/>
              </a:tabLst>
              <a:defRPr/>
            </a:pPr>
            <a:r>
              <a:rPr lang="en-US" dirty="0">
                <a:latin typeface="Lato"/>
                <a:ea typeface="Lato"/>
                <a:cs typeface="Lato"/>
                <a:sym typeface="Lato"/>
              </a:rPr>
              <a:t>c</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reate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an entity relationship diagram</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2713" algn="l"/>
              </a:tabLst>
              <a:defRPr/>
            </a:pPr>
            <a:r>
              <a:rPr lang="en-US" dirty="0">
                <a:latin typeface="Lato"/>
                <a:ea typeface="Lato"/>
                <a:cs typeface="Lato"/>
                <a:sym typeface="Lato"/>
              </a:rPr>
              <a:t>t</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ranslate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the entity relationship diagram into relational constructs, (tables and columns)</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2713" algn="l"/>
              </a:tabLst>
              <a:defRPr/>
            </a:pPr>
            <a:r>
              <a:rPr lang="en-US" dirty="0">
                <a:latin typeface="Lato"/>
                <a:ea typeface="Lato"/>
                <a:cs typeface="Lato"/>
                <a:sym typeface="Lato"/>
              </a:rPr>
              <a:t>r</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esolve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complex entity relationships; One to one’s, many to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many’s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etc</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tab pos="112713" algn="l"/>
              </a:tabLst>
              <a:defRPr/>
            </a:pPr>
            <a:r>
              <a:rPr lang="en-US" dirty="0">
                <a:latin typeface="Lato"/>
                <a:ea typeface="Lato"/>
                <a:cs typeface="Lato"/>
                <a:sym typeface="Lato"/>
              </a:rPr>
              <a:t>c</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heck for compliance with Third Normal Form</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7BE85027-E9AF-4885-1032-1945F25939CC}"/>
              </a:ext>
            </a:extLst>
          </p:cNvPr>
          <p:cNvPicPr>
            <a:picLocks noChangeAspect="1"/>
          </p:cNvPicPr>
          <p:nvPr/>
        </p:nvPicPr>
        <p:blipFill>
          <a:blip r:embed="rId3"/>
          <a:stretch>
            <a:fillRect/>
          </a:stretch>
        </p:blipFill>
        <p:spPr>
          <a:xfrm>
            <a:off x="5749529" y="959452"/>
            <a:ext cx="2593484" cy="3564750"/>
          </a:xfrm>
          <a:prstGeom prst="rect">
            <a:avLst/>
          </a:prstGeom>
        </p:spPr>
      </p:pic>
      <p:sp>
        <p:nvSpPr>
          <p:cNvPr id="6" name="Google Shape;248;p56">
            <a:extLst>
              <a:ext uri="{FF2B5EF4-FFF2-40B4-BE49-F238E27FC236}">
                <a16:creationId xmlns:a16="http://schemas.microsoft.com/office/drawing/2014/main" id="{C0F00288-C6AE-B60E-9C4E-C5DDBA9FA47C}"/>
              </a:ext>
            </a:extLst>
          </p:cNvPr>
          <p:cNvSpPr txBox="1"/>
          <p:nvPr/>
        </p:nvSpPr>
        <p:spPr>
          <a:xfrm>
            <a:off x="5965293" y="950473"/>
            <a:ext cx="2161955" cy="750945"/>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1" i="0" u="none" strike="noStrike" kern="0" cap="none" spc="0" normalizeH="0" baseline="0" noProof="0" dirty="0">
                <a:ln>
                  <a:noFill/>
                </a:ln>
                <a:solidFill>
                  <a:schemeClr val="bg1"/>
                </a:solidFill>
                <a:effectLst/>
                <a:uLnTx/>
                <a:uFillTx/>
                <a:latin typeface="Lato"/>
                <a:ea typeface="Lato"/>
                <a:cs typeface="Lato"/>
                <a:sym typeface="Lato"/>
              </a:rPr>
              <a:t>entity relationship diagram</a:t>
            </a:r>
            <a:endParaRPr kumimoji="0" sz="1600" b="1" i="0" u="none" strike="noStrike" kern="0" cap="none" spc="0" normalizeH="0" baseline="0" noProof="0" dirty="0">
              <a:ln>
                <a:noFill/>
              </a:ln>
              <a:solidFill>
                <a:schemeClr val="bg1"/>
              </a:solidFill>
              <a:effectLst/>
              <a:uLnTx/>
              <a:uFillTx/>
              <a:latin typeface="Lato"/>
              <a:ea typeface="Lato"/>
              <a:cs typeface="Lato"/>
              <a:sym typeface="Lato"/>
            </a:endParaRPr>
          </a:p>
        </p:txBody>
      </p:sp>
    </p:spTree>
    <p:extLst>
      <p:ext uri="{BB962C8B-B14F-4D97-AF65-F5344CB8AC3E}">
        <p14:creationId xmlns:p14="http://schemas.microsoft.com/office/powerpoint/2010/main" val="341756233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0F440E5-B362-7E3C-8596-84E84B92FAF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AAC9C24-5DDE-B396-DE4D-88D6B08DC52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does the data model tell you</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A9800F6-6F7A-8919-DC95-9CE7986CCB8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13949BFC-A812-17DB-9C6B-D55BEF846244}"/>
              </a:ext>
            </a:extLst>
          </p:cNvPr>
          <p:cNvPicPr>
            <a:picLocks noChangeAspect="1"/>
          </p:cNvPicPr>
          <p:nvPr/>
        </p:nvPicPr>
        <p:blipFill>
          <a:blip r:embed="rId3"/>
          <a:stretch>
            <a:fillRect/>
          </a:stretch>
        </p:blipFill>
        <p:spPr>
          <a:xfrm>
            <a:off x="598242" y="1370974"/>
            <a:ext cx="3711488" cy="2401551"/>
          </a:xfrm>
          <a:prstGeom prst="rect">
            <a:avLst/>
          </a:prstGeom>
        </p:spPr>
      </p:pic>
      <p:sp>
        <p:nvSpPr>
          <p:cNvPr id="5" name="TextBox 4">
            <a:extLst>
              <a:ext uri="{FF2B5EF4-FFF2-40B4-BE49-F238E27FC236}">
                <a16:creationId xmlns:a16="http://schemas.microsoft.com/office/drawing/2014/main" id="{3E1B6EB8-BB58-22CB-A7BA-7FD3BAC3E0CE}"/>
              </a:ext>
            </a:extLst>
          </p:cNvPr>
          <p:cNvSpPr txBox="1"/>
          <p:nvPr/>
        </p:nvSpPr>
        <p:spPr>
          <a:xfrm>
            <a:off x="5730949" y="1238103"/>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are the steps to add a new customer order ? </a:t>
            </a:r>
          </a:p>
        </p:txBody>
      </p:sp>
      <p:cxnSp>
        <p:nvCxnSpPr>
          <p:cNvPr id="6" name="Straight Connector 5">
            <a:extLst>
              <a:ext uri="{FF2B5EF4-FFF2-40B4-BE49-F238E27FC236}">
                <a16:creationId xmlns:a16="http://schemas.microsoft.com/office/drawing/2014/main" id="{13C5843C-7608-4E4A-E751-F8461A512213}"/>
              </a:ext>
            </a:extLst>
          </p:cNvPr>
          <p:cNvCxnSpPr>
            <a:cxnSpLocks/>
          </p:cNvCxnSpPr>
          <p:nvPr/>
        </p:nvCxnSpPr>
        <p:spPr>
          <a:xfrm>
            <a:off x="4862623" y="1060917"/>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1440022-8EF8-E4F6-0E49-5E136CF78E4A}"/>
              </a:ext>
            </a:extLst>
          </p:cNvPr>
          <p:cNvCxnSpPr>
            <a:cxnSpLocks/>
          </p:cNvCxnSpPr>
          <p:nvPr/>
        </p:nvCxnSpPr>
        <p:spPr>
          <a:xfrm>
            <a:off x="4862623" y="1068005"/>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E497E12-C133-8C2F-021D-DC18E09FD89F}"/>
              </a:ext>
            </a:extLst>
          </p:cNvPr>
          <p:cNvCxnSpPr>
            <a:cxnSpLocks/>
          </p:cNvCxnSpPr>
          <p:nvPr/>
        </p:nvCxnSpPr>
        <p:spPr>
          <a:xfrm>
            <a:off x="4862623" y="1873028"/>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773B8D5-0F05-F4E5-6B01-84F67EA0566B}"/>
              </a:ext>
            </a:extLst>
          </p:cNvPr>
          <p:cNvCxnSpPr>
            <a:cxnSpLocks/>
          </p:cNvCxnSpPr>
          <p:nvPr/>
        </p:nvCxnSpPr>
        <p:spPr>
          <a:xfrm>
            <a:off x="4862623" y="3483074"/>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FF4EB74-8E78-F584-3B69-218D9CDA6B6C}"/>
              </a:ext>
            </a:extLst>
          </p:cNvPr>
          <p:cNvCxnSpPr>
            <a:cxnSpLocks/>
          </p:cNvCxnSpPr>
          <p:nvPr/>
        </p:nvCxnSpPr>
        <p:spPr>
          <a:xfrm>
            <a:off x="4862623" y="4288097"/>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D97EAB4-244D-A7E6-49D3-4D29E6753325}"/>
              </a:ext>
            </a:extLst>
          </p:cNvPr>
          <p:cNvCxnSpPr>
            <a:cxnSpLocks/>
          </p:cNvCxnSpPr>
          <p:nvPr/>
        </p:nvCxnSpPr>
        <p:spPr>
          <a:xfrm>
            <a:off x="4862623" y="2678051"/>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DD28AC-DD5C-4CA5-7E13-B4E6CB8772F6}"/>
              </a:ext>
            </a:extLst>
          </p:cNvPr>
          <p:cNvCxnSpPr>
            <a:cxnSpLocks/>
          </p:cNvCxnSpPr>
          <p:nvPr/>
        </p:nvCxnSpPr>
        <p:spPr>
          <a:xfrm>
            <a:off x="5730949" y="1054431"/>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4028584-ED8F-B54F-C2C9-EF699FE9615A}"/>
              </a:ext>
            </a:extLst>
          </p:cNvPr>
          <p:cNvCxnSpPr>
            <a:cxnSpLocks/>
          </p:cNvCxnSpPr>
          <p:nvPr/>
        </p:nvCxnSpPr>
        <p:spPr>
          <a:xfrm>
            <a:off x="8625757" y="106800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618D127-3D02-6E6D-C8B2-039E1B46FDA8}"/>
              </a:ext>
            </a:extLst>
          </p:cNvPr>
          <p:cNvSpPr txBox="1"/>
          <p:nvPr/>
        </p:nvSpPr>
        <p:spPr>
          <a:xfrm>
            <a:off x="5738554" y="1999128"/>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is the SQL SELECT statement for the report that I have to write ?</a:t>
            </a:r>
          </a:p>
        </p:txBody>
      </p:sp>
      <p:sp>
        <p:nvSpPr>
          <p:cNvPr id="19" name="TextBox 18">
            <a:extLst>
              <a:ext uri="{FF2B5EF4-FFF2-40B4-BE49-F238E27FC236}">
                <a16:creationId xmlns:a16="http://schemas.microsoft.com/office/drawing/2014/main" id="{8FF5B727-DEB9-BAC9-8D34-B556DEEFBED3}"/>
              </a:ext>
            </a:extLst>
          </p:cNvPr>
          <p:cNvSpPr txBox="1"/>
          <p:nvPr/>
        </p:nvSpPr>
        <p:spPr>
          <a:xfrm>
            <a:off x="5738554" y="2859232"/>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is the anticipated performance of my mission critical SQL services ?</a:t>
            </a:r>
          </a:p>
        </p:txBody>
      </p:sp>
      <p:sp>
        <p:nvSpPr>
          <p:cNvPr id="21" name="TextBox 20">
            <a:extLst>
              <a:ext uri="{FF2B5EF4-FFF2-40B4-BE49-F238E27FC236}">
                <a16:creationId xmlns:a16="http://schemas.microsoft.com/office/drawing/2014/main" id="{5770FCFE-3B59-A05F-2BE8-CF1D647D695C}"/>
              </a:ext>
            </a:extLst>
          </p:cNvPr>
          <p:cNvSpPr txBox="1"/>
          <p:nvPr/>
        </p:nvSpPr>
        <p:spPr>
          <a:xfrm>
            <a:off x="5730949" y="3622747"/>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is the plan to shelf data from this system and how do I access it later ?</a:t>
            </a:r>
          </a:p>
        </p:txBody>
      </p:sp>
      <p:pic>
        <p:nvPicPr>
          <p:cNvPr id="23" name="Picture 22">
            <a:extLst>
              <a:ext uri="{FF2B5EF4-FFF2-40B4-BE49-F238E27FC236}">
                <a16:creationId xmlns:a16="http://schemas.microsoft.com/office/drawing/2014/main" id="{6F466D33-8191-CA58-A3DC-E3DC66158C79}"/>
              </a:ext>
            </a:extLst>
          </p:cNvPr>
          <p:cNvPicPr>
            <a:picLocks noChangeAspect="1"/>
          </p:cNvPicPr>
          <p:nvPr/>
        </p:nvPicPr>
        <p:blipFill>
          <a:blip r:embed="rId4"/>
          <a:stretch>
            <a:fillRect/>
          </a:stretch>
        </p:blipFill>
        <p:spPr>
          <a:xfrm>
            <a:off x="5030523" y="1218759"/>
            <a:ext cx="560881" cy="545640"/>
          </a:xfrm>
          <a:prstGeom prst="rect">
            <a:avLst/>
          </a:prstGeom>
        </p:spPr>
      </p:pic>
      <p:pic>
        <p:nvPicPr>
          <p:cNvPr id="25" name="Picture 24">
            <a:extLst>
              <a:ext uri="{FF2B5EF4-FFF2-40B4-BE49-F238E27FC236}">
                <a16:creationId xmlns:a16="http://schemas.microsoft.com/office/drawing/2014/main" id="{B33C8A3E-B8DE-C74B-B121-83DCB1844ACB}"/>
              </a:ext>
            </a:extLst>
          </p:cNvPr>
          <p:cNvPicPr>
            <a:picLocks noChangeAspect="1"/>
          </p:cNvPicPr>
          <p:nvPr/>
        </p:nvPicPr>
        <p:blipFill>
          <a:blip r:embed="rId4"/>
          <a:stretch>
            <a:fillRect/>
          </a:stretch>
        </p:blipFill>
        <p:spPr>
          <a:xfrm>
            <a:off x="5030523" y="2009786"/>
            <a:ext cx="560881" cy="545640"/>
          </a:xfrm>
          <a:prstGeom prst="rect">
            <a:avLst/>
          </a:prstGeom>
        </p:spPr>
      </p:pic>
      <p:pic>
        <p:nvPicPr>
          <p:cNvPr id="27" name="Picture 26">
            <a:extLst>
              <a:ext uri="{FF2B5EF4-FFF2-40B4-BE49-F238E27FC236}">
                <a16:creationId xmlns:a16="http://schemas.microsoft.com/office/drawing/2014/main" id="{3A7F48B3-C095-CD36-5CA2-AB4D317B9DE8}"/>
              </a:ext>
            </a:extLst>
          </p:cNvPr>
          <p:cNvPicPr>
            <a:picLocks noChangeAspect="1"/>
          </p:cNvPicPr>
          <p:nvPr/>
        </p:nvPicPr>
        <p:blipFill>
          <a:blip r:embed="rId4"/>
          <a:stretch>
            <a:fillRect/>
          </a:stretch>
        </p:blipFill>
        <p:spPr>
          <a:xfrm>
            <a:off x="5030523" y="2800813"/>
            <a:ext cx="560881" cy="545640"/>
          </a:xfrm>
          <a:prstGeom prst="rect">
            <a:avLst/>
          </a:prstGeom>
        </p:spPr>
      </p:pic>
      <p:pic>
        <p:nvPicPr>
          <p:cNvPr id="29" name="Picture 28">
            <a:extLst>
              <a:ext uri="{FF2B5EF4-FFF2-40B4-BE49-F238E27FC236}">
                <a16:creationId xmlns:a16="http://schemas.microsoft.com/office/drawing/2014/main" id="{AC15578E-25B3-AA76-3F51-E76DBDEC157C}"/>
              </a:ext>
            </a:extLst>
          </p:cNvPr>
          <p:cNvPicPr>
            <a:picLocks noChangeAspect="1"/>
          </p:cNvPicPr>
          <p:nvPr/>
        </p:nvPicPr>
        <p:blipFill>
          <a:blip r:embed="rId4"/>
          <a:stretch>
            <a:fillRect/>
          </a:stretch>
        </p:blipFill>
        <p:spPr>
          <a:xfrm>
            <a:off x="5030523" y="3591840"/>
            <a:ext cx="560881" cy="545640"/>
          </a:xfrm>
          <a:prstGeom prst="rect">
            <a:avLst/>
          </a:prstGeom>
        </p:spPr>
      </p:pic>
    </p:spTree>
    <p:extLst>
      <p:ext uri="{BB962C8B-B14F-4D97-AF65-F5344CB8AC3E}">
        <p14:creationId xmlns:p14="http://schemas.microsoft.com/office/powerpoint/2010/main" val="122718940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AD584B4-E040-9284-7A04-F12B5138934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666E347-6A72-4B03-F448-AEA68C69F71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database project time line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DD4C81D-2E3D-5621-2D54-AF3E6497A10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8">
            <a:extLst>
              <a:ext uri="{FF2B5EF4-FFF2-40B4-BE49-F238E27FC236}">
                <a16:creationId xmlns:a16="http://schemas.microsoft.com/office/drawing/2014/main" id="{F26B3892-E03B-B6FE-1937-D2FF9BEBF78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299" y="988755"/>
            <a:ext cx="902236" cy="1376504"/>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9">
            <a:extLst>
              <a:ext uri="{FF2B5EF4-FFF2-40B4-BE49-F238E27FC236}">
                <a16:creationId xmlns:a16="http://schemas.microsoft.com/office/drawing/2014/main" id="{26755632-8C40-DBD0-E5EB-9A6A6E9A651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2094" y="988754"/>
            <a:ext cx="1139369" cy="1382149"/>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10">
            <a:extLst>
              <a:ext uri="{FF2B5EF4-FFF2-40B4-BE49-F238E27FC236}">
                <a16:creationId xmlns:a16="http://schemas.microsoft.com/office/drawing/2014/main" id="{F0B22A35-1BCE-E00F-1D8D-909B2EB3BD8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6808" y="988754"/>
            <a:ext cx="1228577" cy="1379891"/>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11">
            <a:extLst>
              <a:ext uri="{FF2B5EF4-FFF2-40B4-BE49-F238E27FC236}">
                <a16:creationId xmlns:a16="http://schemas.microsoft.com/office/drawing/2014/main" id="{5D4B6C38-542F-2C25-2881-7238FC0AD24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0730" y="988754"/>
            <a:ext cx="966601" cy="1378762"/>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12">
            <a:extLst>
              <a:ext uri="{FF2B5EF4-FFF2-40B4-BE49-F238E27FC236}">
                <a16:creationId xmlns:a16="http://schemas.microsoft.com/office/drawing/2014/main" id="{7BB61BE4-37D3-51E9-0931-7FFFFD14EBA9}"/>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6880" y="988754"/>
            <a:ext cx="1239869" cy="1382149"/>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a:extLst>
              <a:ext uri="{FF2B5EF4-FFF2-40B4-BE49-F238E27FC236}">
                <a16:creationId xmlns:a16="http://schemas.microsoft.com/office/drawing/2014/main" id="{1DC25E26-F488-A6E9-7D1A-76EC219AF5FD}"/>
              </a:ext>
            </a:extLst>
          </p:cNvPr>
          <p:cNvSpPr/>
          <p:nvPr/>
        </p:nvSpPr>
        <p:spPr>
          <a:xfrm>
            <a:off x="375684" y="2665228"/>
            <a:ext cx="6953693" cy="531628"/>
          </a:xfrm>
          <a:prstGeom prst="rect">
            <a:avLst/>
          </a:prstGeom>
          <a:gradFill flip="none" rotWithShape="1">
            <a:gsLst>
              <a:gs pos="100000">
                <a:schemeClr val="bg1"/>
              </a:gs>
              <a:gs pos="0">
                <a:srgbClr val="FFC000"/>
              </a:gs>
              <a:gs pos="100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978A0C4D-7C61-2DD3-F251-0BD43F16F5C3}"/>
              </a:ext>
            </a:extLst>
          </p:cNvPr>
          <p:cNvSpPr/>
          <p:nvPr/>
        </p:nvSpPr>
        <p:spPr>
          <a:xfrm>
            <a:off x="7329377" y="2401937"/>
            <a:ext cx="595423" cy="1062123"/>
          </a:xfrm>
          <a:prstGeom prst="rightArrow">
            <a:avLst>
              <a:gd name="adj1" fmla="val 50000"/>
              <a:gd name="adj2" fmla="val 55182"/>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C955FC8D-F18C-8E21-8E94-47A8241775FF}"/>
              </a:ext>
            </a:extLst>
          </p:cNvPr>
          <p:cNvCxnSpPr/>
          <p:nvPr/>
        </p:nvCxnSpPr>
        <p:spPr>
          <a:xfrm>
            <a:off x="1956390" y="2571750"/>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64E8190-9E28-430F-7CA8-A8CB454F6E8E}"/>
              </a:ext>
            </a:extLst>
          </p:cNvPr>
          <p:cNvCxnSpPr/>
          <p:nvPr/>
        </p:nvCxnSpPr>
        <p:spPr>
          <a:xfrm>
            <a:off x="3377608" y="247605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8A74393-C009-EAEF-7DEB-726BBE6D2576}"/>
              </a:ext>
            </a:extLst>
          </p:cNvPr>
          <p:cNvCxnSpPr/>
          <p:nvPr/>
        </p:nvCxnSpPr>
        <p:spPr>
          <a:xfrm>
            <a:off x="4685413"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DB54E34-5AFD-5093-882B-2884BC44966E}"/>
              </a:ext>
            </a:extLst>
          </p:cNvPr>
          <p:cNvCxnSpPr/>
          <p:nvPr/>
        </p:nvCxnSpPr>
        <p:spPr>
          <a:xfrm>
            <a:off x="6099544"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Google Shape;248;p56">
            <a:extLst>
              <a:ext uri="{FF2B5EF4-FFF2-40B4-BE49-F238E27FC236}">
                <a16:creationId xmlns:a16="http://schemas.microsoft.com/office/drawing/2014/main" id="{7CAB3F54-4423-1F17-219A-380328B55274}"/>
              </a:ext>
            </a:extLst>
          </p:cNvPr>
          <p:cNvSpPr txBox="1"/>
          <p:nvPr/>
        </p:nvSpPr>
        <p:spPr>
          <a:xfrm>
            <a:off x="504823" y="2582014"/>
            <a:ext cx="1322429" cy="68015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end user discovery</a:t>
            </a:r>
          </a:p>
        </p:txBody>
      </p:sp>
      <p:sp>
        <p:nvSpPr>
          <p:cNvPr id="23" name="Google Shape;248;p56">
            <a:extLst>
              <a:ext uri="{FF2B5EF4-FFF2-40B4-BE49-F238E27FC236}">
                <a16:creationId xmlns:a16="http://schemas.microsoft.com/office/drawing/2014/main" id="{A5835D70-7B4C-E6B0-C072-FD1E47665E89}"/>
              </a:ext>
            </a:extLst>
          </p:cNvPr>
          <p:cNvSpPr txBox="1"/>
          <p:nvPr/>
        </p:nvSpPr>
        <p:spPr>
          <a:xfrm>
            <a:off x="1964320"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data model</a:t>
            </a:r>
          </a:p>
        </p:txBody>
      </p:sp>
      <p:sp>
        <p:nvSpPr>
          <p:cNvPr id="25" name="Google Shape;248;p56">
            <a:extLst>
              <a:ext uri="{FF2B5EF4-FFF2-40B4-BE49-F238E27FC236}">
                <a16:creationId xmlns:a16="http://schemas.microsoft.com/office/drawing/2014/main" id="{D2647BE8-FA3B-B85A-1AEF-35A1D3CA0AAF}"/>
              </a:ext>
            </a:extLst>
          </p:cNvPr>
          <p:cNvSpPr txBox="1"/>
          <p:nvPr/>
        </p:nvSpPr>
        <p:spPr>
          <a:xfrm>
            <a:off x="3362984" y="2582014"/>
            <a:ext cx="1322429" cy="68015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coding and debugging</a:t>
            </a:r>
          </a:p>
        </p:txBody>
      </p:sp>
      <p:sp>
        <p:nvSpPr>
          <p:cNvPr id="27" name="Google Shape;248;p56">
            <a:extLst>
              <a:ext uri="{FF2B5EF4-FFF2-40B4-BE49-F238E27FC236}">
                <a16:creationId xmlns:a16="http://schemas.microsoft.com/office/drawing/2014/main" id="{AA46AE5A-AF17-3E74-6C0E-74A971D3FCC0}"/>
              </a:ext>
            </a:extLst>
          </p:cNvPr>
          <p:cNvSpPr txBox="1"/>
          <p:nvPr/>
        </p:nvSpPr>
        <p:spPr>
          <a:xfrm>
            <a:off x="4692278"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system test</a:t>
            </a:r>
          </a:p>
        </p:txBody>
      </p:sp>
      <p:sp>
        <p:nvSpPr>
          <p:cNvPr id="29" name="Google Shape;248;p56">
            <a:extLst>
              <a:ext uri="{FF2B5EF4-FFF2-40B4-BE49-F238E27FC236}">
                <a16:creationId xmlns:a16="http://schemas.microsoft.com/office/drawing/2014/main" id="{ECB7F533-BECB-5C66-45F5-D5DE1905DF2C}"/>
              </a:ext>
            </a:extLst>
          </p:cNvPr>
          <p:cNvSpPr txBox="1"/>
          <p:nvPr/>
        </p:nvSpPr>
        <p:spPr>
          <a:xfrm>
            <a:off x="6106630"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cutover</a:t>
            </a:r>
          </a:p>
        </p:txBody>
      </p:sp>
      <p:sp>
        <p:nvSpPr>
          <p:cNvPr id="33" name="Google Shape;248;p56">
            <a:extLst>
              <a:ext uri="{FF2B5EF4-FFF2-40B4-BE49-F238E27FC236}">
                <a16:creationId xmlns:a16="http://schemas.microsoft.com/office/drawing/2014/main" id="{4400CEC9-6610-1F19-2B58-2D1A9452EDF0}"/>
              </a:ext>
            </a:extLst>
          </p:cNvPr>
          <p:cNvSpPr txBox="1"/>
          <p:nvPr/>
        </p:nvSpPr>
        <p:spPr>
          <a:xfrm>
            <a:off x="1964320" y="3119371"/>
            <a:ext cx="1322429"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chemeClr val="tx1"/>
                </a:solidFill>
                <a:effectLst/>
                <a:uLnTx/>
                <a:uFillTx/>
                <a:latin typeface="Lato"/>
                <a:ea typeface="Lato"/>
                <a:cs typeface="Lato"/>
                <a:sym typeface="Lato"/>
              </a:rPr>
              <a:t>architectural design</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tx1"/>
                </a:solidFill>
                <a:latin typeface="Lato"/>
                <a:ea typeface="Lato"/>
                <a:cs typeface="Lato"/>
                <a:sym typeface="Lato"/>
              </a:rPr>
              <a:t>detailed system specification</a:t>
            </a:r>
            <a:endParaRPr kumimoji="0" lang="en-US" sz="1200" i="0" u="none" strike="noStrike" kern="0" cap="none" spc="0" normalizeH="0" baseline="0" noProof="0" dirty="0">
              <a:ln>
                <a:noFill/>
              </a:ln>
              <a:solidFill>
                <a:schemeClr val="tx1"/>
              </a:solidFill>
              <a:effectLst/>
              <a:uLnTx/>
              <a:uFillTx/>
              <a:latin typeface="Lato"/>
              <a:ea typeface="Lato"/>
              <a:cs typeface="Lato"/>
              <a:sym typeface="Lato"/>
            </a:endParaRPr>
          </a:p>
        </p:txBody>
      </p:sp>
      <p:sp>
        <p:nvSpPr>
          <p:cNvPr id="37" name="Google Shape;248;p56">
            <a:extLst>
              <a:ext uri="{FF2B5EF4-FFF2-40B4-BE49-F238E27FC236}">
                <a16:creationId xmlns:a16="http://schemas.microsoft.com/office/drawing/2014/main" id="{BF9C0013-D904-2EEA-BBB7-D69253131417}"/>
              </a:ext>
            </a:extLst>
          </p:cNvPr>
          <p:cNvSpPr txBox="1"/>
          <p:nvPr/>
        </p:nvSpPr>
        <p:spPr>
          <a:xfrm>
            <a:off x="6112170" y="3119371"/>
            <a:ext cx="1322429" cy="609367"/>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chemeClr val="tx1"/>
                </a:solidFill>
                <a:effectLst/>
                <a:uLnTx/>
                <a:uFillTx/>
                <a:latin typeface="Lato"/>
                <a:ea typeface="Lato"/>
                <a:cs typeface="Lato"/>
                <a:sym typeface="Lato"/>
              </a:rPr>
              <a:t>migration</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tx1"/>
                </a:solidFill>
                <a:latin typeface="Lato"/>
                <a:ea typeface="Lato"/>
                <a:cs typeface="Lato"/>
                <a:sym typeface="Lato"/>
              </a:rPr>
              <a:t>integration</a:t>
            </a:r>
            <a:endParaRPr kumimoji="0" lang="en-US" sz="1200" i="0" u="none" strike="noStrike" kern="0" cap="none" spc="0" normalizeH="0" baseline="0" noProof="0" dirty="0">
              <a:ln>
                <a:noFill/>
              </a:ln>
              <a:solidFill>
                <a:schemeClr val="tx1"/>
              </a:solidFill>
              <a:effectLst/>
              <a:uLnTx/>
              <a:uFillTx/>
              <a:latin typeface="Lato"/>
              <a:ea typeface="Lato"/>
              <a:cs typeface="Lato"/>
              <a:sym typeface="Lato"/>
            </a:endParaRPr>
          </a:p>
        </p:txBody>
      </p:sp>
      <p:sp>
        <p:nvSpPr>
          <p:cNvPr id="39" name="Google Shape;248;p56">
            <a:extLst>
              <a:ext uri="{FF2B5EF4-FFF2-40B4-BE49-F238E27FC236}">
                <a16:creationId xmlns:a16="http://schemas.microsoft.com/office/drawing/2014/main" id="{8A3439F2-5F47-EE77-2033-540A14DFB052}"/>
              </a:ext>
            </a:extLst>
          </p:cNvPr>
          <p:cNvSpPr txBox="1"/>
          <p:nvPr/>
        </p:nvSpPr>
        <p:spPr>
          <a:xfrm>
            <a:off x="504822" y="3119371"/>
            <a:ext cx="1322429"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i="0" u="none" strike="noStrike" kern="0" cap="none" spc="0" normalizeH="0" baseline="0" noProof="0" dirty="0">
                <a:ln>
                  <a:noFill/>
                </a:ln>
                <a:solidFill>
                  <a:schemeClr val="tx1"/>
                </a:solidFill>
                <a:effectLst/>
                <a:uLnTx/>
                <a:uFillTx/>
                <a:latin typeface="Lato"/>
                <a:ea typeface="Lato"/>
                <a:cs typeface="Lato"/>
                <a:sym typeface="Lato"/>
              </a:rPr>
              <a:t>requirements analysis</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tx1"/>
                </a:solidFill>
                <a:latin typeface="Lato"/>
                <a:ea typeface="Lato"/>
                <a:cs typeface="Lato"/>
                <a:sym typeface="Lato"/>
              </a:rPr>
              <a:t>system specification</a:t>
            </a:r>
            <a:endParaRPr kumimoji="0" lang="en-US" sz="120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78440125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FF9037F-10D1-DE14-1749-0AC6568AD66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C2F3EB4-8FD6-B8F5-BCD8-63AF5B34986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common sources of error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D16F9E9-599E-6CE5-2E35-006F0A01114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13" name="Rectangle 12">
            <a:extLst>
              <a:ext uri="{FF2B5EF4-FFF2-40B4-BE49-F238E27FC236}">
                <a16:creationId xmlns:a16="http://schemas.microsoft.com/office/drawing/2014/main" id="{C2FCF407-9039-26F1-11EF-0F3827A204E9}"/>
              </a:ext>
            </a:extLst>
          </p:cNvPr>
          <p:cNvSpPr/>
          <p:nvPr/>
        </p:nvSpPr>
        <p:spPr>
          <a:xfrm>
            <a:off x="375684" y="2665228"/>
            <a:ext cx="6953693" cy="531628"/>
          </a:xfrm>
          <a:prstGeom prst="rect">
            <a:avLst/>
          </a:prstGeom>
          <a:gradFill flip="none" rotWithShape="1">
            <a:gsLst>
              <a:gs pos="100000">
                <a:schemeClr val="bg1"/>
              </a:gs>
              <a:gs pos="0">
                <a:srgbClr val="FFC000"/>
              </a:gs>
              <a:gs pos="100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E273C5AB-2A06-D9D3-6E48-07FE0D02A11A}"/>
              </a:ext>
            </a:extLst>
          </p:cNvPr>
          <p:cNvSpPr/>
          <p:nvPr/>
        </p:nvSpPr>
        <p:spPr>
          <a:xfrm>
            <a:off x="7329377" y="2401937"/>
            <a:ext cx="595423" cy="1062123"/>
          </a:xfrm>
          <a:prstGeom prst="rightArrow">
            <a:avLst>
              <a:gd name="adj1" fmla="val 50000"/>
              <a:gd name="adj2" fmla="val 55182"/>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975738F4-408F-BBE0-C08C-5BB73D29A447}"/>
              </a:ext>
            </a:extLst>
          </p:cNvPr>
          <p:cNvCxnSpPr/>
          <p:nvPr/>
        </p:nvCxnSpPr>
        <p:spPr>
          <a:xfrm>
            <a:off x="1956390" y="2571750"/>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54EBCC-F99E-4724-89A0-AFC0F1C52416}"/>
              </a:ext>
            </a:extLst>
          </p:cNvPr>
          <p:cNvCxnSpPr/>
          <p:nvPr/>
        </p:nvCxnSpPr>
        <p:spPr>
          <a:xfrm>
            <a:off x="3377608" y="247605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DF5A85C-D4F9-868C-9DF1-6FFAA6855F2A}"/>
              </a:ext>
            </a:extLst>
          </p:cNvPr>
          <p:cNvCxnSpPr/>
          <p:nvPr/>
        </p:nvCxnSpPr>
        <p:spPr>
          <a:xfrm>
            <a:off x="4685413"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1B52D8C-D38A-A5E5-4BDA-91324DFC6D68}"/>
              </a:ext>
            </a:extLst>
          </p:cNvPr>
          <p:cNvCxnSpPr/>
          <p:nvPr/>
        </p:nvCxnSpPr>
        <p:spPr>
          <a:xfrm>
            <a:off x="6099544"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Google Shape;248;p56">
            <a:extLst>
              <a:ext uri="{FF2B5EF4-FFF2-40B4-BE49-F238E27FC236}">
                <a16:creationId xmlns:a16="http://schemas.microsoft.com/office/drawing/2014/main" id="{F3AB21E3-F8D3-553F-562E-F9B59E90AACF}"/>
              </a:ext>
            </a:extLst>
          </p:cNvPr>
          <p:cNvSpPr txBox="1"/>
          <p:nvPr/>
        </p:nvSpPr>
        <p:spPr>
          <a:xfrm>
            <a:off x="504823" y="2582014"/>
            <a:ext cx="1322429" cy="68015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end user discovery</a:t>
            </a:r>
          </a:p>
        </p:txBody>
      </p:sp>
      <p:sp>
        <p:nvSpPr>
          <p:cNvPr id="23" name="Google Shape;248;p56">
            <a:extLst>
              <a:ext uri="{FF2B5EF4-FFF2-40B4-BE49-F238E27FC236}">
                <a16:creationId xmlns:a16="http://schemas.microsoft.com/office/drawing/2014/main" id="{4F348538-9CB9-94C5-5C4A-082023CB8984}"/>
              </a:ext>
            </a:extLst>
          </p:cNvPr>
          <p:cNvSpPr txBox="1"/>
          <p:nvPr/>
        </p:nvSpPr>
        <p:spPr>
          <a:xfrm>
            <a:off x="1964320"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data model</a:t>
            </a:r>
          </a:p>
        </p:txBody>
      </p:sp>
      <p:sp>
        <p:nvSpPr>
          <p:cNvPr id="25" name="Google Shape;248;p56">
            <a:extLst>
              <a:ext uri="{FF2B5EF4-FFF2-40B4-BE49-F238E27FC236}">
                <a16:creationId xmlns:a16="http://schemas.microsoft.com/office/drawing/2014/main" id="{8FC5EA54-EDAC-BA6B-DE35-57D1CC485FC4}"/>
              </a:ext>
            </a:extLst>
          </p:cNvPr>
          <p:cNvSpPr txBox="1"/>
          <p:nvPr/>
        </p:nvSpPr>
        <p:spPr>
          <a:xfrm>
            <a:off x="3362984" y="2582014"/>
            <a:ext cx="1322429" cy="68015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coding and debugging</a:t>
            </a:r>
          </a:p>
        </p:txBody>
      </p:sp>
      <p:sp>
        <p:nvSpPr>
          <p:cNvPr id="27" name="Google Shape;248;p56">
            <a:extLst>
              <a:ext uri="{FF2B5EF4-FFF2-40B4-BE49-F238E27FC236}">
                <a16:creationId xmlns:a16="http://schemas.microsoft.com/office/drawing/2014/main" id="{774DCD3E-6624-278F-4E40-2AB776638080}"/>
              </a:ext>
            </a:extLst>
          </p:cNvPr>
          <p:cNvSpPr txBox="1"/>
          <p:nvPr/>
        </p:nvSpPr>
        <p:spPr>
          <a:xfrm>
            <a:off x="4692278"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system test</a:t>
            </a:r>
          </a:p>
        </p:txBody>
      </p:sp>
      <p:sp>
        <p:nvSpPr>
          <p:cNvPr id="29" name="Google Shape;248;p56">
            <a:extLst>
              <a:ext uri="{FF2B5EF4-FFF2-40B4-BE49-F238E27FC236}">
                <a16:creationId xmlns:a16="http://schemas.microsoft.com/office/drawing/2014/main" id="{8005CA3D-54AC-6BBA-DFEF-1E501BCCAF37}"/>
              </a:ext>
            </a:extLst>
          </p:cNvPr>
          <p:cNvSpPr txBox="1"/>
          <p:nvPr/>
        </p:nvSpPr>
        <p:spPr>
          <a:xfrm>
            <a:off x="6106630"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cutover</a:t>
            </a:r>
          </a:p>
        </p:txBody>
      </p:sp>
      <p:sp>
        <p:nvSpPr>
          <p:cNvPr id="3" name="Arc 44">
            <a:extLst>
              <a:ext uri="{FF2B5EF4-FFF2-40B4-BE49-F238E27FC236}">
                <a16:creationId xmlns:a16="http://schemas.microsoft.com/office/drawing/2014/main" id="{BA571C45-593F-4418-8B94-16C0A3C7FB98}"/>
              </a:ext>
            </a:extLst>
          </p:cNvPr>
          <p:cNvSpPr>
            <a:spLocks/>
          </p:cNvSpPr>
          <p:nvPr/>
        </p:nvSpPr>
        <p:spPr bwMode="auto">
          <a:xfrm rot="1620000">
            <a:off x="3486150" y="1630363"/>
            <a:ext cx="508000" cy="508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chemeClr val="bg1">
                <a:lumMod val="50000"/>
              </a:schemeClr>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Arc 45">
            <a:extLst>
              <a:ext uri="{FF2B5EF4-FFF2-40B4-BE49-F238E27FC236}">
                <a16:creationId xmlns:a16="http://schemas.microsoft.com/office/drawing/2014/main" id="{385F4815-7599-2D4A-CC14-63A96DD03815}"/>
              </a:ext>
            </a:extLst>
          </p:cNvPr>
          <p:cNvSpPr>
            <a:spLocks/>
          </p:cNvSpPr>
          <p:nvPr/>
        </p:nvSpPr>
        <p:spPr bwMode="auto">
          <a:xfrm rot="17820000">
            <a:off x="2994025" y="1368425"/>
            <a:ext cx="508000" cy="508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chemeClr val="bg1">
                <a:lumMod val="50000"/>
              </a:schemeClr>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Arc 46">
            <a:extLst>
              <a:ext uri="{FF2B5EF4-FFF2-40B4-BE49-F238E27FC236}">
                <a16:creationId xmlns:a16="http://schemas.microsoft.com/office/drawing/2014/main" id="{C5161B35-0D6E-F3B7-4C77-0C42CBB5402B}"/>
              </a:ext>
            </a:extLst>
          </p:cNvPr>
          <p:cNvSpPr>
            <a:spLocks/>
          </p:cNvSpPr>
          <p:nvPr/>
        </p:nvSpPr>
        <p:spPr bwMode="auto">
          <a:xfrm rot="7020000">
            <a:off x="3231356" y="2096294"/>
            <a:ext cx="509588" cy="508000"/>
          </a:xfrm>
          <a:custGeom>
            <a:avLst/>
            <a:gdLst>
              <a:gd name="G0" fmla="+- 67 0 0"/>
              <a:gd name="G1" fmla="+- 21600 0 0"/>
              <a:gd name="G2" fmla="+- 21600 0 0"/>
              <a:gd name="T0" fmla="*/ 0 w 21667"/>
              <a:gd name="T1" fmla="*/ 0 h 21600"/>
              <a:gd name="T2" fmla="*/ 21667 w 21667"/>
              <a:gd name="T3" fmla="*/ 21600 h 21600"/>
              <a:gd name="T4" fmla="*/ 67 w 21667"/>
              <a:gd name="T5" fmla="*/ 21600 h 21600"/>
            </a:gdLst>
            <a:ahLst/>
            <a:cxnLst>
              <a:cxn ang="0">
                <a:pos x="T0" y="T1"/>
              </a:cxn>
              <a:cxn ang="0">
                <a:pos x="T2" y="T3"/>
              </a:cxn>
              <a:cxn ang="0">
                <a:pos x="T4" y="T5"/>
              </a:cxn>
            </a:cxnLst>
            <a:rect l="0" t="0" r="r" b="b"/>
            <a:pathLst>
              <a:path w="21667" h="21600" fill="none" extrusionOk="0">
                <a:moveTo>
                  <a:pt x="0" y="0"/>
                </a:moveTo>
                <a:cubicBezTo>
                  <a:pt x="22" y="0"/>
                  <a:pt x="44" y="0"/>
                  <a:pt x="67" y="0"/>
                </a:cubicBezTo>
                <a:cubicBezTo>
                  <a:pt x="11996" y="0"/>
                  <a:pt x="21667" y="9670"/>
                  <a:pt x="21667" y="21600"/>
                </a:cubicBezTo>
              </a:path>
              <a:path w="21667" h="21600" stroke="0" extrusionOk="0">
                <a:moveTo>
                  <a:pt x="0" y="0"/>
                </a:moveTo>
                <a:cubicBezTo>
                  <a:pt x="22" y="0"/>
                  <a:pt x="44" y="0"/>
                  <a:pt x="67" y="0"/>
                </a:cubicBezTo>
                <a:cubicBezTo>
                  <a:pt x="11996" y="0"/>
                  <a:pt x="21667" y="9670"/>
                  <a:pt x="21667" y="21600"/>
                </a:cubicBezTo>
                <a:lnTo>
                  <a:pt x="67" y="21600"/>
                </a:lnTo>
                <a:close/>
              </a:path>
            </a:pathLst>
          </a:custGeom>
          <a:noFill/>
          <a:ln w="25400" cap="rnd">
            <a:solidFill>
              <a:schemeClr val="bg1">
                <a:lumMod val="50000"/>
              </a:schemeClr>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Arc 47">
            <a:extLst>
              <a:ext uri="{FF2B5EF4-FFF2-40B4-BE49-F238E27FC236}">
                <a16:creationId xmlns:a16="http://schemas.microsoft.com/office/drawing/2014/main" id="{6B77E2B6-CE67-2698-84E8-DFEC025BC8D3}"/>
              </a:ext>
            </a:extLst>
          </p:cNvPr>
          <p:cNvSpPr>
            <a:spLocks/>
          </p:cNvSpPr>
          <p:nvPr/>
        </p:nvSpPr>
        <p:spPr bwMode="auto">
          <a:xfrm rot="12420000">
            <a:off x="2741613" y="1828800"/>
            <a:ext cx="509587" cy="508000"/>
          </a:xfrm>
          <a:custGeom>
            <a:avLst/>
            <a:gdLst>
              <a:gd name="G0" fmla="+- 67 0 0"/>
              <a:gd name="G1" fmla="+- 21600 0 0"/>
              <a:gd name="G2" fmla="+- 21600 0 0"/>
              <a:gd name="T0" fmla="*/ 0 w 21667"/>
              <a:gd name="T1" fmla="*/ 0 h 21600"/>
              <a:gd name="T2" fmla="*/ 21667 w 21667"/>
              <a:gd name="T3" fmla="*/ 21600 h 21600"/>
              <a:gd name="T4" fmla="*/ 67 w 21667"/>
              <a:gd name="T5" fmla="*/ 21600 h 21600"/>
            </a:gdLst>
            <a:ahLst/>
            <a:cxnLst>
              <a:cxn ang="0">
                <a:pos x="T0" y="T1"/>
              </a:cxn>
              <a:cxn ang="0">
                <a:pos x="T2" y="T3"/>
              </a:cxn>
              <a:cxn ang="0">
                <a:pos x="T4" y="T5"/>
              </a:cxn>
            </a:cxnLst>
            <a:rect l="0" t="0" r="r" b="b"/>
            <a:pathLst>
              <a:path w="21667" h="21600" fill="none" extrusionOk="0">
                <a:moveTo>
                  <a:pt x="0" y="0"/>
                </a:moveTo>
                <a:cubicBezTo>
                  <a:pt x="22" y="0"/>
                  <a:pt x="44" y="0"/>
                  <a:pt x="67" y="0"/>
                </a:cubicBezTo>
                <a:cubicBezTo>
                  <a:pt x="11996" y="0"/>
                  <a:pt x="21667" y="9670"/>
                  <a:pt x="21667" y="21600"/>
                </a:cubicBezTo>
              </a:path>
              <a:path w="21667" h="21600" stroke="0" extrusionOk="0">
                <a:moveTo>
                  <a:pt x="0" y="0"/>
                </a:moveTo>
                <a:cubicBezTo>
                  <a:pt x="22" y="0"/>
                  <a:pt x="44" y="0"/>
                  <a:pt x="67" y="0"/>
                </a:cubicBezTo>
                <a:cubicBezTo>
                  <a:pt x="11996" y="0"/>
                  <a:pt x="21667" y="9670"/>
                  <a:pt x="21667" y="21600"/>
                </a:cubicBezTo>
                <a:lnTo>
                  <a:pt x="67" y="21600"/>
                </a:lnTo>
                <a:close/>
              </a:path>
            </a:pathLst>
          </a:custGeom>
          <a:noFill/>
          <a:ln w="25400" cap="rnd">
            <a:solidFill>
              <a:schemeClr val="bg1">
                <a:lumMod val="50000"/>
              </a:schemeClr>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Rectangle 23">
            <a:extLst>
              <a:ext uri="{FF2B5EF4-FFF2-40B4-BE49-F238E27FC236}">
                <a16:creationId xmlns:a16="http://schemas.microsoft.com/office/drawing/2014/main" id="{96322AE5-E621-B652-3CBB-421E0EDF8E37}"/>
              </a:ext>
            </a:extLst>
          </p:cNvPr>
          <p:cNvSpPr>
            <a:spLocks noChangeArrowheads="1"/>
          </p:cNvSpPr>
          <p:nvPr/>
        </p:nvSpPr>
        <p:spPr bwMode="auto">
          <a:xfrm>
            <a:off x="2567694" y="2134544"/>
            <a:ext cx="274637" cy="284163"/>
          </a:xfrm>
          <a:prstGeom prst="rect">
            <a:avLst/>
          </a:prstGeom>
          <a:solidFill>
            <a:srgbClr val="0070C0"/>
          </a:solidFill>
          <a:ln>
            <a:noFill/>
          </a:ln>
          <a:effectLst/>
        </p:spPr>
        <p:txBody>
          <a:bodyPr wrap="none" anchor="ctr"/>
          <a:lstStyle/>
          <a:p>
            <a:endParaRPr lang="en-US"/>
          </a:p>
        </p:txBody>
      </p:sp>
      <p:sp>
        <p:nvSpPr>
          <p:cNvPr id="28" name="Rectangle 32">
            <a:extLst>
              <a:ext uri="{FF2B5EF4-FFF2-40B4-BE49-F238E27FC236}">
                <a16:creationId xmlns:a16="http://schemas.microsoft.com/office/drawing/2014/main" id="{459ABF0C-AF21-F1B4-0CD5-4F14D91396F8}"/>
              </a:ext>
            </a:extLst>
          </p:cNvPr>
          <p:cNvSpPr>
            <a:spLocks noChangeArrowheads="1"/>
          </p:cNvSpPr>
          <p:nvPr/>
        </p:nvSpPr>
        <p:spPr bwMode="auto">
          <a:xfrm>
            <a:off x="3671271" y="2213495"/>
            <a:ext cx="276225" cy="304800"/>
          </a:xfrm>
          <a:prstGeom prst="rect">
            <a:avLst/>
          </a:prstGeom>
          <a:solidFill>
            <a:srgbClr val="7030A0"/>
          </a:solidFill>
          <a:ln>
            <a:noFill/>
          </a:ln>
          <a:effectLst/>
        </p:spPr>
        <p:txBody>
          <a:bodyPr wrap="none" anchor="ctr"/>
          <a:lstStyle/>
          <a:p>
            <a:endParaRPr lang="en-US"/>
          </a:p>
        </p:txBody>
      </p:sp>
      <p:sp>
        <p:nvSpPr>
          <p:cNvPr id="31" name="Rectangle 39">
            <a:extLst>
              <a:ext uri="{FF2B5EF4-FFF2-40B4-BE49-F238E27FC236}">
                <a16:creationId xmlns:a16="http://schemas.microsoft.com/office/drawing/2014/main" id="{EEF85144-CBB4-FF00-726C-1289228DF24C}"/>
              </a:ext>
            </a:extLst>
          </p:cNvPr>
          <p:cNvSpPr>
            <a:spLocks noChangeArrowheads="1"/>
          </p:cNvSpPr>
          <p:nvPr/>
        </p:nvSpPr>
        <p:spPr bwMode="auto">
          <a:xfrm>
            <a:off x="3086791" y="1299435"/>
            <a:ext cx="274637" cy="274637"/>
          </a:xfrm>
          <a:prstGeom prst="rect">
            <a:avLst/>
          </a:prstGeom>
          <a:solidFill>
            <a:srgbClr val="92D050"/>
          </a:solidFill>
          <a:ln>
            <a:noFill/>
          </a:ln>
          <a:effectLst/>
        </p:spPr>
        <p:txBody>
          <a:bodyPr wrap="none" anchor="ctr"/>
          <a:lstStyle/>
          <a:p>
            <a:endParaRPr lang="en-US"/>
          </a:p>
        </p:txBody>
      </p:sp>
      <p:cxnSp>
        <p:nvCxnSpPr>
          <p:cNvPr id="34" name="Straight Connector 33">
            <a:extLst>
              <a:ext uri="{FF2B5EF4-FFF2-40B4-BE49-F238E27FC236}">
                <a16:creationId xmlns:a16="http://schemas.microsoft.com/office/drawing/2014/main" id="{BA47E8ED-4880-1C51-987B-AFAC871ED6CB}"/>
              </a:ext>
            </a:extLst>
          </p:cNvPr>
          <p:cNvCxnSpPr/>
          <p:nvPr/>
        </p:nvCxnSpPr>
        <p:spPr>
          <a:xfrm>
            <a:off x="3377160" y="2007957"/>
            <a:ext cx="0" cy="1862294"/>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36" name="Rectangle 39">
            <a:extLst>
              <a:ext uri="{FF2B5EF4-FFF2-40B4-BE49-F238E27FC236}">
                <a16:creationId xmlns:a16="http://schemas.microsoft.com/office/drawing/2014/main" id="{8059781F-1732-4884-FDF9-3C4EF1BB67C7}"/>
              </a:ext>
            </a:extLst>
          </p:cNvPr>
          <p:cNvSpPr>
            <a:spLocks noChangeArrowheads="1"/>
          </p:cNvSpPr>
          <p:nvPr/>
        </p:nvSpPr>
        <p:spPr bwMode="auto">
          <a:xfrm>
            <a:off x="3228562" y="1183570"/>
            <a:ext cx="274637" cy="274637"/>
          </a:xfrm>
          <a:prstGeom prst="rect">
            <a:avLst/>
          </a:prstGeom>
          <a:solidFill>
            <a:srgbClr val="92D050"/>
          </a:solidFill>
          <a:ln>
            <a:noFill/>
          </a:ln>
          <a:effectLst/>
        </p:spPr>
        <p:txBody>
          <a:bodyPr wrap="none" anchor="ctr"/>
          <a:lstStyle/>
          <a:p>
            <a:endParaRPr lang="en-US"/>
          </a:p>
        </p:txBody>
      </p:sp>
      <p:sp>
        <p:nvSpPr>
          <p:cNvPr id="40" name="Rectangle 39">
            <a:extLst>
              <a:ext uri="{FF2B5EF4-FFF2-40B4-BE49-F238E27FC236}">
                <a16:creationId xmlns:a16="http://schemas.microsoft.com/office/drawing/2014/main" id="{7EE213F8-B243-E733-A9C6-626DE18B6AF7}"/>
              </a:ext>
            </a:extLst>
          </p:cNvPr>
          <p:cNvSpPr>
            <a:spLocks noChangeArrowheads="1"/>
          </p:cNvSpPr>
          <p:nvPr/>
        </p:nvSpPr>
        <p:spPr bwMode="auto">
          <a:xfrm>
            <a:off x="3361428" y="1062290"/>
            <a:ext cx="274637" cy="274637"/>
          </a:xfrm>
          <a:prstGeom prst="rect">
            <a:avLst/>
          </a:prstGeom>
          <a:solidFill>
            <a:srgbClr val="92D050"/>
          </a:solidFill>
          <a:ln>
            <a:noFill/>
          </a:ln>
          <a:effectLst/>
        </p:spPr>
        <p:txBody>
          <a:bodyPr wrap="none" anchor="ctr"/>
          <a:lstStyle/>
          <a:p>
            <a:endParaRPr lang="en-US"/>
          </a:p>
        </p:txBody>
      </p:sp>
      <p:sp>
        <p:nvSpPr>
          <p:cNvPr id="42" name="Rectangle 41">
            <a:extLst>
              <a:ext uri="{FF2B5EF4-FFF2-40B4-BE49-F238E27FC236}">
                <a16:creationId xmlns:a16="http://schemas.microsoft.com/office/drawing/2014/main" id="{8A68211C-77DF-7826-C8C2-434756FC57D3}"/>
              </a:ext>
            </a:extLst>
          </p:cNvPr>
          <p:cNvSpPr>
            <a:spLocks noChangeArrowheads="1"/>
          </p:cNvSpPr>
          <p:nvPr/>
        </p:nvSpPr>
        <p:spPr bwMode="auto">
          <a:xfrm>
            <a:off x="2648458" y="2013894"/>
            <a:ext cx="274637" cy="284163"/>
          </a:xfrm>
          <a:prstGeom prst="rect">
            <a:avLst/>
          </a:prstGeom>
          <a:solidFill>
            <a:srgbClr val="0070C0"/>
          </a:solidFill>
          <a:ln>
            <a:noFill/>
          </a:ln>
          <a:effectLst/>
        </p:spPr>
        <p:txBody>
          <a:bodyPr wrap="none" anchor="ctr"/>
          <a:lstStyle/>
          <a:p>
            <a:endParaRPr lang="en-US"/>
          </a:p>
        </p:txBody>
      </p:sp>
      <p:sp>
        <p:nvSpPr>
          <p:cNvPr id="44" name="Rectangle 43">
            <a:extLst>
              <a:ext uri="{FF2B5EF4-FFF2-40B4-BE49-F238E27FC236}">
                <a16:creationId xmlns:a16="http://schemas.microsoft.com/office/drawing/2014/main" id="{8F00462E-EE72-A25B-8753-76C7115301AB}"/>
              </a:ext>
            </a:extLst>
          </p:cNvPr>
          <p:cNvSpPr>
            <a:spLocks noChangeArrowheads="1"/>
          </p:cNvSpPr>
          <p:nvPr/>
        </p:nvSpPr>
        <p:spPr bwMode="auto">
          <a:xfrm>
            <a:off x="2760205" y="1890825"/>
            <a:ext cx="274637" cy="284163"/>
          </a:xfrm>
          <a:prstGeom prst="rect">
            <a:avLst/>
          </a:prstGeom>
          <a:solidFill>
            <a:srgbClr val="0070C0"/>
          </a:solidFill>
          <a:ln>
            <a:noFill/>
          </a:ln>
          <a:effectLst/>
        </p:spPr>
        <p:txBody>
          <a:bodyPr wrap="none" anchor="ctr"/>
          <a:lstStyle/>
          <a:p>
            <a:endParaRPr lang="en-US"/>
          </a:p>
        </p:txBody>
      </p:sp>
      <p:sp>
        <p:nvSpPr>
          <p:cNvPr id="46" name="Rectangle 32">
            <a:extLst>
              <a:ext uri="{FF2B5EF4-FFF2-40B4-BE49-F238E27FC236}">
                <a16:creationId xmlns:a16="http://schemas.microsoft.com/office/drawing/2014/main" id="{B25B1B15-7F99-DBFE-E711-4CFF5F81EEA9}"/>
              </a:ext>
            </a:extLst>
          </p:cNvPr>
          <p:cNvSpPr>
            <a:spLocks noChangeArrowheads="1"/>
          </p:cNvSpPr>
          <p:nvPr/>
        </p:nvSpPr>
        <p:spPr bwMode="auto">
          <a:xfrm>
            <a:off x="3781655" y="2082083"/>
            <a:ext cx="276225" cy="304800"/>
          </a:xfrm>
          <a:prstGeom prst="rect">
            <a:avLst/>
          </a:prstGeom>
          <a:solidFill>
            <a:srgbClr val="7030A0"/>
          </a:solidFill>
          <a:ln>
            <a:noFill/>
          </a:ln>
          <a:effectLst/>
        </p:spPr>
        <p:txBody>
          <a:bodyPr wrap="none" anchor="ctr"/>
          <a:lstStyle/>
          <a:p>
            <a:endParaRPr lang="en-US"/>
          </a:p>
        </p:txBody>
      </p:sp>
      <p:sp>
        <p:nvSpPr>
          <p:cNvPr id="48" name="Rectangle 32">
            <a:extLst>
              <a:ext uri="{FF2B5EF4-FFF2-40B4-BE49-F238E27FC236}">
                <a16:creationId xmlns:a16="http://schemas.microsoft.com/office/drawing/2014/main" id="{8CB7415A-6BE0-B0F6-85D6-AF2E7B2236E8}"/>
              </a:ext>
            </a:extLst>
          </p:cNvPr>
          <p:cNvSpPr>
            <a:spLocks noChangeArrowheads="1"/>
          </p:cNvSpPr>
          <p:nvPr/>
        </p:nvSpPr>
        <p:spPr bwMode="auto">
          <a:xfrm>
            <a:off x="3898375" y="1971119"/>
            <a:ext cx="276225" cy="284352"/>
          </a:xfrm>
          <a:prstGeom prst="rect">
            <a:avLst/>
          </a:prstGeom>
          <a:solidFill>
            <a:srgbClr val="7030A0"/>
          </a:solidFill>
          <a:ln>
            <a:noFill/>
          </a:ln>
          <a:effectLst/>
        </p:spPr>
        <p:txBody>
          <a:bodyPr wrap="none" anchor="ctr"/>
          <a:lstStyle/>
          <a:p>
            <a:endParaRPr lang="en-US"/>
          </a:p>
        </p:txBody>
      </p:sp>
      <p:sp>
        <p:nvSpPr>
          <p:cNvPr id="50" name="Google Shape;248;p56">
            <a:extLst>
              <a:ext uri="{FF2B5EF4-FFF2-40B4-BE49-F238E27FC236}">
                <a16:creationId xmlns:a16="http://schemas.microsoft.com/office/drawing/2014/main" id="{31A06811-B80F-09BB-4C6E-821776B11903}"/>
              </a:ext>
            </a:extLst>
          </p:cNvPr>
          <p:cNvSpPr txBox="1"/>
          <p:nvPr/>
        </p:nvSpPr>
        <p:spPr>
          <a:xfrm>
            <a:off x="1465761" y="893978"/>
            <a:ext cx="1188310" cy="432396"/>
          </a:xfrm>
          <a:prstGeom prst="rect">
            <a:avLst/>
          </a:prstGeom>
          <a:solidFill>
            <a:srgbClr val="00B0F0"/>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bg1"/>
                </a:solidFill>
                <a:effectLst/>
                <a:uLnTx/>
                <a:uFillTx/>
                <a:latin typeface="Lato"/>
                <a:ea typeface="Lato"/>
                <a:cs typeface="Lato"/>
                <a:sym typeface="Lato"/>
              </a:rPr>
              <a:t>data </a:t>
            </a:r>
            <a:r>
              <a:rPr lang="en-US" b="1" dirty="0">
                <a:solidFill>
                  <a:schemeClr val="bg1"/>
                </a:solidFill>
                <a:latin typeface="Lato"/>
                <a:ea typeface="Lato"/>
                <a:cs typeface="Lato"/>
                <a:sym typeface="Lato"/>
              </a:rPr>
              <a:t>admins</a:t>
            </a:r>
            <a:endParaRPr kumimoji="0" lang="en-US"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52" name="Google Shape;248;p56">
            <a:extLst>
              <a:ext uri="{FF2B5EF4-FFF2-40B4-BE49-F238E27FC236}">
                <a16:creationId xmlns:a16="http://schemas.microsoft.com/office/drawing/2014/main" id="{939ECC8A-1503-7562-F3D8-AE589B155B20}"/>
              </a:ext>
            </a:extLst>
          </p:cNvPr>
          <p:cNvSpPr txBox="1"/>
          <p:nvPr/>
        </p:nvSpPr>
        <p:spPr>
          <a:xfrm>
            <a:off x="4454622" y="893978"/>
            <a:ext cx="1088486" cy="432396"/>
          </a:xfrm>
          <a:prstGeom prst="rect">
            <a:avLst/>
          </a:prstGeom>
          <a:solidFill>
            <a:srgbClr val="00B0F0"/>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bg1"/>
                </a:solidFill>
                <a:effectLst/>
                <a:uLnTx/>
                <a:uFillTx/>
                <a:latin typeface="Lato"/>
                <a:ea typeface="Lato"/>
                <a:cs typeface="Lato"/>
                <a:sym typeface="Lato"/>
              </a:rPr>
              <a:t>developers</a:t>
            </a:r>
          </a:p>
        </p:txBody>
      </p:sp>
      <p:cxnSp>
        <p:nvCxnSpPr>
          <p:cNvPr id="54" name="Straight Connector 53">
            <a:extLst>
              <a:ext uri="{FF2B5EF4-FFF2-40B4-BE49-F238E27FC236}">
                <a16:creationId xmlns:a16="http://schemas.microsoft.com/office/drawing/2014/main" id="{5CE324F3-9F92-4D46-F5B9-7572470AAA3A}"/>
              </a:ext>
            </a:extLst>
          </p:cNvPr>
          <p:cNvCxnSpPr/>
          <p:nvPr/>
        </p:nvCxnSpPr>
        <p:spPr>
          <a:xfrm flipV="1">
            <a:off x="3821920" y="3262170"/>
            <a:ext cx="0" cy="530109"/>
          </a:xfrm>
          <a:prstGeom prst="line">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506BE25-4472-CE80-2698-BE3F62D36EED}"/>
              </a:ext>
            </a:extLst>
          </p:cNvPr>
          <p:cNvCxnSpPr/>
          <p:nvPr/>
        </p:nvCxnSpPr>
        <p:spPr>
          <a:xfrm flipV="1">
            <a:off x="3945968" y="3414570"/>
            <a:ext cx="0" cy="53010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FA51C5E-54FF-3CB6-2C11-6AA8F8F8E809}"/>
              </a:ext>
            </a:extLst>
          </p:cNvPr>
          <p:cNvCxnSpPr>
            <a:cxnSpLocks/>
          </p:cNvCxnSpPr>
          <p:nvPr/>
        </p:nvCxnSpPr>
        <p:spPr>
          <a:xfrm flipH="1">
            <a:off x="3048200" y="3932022"/>
            <a:ext cx="898934" cy="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Google Shape;248;p56">
            <a:extLst>
              <a:ext uri="{FF2B5EF4-FFF2-40B4-BE49-F238E27FC236}">
                <a16:creationId xmlns:a16="http://schemas.microsoft.com/office/drawing/2014/main" id="{46CE71A9-A544-9397-93D9-3A10B893C6ED}"/>
              </a:ext>
            </a:extLst>
          </p:cNvPr>
          <p:cNvSpPr txBox="1"/>
          <p:nvPr/>
        </p:nvSpPr>
        <p:spPr>
          <a:xfrm>
            <a:off x="1295298" y="3613387"/>
            <a:ext cx="2142017" cy="680156"/>
          </a:xfrm>
          <a:prstGeom prst="rect">
            <a:avLst/>
          </a:prstGeom>
          <a:noFill/>
          <a:ln>
            <a:noFill/>
          </a:ln>
        </p:spPr>
        <p:txBody>
          <a:bodyPr spcFirstLastPara="1" wrap="square" lIns="91425" tIns="91425" rIns="91425" bIns="91425" anchor="t" anchorCtr="0">
            <a:spAutoFit/>
          </a:bodyPr>
          <a:lstStyle/>
          <a:p>
            <a:pPr marR="0" lvl="0" algn="ctr"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rgbClr val="FF0000"/>
                </a:solidFill>
                <a:effectLst/>
                <a:uLnTx/>
                <a:uFillTx/>
                <a:latin typeface="Lato"/>
                <a:ea typeface="Lato"/>
                <a:cs typeface="Lato"/>
                <a:sym typeface="Lato"/>
              </a:rPr>
              <a:t>missing columns</a:t>
            </a:r>
          </a:p>
          <a:p>
            <a:pPr marR="0" lvl="0" algn="ctr" defTabSz="914400" rtl="0" eaLnBrk="1" fontAlgn="auto" latinLnBrk="0" hangingPunct="1">
              <a:lnSpc>
                <a:spcPct val="115000"/>
              </a:lnSpc>
              <a:spcBef>
                <a:spcPts val="0"/>
              </a:spcBef>
              <a:spcAft>
                <a:spcPts val="0"/>
              </a:spcAft>
              <a:buClr>
                <a:srgbClr val="000000"/>
              </a:buClr>
              <a:buSzTx/>
              <a:tabLst/>
              <a:defRPr/>
            </a:pPr>
            <a:r>
              <a:rPr lang="en-US" b="1" dirty="0">
                <a:solidFill>
                  <a:srgbClr val="FF0000"/>
                </a:solidFill>
                <a:latin typeface="Lato"/>
                <a:ea typeface="Lato"/>
                <a:cs typeface="Lato"/>
                <a:sym typeface="Lato"/>
              </a:rPr>
              <a:t>errors in schema</a:t>
            </a:r>
            <a:endParaRPr kumimoji="0" lang="en-US" b="1" i="0" u="none" strike="noStrike" kern="0" cap="none" spc="0" normalizeH="0" baseline="0" noProof="0" dirty="0">
              <a:ln>
                <a:noFill/>
              </a:ln>
              <a:solidFill>
                <a:srgbClr val="FF0000"/>
              </a:solidFill>
              <a:effectLst/>
              <a:uLnTx/>
              <a:uFillTx/>
              <a:latin typeface="Lato"/>
              <a:ea typeface="Lato"/>
              <a:cs typeface="Lato"/>
              <a:sym typeface="Lato"/>
            </a:endParaRPr>
          </a:p>
        </p:txBody>
      </p:sp>
      <p:cxnSp>
        <p:nvCxnSpPr>
          <p:cNvPr id="60" name="Straight Connector 59">
            <a:extLst>
              <a:ext uri="{FF2B5EF4-FFF2-40B4-BE49-F238E27FC236}">
                <a16:creationId xmlns:a16="http://schemas.microsoft.com/office/drawing/2014/main" id="{1315E258-C566-1D28-F0F5-36D0EDFF6C9F}"/>
              </a:ext>
            </a:extLst>
          </p:cNvPr>
          <p:cNvCxnSpPr>
            <a:cxnSpLocks/>
          </p:cNvCxnSpPr>
          <p:nvPr/>
        </p:nvCxnSpPr>
        <p:spPr>
          <a:xfrm>
            <a:off x="4454622" y="2050462"/>
            <a:ext cx="0" cy="562688"/>
          </a:xfrm>
          <a:prstGeom prst="line">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1986EDC-88D7-4567-4BF1-15051B214B99}"/>
              </a:ext>
            </a:extLst>
          </p:cNvPr>
          <p:cNvCxnSpPr>
            <a:cxnSpLocks/>
          </p:cNvCxnSpPr>
          <p:nvPr/>
        </p:nvCxnSpPr>
        <p:spPr>
          <a:xfrm flipV="1">
            <a:off x="4578670" y="1817028"/>
            <a:ext cx="0" cy="53010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970ACD7-6E0A-5C3A-5F43-9FEED649EACA}"/>
              </a:ext>
            </a:extLst>
          </p:cNvPr>
          <p:cNvCxnSpPr>
            <a:cxnSpLocks/>
          </p:cNvCxnSpPr>
          <p:nvPr/>
        </p:nvCxnSpPr>
        <p:spPr>
          <a:xfrm flipH="1">
            <a:off x="4273606" y="1822495"/>
            <a:ext cx="305064" cy="0"/>
          </a:xfrm>
          <a:prstGeom prst="line">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95" name="Google Shape;248;p56">
            <a:extLst>
              <a:ext uri="{FF2B5EF4-FFF2-40B4-BE49-F238E27FC236}">
                <a16:creationId xmlns:a16="http://schemas.microsoft.com/office/drawing/2014/main" id="{8CEC5381-6C80-D6F7-A4EC-BAC0DFC0B42D}"/>
              </a:ext>
            </a:extLst>
          </p:cNvPr>
          <p:cNvSpPr txBox="1"/>
          <p:nvPr/>
        </p:nvSpPr>
        <p:spPr>
          <a:xfrm>
            <a:off x="3621269" y="1447352"/>
            <a:ext cx="2142017" cy="432396"/>
          </a:xfrm>
          <a:prstGeom prst="rect">
            <a:avLst/>
          </a:prstGeom>
          <a:noFill/>
          <a:ln>
            <a:noFill/>
          </a:ln>
        </p:spPr>
        <p:txBody>
          <a:bodyPr spcFirstLastPara="1" wrap="square" lIns="91425" tIns="91425" rIns="91425" bIns="91425" anchor="t" anchorCtr="0">
            <a:spAutoFit/>
          </a:bodyPr>
          <a:lstStyle/>
          <a:p>
            <a:pPr marR="0" lvl="0" algn="ctr" defTabSz="914400" rtl="0" eaLnBrk="1" fontAlgn="auto" latinLnBrk="0" hangingPunct="1">
              <a:lnSpc>
                <a:spcPct val="115000"/>
              </a:lnSpc>
              <a:spcBef>
                <a:spcPts val="0"/>
              </a:spcBef>
              <a:spcAft>
                <a:spcPts val="0"/>
              </a:spcAft>
              <a:buClr>
                <a:srgbClr val="000000"/>
              </a:buClr>
              <a:buSzTx/>
              <a:tabLst/>
              <a:defRPr/>
            </a:pPr>
            <a:r>
              <a:rPr lang="en-US" b="1" dirty="0">
                <a:solidFill>
                  <a:srgbClr val="FF0000"/>
                </a:solidFill>
                <a:latin typeface="Lato"/>
                <a:ea typeface="Lato"/>
                <a:cs typeface="Lato"/>
                <a:sym typeface="Lato"/>
              </a:rPr>
              <a:t>400 table data model</a:t>
            </a:r>
            <a:endParaRPr kumimoji="0" lang="en-US" b="1" i="0" u="none" strike="noStrike" kern="0" cap="none" spc="0" normalizeH="0" baseline="0" noProof="0" dirty="0">
              <a:ln>
                <a:noFill/>
              </a:ln>
              <a:solidFill>
                <a:srgbClr val="FF0000"/>
              </a:solidFill>
              <a:effectLst/>
              <a:uLnTx/>
              <a:uFillTx/>
              <a:latin typeface="Lato"/>
              <a:ea typeface="Lato"/>
              <a:cs typeface="Lato"/>
              <a:sym typeface="Lato"/>
            </a:endParaRPr>
          </a:p>
        </p:txBody>
      </p:sp>
      <p:cxnSp>
        <p:nvCxnSpPr>
          <p:cNvPr id="196" name="Straight Connector 195">
            <a:extLst>
              <a:ext uri="{FF2B5EF4-FFF2-40B4-BE49-F238E27FC236}">
                <a16:creationId xmlns:a16="http://schemas.microsoft.com/office/drawing/2014/main" id="{FE748198-17E2-E264-74CE-F2E6CD4C1C12}"/>
              </a:ext>
            </a:extLst>
          </p:cNvPr>
          <p:cNvCxnSpPr>
            <a:cxnSpLocks/>
          </p:cNvCxnSpPr>
          <p:nvPr/>
        </p:nvCxnSpPr>
        <p:spPr>
          <a:xfrm flipV="1">
            <a:off x="5190217" y="3235112"/>
            <a:ext cx="0" cy="400160"/>
          </a:xfrm>
          <a:prstGeom prst="line">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98" name="Google Shape;248;p56">
            <a:extLst>
              <a:ext uri="{FF2B5EF4-FFF2-40B4-BE49-F238E27FC236}">
                <a16:creationId xmlns:a16="http://schemas.microsoft.com/office/drawing/2014/main" id="{286C8DFE-678E-F555-10C9-043A023CCD01}"/>
              </a:ext>
            </a:extLst>
          </p:cNvPr>
          <p:cNvSpPr txBox="1"/>
          <p:nvPr/>
        </p:nvSpPr>
        <p:spPr>
          <a:xfrm>
            <a:off x="4153607" y="3576350"/>
            <a:ext cx="1868180" cy="680156"/>
          </a:xfrm>
          <a:prstGeom prst="rect">
            <a:avLst/>
          </a:prstGeom>
          <a:noFill/>
          <a:ln>
            <a:noFill/>
          </a:ln>
        </p:spPr>
        <p:txBody>
          <a:bodyPr spcFirstLastPara="1" wrap="square" lIns="91425" tIns="91425" rIns="91425" bIns="91425" anchor="t" anchorCtr="0">
            <a:spAutoFit/>
          </a:bodyPr>
          <a:lstStyle/>
          <a:p>
            <a:pPr marR="0" lvl="0" algn="ctr"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rgbClr val="FF0000"/>
                </a:solidFill>
                <a:effectLst/>
                <a:uLnTx/>
                <a:uFillTx/>
                <a:latin typeface="Lato"/>
                <a:ea typeface="Lato"/>
                <a:cs typeface="Lato"/>
                <a:sym typeface="Lato"/>
              </a:rPr>
              <a:t>errors in dependencies</a:t>
            </a:r>
          </a:p>
        </p:txBody>
      </p:sp>
      <p:cxnSp>
        <p:nvCxnSpPr>
          <p:cNvPr id="200" name="Straight Connector 199">
            <a:extLst>
              <a:ext uri="{FF2B5EF4-FFF2-40B4-BE49-F238E27FC236}">
                <a16:creationId xmlns:a16="http://schemas.microsoft.com/office/drawing/2014/main" id="{67F67CA5-6CC4-E67A-4541-1900C8A66061}"/>
              </a:ext>
            </a:extLst>
          </p:cNvPr>
          <p:cNvCxnSpPr/>
          <p:nvPr/>
        </p:nvCxnSpPr>
        <p:spPr>
          <a:xfrm flipV="1">
            <a:off x="7223733" y="3225133"/>
            <a:ext cx="0" cy="530109"/>
          </a:xfrm>
          <a:prstGeom prst="line">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147E41D1-3786-B447-7EB6-43235E03D3A7}"/>
              </a:ext>
            </a:extLst>
          </p:cNvPr>
          <p:cNvCxnSpPr/>
          <p:nvPr/>
        </p:nvCxnSpPr>
        <p:spPr>
          <a:xfrm flipV="1">
            <a:off x="7116892" y="3377533"/>
            <a:ext cx="0" cy="53010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C550AB5-103B-9AF1-206A-9E7F2FB6D5D4}"/>
              </a:ext>
            </a:extLst>
          </p:cNvPr>
          <p:cNvCxnSpPr>
            <a:cxnSpLocks/>
          </p:cNvCxnSpPr>
          <p:nvPr/>
        </p:nvCxnSpPr>
        <p:spPr>
          <a:xfrm flipH="1">
            <a:off x="6216096" y="3894985"/>
            <a:ext cx="898934" cy="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3" name="Google Shape;248;p56">
            <a:extLst>
              <a:ext uri="{FF2B5EF4-FFF2-40B4-BE49-F238E27FC236}">
                <a16:creationId xmlns:a16="http://schemas.microsoft.com/office/drawing/2014/main" id="{4B61ED34-5EF5-E203-10CC-C3A8314A9253}"/>
              </a:ext>
            </a:extLst>
          </p:cNvPr>
          <p:cNvSpPr txBox="1"/>
          <p:nvPr/>
        </p:nvSpPr>
        <p:spPr>
          <a:xfrm>
            <a:off x="6186175" y="3867518"/>
            <a:ext cx="2142017" cy="432396"/>
          </a:xfrm>
          <a:prstGeom prst="rect">
            <a:avLst/>
          </a:prstGeom>
          <a:noFill/>
          <a:ln>
            <a:noFill/>
          </a:ln>
        </p:spPr>
        <p:txBody>
          <a:bodyPr spcFirstLastPara="1" wrap="square" lIns="91425" tIns="91425" rIns="91425" bIns="91425" anchor="t" anchorCtr="0">
            <a:spAutoFit/>
          </a:bodyPr>
          <a:lstStyle/>
          <a:p>
            <a:pPr marR="0" lvl="0" algn="ctr"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rgbClr val="FF0000"/>
                </a:solidFill>
                <a:effectLst/>
                <a:uLnTx/>
                <a:uFillTx/>
                <a:latin typeface="Lato"/>
                <a:ea typeface="Lato"/>
                <a:cs typeface="Lato"/>
                <a:sym typeface="Lato"/>
              </a:rPr>
              <a:t>performance issues</a:t>
            </a:r>
          </a:p>
        </p:txBody>
      </p:sp>
      <p:cxnSp>
        <p:nvCxnSpPr>
          <p:cNvPr id="204" name="Straight Connector 203">
            <a:extLst>
              <a:ext uri="{FF2B5EF4-FFF2-40B4-BE49-F238E27FC236}">
                <a16:creationId xmlns:a16="http://schemas.microsoft.com/office/drawing/2014/main" id="{61B397A5-0531-9E14-DF24-4E32096DA3BD}"/>
              </a:ext>
            </a:extLst>
          </p:cNvPr>
          <p:cNvCxnSpPr>
            <a:cxnSpLocks/>
          </p:cNvCxnSpPr>
          <p:nvPr/>
        </p:nvCxnSpPr>
        <p:spPr>
          <a:xfrm>
            <a:off x="7038490" y="2065793"/>
            <a:ext cx="0" cy="562688"/>
          </a:xfrm>
          <a:prstGeom prst="line">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CF72FE7-8D52-6462-6C27-F377A2A2E778}"/>
              </a:ext>
            </a:extLst>
          </p:cNvPr>
          <p:cNvCxnSpPr>
            <a:cxnSpLocks/>
          </p:cNvCxnSpPr>
          <p:nvPr/>
        </p:nvCxnSpPr>
        <p:spPr>
          <a:xfrm flipV="1">
            <a:off x="6928621" y="1835786"/>
            <a:ext cx="0" cy="53010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04D65F8C-387B-D3EB-CD7A-6500DC211023}"/>
              </a:ext>
            </a:extLst>
          </p:cNvPr>
          <p:cNvCxnSpPr>
            <a:cxnSpLocks/>
          </p:cNvCxnSpPr>
          <p:nvPr/>
        </p:nvCxnSpPr>
        <p:spPr>
          <a:xfrm flipH="1">
            <a:off x="6623557" y="1841253"/>
            <a:ext cx="305064" cy="0"/>
          </a:xfrm>
          <a:prstGeom prst="line">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08" name="Google Shape;248;p56">
            <a:extLst>
              <a:ext uri="{FF2B5EF4-FFF2-40B4-BE49-F238E27FC236}">
                <a16:creationId xmlns:a16="http://schemas.microsoft.com/office/drawing/2014/main" id="{3E264089-39CD-CFE2-5B34-E779F5CC0EAA}"/>
              </a:ext>
            </a:extLst>
          </p:cNvPr>
          <p:cNvSpPr txBox="1"/>
          <p:nvPr/>
        </p:nvSpPr>
        <p:spPr>
          <a:xfrm>
            <a:off x="6228442" y="1183908"/>
            <a:ext cx="1814184" cy="680156"/>
          </a:xfrm>
          <a:prstGeom prst="rect">
            <a:avLst/>
          </a:prstGeom>
          <a:noFill/>
          <a:ln>
            <a:noFill/>
          </a:ln>
        </p:spPr>
        <p:txBody>
          <a:bodyPr spcFirstLastPara="1" wrap="square" lIns="91425" tIns="91425" rIns="91425" bIns="91425" anchor="t" anchorCtr="0">
            <a:spAutoFit/>
          </a:bodyPr>
          <a:lstStyle/>
          <a:p>
            <a:pPr marR="0" lvl="0" algn="ctr"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rgbClr val="FF0000"/>
                </a:solidFill>
                <a:effectLst/>
                <a:uLnTx/>
                <a:uFillTx/>
                <a:latin typeface="Lato"/>
                <a:ea typeface="Lato"/>
                <a:cs typeface="Lato"/>
                <a:sym typeface="Lato"/>
              </a:rPr>
              <a:t>incorrect mappings in legacy data</a:t>
            </a:r>
          </a:p>
        </p:txBody>
      </p:sp>
    </p:spTree>
    <p:extLst>
      <p:ext uri="{BB962C8B-B14F-4D97-AF65-F5344CB8AC3E}">
        <p14:creationId xmlns:p14="http://schemas.microsoft.com/office/powerpoint/2010/main" val="215642821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0529CF5-6CC5-3C01-8E32-B1D1484AF03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E950DE1-D0E2-F960-202A-9CCC4EF630C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modified time line: early cut over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2511BF3-2EDF-621A-74DC-88F04CB7C1B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13" name="Rectangle 12">
            <a:extLst>
              <a:ext uri="{FF2B5EF4-FFF2-40B4-BE49-F238E27FC236}">
                <a16:creationId xmlns:a16="http://schemas.microsoft.com/office/drawing/2014/main" id="{CE9F9094-4EC3-66F1-8E80-C1FBE18C664A}"/>
              </a:ext>
            </a:extLst>
          </p:cNvPr>
          <p:cNvSpPr/>
          <p:nvPr/>
        </p:nvSpPr>
        <p:spPr>
          <a:xfrm>
            <a:off x="375684" y="2665228"/>
            <a:ext cx="6953693" cy="531628"/>
          </a:xfrm>
          <a:prstGeom prst="rect">
            <a:avLst/>
          </a:prstGeom>
          <a:gradFill flip="none" rotWithShape="1">
            <a:gsLst>
              <a:gs pos="100000">
                <a:schemeClr val="bg1"/>
              </a:gs>
              <a:gs pos="0">
                <a:srgbClr val="FFC000"/>
              </a:gs>
              <a:gs pos="100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58F4C570-9625-F772-40F5-66B55345B7F2}"/>
              </a:ext>
            </a:extLst>
          </p:cNvPr>
          <p:cNvSpPr/>
          <p:nvPr/>
        </p:nvSpPr>
        <p:spPr>
          <a:xfrm>
            <a:off x="7329377" y="2401937"/>
            <a:ext cx="595423" cy="1062123"/>
          </a:xfrm>
          <a:prstGeom prst="rightArrow">
            <a:avLst>
              <a:gd name="adj1" fmla="val 50000"/>
              <a:gd name="adj2" fmla="val 55182"/>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78F225B9-26F6-FEEE-904F-158A8876D4EB}"/>
              </a:ext>
            </a:extLst>
          </p:cNvPr>
          <p:cNvCxnSpPr/>
          <p:nvPr/>
        </p:nvCxnSpPr>
        <p:spPr>
          <a:xfrm>
            <a:off x="1956390" y="2571750"/>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651285-6A76-2B57-EA5B-820D88763DAB}"/>
              </a:ext>
            </a:extLst>
          </p:cNvPr>
          <p:cNvCxnSpPr/>
          <p:nvPr/>
        </p:nvCxnSpPr>
        <p:spPr>
          <a:xfrm>
            <a:off x="3377608" y="247605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B545C4-2598-4B2A-59BE-C4FD8B75CBE4}"/>
              </a:ext>
            </a:extLst>
          </p:cNvPr>
          <p:cNvCxnSpPr/>
          <p:nvPr/>
        </p:nvCxnSpPr>
        <p:spPr>
          <a:xfrm>
            <a:off x="4685413"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C969F8-138C-4D8D-ABF7-5E87AEA60CED}"/>
              </a:ext>
            </a:extLst>
          </p:cNvPr>
          <p:cNvCxnSpPr/>
          <p:nvPr/>
        </p:nvCxnSpPr>
        <p:spPr>
          <a:xfrm>
            <a:off x="6099544"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Google Shape;248;p56">
            <a:extLst>
              <a:ext uri="{FF2B5EF4-FFF2-40B4-BE49-F238E27FC236}">
                <a16:creationId xmlns:a16="http://schemas.microsoft.com/office/drawing/2014/main" id="{509AE4B5-FE3F-1BF4-B018-73A3A745BB6B}"/>
              </a:ext>
            </a:extLst>
          </p:cNvPr>
          <p:cNvSpPr txBox="1"/>
          <p:nvPr/>
        </p:nvSpPr>
        <p:spPr>
          <a:xfrm>
            <a:off x="1301815" y="2626972"/>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a:t>
            </a:r>
          </a:p>
        </p:txBody>
      </p:sp>
      <p:sp>
        <p:nvSpPr>
          <p:cNvPr id="23" name="Google Shape;248;p56">
            <a:extLst>
              <a:ext uri="{FF2B5EF4-FFF2-40B4-BE49-F238E27FC236}">
                <a16:creationId xmlns:a16="http://schemas.microsoft.com/office/drawing/2014/main" id="{0DAC3626-6C4C-7D26-1261-EC365CC35471}"/>
              </a:ext>
            </a:extLst>
          </p:cNvPr>
          <p:cNvSpPr txBox="1"/>
          <p:nvPr/>
        </p:nvSpPr>
        <p:spPr>
          <a:xfrm>
            <a:off x="1964320"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data model</a:t>
            </a:r>
          </a:p>
        </p:txBody>
      </p:sp>
      <p:sp>
        <p:nvSpPr>
          <p:cNvPr id="25" name="Google Shape;248;p56">
            <a:extLst>
              <a:ext uri="{FF2B5EF4-FFF2-40B4-BE49-F238E27FC236}">
                <a16:creationId xmlns:a16="http://schemas.microsoft.com/office/drawing/2014/main" id="{0E8A6BF0-61B4-E697-D020-64EAE847EFD5}"/>
              </a:ext>
            </a:extLst>
          </p:cNvPr>
          <p:cNvSpPr txBox="1"/>
          <p:nvPr/>
        </p:nvSpPr>
        <p:spPr>
          <a:xfrm>
            <a:off x="3362984" y="2582014"/>
            <a:ext cx="1322429" cy="68015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coding and debugging</a:t>
            </a:r>
          </a:p>
        </p:txBody>
      </p:sp>
      <p:cxnSp>
        <p:nvCxnSpPr>
          <p:cNvPr id="34" name="Straight Connector 33">
            <a:extLst>
              <a:ext uri="{FF2B5EF4-FFF2-40B4-BE49-F238E27FC236}">
                <a16:creationId xmlns:a16="http://schemas.microsoft.com/office/drawing/2014/main" id="{1D7CFEBD-0B60-1EC5-941E-A78D1457B7D3}"/>
              </a:ext>
            </a:extLst>
          </p:cNvPr>
          <p:cNvCxnSpPr/>
          <p:nvPr/>
        </p:nvCxnSpPr>
        <p:spPr>
          <a:xfrm>
            <a:off x="3377160" y="2007957"/>
            <a:ext cx="0" cy="1862294"/>
          </a:xfrm>
          <a:prstGeom prst="line">
            <a:avLst/>
          </a:prstGeom>
          <a:ln>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626231B-421F-DB97-870D-AEF988388C86}"/>
              </a:ext>
            </a:extLst>
          </p:cNvPr>
          <p:cNvCxnSpPr>
            <a:cxnSpLocks/>
          </p:cNvCxnSpPr>
          <p:nvPr/>
        </p:nvCxnSpPr>
        <p:spPr>
          <a:xfrm flipV="1">
            <a:off x="3033405" y="2374603"/>
            <a:ext cx="0" cy="394860"/>
          </a:xfrm>
          <a:prstGeom prst="line">
            <a:avLst/>
          </a:prstGeom>
          <a:ln w="25400">
            <a:solidFill>
              <a:srgbClr val="00B0F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582F76D-F71E-6107-660D-B6884489E697}"/>
              </a:ext>
            </a:extLst>
          </p:cNvPr>
          <p:cNvCxnSpPr>
            <a:cxnSpLocks/>
          </p:cNvCxnSpPr>
          <p:nvPr/>
        </p:nvCxnSpPr>
        <p:spPr>
          <a:xfrm flipH="1">
            <a:off x="3033405" y="2360634"/>
            <a:ext cx="1184176" cy="0"/>
          </a:xfrm>
          <a:prstGeom prst="line">
            <a:avLst/>
          </a:prstGeom>
          <a:ln w="25400">
            <a:solidFill>
              <a:srgbClr val="00B0F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5" name="Google Shape;248;p56">
            <a:extLst>
              <a:ext uri="{FF2B5EF4-FFF2-40B4-BE49-F238E27FC236}">
                <a16:creationId xmlns:a16="http://schemas.microsoft.com/office/drawing/2014/main" id="{2D12101C-8E03-9067-A374-C45E0B67FF2B}"/>
              </a:ext>
            </a:extLst>
          </p:cNvPr>
          <p:cNvSpPr txBox="1"/>
          <p:nvPr/>
        </p:nvSpPr>
        <p:spPr>
          <a:xfrm>
            <a:off x="2953189" y="1975294"/>
            <a:ext cx="2142017" cy="432396"/>
          </a:xfrm>
          <a:prstGeom prst="rect">
            <a:avLst/>
          </a:prstGeom>
          <a:noFill/>
          <a:ln>
            <a:noFill/>
          </a:ln>
        </p:spPr>
        <p:txBody>
          <a:bodyPr spcFirstLastPara="1" wrap="square" lIns="91425" tIns="91425" rIns="91425" bIns="91425" anchor="t" anchorCtr="0">
            <a:spAutoFit/>
          </a:bodyPr>
          <a:lstStyle/>
          <a:p>
            <a:pPr marR="0" lvl="0" algn="ctr" defTabSz="914400" rtl="0" eaLnBrk="1" fontAlgn="auto" latinLnBrk="0" hangingPunct="1">
              <a:lnSpc>
                <a:spcPct val="115000"/>
              </a:lnSpc>
              <a:spcBef>
                <a:spcPts val="0"/>
              </a:spcBef>
              <a:spcAft>
                <a:spcPts val="0"/>
              </a:spcAft>
              <a:buClr>
                <a:srgbClr val="000000"/>
              </a:buClr>
              <a:buSzTx/>
              <a:tabLst/>
              <a:defRPr/>
            </a:pPr>
            <a:r>
              <a:rPr lang="en-US" b="1" dirty="0">
                <a:solidFill>
                  <a:srgbClr val="00B0F0"/>
                </a:solidFill>
                <a:latin typeface="Lato"/>
                <a:ea typeface="Lato"/>
                <a:cs typeface="Lato"/>
                <a:sym typeface="Lato"/>
              </a:rPr>
              <a:t>data cut over</a:t>
            </a:r>
            <a:endParaRPr kumimoji="0" lang="en-US" b="1"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2" name="Rectangle 1">
            <a:extLst>
              <a:ext uri="{FF2B5EF4-FFF2-40B4-BE49-F238E27FC236}">
                <a16:creationId xmlns:a16="http://schemas.microsoft.com/office/drawing/2014/main" id="{941F125A-0ABA-C7F7-1816-D197D51754CA}"/>
              </a:ext>
            </a:extLst>
          </p:cNvPr>
          <p:cNvSpPr/>
          <p:nvPr/>
        </p:nvSpPr>
        <p:spPr>
          <a:xfrm>
            <a:off x="4692505" y="2401937"/>
            <a:ext cx="3657172" cy="11351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61B2B77-2518-5F31-C3C2-4D705F462FBD}"/>
              </a:ext>
            </a:extLst>
          </p:cNvPr>
          <p:cNvSpPr txBox="1"/>
          <p:nvPr/>
        </p:nvSpPr>
        <p:spPr>
          <a:xfrm>
            <a:off x="5029167" y="1430635"/>
            <a:ext cx="3930531" cy="2677656"/>
          </a:xfrm>
          <a:prstGeom prst="rect">
            <a:avLst/>
          </a:prstGeom>
          <a:noFill/>
        </p:spPr>
        <p:txBody>
          <a:bodyPr wrap="square" rtlCol="0">
            <a:spAutoFit/>
          </a:bodyPr>
          <a:lstStyle/>
          <a:p>
            <a:pPr marL="227013" indent="-227013">
              <a:buFont typeface="Arial" panose="020B0604020202020204" pitchFamily="34" charset="0"/>
              <a:buChar char="•"/>
            </a:pPr>
            <a:r>
              <a:rPr lang="en-US" b="1" dirty="0">
                <a:solidFill>
                  <a:schemeClr val="tx1"/>
                </a:solidFill>
                <a:latin typeface="Lato" panose="020B0604020202020204" charset="0"/>
                <a:cs typeface="Lato" panose="020B0604020202020204" charset="0"/>
              </a:rPr>
              <a:t>legacy system data is loaded into the new system as soon as the data model is completed</a:t>
            </a:r>
          </a:p>
          <a:p>
            <a:pPr marL="227013" indent="-227013">
              <a:buFont typeface="Arial" panose="020B0604020202020204" pitchFamily="34" charset="0"/>
              <a:buChar char="•"/>
            </a:pPr>
            <a:r>
              <a:rPr lang="en-US" b="1" dirty="0">
                <a:solidFill>
                  <a:schemeClr val="tx1"/>
                </a:solidFill>
                <a:latin typeface="Lato" panose="020B0604020202020204" charset="0"/>
                <a:cs typeface="Lato" panose="020B0604020202020204" charset="0"/>
              </a:rPr>
              <a:t>loading the legacy data will uncover forgotten conditions and usages of legacy fields</a:t>
            </a:r>
          </a:p>
          <a:p>
            <a:pPr marL="227013" indent="-227013">
              <a:buFont typeface="Arial" panose="020B0604020202020204" pitchFamily="34" charset="0"/>
              <a:buChar char="•"/>
            </a:pPr>
            <a:r>
              <a:rPr lang="en-US" b="1" dirty="0">
                <a:solidFill>
                  <a:schemeClr val="tx1"/>
                </a:solidFill>
                <a:latin typeface="Lato" panose="020B0604020202020204" charset="0"/>
                <a:cs typeface="Lato" panose="020B0604020202020204" charset="0"/>
              </a:rPr>
              <a:t>development is performed with "production size" data</a:t>
            </a:r>
          </a:p>
          <a:p>
            <a:pPr marL="227013" indent="-227013">
              <a:buFont typeface="Arial" panose="020B0604020202020204" pitchFamily="34" charset="0"/>
              <a:buChar char="•"/>
            </a:pPr>
            <a:r>
              <a:rPr lang="en-US" b="1" dirty="0">
                <a:solidFill>
                  <a:schemeClr val="tx1"/>
                </a:solidFill>
                <a:latin typeface="Lato" panose="020B0604020202020204" charset="0"/>
                <a:cs typeface="Lato" panose="020B0604020202020204" charset="0"/>
              </a:rPr>
              <a:t>conversion scripts may be completed by engineers who are not on the "critical path"</a:t>
            </a:r>
          </a:p>
          <a:p>
            <a:pPr marL="227013" indent="-227013">
              <a:buFont typeface="Arial" panose="020B0604020202020204" pitchFamily="34" charset="0"/>
              <a:buChar char="•"/>
            </a:pPr>
            <a:r>
              <a:rPr lang="en-US" b="1" dirty="0">
                <a:solidFill>
                  <a:schemeClr val="tx1"/>
                </a:solidFill>
                <a:latin typeface="Lato" panose="020B0604020202020204" charset="0"/>
                <a:cs typeface="Lato" panose="020B0604020202020204" charset="0"/>
              </a:rPr>
              <a:t>allows for early measurement of the amount of work and difficulties of migrating</a:t>
            </a:r>
          </a:p>
        </p:txBody>
      </p:sp>
    </p:spTree>
    <p:extLst>
      <p:ext uri="{BB962C8B-B14F-4D97-AF65-F5344CB8AC3E}">
        <p14:creationId xmlns:p14="http://schemas.microsoft.com/office/powerpoint/2010/main" val="63055583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3D9D31E-E2C9-6E97-7FA9-D70F04542AF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3B3DB45-C30A-8E54-6667-C947A81EF272}"/>
              </a:ext>
            </a:extLst>
          </p:cNvPr>
          <p:cNvPicPr>
            <a:picLocks noChangeAspect="1"/>
          </p:cNvPicPr>
          <p:nvPr/>
        </p:nvPicPr>
        <p:blipFill>
          <a:blip r:embed="rId3"/>
          <a:stretch>
            <a:fillRect/>
          </a:stretch>
        </p:blipFill>
        <p:spPr>
          <a:xfrm flipH="1">
            <a:off x="2156431" y="1478585"/>
            <a:ext cx="2415569" cy="2496427"/>
          </a:xfrm>
          <a:prstGeom prst="rect">
            <a:avLst/>
          </a:prstGeom>
        </p:spPr>
      </p:pic>
      <p:sp>
        <p:nvSpPr>
          <p:cNvPr id="242" name="Google Shape;242;p56">
            <a:extLst>
              <a:ext uri="{FF2B5EF4-FFF2-40B4-BE49-F238E27FC236}">
                <a16:creationId xmlns:a16="http://schemas.microsoft.com/office/drawing/2014/main" id="{8365408A-374F-93AB-236C-E867AD84D4A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modified time line: process model</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1A09CB3-A47E-119F-D220-0F5AF78FCED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F4F7D2F-6C29-BC41-E7AE-98814AD4DC56}"/>
              </a:ext>
            </a:extLst>
          </p:cNvPr>
          <p:cNvSpPr txBox="1"/>
          <p:nvPr/>
        </p:nvSpPr>
        <p:spPr>
          <a:xfrm>
            <a:off x="4961860" y="992871"/>
            <a:ext cx="3924139" cy="3157757"/>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 </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complete data model is created from the careful review of the business being performed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process model is a record of the information that the data administrators should already have attained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final product of a process model is a set of SQL API calls</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application developer is given the set of SQL API calls. the developer does not have to interpret a 400 table schema</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o more embedded SQL statements</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0A216A5E-6299-BFE3-9F6E-05A33500F3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70220" y="797859"/>
            <a:ext cx="1810710" cy="3264500"/>
          </a:xfrm>
          <a:prstGeom prst="rect">
            <a:avLst/>
          </a:prstGeom>
        </p:spPr>
      </p:pic>
      <p:sp>
        <p:nvSpPr>
          <p:cNvPr id="10" name="Google Shape;248;p56">
            <a:extLst>
              <a:ext uri="{FF2B5EF4-FFF2-40B4-BE49-F238E27FC236}">
                <a16:creationId xmlns:a16="http://schemas.microsoft.com/office/drawing/2014/main" id="{4B5505F8-9662-819E-F15E-837AE3327A53}"/>
              </a:ext>
            </a:extLst>
          </p:cNvPr>
          <p:cNvSpPr txBox="1"/>
          <p:nvPr/>
        </p:nvSpPr>
        <p:spPr>
          <a:xfrm>
            <a:off x="954779" y="1051160"/>
            <a:ext cx="1538177" cy="68015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add two more customers</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12" name="Google Shape;248;p56">
            <a:extLst>
              <a:ext uri="{FF2B5EF4-FFF2-40B4-BE49-F238E27FC236}">
                <a16:creationId xmlns:a16="http://schemas.microsoft.com/office/drawing/2014/main" id="{A49CFEF9-9C97-3D1F-A0E0-A91CC8EF5E2D}"/>
              </a:ext>
            </a:extLst>
          </p:cNvPr>
          <p:cNvSpPr txBox="1"/>
          <p:nvPr/>
        </p:nvSpPr>
        <p:spPr>
          <a:xfrm>
            <a:off x="2821171" y="3273365"/>
            <a:ext cx="1538177" cy="43239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database server</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14" name="Google Shape;248;p56">
            <a:extLst>
              <a:ext uri="{FF2B5EF4-FFF2-40B4-BE49-F238E27FC236}">
                <a16:creationId xmlns:a16="http://schemas.microsoft.com/office/drawing/2014/main" id="{55068643-DE8F-C639-06AA-1355B9E69926}"/>
              </a:ext>
            </a:extLst>
          </p:cNvPr>
          <p:cNvSpPr txBox="1"/>
          <p:nvPr/>
        </p:nvSpPr>
        <p:spPr>
          <a:xfrm>
            <a:off x="2048950" y="4062359"/>
            <a:ext cx="1034121" cy="43239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tx1"/>
                </a:solidFill>
                <a:effectLst/>
                <a:uLnTx/>
                <a:uFillTx/>
                <a:latin typeface="Lato"/>
                <a:ea typeface="Lato"/>
                <a:cs typeface="Lato"/>
                <a:sym typeface="Lato"/>
              </a:rPr>
              <a:t>back end</a:t>
            </a:r>
            <a:endParaRPr kumimoji="0" b="0" i="0" u="none" strike="noStrike" kern="0" cap="none" spc="0" normalizeH="0" baseline="0" noProof="0" dirty="0">
              <a:ln>
                <a:noFill/>
              </a:ln>
              <a:solidFill>
                <a:schemeClr val="tx1"/>
              </a:solidFill>
              <a:effectLst/>
              <a:uLnTx/>
              <a:uFillTx/>
              <a:latin typeface="Lato"/>
              <a:ea typeface="Lato"/>
              <a:cs typeface="Lato"/>
              <a:sym typeface="Lato"/>
            </a:endParaRPr>
          </a:p>
        </p:txBody>
      </p:sp>
      <p:sp>
        <p:nvSpPr>
          <p:cNvPr id="16" name="Google Shape;248;p56">
            <a:extLst>
              <a:ext uri="{FF2B5EF4-FFF2-40B4-BE49-F238E27FC236}">
                <a16:creationId xmlns:a16="http://schemas.microsoft.com/office/drawing/2014/main" id="{016AF3B5-6F6B-2ADD-3407-6398BF563479}"/>
              </a:ext>
            </a:extLst>
          </p:cNvPr>
          <p:cNvSpPr txBox="1"/>
          <p:nvPr/>
        </p:nvSpPr>
        <p:spPr>
          <a:xfrm>
            <a:off x="1099869" y="4062359"/>
            <a:ext cx="1034121" cy="432396"/>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chemeClr val="tx1"/>
                </a:solidFill>
                <a:effectLst/>
                <a:uLnTx/>
                <a:uFillTx/>
                <a:latin typeface="Lato"/>
                <a:ea typeface="Lato"/>
                <a:cs typeface="Lato"/>
                <a:sym typeface="Lato"/>
              </a:rPr>
              <a:t>front end</a:t>
            </a:r>
            <a:endParaRPr kumimoji="0" b="0" i="0" u="none" strike="noStrike" kern="0" cap="none" spc="0" normalizeH="0" baseline="0" noProof="0" dirty="0">
              <a:ln>
                <a:noFill/>
              </a:ln>
              <a:solidFill>
                <a:schemeClr val="tx1"/>
              </a:solidFill>
              <a:effectLst/>
              <a:uLnTx/>
              <a:uFillTx/>
              <a:latin typeface="Lato"/>
              <a:ea typeface="Lato"/>
              <a:cs typeface="Lato"/>
              <a:sym typeface="Lato"/>
            </a:endParaRPr>
          </a:p>
        </p:txBody>
      </p:sp>
      <p:cxnSp>
        <p:nvCxnSpPr>
          <p:cNvPr id="18" name="Straight Connector 17">
            <a:extLst>
              <a:ext uri="{FF2B5EF4-FFF2-40B4-BE49-F238E27FC236}">
                <a16:creationId xmlns:a16="http://schemas.microsoft.com/office/drawing/2014/main" id="{2D6AF629-1209-95AC-D69D-D89A112880EE}"/>
              </a:ext>
            </a:extLst>
          </p:cNvPr>
          <p:cNvCxnSpPr>
            <a:cxnSpLocks/>
          </p:cNvCxnSpPr>
          <p:nvPr/>
        </p:nvCxnSpPr>
        <p:spPr>
          <a:xfrm>
            <a:off x="2098158" y="3813544"/>
            <a:ext cx="0" cy="744279"/>
          </a:xfrm>
          <a:prstGeom prst="line">
            <a:avLst/>
          </a:prstGeom>
          <a:ln w="254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76334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59D471B-EB97-FB21-2388-FE85F3A411D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6AE19DF-B855-E926-902F-4B8733EF476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steps to create a process model</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3EC9EF4-8EED-1055-CF64-A8F97F2F5F5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114C4A4-EC0D-0340-8B4C-76F1A94B2259}"/>
              </a:ext>
            </a:extLst>
          </p:cNvPr>
          <p:cNvSpPr txBox="1"/>
          <p:nvPr/>
        </p:nvSpPr>
        <p:spPr>
          <a:xfrm>
            <a:off x="315981" y="1244428"/>
            <a:ext cx="2824168" cy="3157757"/>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tart with the </a:t>
            </a:r>
            <a:r>
              <a:rPr lang="en-US" dirty="0">
                <a:latin typeface="Lato"/>
                <a:ea typeface="Lato"/>
                <a:cs typeface="Lato"/>
                <a:sym typeface="Lato"/>
              </a:rPr>
              <a:t>d</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ata</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model</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l</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ist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each program deliverable to be found in the application system</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l</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ist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every program event witnessed by each program deliverable</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uthor</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the SQL DML statements associated with each program event</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c</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reate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SQL API calls for each distinct business function</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214F9B85-5558-2837-3EE2-3B434584D460}"/>
              </a:ext>
            </a:extLst>
          </p:cNvPr>
          <p:cNvPicPr>
            <a:picLocks noChangeAspect="1"/>
          </p:cNvPicPr>
          <p:nvPr/>
        </p:nvPicPr>
        <p:blipFill>
          <a:blip r:embed="rId3"/>
          <a:stretch>
            <a:fillRect/>
          </a:stretch>
        </p:blipFill>
        <p:spPr>
          <a:xfrm>
            <a:off x="6500645" y="1176790"/>
            <a:ext cx="2246155" cy="3087345"/>
          </a:xfrm>
          <a:prstGeom prst="rect">
            <a:avLst/>
          </a:prstGeom>
        </p:spPr>
      </p:pic>
      <p:sp>
        <p:nvSpPr>
          <p:cNvPr id="6" name="Google Shape;248;p56">
            <a:extLst>
              <a:ext uri="{FF2B5EF4-FFF2-40B4-BE49-F238E27FC236}">
                <a16:creationId xmlns:a16="http://schemas.microsoft.com/office/drawing/2014/main" id="{BCEFCADF-B2B1-B401-1117-7BC531E83EDD}"/>
              </a:ext>
            </a:extLst>
          </p:cNvPr>
          <p:cNvSpPr txBox="1"/>
          <p:nvPr/>
        </p:nvSpPr>
        <p:spPr>
          <a:xfrm>
            <a:off x="6542744" y="1113506"/>
            <a:ext cx="2161955" cy="750945"/>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1" i="0" u="none" strike="noStrike" kern="0" cap="none" spc="0" normalizeH="0" baseline="0" noProof="0" dirty="0">
                <a:ln>
                  <a:noFill/>
                </a:ln>
                <a:solidFill>
                  <a:schemeClr val="bg1"/>
                </a:solidFill>
                <a:effectLst/>
                <a:uLnTx/>
                <a:uFillTx/>
                <a:latin typeface="Lato"/>
                <a:ea typeface="Lato"/>
                <a:cs typeface="Lato"/>
                <a:sym typeface="Lato"/>
              </a:rPr>
              <a:t>entity relationship diagram</a:t>
            </a:r>
            <a:endParaRPr kumimoji="0" sz="1600" b="1" i="0" u="none" strike="noStrike" kern="0" cap="none" spc="0" normalizeH="0" baseline="0" noProof="0" dirty="0">
              <a:ln>
                <a:noFill/>
              </a:ln>
              <a:solidFill>
                <a:schemeClr val="bg1"/>
              </a:solidFill>
              <a:effectLst/>
              <a:uLnTx/>
              <a:uFillTx/>
              <a:latin typeface="Lato"/>
              <a:ea typeface="Lato"/>
              <a:cs typeface="Lato"/>
              <a:sym typeface="Lato"/>
            </a:endParaRPr>
          </a:p>
        </p:txBody>
      </p:sp>
      <p:pic>
        <p:nvPicPr>
          <p:cNvPr id="60" name="Picture 59">
            <a:extLst>
              <a:ext uri="{FF2B5EF4-FFF2-40B4-BE49-F238E27FC236}">
                <a16:creationId xmlns:a16="http://schemas.microsoft.com/office/drawing/2014/main" id="{8D27F07B-9A75-7ECC-52D1-95CC9F56A33A}"/>
              </a:ext>
            </a:extLst>
          </p:cNvPr>
          <p:cNvPicPr>
            <a:picLocks noChangeAspect="1"/>
          </p:cNvPicPr>
          <p:nvPr/>
        </p:nvPicPr>
        <p:blipFill>
          <a:blip r:embed="rId4"/>
          <a:stretch>
            <a:fillRect/>
          </a:stretch>
        </p:blipFill>
        <p:spPr>
          <a:xfrm>
            <a:off x="4427905" y="1015328"/>
            <a:ext cx="1099015" cy="3615956"/>
          </a:xfrm>
          <a:prstGeom prst="rect">
            <a:avLst/>
          </a:prstGeom>
        </p:spPr>
      </p:pic>
      <p:cxnSp>
        <p:nvCxnSpPr>
          <p:cNvPr id="62" name="Straight Connector 61">
            <a:extLst>
              <a:ext uri="{FF2B5EF4-FFF2-40B4-BE49-F238E27FC236}">
                <a16:creationId xmlns:a16="http://schemas.microsoft.com/office/drawing/2014/main" id="{5EB791BB-41EE-4494-DFB5-BD348F1C8399}"/>
              </a:ext>
            </a:extLst>
          </p:cNvPr>
          <p:cNvCxnSpPr>
            <a:cxnSpLocks/>
          </p:cNvCxnSpPr>
          <p:nvPr/>
        </p:nvCxnSpPr>
        <p:spPr>
          <a:xfrm>
            <a:off x="5486400" y="1318437"/>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299F8F9-1C44-A162-10A9-699036146CC5}"/>
              </a:ext>
            </a:extLst>
          </p:cNvPr>
          <p:cNvCxnSpPr>
            <a:cxnSpLocks/>
          </p:cNvCxnSpPr>
          <p:nvPr/>
        </p:nvCxnSpPr>
        <p:spPr>
          <a:xfrm>
            <a:off x="5486400" y="1924493"/>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55BBDFF1-9875-DD11-7251-4851A360B65A}"/>
              </a:ext>
            </a:extLst>
          </p:cNvPr>
          <p:cNvCxnSpPr>
            <a:cxnSpLocks/>
          </p:cNvCxnSpPr>
          <p:nvPr/>
        </p:nvCxnSpPr>
        <p:spPr>
          <a:xfrm>
            <a:off x="5486400" y="2495107"/>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7C04FB44-8782-BDB6-B069-26CC1F00730E}"/>
              </a:ext>
            </a:extLst>
          </p:cNvPr>
          <p:cNvCxnSpPr>
            <a:cxnSpLocks/>
          </p:cNvCxnSpPr>
          <p:nvPr/>
        </p:nvCxnSpPr>
        <p:spPr>
          <a:xfrm>
            <a:off x="5486400" y="3108251"/>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7E223B17-D9DE-6B32-61C8-2419C6EC1BF9}"/>
              </a:ext>
            </a:extLst>
          </p:cNvPr>
          <p:cNvCxnSpPr>
            <a:cxnSpLocks/>
          </p:cNvCxnSpPr>
          <p:nvPr/>
        </p:nvCxnSpPr>
        <p:spPr>
          <a:xfrm>
            <a:off x="5486400" y="3707218"/>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E6182BE6-0A81-AD5F-5529-276DA50BCACB}"/>
              </a:ext>
            </a:extLst>
          </p:cNvPr>
          <p:cNvCxnSpPr>
            <a:cxnSpLocks/>
          </p:cNvCxnSpPr>
          <p:nvPr/>
        </p:nvCxnSpPr>
        <p:spPr>
          <a:xfrm>
            <a:off x="5486400" y="4391552"/>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3D688A26-75DC-EA1F-24FF-AFFE3234B2CB}"/>
              </a:ext>
            </a:extLst>
          </p:cNvPr>
          <p:cNvCxnSpPr>
            <a:cxnSpLocks/>
          </p:cNvCxnSpPr>
          <p:nvPr/>
        </p:nvCxnSpPr>
        <p:spPr>
          <a:xfrm flipV="1">
            <a:off x="5805377" y="1311349"/>
            <a:ext cx="0" cy="309083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C9680F8-D067-E001-044F-A25745E9E44D}"/>
              </a:ext>
            </a:extLst>
          </p:cNvPr>
          <p:cNvCxnSpPr>
            <a:cxnSpLocks/>
          </p:cNvCxnSpPr>
          <p:nvPr/>
        </p:nvCxnSpPr>
        <p:spPr>
          <a:xfrm>
            <a:off x="5805377" y="2147777"/>
            <a:ext cx="737367" cy="0"/>
          </a:xfrm>
          <a:prstGeom prst="line">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00993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1E5B25B-095B-AD83-CAB4-1900B5320632}"/>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22410DE4-A972-2620-895F-3886B88B059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9E5FDE2B-A294-EE02-0295-B7C2CA62B0EB}"/>
              </a:ext>
            </a:extLst>
          </p:cNvPr>
          <p:cNvPicPr>
            <a:picLocks noChangeAspect="1"/>
          </p:cNvPicPr>
          <p:nvPr/>
        </p:nvPicPr>
        <p:blipFill>
          <a:blip r:embed="rId3"/>
          <a:stretch>
            <a:fillRect/>
          </a:stretch>
        </p:blipFill>
        <p:spPr>
          <a:xfrm>
            <a:off x="598242" y="1370974"/>
            <a:ext cx="3711488" cy="2401551"/>
          </a:xfrm>
          <a:prstGeom prst="rect">
            <a:avLst/>
          </a:prstGeom>
        </p:spPr>
      </p:pic>
      <p:sp>
        <p:nvSpPr>
          <p:cNvPr id="5" name="TextBox 4">
            <a:extLst>
              <a:ext uri="{FF2B5EF4-FFF2-40B4-BE49-F238E27FC236}">
                <a16:creationId xmlns:a16="http://schemas.microsoft.com/office/drawing/2014/main" id="{555AFC60-6591-D50E-EE1C-1E3262F589C1}"/>
              </a:ext>
            </a:extLst>
          </p:cNvPr>
          <p:cNvSpPr txBox="1"/>
          <p:nvPr/>
        </p:nvSpPr>
        <p:spPr>
          <a:xfrm>
            <a:off x="5730949" y="1238103"/>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are the steps to add a new customer order ? </a:t>
            </a:r>
          </a:p>
        </p:txBody>
      </p:sp>
      <p:cxnSp>
        <p:nvCxnSpPr>
          <p:cNvPr id="6" name="Straight Connector 5">
            <a:extLst>
              <a:ext uri="{FF2B5EF4-FFF2-40B4-BE49-F238E27FC236}">
                <a16:creationId xmlns:a16="http://schemas.microsoft.com/office/drawing/2014/main" id="{20035864-82E8-8801-68B4-44EABB5DB708}"/>
              </a:ext>
            </a:extLst>
          </p:cNvPr>
          <p:cNvCxnSpPr>
            <a:cxnSpLocks/>
          </p:cNvCxnSpPr>
          <p:nvPr/>
        </p:nvCxnSpPr>
        <p:spPr>
          <a:xfrm>
            <a:off x="4862623" y="1060917"/>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68D4851-DE7E-DF4D-40BC-A60D8EC6B89F}"/>
              </a:ext>
            </a:extLst>
          </p:cNvPr>
          <p:cNvCxnSpPr>
            <a:cxnSpLocks/>
          </p:cNvCxnSpPr>
          <p:nvPr/>
        </p:nvCxnSpPr>
        <p:spPr>
          <a:xfrm>
            <a:off x="4862623" y="1068005"/>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7E9987-41B4-E971-762F-F3F190DFCABD}"/>
              </a:ext>
            </a:extLst>
          </p:cNvPr>
          <p:cNvCxnSpPr>
            <a:cxnSpLocks/>
          </p:cNvCxnSpPr>
          <p:nvPr/>
        </p:nvCxnSpPr>
        <p:spPr>
          <a:xfrm>
            <a:off x="4862623" y="1873028"/>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2CD9C31-F5E9-A7D7-FE9A-2285A7912D7E}"/>
              </a:ext>
            </a:extLst>
          </p:cNvPr>
          <p:cNvCxnSpPr>
            <a:cxnSpLocks/>
          </p:cNvCxnSpPr>
          <p:nvPr/>
        </p:nvCxnSpPr>
        <p:spPr>
          <a:xfrm>
            <a:off x="4862623" y="3483074"/>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7FBD13B-A55E-E4CA-B0FF-C6DCC0F04698}"/>
              </a:ext>
            </a:extLst>
          </p:cNvPr>
          <p:cNvCxnSpPr>
            <a:cxnSpLocks/>
          </p:cNvCxnSpPr>
          <p:nvPr/>
        </p:nvCxnSpPr>
        <p:spPr>
          <a:xfrm>
            <a:off x="4862623" y="4288097"/>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4CA0D58-8F47-6456-2877-3B84DF48C356}"/>
              </a:ext>
            </a:extLst>
          </p:cNvPr>
          <p:cNvCxnSpPr>
            <a:cxnSpLocks/>
          </p:cNvCxnSpPr>
          <p:nvPr/>
        </p:nvCxnSpPr>
        <p:spPr>
          <a:xfrm>
            <a:off x="4862623" y="2678051"/>
            <a:ext cx="376313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42B320-1211-2C95-34FD-D69877C3DAD0}"/>
              </a:ext>
            </a:extLst>
          </p:cNvPr>
          <p:cNvCxnSpPr>
            <a:cxnSpLocks/>
          </p:cNvCxnSpPr>
          <p:nvPr/>
        </p:nvCxnSpPr>
        <p:spPr>
          <a:xfrm>
            <a:off x="5730949" y="1054431"/>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D5C2D29-AE96-A528-9303-CB6C432C9C3C}"/>
              </a:ext>
            </a:extLst>
          </p:cNvPr>
          <p:cNvCxnSpPr>
            <a:cxnSpLocks/>
          </p:cNvCxnSpPr>
          <p:nvPr/>
        </p:nvCxnSpPr>
        <p:spPr>
          <a:xfrm>
            <a:off x="8625757" y="106800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39AAABB-5878-3B40-9E34-0922A651618D}"/>
              </a:ext>
            </a:extLst>
          </p:cNvPr>
          <p:cNvSpPr txBox="1"/>
          <p:nvPr/>
        </p:nvSpPr>
        <p:spPr>
          <a:xfrm>
            <a:off x="5738554" y="1999128"/>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is the SQL SELECT statement for the report that I have to write ?</a:t>
            </a:r>
          </a:p>
        </p:txBody>
      </p:sp>
      <p:sp>
        <p:nvSpPr>
          <p:cNvPr id="19" name="TextBox 18">
            <a:extLst>
              <a:ext uri="{FF2B5EF4-FFF2-40B4-BE49-F238E27FC236}">
                <a16:creationId xmlns:a16="http://schemas.microsoft.com/office/drawing/2014/main" id="{FED87DDC-E581-DEAE-C2DF-233005C499B5}"/>
              </a:ext>
            </a:extLst>
          </p:cNvPr>
          <p:cNvSpPr txBox="1"/>
          <p:nvPr/>
        </p:nvSpPr>
        <p:spPr>
          <a:xfrm>
            <a:off x="5738554" y="2859232"/>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is the anticipated performance of my mission critical SQL services ?</a:t>
            </a:r>
          </a:p>
        </p:txBody>
      </p:sp>
      <p:sp>
        <p:nvSpPr>
          <p:cNvPr id="21" name="TextBox 20">
            <a:extLst>
              <a:ext uri="{FF2B5EF4-FFF2-40B4-BE49-F238E27FC236}">
                <a16:creationId xmlns:a16="http://schemas.microsoft.com/office/drawing/2014/main" id="{A0ADD1C6-8934-E463-60DF-4FC05E2F8678}"/>
              </a:ext>
            </a:extLst>
          </p:cNvPr>
          <p:cNvSpPr txBox="1"/>
          <p:nvPr/>
        </p:nvSpPr>
        <p:spPr>
          <a:xfrm>
            <a:off x="5730949" y="3622747"/>
            <a:ext cx="2814806" cy="461665"/>
          </a:xfrm>
          <a:prstGeom prst="rect">
            <a:avLst/>
          </a:prstGeom>
          <a:noFill/>
        </p:spPr>
        <p:txBody>
          <a:bodyPr wrap="square" rtlCol="0">
            <a:spAutoFit/>
          </a:bodyPr>
          <a:lstStyle/>
          <a:p>
            <a:r>
              <a:rPr lang="en-US" sz="1200" b="1" dirty="0">
                <a:solidFill>
                  <a:schemeClr val="tx1"/>
                </a:solidFill>
                <a:latin typeface="Lato" panose="020B0604020202020204" charset="0"/>
                <a:cs typeface="Lato" panose="020B0604020202020204" charset="0"/>
              </a:rPr>
              <a:t>what is the plan to shelf data from this system and how do I access it later ?</a:t>
            </a:r>
          </a:p>
        </p:txBody>
      </p:sp>
      <p:sp>
        <p:nvSpPr>
          <p:cNvPr id="3" name="Title 2">
            <a:extLst>
              <a:ext uri="{FF2B5EF4-FFF2-40B4-BE49-F238E27FC236}">
                <a16:creationId xmlns:a16="http://schemas.microsoft.com/office/drawing/2014/main" id="{4FA44DD3-F7F3-1297-DA00-BE44E29D01D6}"/>
              </a:ext>
            </a:extLst>
          </p:cNvPr>
          <p:cNvSpPr>
            <a:spLocks noGrp="1"/>
          </p:cNvSpPr>
          <p:nvPr>
            <p:ph type="title"/>
          </p:nvPr>
        </p:nvSpPr>
        <p:spPr/>
        <p:txBody>
          <a:bodyPr/>
          <a:lstStyle/>
          <a:p>
            <a:r>
              <a:rPr lang="en-US" dirty="0"/>
              <a:t>does the </a:t>
            </a:r>
            <a:r>
              <a:rPr lang="en-US" strike="sngStrike" dirty="0"/>
              <a:t>data</a:t>
            </a:r>
            <a:r>
              <a:rPr lang="en-US" dirty="0"/>
              <a:t> process model tell you</a:t>
            </a:r>
          </a:p>
        </p:txBody>
      </p:sp>
      <p:pic>
        <p:nvPicPr>
          <p:cNvPr id="9" name="Picture 8">
            <a:extLst>
              <a:ext uri="{FF2B5EF4-FFF2-40B4-BE49-F238E27FC236}">
                <a16:creationId xmlns:a16="http://schemas.microsoft.com/office/drawing/2014/main" id="{9C85D942-E8EB-BE66-537B-0DC20A49D629}"/>
              </a:ext>
            </a:extLst>
          </p:cNvPr>
          <p:cNvPicPr>
            <a:picLocks noChangeAspect="1"/>
          </p:cNvPicPr>
          <p:nvPr/>
        </p:nvPicPr>
        <p:blipFill>
          <a:blip r:embed="rId4"/>
          <a:stretch>
            <a:fillRect/>
          </a:stretch>
        </p:blipFill>
        <p:spPr>
          <a:xfrm>
            <a:off x="4991536" y="1169278"/>
            <a:ext cx="610500" cy="603864"/>
          </a:xfrm>
          <a:prstGeom prst="rect">
            <a:avLst/>
          </a:prstGeom>
        </p:spPr>
      </p:pic>
      <p:pic>
        <p:nvPicPr>
          <p:cNvPr id="18" name="Picture 17">
            <a:extLst>
              <a:ext uri="{FF2B5EF4-FFF2-40B4-BE49-F238E27FC236}">
                <a16:creationId xmlns:a16="http://schemas.microsoft.com/office/drawing/2014/main" id="{045C01FC-A295-B727-5353-29AB93119CEE}"/>
              </a:ext>
            </a:extLst>
          </p:cNvPr>
          <p:cNvPicPr>
            <a:picLocks noChangeAspect="1"/>
          </p:cNvPicPr>
          <p:nvPr/>
        </p:nvPicPr>
        <p:blipFill>
          <a:blip r:embed="rId4"/>
          <a:stretch>
            <a:fillRect/>
          </a:stretch>
        </p:blipFill>
        <p:spPr>
          <a:xfrm>
            <a:off x="4991536" y="1959400"/>
            <a:ext cx="610500" cy="603864"/>
          </a:xfrm>
          <a:prstGeom prst="rect">
            <a:avLst/>
          </a:prstGeom>
        </p:spPr>
      </p:pic>
      <p:pic>
        <p:nvPicPr>
          <p:cNvPr id="22" name="Picture 21">
            <a:extLst>
              <a:ext uri="{FF2B5EF4-FFF2-40B4-BE49-F238E27FC236}">
                <a16:creationId xmlns:a16="http://schemas.microsoft.com/office/drawing/2014/main" id="{78F9D25F-D451-F7BF-AF4B-2E5523596070}"/>
              </a:ext>
            </a:extLst>
          </p:cNvPr>
          <p:cNvPicPr>
            <a:picLocks noChangeAspect="1"/>
          </p:cNvPicPr>
          <p:nvPr/>
        </p:nvPicPr>
        <p:blipFill>
          <a:blip r:embed="rId4"/>
          <a:stretch>
            <a:fillRect/>
          </a:stretch>
        </p:blipFill>
        <p:spPr>
          <a:xfrm>
            <a:off x="4991536" y="2746624"/>
            <a:ext cx="610500" cy="603864"/>
          </a:xfrm>
          <a:prstGeom prst="rect">
            <a:avLst/>
          </a:prstGeom>
        </p:spPr>
      </p:pic>
      <p:pic>
        <p:nvPicPr>
          <p:cNvPr id="26" name="Picture 25">
            <a:extLst>
              <a:ext uri="{FF2B5EF4-FFF2-40B4-BE49-F238E27FC236}">
                <a16:creationId xmlns:a16="http://schemas.microsoft.com/office/drawing/2014/main" id="{3FAD426F-E0F6-AF6B-037C-D3B2F4684E69}"/>
              </a:ext>
            </a:extLst>
          </p:cNvPr>
          <p:cNvPicPr>
            <a:picLocks noChangeAspect="1"/>
          </p:cNvPicPr>
          <p:nvPr/>
        </p:nvPicPr>
        <p:blipFill>
          <a:blip r:embed="rId4"/>
          <a:stretch>
            <a:fillRect/>
          </a:stretch>
        </p:blipFill>
        <p:spPr>
          <a:xfrm>
            <a:off x="5039125" y="3551647"/>
            <a:ext cx="610500" cy="603864"/>
          </a:xfrm>
          <a:prstGeom prst="rect">
            <a:avLst/>
          </a:prstGeom>
        </p:spPr>
      </p:pic>
    </p:spTree>
    <p:extLst>
      <p:ext uri="{BB962C8B-B14F-4D97-AF65-F5344CB8AC3E}">
        <p14:creationId xmlns:p14="http://schemas.microsoft.com/office/powerpoint/2010/main" val="220206912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63A4B7B-EF2D-B6BA-62BC-16CB5FB6418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D75CAC2-5C53-ACFF-9A75-6B42F68C5E5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modified time line: performance testing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96BC35E-AC75-F988-107B-8EAFD9FBE9F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ADF2CAD-4402-3456-99B2-C6248D4A92A2}"/>
              </a:ext>
            </a:extLst>
          </p:cNvPr>
          <p:cNvSpPr txBox="1"/>
          <p:nvPr/>
        </p:nvSpPr>
        <p:spPr>
          <a:xfrm>
            <a:off x="5011479" y="1244428"/>
            <a:ext cx="3577108" cy="3157757"/>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SQL offers a unique capability; One SQL SELECT statement can effectively model the performance load of an entire report program</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xecute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the authored SQL DML statements with the anticipated frequencies, concurrency and spread </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c</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heck mission critical SQL services for acceptable performance</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u</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se SQL optimization techniques to increase performance before any application deliverables are created</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C42FBD0F-75FB-E6CA-3379-21289321620A}"/>
              </a:ext>
            </a:extLst>
          </p:cNvPr>
          <p:cNvPicPr>
            <a:picLocks noChangeAspect="1"/>
          </p:cNvPicPr>
          <p:nvPr/>
        </p:nvPicPr>
        <p:blipFill>
          <a:blip r:embed="rId3"/>
          <a:stretch>
            <a:fillRect/>
          </a:stretch>
        </p:blipFill>
        <p:spPr>
          <a:xfrm>
            <a:off x="595549" y="1075961"/>
            <a:ext cx="3536973" cy="3425156"/>
          </a:xfrm>
          <a:prstGeom prst="rect">
            <a:avLst/>
          </a:prstGeom>
        </p:spPr>
      </p:pic>
      <p:sp>
        <p:nvSpPr>
          <p:cNvPr id="10" name="Google Shape;248;p56">
            <a:extLst>
              <a:ext uri="{FF2B5EF4-FFF2-40B4-BE49-F238E27FC236}">
                <a16:creationId xmlns:a16="http://schemas.microsoft.com/office/drawing/2014/main" id="{F52F0284-CFF4-7855-6C90-9BDEC2A7E7CA}"/>
              </a:ext>
            </a:extLst>
          </p:cNvPr>
          <p:cNvSpPr txBox="1"/>
          <p:nvPr/>
        </p:nvSpPr>
        <p:spPr>
          <a:xfrm>
            <a:off x="2895600" y="1503154"/>
            <a:ext cx="1137684" cy="503184"/>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800" b="1" i="0" u="none" strike="noStrike" kern="0" cap="none" spc="0" normalizeH="0" baseline="0" noProof="0" dirty="0">
                <a:ln>
                  <a:noFill/>
                </a:ln>
                <a:solidFill>
                  <a:schemeClr val="bg1"/>
                </a:solidFill>
                <a:effectLst/>
                <a:uLnTx/>
                <a:uFillTx/>
                <a:latin typeface="Lato"/>
                <a:ea typeface="Lato"/>
                <a:cs typeface="Lato"/>
                <a:sym typeface="Lato"/>
              </a:rPr>
              <a:t>EXPLAIN</a:t>
            </a:r>
            <a:endParaRPr kumimoji="0" sz="1800" b="1" i="0" u="none" strike="noStrike" kern="0" cap="none" spc="0" normalizeH="0" baseline="0" noProof="0" dirty="0">
              <a:ln>
                <a:noFill/>
              </a:ln>
              <a:solidFill>
                <a:schemeClr val="bg1"/>
              </a:solidFill>
              <a:effectLst/>
              <a:uLnTx/>
              <a:uFillTx/>
              <a:latin typeface="Lato"/>
              <a:ea typeface="Lato"/>
              <a:cs typeface="Lato"/>
              <a:sym typeface="Lato"/>
            </a:endParaRPr>
          </a:p>
        </p:txBody>
      </p:sp>
    </p:spTree>
    <p:extLst>
      <p:ext uri="{BB962C8B-B14F-4D97-AF65-F5344CB8AC3E}">
        <p14:creationId xmlns:p14="http://schemas.microsoft.com/office/powerpoint/2010/main" val="146503098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3A52CA7-534D-A67A-DDCF-490784E3A18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2E7BAF0-DF8A-509C-970F-25FB5C91BD1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modified time line: SQL optimization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29053F9-474D-4B96-6677-1FEFDF6049A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9F14906-82C8-4887-00E6-EDBEF76500C3}"/>
              </a:ext>
            </a:extLst>
          </p:cNvPr>
          <p:cNvSpPr txBox="1"/>
          <p:nvPr/>
        </p:nvSpPr>
        <p:spPr>
          <a:xfrm>
            <a:off x="315981" y="1244428"/>
            <a:ext cx="3334531" cy="3157757"/>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b</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esides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the obvious host and database server tuning, there is one area of SQL programming that very few engineers ever become expert at; the query optimizer</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understanding the query optimizer can be crucial. one 60 byte SQL SELECT statement could initiate 5M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i</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/o calls. minor structural modifications to that SQL SELECT statement could greatly impact performance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A7D661BA-D7B6-9674-445E-3593992E985C}"/>
              </a:ext>
            </a:extLst>
          </p:cNvPr>
          <p:cNvPicPr>
            <a:picLocks noChangeAspect="1"/>
          </p:cNvPicPr>
          <p:nvPr/>
        </p:nvPicPr>
        <p:blipFill>
          <a:blip r:embed="rId3"/>
          <a:stretch>
            <a:fillRect/>
          </a:stretch>
        </p:blipFill>
        <p:spPr>
          <a:xfrm>
            <a:off x="5225982" y="1096171"/>
            <a:ext cx="3072650" cy="3078747"/>
          </a:xfrm>
          <a:prstGeom prst="rect">
            <a:avLst/>
          </a:prstGeom>
        </p:spPr>
      </p:pic>
      <p:sp>
        <p:nvSpPr>
          <p:cNvPr id="6" name="Google Shape;248;p56">
            <a:extLst>
              <a:ext uri="{FF2B5EF4-FFF2-40B4-BE49-F238E27FC236}">
                <a16:creationId xmlns:a16="http://schemas.microsoft.com/office/drawing/2014/main" id="{B4340623-04EE-B37F-42EC-71D9D104166E}"/>
              </a:ext>
            </a:extLst>
          </p:cNvPr>
          <p:cNvSpPr txBox="1"/>
          <p:nvPr/>
        </p:nvSpPr>
        <p:spPr>
          <a:xfrm>
            <a:off x="5416441" y="1459868"/>
            <a:ext cx="2691732" cy="1175676"/>
          </a:xfrm>
          <a:prstGeom prst="rect">
            <a:avLst/>
          </a:prstGeom>
          <a:noFill/>
          <a:ln>
            <a:noFill/>
          </a:ln>
        </p:spPr>
        <p:txBody>
          <a:bodyPr spcFirstLastPara="1" wrap="square" lIns="91425" tIns="91425" rIns="91425" bIns="91425" anchor="t" anchorCtr="0">
            <a:spAutoFit/>
          </a:bodyPr>
          <a:lstStyle/>
          <a:p>
            <a:pPr marR="0" lvl="0" algn="ctr" defTabSz="914400" rtl="0" eaLnBrk="1" fontAlgn="auto" latinLnBrk="0" hangingPunct="1">
              <a:lnSpc>
                <a:spcPct val="115000"/>
              </a:lnSpc>
              <a:spcBef>
                <a:spcPts val="0"/>
              </a:spcBef>
              <a:spcAft>
                <a:spcPts val="0"/>
              </a:spcAft>
              <a:buClr>
                <a:srgbClr val="000000"/>
              </a:buClr>
              <a:buSzTx/>
              <a:tabLst/>
              <a:defRPr/>
            </a:pPr>
            <a:r>
              <a:rPr lang="en-US" sz="2800" dirty="0">
                <a:solidFill>
                  <a:schemeClr val="bg1"/>
                </a:solidFill>
                <a:latin typeface="Lato"/>
                <a:ea typeface="Lato"/>
                <a:cs typeface="Lato"/>
                <a:sym typeface="Lato"/>
              </a:rPr>
              <a:t>remember our examples</a:t>
            </a:r>
            <a:endParaRPr kumimoji="0" sz="2800" b="0" i="0" u="none" strike="noStrike" kern="0" cap="none" spc="0" normalizeH="0" baseline="0" noProof="0" dirty="0">
              <a:ln>
                <a:noFill/>
              </a:ln>
              <a:solidFill>
                <a:schemeClr val="bg1"/>
              </a:solidFill>
              <a:effectLst/>
              <a:uLnTx/>
              <a:uFillTx/>
              <a:latin typeface="Lato"/>
              <a:ea typeface="Lato"/>
              <a:cs typeface="Lato"/>
              <a:sym typeface="Lato"/>
            </a:endParaRPr>
          </a:p>
        </p:txBody>
      </p:sp>
    </p:spTree>
    <p:extLst>
      <p:ext uri="{BB962C8B-B14F-4D97-AF65-F5344CB8AC3E}">
        <p14:creationId xmlns:p14="http://schemas.microsoft.com/office/powerpoint/2010/main" val="25911942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7920B05-F196-0820-4876-04360A31F3D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EF08B80-F15A-65D0-6A68-3717C09861C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modified project time line: final</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5D7A10C-12C9-1EBE-0736-D3E379357FE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C1A68147-9C9A-7CB5-AE84-4B99B1A7C16C}"/>
              </a:ext>
            </a:extLst>
          </p:cNvPr>
          <p:cNvSpPr txBox="1"/>
          <p:nvPr/>
        </p:nvSpPr>
        <p:spPr>
          <a:xfrm>
            <a:off x="776726" y="4024757"/>
            <a:ext cx="1619145"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aaa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5" name="Picture 4">
            <a:extLst>
              <a:ext uri="{FF2B5EF4-FFF2-40B4-BE49-F238E27FC236}">
                <a16:creationId xmlns:a16="http://schemas.microsoft.com/office/drawing/2014/main" id="{5982E5C3-BE12-D34B-48F9-3FD536174814}"/>
              </a:ext>
            </a:extLst>
          </p:cNvPr>
          <p:cNvPicPr>
            <a:picLocks noChangeAspect="1"/>
          </p:cNvPicPr>
          <p:nvPr/>
        </p:nvPicPr>
        <p:blipFill>
          <a:blip r:embed="rId3"/>
          <a:srcRect r="60019"/>
          <a:stretch>
            <a:fillRect/>
          </a:stretch>
        </p:blipFill>
        <p:spPr>
          <a:xfrm>
            <a:off x="158763" y="2026110"/>
            <a:ext cx="3017520" cy="1091279"/>
          </a:xfrm>
          <a:prstGeom prst="rect">
            <a:avLst/>
          </a:prstGeom>
        </p:spPr>
      </p:pic>
      <p:pic>
        <p:nvPicPr>
          <p:cNvPr id="18" name="Picture 17">
            <a:extLst>
              <a:ext uri="{FF2B5EF4-FFF2-40B4-BE49-F238E27FC236}">
                <a16:creationId xmlns:a16="http://schemas.microsoft.com/office/drawing/2014/main" id="{97FCCFE9-A53A-C599-838A-7BD53651EE5D}"/>
              </a:ext>
            </a:extLst>
          </p:cNvPr>
          <p:cNvPicPr>
            <a:picLocks noChangeAspect="1"/>
          </p:cNvPicPr>
          <p:nvPr/>
        </p:nvPicPr>
        <p:blipFill>
          <a:blip r:embed="rId3"/>
          <a:srcRect l="39843" r="-424"/>
          <a:stretch>
            <a:fillRect/>
          </a:stretch>
        </p:blipFill>
        <p:spPr>
          <a:xfrm>
            <a:off x="4480560" y="2026109"/>
            <a:ext cx="4572000" cy="1091279"/>
          </a:xfrm>
          <a:prstGeom prst="rect">
            <a:avLst/>
          </a:prstGeom>
        </p:spPr>
      </p:pic>
      <p:sp>
        <p:nvSpPr>
          <p:cNvPr id="19" name="Rectangle 18">
            <a:extLst>
              <a:ext uri="{FF2B5EF4-FFF2-40B4-BE49-F238E27FC236}">
                <a16:creationId xmlns:a16="http://schemas.microsoft.com/office/drawing/2014/main" id="{295AC3E9-5F4F-9FFA-30E6-CBB052B522AE}"/>
              </a:ext>
            </a:extLst>
          </p:cNvPr>
          <p:cNvSpPr/>
          <p:nvPr/>
        </p:nvSpPr>
        <p:spPr>
          <a:xfrm>
            <a:off x="3176283" y="905165"/>
            <a:ext cx="1395717" cy="36150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cut over</a:t>
            </a:r>
          </a:p>
        </p:txBody>
      </p:sp>
      <p:cxnSp>
        <p:nvCxnSpPr>
          <p:cNvPr id="21" name="Straight Arrow Connector 20">
            <a:extLst>
              <a:ext uri="{FF2B5EF4-FFF2-40B4-BE49-F238E27FC236}">
                <a16:creationId xmlns:a16="http://schemas.microsoft.com/office/drawing/2014/main" id="{6CE1A5B7-85E1-76C6-56CF-6F845E8B4270}"/>
              </a:ext>
            </a:extLst>
          </p:cNvPr>
          <p:cNvCxnSpPr>
            <a:cxnSpLocks/>
          </p:cNvCxnSpPr>
          <p:nvPr/>
        </p:nvCxnSpPr>
        <p:spPr>
          <a:xfrm>
            <a:off x="3303181" y="1266672"/>
            <a:ext cx="0" cy="117881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AE96B36-DC19-5E70-0FCE-514870D66332}"/>
              </a:ext>
            </a:extLst>
          </p:cNvPr>
          <p:cNvCxnSpPr>
            <a:stCxn id="19" idx="3"/>
          </p:cNvCxnSpPr>
          <p:nvPr/>
        </p:nvCxnSpPr>
        <p:spPr>
          <a:xfrm>
            <a:off x="4572000" y="1085919"/>
            <a:ext cx="1821712" cy="3544"/>
          </a:xfrm>
          <a:prstGeom prst="line">
            <a:avLst/>
          </a:prstGeom>
          <a:ln w="254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6B1B936-3650-1802-3F38-7EF43A26792C}"/>
              </a:ext>
            </a:extLst>
          </p:cNvPr>
          <p:cNvCxnSpPr>
            <a:cxnSpLocks/>
          </p:cNvCxnSpPr>
          <p:nvPr/>
        </p:nvCxnSpPr>
        <p:spPr>
          <a:xfrm flipH="1">
            <a:off x="3540642" y="1504762"/>
            <a:ext cx="710" cy="94072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6037C98-4EB8-DB85-C720-910DB6F33B20}"/>
              </a:ext>
            </a:extLst>
          </p:cNvPr>
          <p:cNvCxnSpPr>
            <a:cxnSpLocks/>
          </p:cNvCxnSpPr>
          <p:nvPr/>
        </p:nvCxnSpPr>
        <p:spPr>
          <a:xfrm>
            <a:off x="3541352" y="1518938"/>
            <a:ext cx="1151152" cy="0"/>
          </a:xfrm>
          <a:prstGeom prst="line">
            <a:avLst/>
          </a:prstGeom>
          <a:ln w="254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538EA483-5CB0-7FDF-A597-58836B1B07D0}"/>
              </a:ext>
            </a:extLst>
          </p:cNvPr>
          <p:cNvSpPr/>
          <p:nvPr/>
        </p:nvSpPr>
        <p:spPr>
          <a:xfrm>
            <a:off x="4236704" y="1338184"/>
            <a:ext cx="1633177" cy="36150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process model</a:t>
            </a:r>
          </a:p>
        </p:txBody>
      </p:sp>
      <p:sp>
        <p:nvSpPr>
          <p:cNvPr id="37" name="Rectangle 36">
            <a:extLst>
              <a:ext uri="{FF2B5EF4-FFF2-40B4-BE49-F238E27FC236}">
                <a16:creationId xmlns:a16="http://schemas.microsoft.com/office/drawing/2014/main" id="{52F540B4-CE9A-6D75-FCD9-C3340F84DB7B}"/>
              </a:ext>
            </a:extLst>
          </p:cNvPr>
          <p:cNvSpPr/>
          <p:nvPr/>
        </p:nvSpPr>
        <p:spPr>
          <a:xfrm>
            <a:off x="2260988" y="3204926"/>
            <a:ext cx="1687235" cy="36150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author SQL API</a:t>
            </a:r>
          </a:p>
        </p:txBody>
      </p:sp>
      <p:cxnSp>
        <p:nvCxnSpPr>
          <p:cNvPr id="38" name="Straight Arrow Connector 37">
            <a:extLst>
              <a:ext uri="{FF2B5EF4-FFF2-40B4-BE49-F238E27FC236}">
                <a16:creationId xmlns:a16="http://schemas.microsoft.com/office/drawing/2014/main" id="{CC35B56B-EA3F-8AE3-4857-638E86274CE0}"/>
              </a:ext>
            </a:extLst>
          </p:cNvPr>
          <p:cNvCxnSpPr>
            <a:cxnSpLocks/>
          </p:cNvCxnSpPr>
          <p:nvPr/>
        </p:nvCxnSpPr>
        <p:spPr>
          <a:xfrm flipV="1">
            <a:off x="3820633" y="2597888"/>
            <a:ext cx="0" cy="607038"/>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7A6881D-FF7D-0421-19FD-807EFD8B8BAE}"/>
              </a:ext>
            </a:extLst>
          </p:cNvPr>
          <p:cNvCxnSpPr>
            <a:cxnSpLocks/>
          </p:cNvCxnSpPr>
          <p:nvPr/>
        </p:nvCxnSpPr>
        <p:spPr>
          <a:xfrm flipV="1">
            <a:off x="4236704" y="2597888"/>
            <a:ext cx="0" cy="1109752"/>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8D410C0A-7CE4-FE06-39A1-9A5799F3AEAC}"/>
              </a:ext>
            </a:extLst>
          </p:cNvPr>
          <p:cNvSpPr/>
          <p:nvPr/>
        </p:nvSpPr>
        <p:spPr>
          <a:xfrm>
            <a:off x="2697024" y="3617895"/>
            <a:ext cx="1687235" cy="36150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performance test</a:t>
            </a:r>
          </a:p>
        </p:txBody>
      </p:sp>
      <p:sp>
        <p:nvSpPr>
          <p:cNvPr id="44" name="Rectangle 43">
            <a:extLst>
              <a:ext uri="{FF2B5EF4-FFF2-40B4-BE49-F238E27FC236}">
                <a16:creationId xmlns:a16="http://schemas.microsoft.com/office/drawing/2014/main" id="{704E9499-E984-1139-615D-EB54D9D1EBF5}"/>
              </a:ext>
            </a:extLst>
          </p:cNvPr>
          <p:cNvSpPr/>
          <p:nvPr/>
        </p:nvSpPr>
        <p:spPr>
          <a:xfrm>
            <a:off x="6918250" y="1675326"/>
            <a:ext cx="1494227" cy="473400"/>
          </a:xfrm>
          <a:prstGeom prst="rect">
            <a:avLst/>
          </a:prstGeom>
          <a:solidFill>
            <a:schemeClr val="lt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C000"/>
                </a:solidFill>
              </a:rPr>
              <a:t>no schema interpretation</a:t>
            </a:r>
          </a:p>
        </p:txBody>
      </p:sp>
      <p:cxnSp>
        <p:nvCxnSpPr>
          <p:cNvPr id="50" name="Straight Arrow Connector 49">
            <a:extLst>
              <a:ext uri="{FF2B5EF4-FFF2-40B4-BE49-F238E27FC236}">
                <a16:creationId xmlns:a16="http://schemas.microsoft.com/office/drawing/2014/main" id="{62340415-5CFA-163E-6138-9B699E4CE152}"/>
              </a:ext>
            </a:extLst>
          </p:cNvPr>
          <p:cNvCxnSpPr/>
          <p:nvPr/>
        </p:nvCxnSpPr>
        <p:spPr>
          <a:xfrm>
            <a:off x="5528930" y="1899684"/>
            <a:ext cx="0" cy="333153"/>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5F6C897E-2EEA-0C7A-A7AC-BC58D0805E99}"/>
              </a:ext>
            </a:extLst>
          </p:cNvPr>
          <p:cNvSpPr/>
          <p:nvPr/>
        </p:nvSpPr>
        <p:spPr>
          <a:xfrm>
            <a:off x="6977793" y="3034360"/>
            <a:ext cx="1226086" cy="473400"/>
          </a:xfrm>
          <a:prstGeom prst="rect">
            <a:avLst/>
          </a:prstGeom>
          <a:solidFill>
            <a:schemeClr val="lt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C000"/>
                </a:solidFill>
              </a:rPr>
              <a:t>test with real data</a:t>
            </a:r>
          </a:p>
        </p:txBody>
      </p:sp>
      <p:cxnSp>
        <p:nvCxnSpPr>
          <p:cNvPr id="58" name="Straight Arrow Connector 57">
            <a:extLst>
              <a:ext uri="{FF2B5EF4-FFF2-40B4-BE49-F238E27FC236}">
                <a16:creationId xmlns:a16="http://schemas.microsoft.com/office/drawing/2014/main" id="{57BC77F2-079B-C252-EB4F-1D0DD10106A3}"/>
              </a:ext>
            </a:extLst>
          </p:cNvPr>
          <p:cNvCxnSpPr>
            <a:cxnSpLocks/>
          </p:cNvCxnSpPr>
          <p:nvPr/>
        </p:nvCxnSpPr>
        <p:spPr>
          <a:xfrm flipV="1">
            <a:off x="5372985" y="2901194"/>
            <a:ext cx="0" cy="361507"/>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D9D4AA7-8B03-7DE3-3AAA-D8C86D759A30}"/>
              </a:ext>
            </a:extLst>
          </p:cNvPr>
          <p:cNvCxnSpPr>
            <a:cxnSpLocks/>
          </p:cNvCxnSpPr>
          <p:nvPr/>
        </p:nvCxnSpPr>
        <p:spPr>
          <a:xfrm flipV="1">
            <a:off x="6085367" y="2897087"/>
            <a:ext cx="0" cy="361507"/>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B0390F7-9491-936F-B5A6-1ABC7F5CD13A}"/>
              </a:ext>
            </a:extLst>
          </p:cNvPr>
          <p:cNvCxnSpPr>
            <a:endCxn id="54" idx="1"/>
          </p:cNvCxnSpPr>
          <p:nvPr/>
        </p:nvCxnSpPr>
        <p:spPr>
          <a:xfrm>
            <a:off x="5372985" y="3271060"/>
            <a:ext cx="1604808"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4E31D0F3-CB29-CAF6-F9E4-EAEB1CDA0105}"/>
              </a:ext>
            </a:extLst>
          </p:cNvPr>
          <p:cNvCxnSpPr>
            <a:cxnSpLocks/>
          </p:cNvCxnSpPr>
          <p:nvPr/>
        </p:nvCxnSpPr>
        <p:spPr>
          <a:xfrm>
            <a:off x="5528930" y="1912026"/>
            <a:ext cx="1389320" cy="2568"/>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35164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14287C0-B08E-EBBB-A365-D7EB034903C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D539CF24-0F3E-64DA-B409-C8638224E0E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sources of error, revisited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167DAB7-D4B7-7FC0-5A1A-0DA42792F09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3" name="Rectangle 2">
            <a:extLst>
              <a:ext uri="{FF2B5EF4-FFF2-40B4-BE49-F238E27FC236}">
                <a16:creationId xmlns:a16="http://schemas.microsoft.com/office/drawing/2014/main" id="{65405E2D-C164-5CF8-288D-AAABDDCF83C8}"/>
              </a:ext>
            </a:extLst>
          </p:cNvPr>
          <p:cNvSpPr/>
          <p:nvPr/>
        </p:nvSpPr>
        <p:spPr>
          <a:xfrm>
            <a:off x="475998" y="1063992"/>
            <a:ext cx="8151050" cy="396252"/>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ACD57FBA-D3BE-2D8E-6B50-114396B4433E}"/>
              </a:ext>
            </a:extLst>
          </p:cNvPr>
          <p:cNvSpPr txBox="1"/>
          <p:nvPr/>
        </p:nvSpPr>
        <p:spPr>
          <a:xfrm>
            <a:off x="516952" y="1134517"/>
            <a:ext cx="2535885" cy="338554"/>
          </a:xfrm>
          <a:prstGeom prst="rect">
            <a:avLst/>
          </a:prstGeom>
          <a:noFill/>
        </p:spPr>
        <p:txBody>
          <a:bodyPr wrap="square" rtlCol="0">
            <a:spAutoFit/>
          </a:bodyPr>
          <a:lstStyle/>
          <a:p>
            <a:r>
              <a:rPr lang="en-US" sz="1600" b="1" dirty="0">
                <a:solidFill>
                  <a:schemeClr val="tx1"/>
                </a:solidFill>
                <a:latin typeface="Lato" panose="020B0604020202020204" charset="0"/>
                <a:cs typeface="Lato" panose="020B0604020202020204" charset="0"/>
              </a:rPr>
              <a:t>source of error</a:t>
            </a:r>
          </a:p>
        </p:txBody>
      </p:sp>
      <p:cxnSp>
        <p:nvCxnSpPr>
          <p:cNvPr id="5" name="Straight Connector 4">
            <a:extLst>
              <a:ext uri="{FF2B5EF4-FFF2-40B4-BE49-F238E27FC236}">
                <a16:creationId xmlns:a16="http://schemas.microsoft.com/office/drawing/2014/main" id="{1512F080-3825-2C69-0502-751BF1BF5F91}"/>
              </a:ext>
            </a:extLst>
          </p:cNvPr>
          <p:cNvCxnSpPr>
            <a:cxnSpLocks/>
          </p:cNvCxnSpPr>
          <p:nvPr/>
        </p:nvCxnSpPr>
        <p:spPr>
          <a:xfrm>
            <a:off x="483086"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A14297F-8A46-7AC8-B3DA-137421C71D5F}"/>
              </a:ext>
            </a:extLst>
          </p:cNvPr>
          <p:cNvCxnSpPr>
            <a:cxnSpLocks/>
          </p:cNvCxnSpPr>
          <p:nvPr/>
        </p:nvCxnSpPr>
        <p:spPr>
          <a:xfrm>
            <a:off x="475998" y="1053828"/>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311B677-EE70-B3A4-0823-1D95E4DB0137}"/>
              </a:ext>
            </a:extLst>
          </p:cNvPr>
          <p:cNvCxnSpPr>
            <a:cxnSpLocks/>
          </p:cNvCxnSpPr>
          <p:nvPr/>
        </p:nvCxnSpPr>
        <p:spPr>
          <a:xfrm>
            <a:off x="3192288"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D52CC20-2C64-DD43-B56D-E0EBFAD9FFFB}"/>
              </a:ext>
            </a:extLst>
          </p:cNvPr>
          <p:cNvSpPr txBox="1"/>
          <p:nvPr/>
        </p:nvSpPr>
        <p:spPr>
          <a:xfrm>
            <a:off x="3242511" y="1130280"/>
            <a:ext cx="2878057" cy="338554"/>
          </a:xfrm>
          <a:prstGeom prst="rect">
            <a:avLst/>
          </a:prstGeom>
          <a:noFill/>
        </p:spPr>
        <p:txBody>
          <a:bodyPr wrap="square" rtlCol="0">
            <a:spAutoFit/>
          </a:bodyPr>
          <a:lstStyle/>
          <a:p>
            <a:r>
              <a:rPr lang="en-US" sz="1600" b="1" dirty="0">
                <a:solidFill>
                  <a:schemeClr val="tx1"/>
                </a:solidFill>
                <a:latin typeface="Lato" panose="020B0604020202020204" charset="0"/>
                <a:cs typeface="Lato" panose="020B0604020202020204" charset="0"/>
              </a:rPr>
              <a:t>cost</a:t>
            </a:r>
          </a:p>
        </p:txBody>
      </p:sp>
      <p:sp>
        <p:nvSpPr>
          <p:cNvPr id="9" name="TextBox 8">
            <a:extLst>
              <a:ext uri="{FF2B5EF4-FFF2-40B4-BE49-F238E27FC236}">
                <a16:creationId xmlns:a16="http://schemas.microsoft.com/office/drawing/2014/main" id="{4A26AE73-6EB1-4E62-6C60-2BB96A85096E}"/>
              </a:ext>
            </a:extLst>
          </p:cNvPr>
          <p:cNvSpPr txBox="1"/>
          <p:nvPr/>
        </p:nvSpPr>
        <p:spPr>
          <a:xfrm>
            <a:off x="5965891" y="1139857"/>
            <a:ext cx="4568234" cy="338554"/>
          </a:xfrm>
          <a:prstGeom prst="rect">
            <a:avLst/>
          </a:prstGeom>
          <a:noFill/>
        </p:spPr>
        <p:txBody>
          <a:bodyPr wrap="square" rtlCol="0">
            <a:spAutoFit/>
          </a:bodyPr>
          <a:lstStyle/>
          <a:p>
            <a:r>
              <a:rPr lang="en-US" sz="1600" b="1" dirty="0">
                <a:solidFill>
                  <a:schemeClr val="tx1"/>
                </a:solidFill>
                <a:latin typeface="Lato" panose="020B0604020202020204" charset="0"/>
                <a:cs typeface="Lato" panose="020B0604020202020204" charset="0"/>
              </a:rPr>
              <a:t>correction</a:t>
            </a:r>
          </a:p>
        </p:txBody>
      </p:sp>
      <p:cxnSp>
        <p:nvCxnSpPr>
          <p:cNvPr id="10" name="Straight Connector 9">
            <a:extLst>
              <a:ext uri="{FF2B5EF4-FFF2-40B4-BE49-F238E27FC236}">
                <a16:creationId xmlns:a16="http://schemas.microsoft.com/office/drawing/2014/main" id="{1ADA3B42-3462-6B81-2CF3-3F2F8458CECE}"/>
              </a:ext>
            </a:extLst>
          </p:cNvPr>
          <p:cNvCxnSpPr>
            <a:cxnSpLocks/>
          </p:cNvCxnSpPr>
          <p:nvPr/>
        </p:nvCxnSpPr>
        <p:spPr>
          <a:xfrm>
            <a:off x="8610692" y="1053828"/>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5B9C0C8-6B73-D9A3-F1EA-7E0DC4C2740A}"/>
              </a:ext>
            </a:extLst>
          </p:cNvPr>
          <p:cNvCxnSpPr>
            <a:cxnSpLocks/>
          </p:cNvCxnSpPr>
          <p:nvPr/>
        </p:nvCxnSpPr>
        <p:spPr>
          <a:xfrm>
            <a:off x="5901490" y="1047055"/>
            <a:ext cx="0" cy="324724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BB82B3-8DB0-47A7-26E1-B431F4DAA7FA}"/>
              </a:ext>
            </a:extLst>
          </p:cNvPr>
          <p:cNvCxnSpPr>
            <a:cxnSpLocks/>
          </p:cNvCxnSpPr>
          <p:nvPr/>
        </p:nvCxnSpPr>
        <p:spPr>
          <a:xfrm>
            <a:off x="475998" y="1474436"/>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1B914B-2C21-8EA3-870A-3A5F09C190C2}"/>
              </a:ext>
            </a:extLst>
          </p:cNvPr>
          <p:cNvCxnSpPr>
            <a:cxnSpLocks/>
          </p:cNvCxnSpPr>
          <p:nvPr/>
        </p:nvCxnSpPr>
        <p:spPr>
          <a:xfrm>
            <a:off x="475998" y="2037846"/>
            <a:ext cx="813469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B3B63A7-89AA-07F4-CBA7-B919BC5B934C}"/>
              </a:ext>
            </a:extLst>
          </p:cNvPr>
          <p:cNvCxnSpPr>
            <a:cxnSpLocks/>
          </p:cNvCxnSpPr>
          <p:nvPr/>
        </p:nvCxnSpPr>
        <p:spPr>
          <a:xfrm>
            <a:off x="475998" y="4291486"/>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218834B-75B1-2219-D693-3C5B9B21B3C1}"/>
              </a:ext>
            </a:extLst>
          </p:cNvPr>
          <p:cNvSpPr txBox="1"/>
          <p:nvPr/>
        </p:nvSpPr>
        <p:spPr>
          <a:xfrm>
            <a:off x="483086" y="1481129"/>
            <a:ext cx="2733454" cy="307777"/>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400 table schema</a:t>
            </a:r>
          </a:p>
        </p:txBody>
      </p:sp>
      <p:sp>
        <p:nvSpPr>
          <p:cNvPr id="18" name="TextBox 17">
            <a:extLst>
              <a:ext uri="{FF2B5EF4-FFF2-40B4-BE49-F238E27FC236}">
                <a16:creationId xmlns:a16="http://schemas.microsoft.com/office/drawing/2014/main" id="{E431ACB5-F0FC-D2BB-3D0D-DC8255BAE267}"/>
              </a:ext>
            </a:extLst>
          </p:cNvPr>
          <p:cNvSpPr txBox="1"/>
          <p:nvPr/>
        </p:nvSpPr>
        <p:spPr>
          <a:xfrm>
            <a:off x="5925741" y="1481129"/>
            <a:ext cx="2634729"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programmer is handed a set of API calls</a:t>
            </a:r>
          </a:p>
        </p:txBody>
      </p:sp>
      <p:sp>
        <p:nvSpPr>
          <p:cNvPr id="19" name="TextBox 18">
            <a:extLst>
              <a:ext uri="{FF2B5EF4-FFF2-40B4-BE49-F238E27FC236}">
                <a16:creationId xmlns:a16="http://schemas.microsoft.com/office/drawing/2014/main" id="{44BFF771-A4B8-8ABC-B016-E90B34052F00}"/>
              </a:ext>
            </a:extLst>
          </p:cNvPr>
          <p:cNvSpPr txBox="1"/>
          <p:nvPr/>
        </p:nvSpPr>
        <p:spPr>
          <a:xfrm>
            <a:off x="3168037" y="1498594"/>
            <a:ext cx="2669050"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programmer productivity, errors in programs</a:t>
            </a:r>
          </a:p>
        </p:txBody>
      </p:sp>
      <p:cxnSp>
        <p:nvCxnSpPr>
          <p:cNvPr id="21" name="Straight Connector 20">
            <a:extLst>
              <a:ext uri="{FF2B5EF4-FFF2-40B4-BE49-F238E27FC236}">
                <a16:creationId xmlns:a16="http://schemas.microsoft.com/office/drawing/2014/main" id="{E8D26034-DE22-91D6-9D6C-0B28EBB9DF66}"/>
              </a:ext>
            </a:extLst>
          </p:cNvPr>
          <p:cNvCxnSpPr>
            <a:cxnSpLocks/>
          </p:cNvCxnSpPr>
          <p:nvPr/>
        </p:nvCxnSpPr>
        <p:spPr>
          <a:xfrm>
            <a:off x="475998" y="3728076"/>
            <a:ext cx="8151050"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6832F1B-858C-6F53-F912-1BB7594C989E}"/>
              </a:ext>
            </a:extLst>
          </p:cNvPr>
          <p:cNvCxnSpPr>
            <a:cxnSpLocks/>
          </p:cNvCxnSpPr>
          <p:nvPr/>
        </p:nvCxnSpPr>
        <p:spPr>
          <a:xfrm>
            <a:off x="475998" y="2601256"/>
            <a:ext cx="813469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A70BCAF-C89C-0849-60F1-7C0973E740A0}"/>
              </a:ext>
            </a:extLst>
          </p:cNvPr>
          <p:cNvCxnSpPr>
            <a:cxnSpLocks/>
          </p:cNvCxnSpPr>
          <p:nvPr/>
        </p:nvCxnSpPr>
        <p:spPr>
          <a:xfrm>
            <a:off x="475998" y="3164666"/>
            <a:ext cx="8134694" cy="0"/>
          </a:xfrm>
          <a:prstGeom prst="line">
            <a:avLst/>
          </a:prstGeom>
          <a:ln w="34925">
            <a:solidFill>
              <a:srgbClr val="BFBFBF"/>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64A1883-8480-0ACD-2565-E8438583D352}"/>
              </a:ext>
            </a:extLst>
          </p:cNvPr>
          <p:cNvSpPr txBox="1"/>
          <p:nvPr/>
        </p:nvSpPr>
        <p:spPr>
          <a:xfrm>
            <a:off x="490175" y="2023062"/>
            <a:ext cx="2733454"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errors in data model, missing columns</a:t>
            </a:r>
          </a:p>
        </p:txBody>
      </p:sp>
      <p:sp>
        <p:nvSpPr>
          <p:cNvPr id="29" name="TextBox 28">
            <a:extLst>
              <a:ext uri="{FF2B5EF4-FFF2-40B4-BE49-F238E27FC236}">
                <a16:creationId xmlns:a16="http://schemas.microsoft.com/office/drawing/2014/main" id="{C02535F5-D2DB-53DD-399C-B3CB050C9EA0}"/>
              </a:ext>
            </a:extLst>
          </p:cNvPr>
          <p:cNvSpPr txBox="1"/>
          <p:nvPr/>
        </p:nvSpPr>
        <p:spPr>
          <a:xfrm>
            <a:off x="5932830" y="2023062"/>
            <a:ext cx="2634729"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successful creation of API validates data model</a:t>
            </a:r>
          </a:p>
        </p:txBody>
      </p:sp>
      <p:sp>
        <p:nvSpPr>
          <p:cNvPr id="31" name="TextBox 30">
            <a:extLst>
              <a:ext uri="{FF2B5EF4-FFF2-40B4-BE49-F238E27FC236}">
                <a16:creationId xmlns:a16="http://schemas.microsoft.com/office/drawing/2014/main" id="{A66EE40C-43ED-6775-5D4C-76290BED750A}"/>
              </a:ext>
            </a:extLst>
          </p:cNvPr>
          <p:cNvSpPr txBox="1"/>
          <p:nvPr/>
        </p:nvSpPr>
        <p:spPr>
          <a:xfrm>
            <a:off x="3175126" y="2040527"/>
            <a:ext cx="2669050"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changes to data model cause redevelopment</a:t>
            </a:r>
          </a:p>
        </p:txBody>
      </p:sp>
      <p:sp>
        <p:nvSpPr>
          <p:cNvPr id="33" name="TextBox 32">
            <a:extLst>
              <a:ext uri="{FF2B5EF4-FFF2-40B4-BE49-F238E27FC236}">
                <a16:creationId xmlns:a16="http://schemas.microsoft.com/office/drawing/2014/main" id="{3AFE6213-5439-7B17-757D-310D44DEAEF2}"/>
              </a:ext>
            </a:extLst>
          </p:cNvPr>
          <p:cNvSpPr txBox="1"/>
          <p:nvPr/>
        </p:nvSpPr>
        <p:spPr>
          <a:xfrm>
            <a:off x="490175" y="2595653"/>
            <a:ext cx="2733454" cy="307777"/>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performance</a:t>
            </a:r>
          </a:p>
        </p:txBody>
      </p:sp>
      <p:sp>
        <p:nvSpPr>
          <p:cNvPr id="35" name="TextBox 34">
            <a:extLst>
              <a:ext uri="{FF2B5EF4-FFF2-40B4-BE49-F238E27FC236}">
                <a16:creationId xmlns:a16="http://schemas.microsoft.com/office/drawing/2014/main" id="{BC285523-EF0B-F25F-1647-4CCC1FC94FD3}"/>
              </a:ext>
            </a:extLst>
          </p:cNvPr>
          <p:cNvSpPr txBox="1"/>
          <p:nvPr/>
        </p:nvSpPr>
        <p:spPr>
          <a:xfrm>
            <a:off x="5932830" y="2595653"/>
            <a:ext cx="2634729"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model is performance tested prior to development</a:t>
            </a:r>
          </a:p>
        </p:txBody>
      </p:sp>
      <p:sp>
        <p:nvSpPr>
          <p:cNvPr id="37" name="TextBox 36">
            <a:extLst>
              <a:ext uri="{FF2B5EF4-FFF2-40B4-BE49-F238E27FC236}">
                <a16:creationId xmlns:a16="http://schemas.microsoft.com/office/drawing/2014/main" id="{16B2BFEB-CC1E-06B0-BD3E-D6BB1403984A}"/>
              </a:ext>
            </a:extLst>
          </p:cNvPr>
          <p:cNvSpPr txBox="1"/>
          <p:nvPr/>
        </p:nvSpPr>
        <p:spPr>
          <a:xfrm>
            <a:off x="3175126" y="2613118"/>
            <a:ext cx="2669050"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delays, redevelopment/ refactoring</a:t>
            </a:r>
          </a:p>
        </p:txBody>
      </p:sp>
      <p:sp>
        <p:nvSpPr>
          <p:cNvPr id="39" name="TextBox 38">
            <a:extLst>
              <a:ext uri="{FF2B5EF4-FFF2-40B4-BE49-F238E27FC236}">
                <a16:creationId xmlns:a16="http://schemas.microsoft.com/office/drawing/2014/main" id="{38D3EADF-7F97-F48F-84FB-4F3A51E9E4C3}"/>
              </a:ext>
            </a:extLst>
          </p:cNvPr>
          <p:cNvSpPr txBox="1"/>
          <p:nvPr/>
        </p:nvSpPr>
        <p:spPr>
          <a:xfrm>
            <a:off x="490175" y="3151907"/>
            <a:ext cx="2733454" cy="307777"/>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incorrect map of legacy data</a:t>
            </a:r>
          </a:p>
        </p:txBody>
      </p:sp>
      <p:sp>
        <p:nvSpPr>
          <p:cNvPr id="41" name="TextBox 40">
            <a:extLst>
              <a:ext uri="{FF2B5EF4-FFF2-40B4-BE49-F238E27FC236}">
                <a16:creationId xmlns:a16="http://schemas.microsoft.com/office/drawing/2014/main" id="{A7DF181D-EE28-4993-0812-EC7BDA9B0FE5}"/>
              </a:ext>
            </a:extLst>
          </p:cNvPr>
          <p:cNvSpPr txBox="1"/>
          <p:nvPr/>
        </p:nvSpPr>
        <p:spPr>
          <a:xfrm>
            <a:off x="5932830" y="3151907"/>
            <a:ext cx="2634729"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legacy data is checked early in process</a:t>
            </a:r>
          </a:p>
        </p:txBody>
      </p:sp>
      <p:sp>
        <p:nvSpPr>
          <p:cNvPr id="43" name="TextBox 42">
            <a:extLst>
              <a:ext uri="{FF2B5EF4-FFF2-40B4-BE49-F238E27FC236}">
                <a16:creationId xmlns:a16="http://schemas.microsoft.com/office/drawing/2014/main" id="{7261F0B9-2912-6D51-BD3A-198C71E3643F}"/>
              </a:ext>
            </a:extLst>
          </p:cNvPr>
          <p:cNvSpPr txBox="1"/>
          <p:nvPr/>
        </p:nvSpPr>
        <p:spPr>
          <a:xfrm>
            <a:off x="3175126" y="3169372"/>
            <a:ext cx="2669050" cy="307777"/>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creeping functionality</a:t>
            </a:r>
          </a:p>
        </p:txBody>
      </p:sp>
      <p:sp>
        <p:nvSpPr>
          <p:cNvPr id="45" name="TextBox 44">
            <a:extLst>
              <a:ext uri="{FF2B5EF4-FFF2-40B4-BE49-F238E27FC236}">
                <a16:creationId xmlns:a16="http://schemas.microsoft.com/office/drawing/2014/main" id="{0CA1211A-6E93-0C0A-4C55-73FED6AB1001}"/>
              </a:ext>
            </a:extLst>
          </p:cNvPr>
          <p:cNvSpPr txBox="1"/>
          <p:nvPr/>
        </p:nvSpPr>
        <p:spPr>
          <a:xfrm>
            <a:off x="490175" y="3728076"/>
            <a:ext cx="2733454" cy="307777"/>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errors in dependencies</a:t>
            </a:r>
          </a:p>
        </p:txBody>
      </p:sp>
      <p:sp>
        <p:nvSpPr>
          <p:cNvPr id="47" name="TextBox 46">
            <a:extLst>
              <a:ext uri="{FF2B5EF4-FFF2-40B4-BE49-F238E27FC236}">
                <a16:creationId xmlns:a16="http://schemas.microsoft.com/office/drawing/2014/main" id="{B1E0F1FE-5086-DC5D-70DE-48833DB4ED87}"/>
              </a:ext>
            </a:extLst>
          </p:cNvPr>
          <p:cNvSpPr txBox="1"/>
          <p:nvPr/>
        </p:nvSpPr>
        <p:spPr>
          <a:xfrm>
            <a:off x="5932830" y="3728076"/>
            <a:ext cx="2634729" cy="523220"/>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API calls provide SQL programming layer</a:t>
            </a:r>
          </a:p>
        </p:txBody>
      </p:sp>
      <p:sp>
        <p:nvSpPr>
          <p:cNvPr id="49" name="TextBox 48">
            <a:extLst>
              <a:ext uri="{FF2B5EF4-FFF2-40B4-BE49-F238E27FC236}">
                <a16:creationId xmlns:a16="http://schemas.microsoft.com/office/drawing/2014/main" id="{72F52412-8A65-4DF1-F238-02D4CA354515}"/>
              </a:ext>
            </a:extLst>
          </p:cNvPr>
          <p:cNvSpPr txBox="1"/>
          <p:nvPr/>
        </p:nvSpPr>
        <p:spPr>
          <a:xfrm>
            <a:off x="3175126" y="3745541"/>
            <a:ext cx="2669050" cy="307777"/>
          </a:xfrm>
          <a:prstGeom prst="rect">
            <a:avLst/>
          </a:prstGeom>
          <a:noFill/>
        </p:spPr>
        <p:txBody>
          <a:bodyPr wrap="square" rtlCol="0">
            <a:spAutoFit/>
          </a:bodyPr>
          <a:lstStyle/>
          <a:p>
            <a:r>
              <a:rPr lang="en-US" dirty="0">
                <a:solidFill>
                  <a:srgbClr val="00B0F0"/>
                </a:solidFill>
                <a:latin typeface="Lato" panose="020B0604020202020204" charset="0"/>
                <a:cs typeface="Lato" panose="020B0604020202020204" charset="0"/>
              </a:rPr>
              <a:t>higher maintenance, testing</a:t>
            </a:r>
          </a:p>
        </p:txBody>
      </p:sp>
    </p:spTree>
    <p:extLst>
      <p:ext uri="{BB962C8B-B14F-4D97-AF65-F5344CB8AC3E}">
        <p14:creationId xmlns:p14="http://schemas.microsoft.com/office/powerpoint/2010/main" val="226481983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B6358F38-1463-1F60-D9CB-C9A0D8CEB8BE}"/>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16713E3B-0CBB-EA46-1EDD-90EAEE5540A7}"/>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CCFA9F9C-2408-47CE-4908-3230EF8F9E86}"/>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query plan </a:t>
            </a:r>
            <a:r>
              <a:rPr kumimoji="0" lang="en-US" sz="2000" b="0" i="0" u="none" strike="noStrike" kern="0" cap="none" spc="0" normalizeH="0" baseline="0" noProof="0" dirty="0">
                <a:ln>
                  <a:noFill/>
                </a:ln>
                <a:solidFill>
                  <a:srgbClr val="FFFFFF"/>
                </a:solidFill>
                <a:effectLst/>
                <a:uLnTx/>
                <a:uFillTx/>
                <a:latin typeface="Rubik"/>
                <a:ea typeface="Rubik"/>
                <a:cs typeface="Rubik"/>
                <a:sym typeface="Rubik"/>
              </a:rPr>
              <a:t>management (</a:t>
            </a:r>
            <a:r>
              <a:rPr kumimoji="0" lang="en-US" sz="2000" b="0" i="0" u="none" strike="noStrike" kern="0" cap="none" spc="0" normalizeH="0" baseline="0" noProof="0" dirty="0" err="1">
                <a:ln>
                  <a:noFill/>
                </a:ln>
                <a:solidFill>
                  <a:srgbClr val="FFFFFF"/>
                </a:solidFill>
                <a:effectLst/>
                <a:uLnTx/>
                <a:uFillTx/>
                <a:latin typeface="Rubik"/>
                <a:ea typeface="Rubik"/>
                <a:cs typeface="Rubik"/>
                <a:sym typeface="Rubik"/>
              </a:rPr>
              <a:t>qpm</a:t>
            </a:r>
            <a:r>
              <a:rPr kumimoji="0" lang="en-US" sz="2000" b="0" i="0" u="none" strike="noStrike" kern="0" cap="none" spc="0" normalizeH="0" baseline="0" noProof="0" dirty="0">
                <a:ln>
                  <a:noFill/>
                </a:ln>
                <a:solidFill>
                  <a:srgbClr val="FFFFFF"/>
                </a:solidFill>
                <a:effectLst/>
                <a:uLnTx/>
                <a:uFillTx/>
                <a:latin typeface="Rubik"/>
                <a:ea typeface="Rubik"/>
                <a:cs typeface="Rubik"/>
                <a:sym typeface="Rubik"/>
              </a:rPr>
              <a:t>)</a:t>
            </a:r>
            <a:endParaRPr kumimoji="0" sz="20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6C25DCF1-273A-07CD-B3CE-22D9383B9306}"/>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A9A5CB2D-180C-488F-C32E-705B7AF5CCC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5ED9AFFB-EAD9-E4F0-CE39-AB092C858D31}"/>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7A01AC63-B7ED-13E3-9085-2B5EC040749A}"/>
              </a:ext>
            </a:extLst>
          </p:cNvPr>
          <p:cNvSpPr txBox="1"/>
          <p:nvPr/>
        </p:nvSpPr>
        <p:spPr>
          <a:xfrm>
            <a:off x="2684288" y="821646"/>
            <a:ext cx="6148139" cy="3582489"/>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600" dirty="0">
                <a:latin typeface="Lato"/>
                <a:ea typeface="Lato"/>
                <a:cs typeface="Lato"/>
                <a:sym typeface="Lato"/>
              </a:rPr>
              <a:t>automating query monitoring, alerting on query plan regressions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sz="1600" dirty="0">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600" dirty="0">
                <a:latin typeface="Lato"/>
                <a:ea typeface="Lato"/>
                <a:cs typeface="Lato"/>
                <a:sym typeface="Lato"/>
              </a:rPr>
              <a:t>history of, before </a:t>
            </a:r>
            <a:r>
              <a:rPr lang="en-US" sz="1600" dirty="0" err="1">
                <a:latin typeface="Lato"/>
                <a:ea typeface="Lato"/>
                <a:cs typeface="Lato"/>
                <a:sym typeface="Lato"/>
              </a:rPr>
              <a:t>qpm</a:t>
            </a:r>
            <a:r>
              <a:rPr lang="en-US" sz="1600" dirty="0">
                <a:latin typeface="Lato"/>
                <a:ea typeface="Lato"/>
                <a:cs typeface="Lato"/>
                <a:sym typeface="Lato"/>
              </a:rPr>
              <a:t>-</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err="1">
                <a:latin typeface="Lato"/>
                <a:ea typeface="Lato"/>
                <a:cs typeface="Lato"/>
                <a:sym typeface="Lato"/>
              </a:rPr>
              <a:t>log_min_duration_statement</a:t>
            </a:r>
            <a:endParaRPr lang="en-US" dirty="0">
              <a:latin typeface="Lato"/>
              <a:ea typeface="Lato"/>
              <a:cs typeface="Lato"/>
              <a:sym typeface="Lato"/>
            </a:endParaRP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err="1">
                <a:latin typeface="Lato"/>
                <a:ea typeface="Lato"/>
                <a:cs typeface="Lato"/>
                <a:sym typeface="Lato"/>
              </a:rPr>
              <a:t>pg_stat_activity</a:t>
            </a:r>
            <a:endParaRPr lang="en-US" dirty="0">
              <a:latin typeface="Lato"/>
              <a:ea typeface="Lato"/>
              <a:cs typeface="Lato"/>
              <a:sym typeface="Lato"/>
            </a:endParaRP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err="1">
                <a:latin typeface="Lato"/>
                <a:ea typeface="Lato"/>
                <a:cs typeface="Lato"/>
                <a:sym typeface="Lato"/>
              </a:rPr>
              <a:t>pg_stat_statements</a:t>
            </a:r>
            <a:endParaRPr lang="en-US" dirty="0">
              <a:latin typeface="Lato"/>
              <a:ea typeface="Lato"/>
              <a:cs typeface="Lato"/>
              <a:sym typeface="Lato"/>
            </a:endParaRP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application performance monitoring, APM</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active session history, ASH</a:t>
            </a:r>
          </a:p>
          <a:p>
            <a:pPr marL="227012" marR="0" lvl="0" defTabSz="914400" rtl="0" eaLnBrk="1" fontAlgn="auto" latinLnBrk="0" hangingPunct="1">
              <a:lnSpc>
                <a:spcPct val="115000"/>
              </a:lnSpc>
              <a:spcBef>
                <a:spcPts val="0"/>
              </a:spcBef>
              <a:spcAft>
                <a:spcPts val="0"/>
              </a:spcAft>
              <a:buClr>
                <a:srgbClr val="000000"/>
              </a:buClr>
              <a:buSzTx/>
              <a:tabLst/>
              <a:defRPr/>
            </a:pPr>
            <a:endParaRPr lang="en-US" sz="1600" dirty="0">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600" dirty="0">
                <a:latin typeface="Lato"/>
                <a:ea typeface="Lato"/>
                <a:cs typeface="Lato"/>
                <a:sym typeface="Lato"/>
              </a:rPr>
              <a:t>query plan management (</a:t>
            </a:r>
            <a:r>
              <a:rPr lang="en-US" sz="1600" dirty="0" err="1">
                <a:latin typeface="Lato"/>
                <a:ea typeface="Lato"/>
                <a:cs typeface="Lato"/>
                <a:sym typeface="Lato"/>
              </a:rPr>
              <a:t>qpm</a:t>
            </a:r>
            <a:r>
              <a:rPr lang="en-US" sz="1600" dirty="0">
                <a:latin typeface="Lato"/>
                <a:ea typeface="Lato"/>
                <a:cs typeface="Lato"/>
                <a:sym typeface="Lato"/>
              </a:rPr>
              <a:t>)</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why-</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details; how</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dirty="0">
              <a:latin typeface="Lato"/>
              <a:ea typeface="Lato"/>
              <a:cs typeface="Lato"/>
              <a:sym typeface="Lato"/>
            </a:endParaRPr>
          </a:p>
        </p:txBody>
      </p:sp>
    </p:spTree>
    <p:extLst>
      <p:ext uri="{BB962C8B-B14F-4D97-AF65-F5344CB8AC3E}">
        <p14:creationId xmlns:p14="http://schemas.microsoft.com/office/powerpoint/2010/main" val="347255829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DBE6421-7E8A-2D4B-F45F-59E94703946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1CB81E5-9F3E-16BF-AE4B-C3116D2CBA9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history of, before qpm-</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F4234A3-1302-0E26-CE8A-05678AFFC80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D8F0773-909C-A300-2B73-8831D3DDDC66}"/>
              </a:ext>
            </a:extLst>
          </p:cNvPr>
          <p:cNvSpPr txBox="1"/>
          <p:nvPr/>
        </p:nvSpPr>
        <p:spPr>
          <a:xfrm>
            <a:off x="174213" y="856775"/>
            <a:ext cx="3937042" cy="3582489"/>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log_min_duration_statement</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2003, PostgreSQL 7.4</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file based, statement by statement</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only completed statements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no aggregation across nodes</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pg_stat_activity</a:t>
            </a: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early/core PostgreSQL, changed much over the years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system table, memory based only</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what is running right now, ephemeral</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no aggregation across nodes</a:t>
            </a:r>
            <a:endParaRPr lang="en-US" dirty="0">
              <a:latin typeface="Lato"/>
              <a:ea typeface="Lato"/>
              <a:cs typeface="Lato"/>
              <a:sym typeface="Lato"/>
            </a:endParaRPr>
          </a:p>
          <a:p>
            <a:pPr marL="227012" marR="0" lvl="0" defTabSz="914400" rtl="0" eaLnBrk="1" fontAlgn="auto" latinLnBrk="0" hangingPunct="1">
              <a:lnSpc>
                <a:spcPct val="115000"/>
              </a:lnSpc>
              <a:spcBef>
                <a:spcPts val="0"/>
              </a:spcBef>
              <a:spcAft>
                <a:spcPts val="0"/>
              </a:spcAft>
              <a:buClr>
                <a:srgbClr val="000000"/>
              </a:buClr>
              <a:buSzTx/>
              <a:tabLst/>
              <a:defRPr/>
            </a:pPr>
            <a:r>
              <a:rPr kumimoji="0" lang="en-US" sz="2400" b="1" i="0" u="none" strike="noStrike" kern="0" cap="none" spc="0" normalizeH="0" baseline="0" noProof="0" dirty="0">
                <a:ln>
                  <a:noFill/>
                </a:ln>
                <a:solidFill>
                  <a:srgbClr val="000000"/>
                </a:solidFill>
                <a:effectLst/>
                <a:uLnTx/>
                <a:uFillTx/>
                <a:latin typeface="Lato"/>
                <a:ea typeface="Lato"/>
                <a:cs typeface="Lato"/>
                <a:sym typeface="Lato"/>
              </a:rPr>
              <a:t>          …</a:t>
            </a:r>
          </a:p>
        </p:txBody>
      </p:sp>
      <p:sp>
        <p:nvSpPr>
          <p:cNvPr id="4" name="Google Shape;248;p56">
            <a:extLst>
              <a:ext uri="{FF2B5EF4-FFF2-40B4-BE49-F238E27FC236}">
                <a16:creationId xmlns:a16="http://schemas.microsoft.com/office/drawing/2014/main" id="{0497E56E-71B1-4BAA-A5ED-7B54FC4A1261}"/>
              </a:ext>
            </a:extLst>
          </p:cNvPr>
          <p:cNvSpPr txBox="1"/>
          <p:nvPr/>
        </p:nvSpPr>
        <p:spPr>
          <a:xfrm>
            <a:off x="4303130" y="995166"/>
            <a:ext cx="4472275" cy="358248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2400" b="1" i="0" u="none" strike="noStrike" kern="0" cap="none" spc="0" normalizeH="0" baseline="0" noProof="0" dirty="0">
                <a:ln>
                  <a:noFill/>
                </a:ln>
                <a:solidFill>
                  <a:srgbClr val="000000"/>
                </a:solidFill>
                <a:effectLst/>
                <a:uLnTx/>
                <a:uFillTx/>
                <a:latin typeface="Lato"/>
                <a:ea typeface="Lato"/>
                <a:cs typeface="Lato"/>
                <a:sym typeface="Lato"/>
              </a:rPr>
              <a:t>         …   </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pg_stat_statements</a:t>
            </a:r>
            <a:endParaRPr kumimoji="0" lang="en-US" b="0" i="0" u="none" strike="noStrike" kern="0" cap="none" spc="0" normalizeH="0" baseline="0" noProof="0" dirty="0">
              <a:ln>
                <a:noFill/>
              </a:ln>
              <a:solidFill>
                <a:srgbClr val="00B0F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extension, 2009, PostgreSQL 8.4</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system table, memory based only</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cumulative since last reset, does persist across clean restarts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no aggregation across nodes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every execution of every distinct normalized query shape — not sampled — bounded by a capacity limit</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B0F0"/>
                </a:solidFill>
                <a:effectLst/>
                <a:uLnTx/>
                <a:uFillTx/>
                <a:latin typeface="Lato"/>
                <a:ea typeface="Lato"/>
                <a:cs typeface="Lato"/>
                <a:sym typeface="Lato"/>
              </a:rPr>
              <a:t>pg_stat_statements.max</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(default 5000 distinct query shapes)</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Tree>
    <p:extLst>
      <p:ext uri="{BB962C8B-B14F-4D97-AF65-F5344CB8AC3E}">
        <p14:creationId xmlns:p14="http://schemas.microsoft.com/office/powerpoint/2010/main" val="408751106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9AF6A4F-707E-6A18-BE73-31D9C19A3ABA}"/>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BA3F8EE-EA79-55A1-8560-AD69BC928FD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pg_stat_statements, example execution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F4AC43C-18C7-19A2-2417-CC066C3F777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7610ED3-8425-F5C3-4E1B-967294E7B83B}"/>
              </a:ext>
            </a:extLst>
          </p:cNvPr>
          <p:cNvSpPr txBox="1"/>
          <p:nvPr/>
        </p:nvSpPr>
        <p:spPr>
          <a:xfrm>
            <a:off x="315981" y="925451"/>
            <a:ext cx="8272606" cy="340551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EXTENSION IF NOT EXISTS pg_stat_statements;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LEFT(query, 100)  AS statement,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calls,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mean_exec_time    AS avg_ms,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max_exec_time     AS max_ms,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total_exec_time   AS total_ms,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rows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pg_stat_statements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query ILIKE 'select%'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 mean_exec_time DESC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LIMIT 10;</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88631881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E3B207C-F66B-B64A-A060-24971FBD9A95}"/>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1FF480D-9E8B-E9B2-B9B3-A4B3BB52A78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pg_stat_statements, example output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5492B70-2228-A18D-EDE3-02DA23B4916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B27CF94-0E6A-32A5-B2BF-D5198C0822B4}"/>
              </a:ext>
            </a:extLst>
          </p:cNvPr>
          <p:cNvSpPr txBox="1"/>
          <p:nvPr/>
        </p:nvSpPr>
        <p:spPr>
          <a:xfrm>
            <a:off x="679757" y="769943"/>
            <a:ext cx="8272606" cy="390103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statement                                  | calls |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avg_ms</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max_ms</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total_ms</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rows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t1.col1, t1.col2, t2.col3, t3.col1 +|     2 | 108.120848 | 175.159477 | 216.2416960 |  3800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FROM t1, t2, t3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WHERE t1.col1 = $1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AND t1.col2 = t2.col1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t4.col1, t4.col2, t5.col3, t3.col1 +|     1 |  14.766957 |  14.766957 |  14.7669570 |  1900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FROM t4, t5, t3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WHERE t4.col1 = $1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AND t4.col2 = t5.col1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     1 |   0.477873 |   0.477873 |   0.4778730 |     7</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LEFT(query, $1)  AS statement,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calls,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mean_exec_time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avg_ms</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max_exec_time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pg_stat_statements_reset</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1 |   0.098783 |   0.098783 |   0.0987830 |     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     0 |          0 |          0 |           0 |     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LEFT(query, $1)  AS statement,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calls,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mean_exec_time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avg_ms</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            |            |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max_exec_time</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            |            |             | </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11209237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CF8C217-B312-29F2-168A-E46EC1844D76}"/>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EA48DA5-45AE-AF4D-2343-9D3FD8F52AA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application performance monitoring (APM)</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6C7D903-81D6-89B8-1693-87D08FC60D6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1D7C64C-4524-83B0-A4A0-4D58F8DF70E4}"/>
              </a:ext>
            </a:extLst>
          </p:cNvPr>
          <p:cNvSpPr txBox="1"/>
          <p:nvPr/>
        </p:nvSpPr>
        <p:spPr>
          <a:xfrm>
            <a:off x="315981" y="925452"/>
            <a:ext cx="8272606" cy="273302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0" i="0" u="none" strike="noStrike" kern="0" cap="none" spc="0" normalizeH="0" baseline="0" noProof="0" dirty="0">
                <a:ln>
                  <a:noFill/>
                </a:ln>
                <a:solidFill>
                  <a:srgbClr val="000000"/>
                </a:solidFill>
                <a:effectLst/>
                <a:uLnTx/>
                <a:uFillTx/>
                <a:latin typeface="Lato"/>
                <a:ea typeface="Lato"/>
                <a:cs typeface="Lato"/>
                <a:sym typeface="Lato"/>
              </a:rPr>
              <a:t>functionally different, an application API, at 3 layers-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 sz="1600"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SDK/tracing API your application code calls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tracer.start_as_current_span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what creates the actual trace data</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OTLP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OpenTelemetry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Protocol) — the wire format/API used to ship completed spans out of your process to a collector or backend (I used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ConsoleSpanExporter</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above just to print locally; swap it for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OTLPSpanExporter</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pointed at Datadog/Honeycomb/Jaeger and nothing else in the code changes)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backend’s own query API — once ingested, you search/visualize traces via that vendor’s own REST/</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GraphQL</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API (or their UI, which calls the same API underneath)</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26326990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249F25A-AB0A-FCEE-481A-63252730D6D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0E5F6FD-F9B6-B1AB-51EF-9F10922C0DE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APM, sample output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69E58CC-8A81-0B1F-683C-6B5EEC11A51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296FEA8-CB47-216D-3B5E-47B39C5BA96F}"/>
              </a:ext>
            </a:extLst>
          </p:cNvPr>
          <p:cNvSpPr txBox="1"/>
          <p:nvPr/>
        </p:nvSpPr>
        <p:spPr>
          <a:xfrm>
            <a:off x="474194" y="833303"/>
            <a:ext cx="8272606" cy="337012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Offset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Event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0.00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http.request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request.received</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8.17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http.request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request.routed_to_handler</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8.26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app.handler</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span starts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8.29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db.connection.acquire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pool.checkout_start</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14.72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db.connection.acquire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pool.checkout_complete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[ 6.43ms spent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14.97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db.query.execute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query.sent</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251.41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db.query.execute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query.first_response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[236.44ms REAL SQL TIME]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252.87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db.query.execute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query.rows_fetched</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1.46ms fetch]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255.81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app.serialize_response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serialize.start</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358.74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app.serialize_response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serialize.complete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[102.93ms serialize]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359.03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app.handler</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span ends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363.17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http.request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response.sent</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363.19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http.request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span ends (total round trip)</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45550652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CE6FB65-D4A8-4753-AB99-A5702D3806F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643C47D-36C9-B35C-8905-6C54CC861D0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active session history (ASH)</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EAEB86F-5943-9421-4B89-DB55FF7C1CC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5280B5DD-96CA-2CE6-BEFC-9EDDEB97A9D7}"/>
              </a:ext>
            </a:extLst>
          </p:cNvPr>
          <p:cNvSpPr txBox="1"/>
          <p:nvPr/>
        </p:nvSpPr>
        <p:spPr>
          <a:xfrm>
            <a:off x="620781" y="992871"/>
            <a:ext cx="7622996" cy="3405517"/>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e</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nabled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via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yb_enable_ash</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(confirmed on by default on this cluster), it periodically samples every active session cluster-wide and records what it was doing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d</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ata</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lands in a real,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queryable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system view: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yb_active_session_history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columns include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sample_time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wait_event_component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wait_event_class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wait_event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wait_event_type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query_id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and more</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s</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ampling</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cadence and retention are tunable: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yb_ash_sampling_interval_ms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(1000ms here — one sample per second),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yb_ash_sample_size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(500 samples per component per sampling event),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yb_ash_circular_buffer_size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(64MB here) — a fixed-size ring buffer, so old samples age out rather than growing unbounded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latin typeface="Lato"/>
                <a:ea typeface="Lato"/>
                <a:cs typeface="Lato"/>
                <a:sym typeface="Lato"/>
              </a:rPr>
              <a:t>b</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ridges the gap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pg_stat_activity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and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pg_stat_statements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leave open: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pg_stat_activity</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is live-only (no history once the query ends),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pg_stat_statements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is aggregated (no timeline) — ASH is the one that answers "what was this session doing, sampled over time, even after it’s finished".</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03789127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6446C44-BEDA-1C5D-6A6A-FE42EC37375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24D0310-7F95-75F7-D2B7-837461724F6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ASH, sample output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D81AF7D-156E-A9FE-64B0-5B26ACFA997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3DBDDE4-8131-23FF-6AB7-355D0134A9CC}"/>
              </a:ext>
            </a:extLst>
          </p:cNvPr>
          <p:cNvSpPr txBox="1"/>
          <p:nvPr/>
        </p:nvSpPr>
        <p:spPr>
          <a:xfrm>
            <a:off x="315981" y="989247"/>
            <a:ext cx="8272606" cy="1883562"/>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pg_backend_pid</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my_pid</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t1.col1, t1.col2,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COUNT(*) FROM t2 WHERE t2.col2 = t1.col1) AS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row_count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SUM(t2.col3) FROM t2 WHERE t2.col2 = t1.col1) AS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total_val</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t1.col2 = 'West';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my_pid</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1178910</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71683830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58F7FF2-A029-8147-A9D3-FBB01356C95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06C1262-379D-2C52-E197-693D4CD0643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ASH, sample output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DBB614C-82E2-3115-7E07-19B1064AD46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9DB0501-D5E7-B9C8-9F28-64E7B205D60F}"/>
              </a:ext>
            </a:extLst>
          </p:cNvPr>
          <p:cNvSpPr txBox="1"/>
          <p:nvPr/>
        </p:nvSpPr>
        <p:spPr>
          <a:xfrm>
            <a:off x="315981" y="989247"/>
            <a:ext cx="8272606" cy="209592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to_char</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sample_time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'HH24:MI:SS')  AS time,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wait_event_component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component,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wait_event_class</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class,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wait_event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event,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wait_event_type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AS type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yb_active_session_history</a:t>
            </a:r>
            <a:endPar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WHERE </a:t>
            </a:r>
            <a:r>
              <a:rPr kumimoji="0" lang="en-US" sz="1200"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pid</a:t>
            </a:r>
            <a:r>
              <a:rPr kumimoji="0" lang="en-US" sz="12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 1178910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sample_time</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endParaRPr kumimoji="0" sz="12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70143320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B1C8B81-71DC-3D50-30AF-E0A4AD80330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B65E0E5-E9FB-2CAE-388D-991B4D91C99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ASH, sample output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ACF8AC4C-2BF0-C987-DE1B-800A36F5D3C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5FFCD9A-6F41-0210-673A-E1D8504F26D2}"/>
              </a:ext>
            </a:extLst>
          </p:cNvPr>
          <p:cNvSpPr txBox="1"/>
          <p:nvPr/>
        </p:nvSpPr>
        <p:spPr>
          <a:xfrm>
            <a:off x="435697" y="790772"/>
            <a:ext cx="8272606" cy="372406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Output: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time   | component |    class    |    event     |  type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11:10:41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11:10:42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11:10:43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11:10:44 | YSQL      | TServerWait | TableRead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11:10:45 | YSQL      | TServerWait | TableRead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11:10:46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11:10:47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11:10:48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11:10:49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11:10:50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11:10:51 | YSQL      | YSQLQuery   | OnCpu_Active | Cpu</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11:10:52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11:10:53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11:10:54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11:10:56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11:10:57 | YSQL      | TServerWait | IndexRead    | RPCWait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(16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96994962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167D28F-5DA1-A873-CBA1-61226E7F637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9AB09BB3-3ED0-A626-7E6F-89DC1581FE2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ASH, what can you do with this data-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892815A-1AEE-24AE-F6F9-5886863080F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936DC9F-A43D-A9C5-20CC-EB4525C30136}"/>
              </a:ext>
            </a:extLst>
          </p:cNvPr>
          <p:cNvSpPr txBox="1"/>
          <p:nvPr/>
        </p:nvSpPr>
        <p:spPr>
          <a:xfrm>
            <a:off x="315981" y="1127740"/>
            <a:ext cx="8272606" cy="301618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he single most useful thing: it separates “why is this slow” into buckets that call for completely different remedies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d</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ominated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by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IndexRead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TableRead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RPCWait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like our example — means the time is going to network round trips to storage, not computation. the fix is architectural: fewer RPCs (batching, rewriting correlated subqueries as joins — literally what exercises 06→06b→06c did), or covering indexes to avoid extra hops</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d</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ominated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by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OnCpu_Active</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means the time is genuine computation (sorting, aggregating, evaluating expressions). the fix is different: better join/aggregate algorithm choice,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work_mem</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or parallelism — not batching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d</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ominated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by lock-related wait events — a concurrency problem, not a query-shape problem. points us at transaction design, not indexing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d</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ominated</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by client/idle wait — means the database isn’t the bottleneck at all. this is the tell that sends us back to the application/APM side instead of tuning SQL further — the one thing pure database-side tools can’t tell you on their own</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71491192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0489D66-E538-FDD8-182F-449531EB692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4257B67-2D01-D1E8-E1B2-81E70671720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plan management (qpm): why-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9B5BB46-6D37-26DF-BA82-18D530159C4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4B8F0EE3-2A33-9E75-1957-74FBB354BA80}"/>
              </a:ext>
            </a:extLst>
          </p:cNvPr>
          <p:cNvSpPr txBox="1"/>
          <p:nvPr/>
        </p:nvSpPr>
        <p:spPr>
          <a:xfrm>
            <a:off x="474194" y="1074308"/>
            <a:ext cx="7124541" cy="2945391"/>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we have thousands and thousands of queries (too many) to design, tune, monitor</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query planner "cost" is relative across different queries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query planner "time"</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the "month end summary report" query (run once per month, by a daemon) will always be 30 seconds</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the "log in" query (run 100s of times per second by a live operator) must be very sub-second</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data volumes grow naturally over time, change isn’t automatically an alert</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solidFill>
                  <a:schemeClr val="bg1">
                    <a:lumMod val="50000"/>
                  </a:schemeClr>
                </a:solidFill>
                <a:latin typeface="Lato"/>
                <a:ea typeface="Lato"/>
                <a:cs typeface="Lato"/>
                <a:sym typeface="Lato"/>
              </a:rPr>
              <a:t>if the time to complete goes up slowly over months, and the query plan is the same; normal data growth ? we good ?</a:t>
            </a:r>
            <a:endParaRPr kumimoji="0" lang="en"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chemeClr val="bg1">
                    <a:lumMod val="50000"/>
                  </a:schemeClr>
                </a:solidFill>
                <a:effectLst/>
                <a:uLnTx/>
                <a:uFillTx/>
                <a:latin typeface="Lato"/>
                <a:ea typeface="Lato"/>
                <a:cs typeface="Lato"/>
                <a:sym typeface="Lato"/>
              </a:rPr>
              <a:t>if the query plan changes, and time is faster; we good ?</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solidFill>
                  <a:srgbClr val="00B0F0"/>
                </a:solidFill>
                <a:latin typeface="Lato"/>
                <a:ea typeface="Lato"/>
                <a:cs typeface="Lato"/>
                <a:sym typeface="Lato"/>
              </a:rPr>
              <a:t>if the query plan changes, and time is worse by a margin; roll a truck </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Tree>
    <p:extLst>
      <p:ext uri="{BB962C8B-B14F-4D97-AF65-F5344CB8AC3E}">
        <p14:creationId xmlns:p14="http://schemas.microsoft.com/office/powerpoint/2010/main" val="134467398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3631A9E-072E-192D-B248-26189DDA1D1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E96C1B9-FAEE-F71E-FBA0-3A1ECA4CE81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qpm, configuring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7ECAF2F-7DFD-C984-4D50-6D97ED47E6F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C32D424-A39E-85BC-9873-C3D84723E07C}"/>
              </a:ext>
            </a:extLst>
          </p:cNvPr>
          <p:cNvSpPr txBox="1"/>
          <p:nvPr/>
        </p:nvSpPr>
        <p:spPr>
          <a:xfrm>
            <a:off x="315981" y="1244428"/>
            <a:ext cx="8272606" cy="216671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o CREATE EXTENSION needed — it’s a core, built-in mechanism (unlike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pg_stat_statements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controlled by GUCs)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yb_pg_stat_plans_track</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scope of tracking (default all)</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yb_pg_stat_plans_max_cache_size</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capacity, in distinct query/plan pairs (default 5000)</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yb_pg_stat_plans_cache_replacement_algorithm</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eviction policy once full (default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simple_clock_lru</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yb_pg_stat_plans_plan_format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json</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by default</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yb_pg_stat_plans_verbose_plans</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yb_pg_stat_plans_show_max_exec_params</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off by default, extra detail when turned on</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yb_qpm_compress_text</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 compresses stored plan/hint text (on by default)</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91230932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71C248D-41BE-3B78-7B1B-E12A650F9B2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C1E0BB5-D00B-A439-631E-BDF291B67FA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qpm, accessing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0382B707-EFE0-36D0-7455-F5900B9401F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212</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800470D-871C-C075-EEA5-2E4C4369BB43}"/>
              </a:ext>
            </a:extLst>
          </p:cNvPr>
          <p:cNvSpPr txBox="1"/>
          <p:nvPr/>
        </p:nvSpPr>
        <p:spPr>
          <a:xfrm>
            <a:off x="315981" y="1244428"/>
            <a:ext cx="8272606" cy="290999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Lato"/>
                <a:ea typeface="Lato"/>
                <a:cs typeface="Lato"/>
                <a:sym typeface="Lato"/>
              </a:rPr>
              <a:t>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wo system views, both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queryable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directly, no wrapper needed-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yb_pg_stat_plans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one row per distinct (query, plan) pair</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queryid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planid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calls,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avg_exec_time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max_exec_time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avg_est_cost</a:t>
            </a:r>
            <a:endParaRPr lang="en-US" dirty="0">
              <a:latin typeface="Lato"/>
              <a:ea typeface="Lato"/>
              <a:cs typeface="Lato"/>
              <a:sym typeface="Lato"/>
            </a:endParaRP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critically a hints column containing a complete,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replayable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pg_hint_plan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-compatible string describing exactly that plan (join order, access method per table, and the planner GUC settings in effect)</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yb_pg_stat_plans_insights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a higher-level view</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plan_require_evaluation</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min_avg_exec_time</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min_avg_est_cost</a:t>
            </a:r>
            <a:endParaRPr lang="en-US" dirty="0">
              <a:latin typeface="Lato"/>
              <a:ea typeface="Lato"/>
              <a:cs typeface="Lato"/>
              <a:sym typeface="Lato"/>
            </a:endParaRP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specifically flag queries whose current plan is worse than a previously known one — the actual "regression detection" surface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80445767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00AE97F-5607-316C-0AA8-A12D8AB0FCA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166A481-56D3-B98A-BBCB-9F3599CF82E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qpm, in use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9FEF0865-8890-040A-ACC7-134B8BE92D6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A9A6067-8AC1-56E8-C216-758ED85DFF09}"/>
              </a:ext>
            </a:extLst>
          </p:cNvPr>
          <p:cNvSpPr txBox="1"/>
          <p:nvPr/>
        </p:nvSpPr>
        <p:spPr>
          <a:xfrm>
            <a:off x="315981" y="847479"/>
            <a:ext cx="8272606" cy="68015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The single most useful query against this view: find any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queryid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that has more than one distinct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planid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 meaning the same logical query has been executed under different plans</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B0F17323-CB58-522D-CA91-BB5AFDE7725B}"/>
              </a:ext>
            </a:extLst>
          </p:cNvPr>
          <p:cNvSpPr txBox="1"/>
          <p:nvPr/>
        </p:nvSpPr>
        <p:spPr>
          <a:xfrm>
            <a:off x="315981" y="1708039"/>
            <a:ext cx="8272606" cy="19189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SELECT </a:t>
            </a:r>
            <a:r>
              <a:rPr kumimoji="0" lang="en-US"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queryid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planid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calls,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avg_exec_time</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avg_est_cost</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yb_pg_stat_plans</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queryid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SELECT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queryid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FROM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yb_pg_stat_plans</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GROUP BY </a:t>
            </a:r>
            <a:r>
              <a:rPr kumimoji="0" lang="en-US"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queryid</a:t>
            </a:r>
            <a:r>
              <a:rPr kumimoji="0" lang="en-US"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HAVING COUNT(DISTINCT </a:t>
            </a:r>
            <a:r>
              <a:rPr kumimoji="0" lang="en-US"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planid</a:t>
            </a:r>
            <a:r>
              <a:rPr kumimoji="0" lang="en-US"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&gt; 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queryid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avg_exec_time</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DESC;</a:t>
            </a:r>
            <a:endParaRPr kumimoji="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95319489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8DDBB0D-5229-5E6F-28BF-0A8CC591E04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B6A9EE6-B64D-5B80-B84C-E6B2A569DD8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07, 07b specifically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7A07662-9061-B125-8A8D-FF6208C8F96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0AAC2C1-4B3C-A67F-C55F-21596751A75E}"/>
              </a:ext>
            </a:extLst>
          </p:cNvPr>
          <p:cNvSpPr txBox="1"/>
          <p:nvPr/>
        </p:nvSpPr>
        <p:spPr>
          <a:xfrm>
            <a:off x="315981" y="891891"/>
            <a:ext cx="8272606" cy="68015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the same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queryid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that merged into one blended row in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pg_stat_statements</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 few turns ago is split into two distinct plans here</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03421BC1-56E5-CDDB-7619-8ECC2FC75EFD}"/>
              </a:ext>
            </a:extLst>
          </p:cNvPr>
          <p:cNvSpPr txBox="1"/>
          <p:nvPr/>
        </p:nvSpPr>
        <p:spPr>
          <a:xfrm>
            <a:off x="315981" y="1639037"/>
            <a:ext cx="8272606" cy="290999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RIGHT(</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planid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::text, 8)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plan_id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calls,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round(</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avg_exec_time</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::numeric,1)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avg_ms</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round(</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avg_est_cost</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::numeric,0)  AS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est_cost</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CASE WHEN hints LIKE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SeqScan</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 THEN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SeqScan</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WHEN hints LIKE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IndexOnlyScan</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 THEN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IdxOnlyScan</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ELSE 'other' END              AS t2_access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yb_pg_stat_plans</a:t>
            </a:r>
            <a:endPar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WHERE </a:t>
            </a:r>
            <a:r>
              <a:rPr kumimoji="0" lang="en-US"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queryid</a:t>
            </a:r>
            <a:r>
              <a:rPr kumimoji="0" lang="en-US"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 3958159052188978184</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avg_exec_time</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DESC;</a:t>
            </a:r>
            <a:endParaRPr kumimoji="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01333395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3F97CF9-CCB8-4530-DDEC-E7A1A27AF91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551A11E-4809-3B4A-59E6-833192C8BC3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data output from that last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A584D1C-2044-15BB-2FAE-4AD58BB6611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72D4C38-59BC-E4FF-9CA2-789D83804539}"/>
              </a:ext>
            </a:extLst>
          </p:cNvPr>
          <p:cNvSpPr txBox="1"/>
          <p:nvPr/>
        </p:nvSpPr>
        <p:spPr>
          <a:xfrm>
            <a:off x="315981" y="1244428"/>
            <a:ext cx="8272606" cy="117567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plan_id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calls |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avg_ms</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est_cost</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t2_access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21637953 |     1 |  175.2 |    10989 |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IdxOnlyScan</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95128495 |     1 |   41.1 |     6812 |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SeqScan</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(t2)</a:t>
            </a:r>
          </a:p>
        </p:txBody>
      </p:sp>
    </p:spTree>
    <p:extLst>
      <p:ext uri="{BB962C8B-B14F-4D97-AF65-F5344CB8AC3E}">
        <p14:creationId xmlns:p14="http://schemas.microsoft.com/office/powerpoint/2010/main" val="71480579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E9602EB-0050-DA90-7F27-ECF6B09EA9C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75245CF-C8A4-6785-9737-4938493FCEC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plan management demonstration: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A0A6E6C-6C54-A0AC-A49A-B7B607AFCDE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66D4C38-94AC-1D73-0960-BD2644D05513}"/>
              </a:ext>
            </a:extLst>
          </p:cNvPr>
          <p:cNvSpPr txBox="1"/>
          <p:nvPr/>
        </p:nvSpPr>
        <p:spPr>
          <a:xfrm>
            <a:off x="2089020" y="2124961"/>
            <a:ext cx="496596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sz="1800" dirty="0">
                <a:latin typeface="Lato"/>
                <a:ea typeface="Lato"/>
                <a:cs typeface="Lato"/>
                <a:sym typeface="Lato"/>
              </a:rPr>
              <a:t>w</a:t>
            </a: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eb program demonstration, pre-chat</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5180740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49B77F0-134C-6E85-6AED-A26C1E45264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4D186E3-6EC1-4FD7-E01D-6E0F8D4DFF9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zipfian data distributions, query plans, the driver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B9480E6-7B84-EAF6-D2AF-439F0297D2A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6C0EB31-7B23-48A7-62CB-36F881A87450}"/>
              </a:ext>
            </a:extLst>
          </p:cNvPr>
          <p:cNvSpPr txBox="1"/>
          <p:nvPr/>
        </p:nvSpPr>
        <p:spPr>
          <a:xfrm>
            <a:off x="3444949" y="1141584"/>
            <a:ext cx="544105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data: 500K total rows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500 "typical" customers with ~100 rows each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3   "mega"    customers with 150,000 rows each (90% of the table)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query, prepared statement, real application using connection pool/driver-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PREPARE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stmt</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(int) AS SELECT *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Courier New" panose="02070309020205020404" pitchFamily="49" charset="0"/>
                <a:ea typeface="Lato"/>
                <a:cs typeface="Courier New" panose="02070309020205020404" pitchFamily="49" charset="0"/>
                <a:sym typeface="Lato"/>
              </a:rPr>
              <a:t>   </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qo_demo_zipf</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WHERE </a:t>
            </a:r>
            <a:r>
              <a:rPr kumimoji="0" lang="en-US"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customer_id</a:t>
            </a:r>
            <a:r>
              <a:rPr kumimoji="0" lang="en-US"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repeatedly EXECUTE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stmt</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(XXX </a:t>
            </a:r>
            <a:r>
              <a:rPr kumimoji="0" lang="en-US" b="0" i="0" u="none" strike="noStrike" kern="0" cap="none" spc="0" normalizeH="0" baseline="0" noProof="0" dirty="0" err="1">
                <a:ln>
                  <a:noFill/>
                </a:ln>
                <a:solidFill>
                  <a:srgbClr val="000000"/>
                </a:solidFill>
                <a:effectLst/>
                <a:uLnTx/>
                <a:uFillTx/>
                <a:latin typeface="Lato"/>
                <a:ea typeface="Lato"/>
                <a:cs typeface="Lato"/>
                <a:sym typeface="Lato"/>
              </a:rPr>
              <a:t>customer_id</a:t>
            </a:r>
            <a:r>
              <a:rPr kumimoji="0" lang="en-US" b="0" i="0" u="none" strike="noStrike" kern="0" cap="none" spc="0" normalizeH="0" baseline="0" noProof="0" dirty="0">
                <a:ln>
                  <a:noFill/>
                </a:ln>
                <a:solidFill>
                  <a:srgbClr val="000000"/>
                </a:solidFill>
                <a:effectLst/>
                <a:uLnTx/>
                <a:uFillTx/>
                <a:latin typeface="Lato"/>
                <a:ea typeface="Lato"/>
                <a:cs typeface="Lato"/>
                <a:sym typeface="Lato"/>
              </a:rPr>
              <a:t>), a typical customer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then a mega customer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p>
        </p:txBody>
      </p:sp>
      <p:pic>
        <p:nvPicPr>
          <p:cNvPr id="4" name="Picture 3">
            <a:extLst>
              <a:ext uri="{FF2B5EF4-FFF2-40B4-BE49-F238E27FC236}">
                <a16:creationId xmlns:a16="http://schemas.microsoft.com/office/drawing/2014/main" id="{2BAA35D1-67F3-6674-4D4D-43257DA0C9B4}"/>
              </a:ext>
            </a:extLst>
          </p:cNvPr>
          <p:cNvPicPr>
            <a:picLocks noChangeAspect="1"/>
          </p:cNvPicPr>
          <p:nvPr/>
        </p:nvPicPr>
        <p:blipFill>
          <a:blip r:embed="rId3"/>
          <a:srcRect l="19045" r="14572"/>
          <a:stretch>
            <a:fillRect/>
          </a:stretch>
        </p:blipFill>
        <p:spPr>
          <a:xfrm>
            <a:off x="345911" y="1531554"/>
            <a:ext cx="2928917" cy="1770166"/>
          </a:xfrm>
          <a:prstGeom prst="rect">
            <a:avLst/>
          </a:prstGeom>
        </p:spPr>
      </p:pic>
      <p:sp>
        <p:nvSpPr>
          <p:cNvPr id="6" name="Google Shape;248;p56">
            <a:extLst>
              <a:ext uri="{FF2B5EF4-FFF2-40B4-BE49-F238E27FC236}">
                <a16:creationId xmlns:a16="http://schemas.microsoft.com/office/drawing/2014/main" id="{E60C2DC6-9D84-51BA-05DB-D4F6C4733DD1}"/>
              </a:ext>
            </a:extLst>
          </p:cNvPr>
          <p:cNvSpPr txBox="1"/>
          <p:nvPr/>
        </p:nvSpPr>
        <p:spPr>
          <a:xfrm>
            <a:off x="836427" y="3532440"/>
            <a:ext cx="3609827" cy="36160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zipfian data distribution</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64333045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28D4275-817B-AF36-94B4-2E619E46503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DCBEA6A6-026C-366D-A073-192DF18A4B4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zipfian data distributions, query plans, the driver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2DB42D1-CFA2-CF7C-9127-9ADB3720159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18EA6EE-CDDA-3566-45FB-29090A2341A3}"/>
              </a:ext>
            </a:extLst>
          </p:cNvPr>
          <p:cNvSpPr txBox="1"/>
          <p:nvPr/>
        </p:nvSpPr>
        <p:spPr>
          <a:xfrm>
            <a:off x="258000" y="1102704"/>
            <a:ext cx="8628001" cy="361788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why/how it breaks- </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Postgres/YSQL doesn't replan a prepared statement from scratch on every call</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first few executions it uses a "custom" plan tailored to the actual bound value each time </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correctly picking an Index Scan for a typical customer (cheap, ~100 matching rows) </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and a Seq Scan for a mega customer (cheap relative to indexing through 150,000 individual entries)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starting around the 3rd execution, the planner evaluates switching to one reusable "generic" plan that doesn't know which value is coming next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Index Scan is the safe bet, and locks that plan in for every future call on that connection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dirty="0">
              <a:solidFill>
                <a:srgbClr val="00B0F0"/>
              </a:solidFill>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US" dirty="0">
              <a:solidFill>
                <a:srgbClr val="00B0F0"/>
              </a:solidFill>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Lato"/>
                <a:ea typeface="Lato"/>
                <a:cs typeface="Lato"/>
                <a:sym typeface="Lato"/>
              </a:rPr>
              <a:t>references:</a:t>
            </a:r>
          </a:p>
          <a:p>
            <a:pPr marL="460375"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Lato"/>
                <a:ea typeface="Lato"/>
                <a:cs typeface="Lato"/>
                <a:sym typeface="Lato"/>
              </a:rPr>
              <a:t>generic versus customer plans, https://www.postgresql.org/docs/current/sql-prepare.html</a:t>
            </a:r>
          </a:p>
          <a:p>
            <a:pPr marL="460375"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Lato"/>
                <a:ea typeface="Lato"/>
                <a:cs typeface="Lato"/>
                <a:sym typeface="Lato"/>
              </a:rPr>
              <a:t>controlling this behavior, https://www.postgresql.org/docs/current/runtime-config-query.html</a:t>
            </a:r>
          </a:p>
          <a:p>
            <a:pPr marL="460375" marR="0" lvl="0" indent="-230188"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Lato"/>
                <a:ea typeface="Lato"/>
                <a:cs typeface="Lato"/>
                <a:sym typeface="Lato"/>
              </a:rPr>
              <a:t>more reading, https://yugabytedb.tips/taming-prepared-statement-re‑planning-with-plan_cache_mode-in-yugabytedb/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231365839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9FB3AE-5272-69E9-4E88-BAE13170D64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B78E96B-D635-34E0-32F5-F6E324EC363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plan management demonstration: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10E3876-9A3E-DF9D-54A7-86FCFCA1548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B560F81B-B978-0B93-FD48-3187387637E7}"/>
              </a:ext>
            </a:extLst>
          </p:cNvPr>
          <p:cNvPicPr>
            <a:picLocks noChangeAspect="1"/>
          </p:cNvPicPr>
          <p:nvPr/>
        </p:nvPicPr>
        <p:blipFill>
          <a:blip r:embed="rId3"/>
          <a:stretch>
            <a:fillRect/>
          </a:stretch>
        </p:blipFill>
        <p:spPr>
          <a:xfrm>
            <a:off x="555966" y="992375"/>
            <a:ext cx="8032067" cy="3359885"/>
          </a:xfrm>
          <a:prstGeom prst="rect">
            <a:avLst/>
          </a:prstGeom>
        </p:spPr>
      </p:pic>
    </p:spTree>
    <p:extLst>
      <p:ext uri="{BB962C8B-B14F-4D97-AF65-F5344CB8AC3E}">
        <p14:creationId xmlns:p14="http://schemas.microsoft.com/office/powerpoint/2010/main" val="130446078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5A94D1CA-E721-6853-9044-A07026775A70}"/>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E6FF8136-6BF9-C9BC-EDE4-1C74FD06D0FB}"/>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dirty="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E76846E-4977-DDAA-3801-319CC85E59F2}"/>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B5C19A51-46F3-F0F0-5350-2366589510E1}"/>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EBFF8195-A6BE-F94D-A0FC-E3091FC288F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220</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EDC5395D-C989-2AF3-9A16-809FF071C222}"/>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14554C56-AF75-59B4-662C-F0A39F4EE1F7}"/>
              </a:ext>
            </a:extLst>
          </p:cNvPr>
          <p:cNvSpPr txBox="1"/>
          <p:nvPr/>
        </p:nvSpPr>
        <p:spPr>
          <a:xfrm>
            <a:off x="2687303" y="1254733"/>
            <a:ext cx="5785147" cy="1671196"/>
          </a:xfrm>
          <a:prstGeom prst="rect">
            <a:avLst/>
          </a:prstGeom>
          <a:noFill/>
          <a:ln>
            <a:noFill/>
          </a:ln>
        </p:spPr>
        <p:txBody>
          <a:bodyPr spcFirstLastPara="1" wrap="square" lIns="91425" tIns="91425" rIns="91425" bIns="91425" anchor="t" anchorCtr="0">
            <a:spAutoFit/>
          </a:bodyPr>
          <a:lstStyle/>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21017"/>
                </a:solidFill>
                <a:effectLst/>
                <a:uLnTx/>
                <a:uFillTx/>
                <a:latin typeface="Arial"/>
                <a:cs typeface="Arial"/>
                <a:sym typeface="Arial"/>
              </a:rPr>
              <a:t>why was the example 07 query initially slow</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a:solidFill>
                  <a:srgbClr val="121017"/>
                </a:solidFill>
                <a:ea typeface="Lato"/>
              </a:rPr>
              <a:t>why should you do a volume data test after creating the data model, and before entering the application development phase</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21017"/>
                </a:solidFill>
                <a:effectLst/>
                <a:uLnTx/>
                <a:uFillTx/>
                <a:latin typeface="Lato"/>
                <a:ea typeface="Lato"/>
                <a:cs typeface="Lato"/>
                <a:sym typeface="Lato"/>
              </a:rPr>
              <a:t>what is a </a:t>
            </a:r>
            <a:r>
              <a:rPr kumimoji="0" lang="en-US" sz="1400" b="0" i="0" u="none" strike="noStrike" kern="0" cap="none" spc="0" normalizeH="0" baseline="0" noProof="0" dirty="0" err="1">
                <a:ln>
                  <a:noFill/>
                </a:ln>
                <a:solidFill>
                  <a:srgbClr val="121017"/>
                </a:solidFill>
                <a:effectLst/>
                <a:uLnTx/>
                <a:uFillTx/>
                <a:latin typeface="Lato"/>
                <a:ea typeface="Lato"/>
                <a:cs typeface="Lato"/>
                <a:sym typeface="Lato"/>
              </a:rPr>
              <a:t>zipfian</a:t>
            </a:r>
            <a:r>
              <a:rPr kumimoji="0" lang="en-US" sz="1400" b="0" i="0" u="none" strike="noStrike" kern="0" cap="none" spc="0" normalizeH="0" baseline="0" noProof="0" dirty="0">
                <a:ln>
                  <a:noFill/>
                </a:ln>
                <a:solidFill>
                  <a:srgbClr val="121017"/>
                </a:solidFill>
                <a:effectLst/>
                <a:uLnTx/>
                <a:uFillTx/>
                <a:latin typeface="Lato"/>
                <a:ea typeface="Lato"/>
                <a:cs typeface="Lato"/>
                <a:sym typeface="Lato"/>
              </a:rPr>
              <a:t> data distribution</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dirty="0" err="1">
                <a:solidFill>
                  <a:srgbClr val="121017"/>
                </a:solidFill>
                <a:latin typeface="Lato"/>
                <a:ea typeface="Lato"/>
                <a:cs typeface="Lato"/>
                <a:sym typeface="Lato"/>
              </a:rPr>
              <a:t>generic|custom</a:t>
            </a:r>
            <a:r>
              <a:rPr lang="en-US" dirty="0">
                <a:solidFill>
                  <a:srgbClr val="121017"/>
                </a:solidFill>
                <a:latin typeface="Lato"/>
                <a:ea typeface="Lato"/>
                <a:cs typeface="Lato"/>
                <a:sym typeface="Lato"/>
              </a:rPr>
              <a:t> query plans through the driver; what do we need to know here</a:t>
            </a:r>
          </a:p>
        </p:txBody>
      </p:sp>
    </p:spTree>
    <p:extLst>
      <p:ext uri="{BB962C8B-B14F-4D97-AF65-F5344CB8AC3E}">
        <p14:creationId xmlns:p14="http://schemas.microsoft.com/office/powerpoint/2010/main" val="368074259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932E335-8793-EBFF-6F7F-206A9658266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E829013-5F27-C1A1-3783-533B16750BB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Next step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D6499B0-9E79-55D8-198B-6B79FB89DB2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221</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5CA5347-C8FC-2270-C94A-761F2501BCAA}"/>
              </a:ext>
            </a:extLst>
          </p:cNvPr>
          <p:cNvSpPr txBox="1"/>
          <p:nvPr/>
        </p:nvSpPr>
        <p:spPr>
          <a:xfrm>
            <a:off x="535978" y="928827"/>
            <a:ext cx="8278838" cy="1671196"/>
          </a:xfrm>
          <a:prstGeom prst="rect">
            <a:avLst/>
          </a:prstGeom>
          <a:noFill/>
          <a:ln>
            <a:noFill/>
          </a:ln>
        </p:spPr>
        <p:txBody>
          <a:bodyPr spcFirstLastPara="1" wrap="square" lIns="91425" tIns="91425" rIns="91425" bIns="91425" anchor="t" anchorCtr="0">
            <a:spAutoFit/>
          </a:bodyPr>
          <a:lstStyle/>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95191216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2C33C332-A080-BAC3-BDAA-D99F5D8C52B2}"/>
            </a:ext>
          </a:extLst>
        </p:cNvPr>
        <p:cNvGrpSpPr/>
        <p:nvPr/>
      </p:nvGrpSpPr>
      <p:grpSpPr>
        <a:xfrm>
          <a:off x="0" y="0"/>
          <a:ext cx="0" cy="0"/>
          <a:chOff x="0" y="0"/>
          <a:chExt cx="0" cy="0"/>
        </a:xfrm>
      </p:grpSpPr>
      <p:sp>
        <p:nvSpPr>
          <p:cNvPr id="372" name="Google Shape;372;p60">
            <a:extLst>
              <a:ext uri="{FF2B5EF4-FFF2-40B4-BE49-F238E27FC236}">
                <a16:creationId xmlns:a16="http://schemas.microsoft.com/office/drawing/2014/main" id="{4AEA79B7-6879-78E3-4604-F9051B753CDB}"/>
              </a:ext>
            </a:extLst>
          </p:cNvPr>
          <p:cNvSpPr txBox="1"/>
          <p:nvPr/>
        </p:nvSpPr>
        <p:spPr>
          <a:xfrm>
            <a:off x="2510400" y="2234152"/>
            <a:ext cx="4123200" cy="9366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121017"/>
              </a:buClr>
              <a:buSzPts val="1100"/>
              <a:buFont typeface="Arial"/>
              <a:buNone/>
              <a:tabLst/>
              <a:defRPr/>
            </a:pPr>
            <a:r>
              <a:rPr kumimoji="0" lang="en-US" sz="2200" b="0" i="0" u="none" strike="noStrike" kern="0" cap="none" spc="0" normalizeH="0" baseline="0" noProof="0" dirty="0">
                <a:ln>
                  <a:noFill/>
                </a:ln>
                <a:solidFill>
                  <a:srgbClr val="FFFFFF"/>
                </a:solidFill>
                <a:effectLst/>
                <a:uLnTx/>
                <a:uFillTx/>
                <a:latin typeface="Lato"/>
                <a:ea typeface="Lato"/>
                <a:cs typeface="Lato"/>
                <a:sym typeface="Lato"/>
              </a:rPr>
              <a:t>end</a:t>
            </a:r>
            <a:endParaRPr kumimoji="0" sz="900" b="0" i="0" u="none" strike="noStrike" kern="0" cap="none" spc="0" normalizeH="0" baseline="0" noProof="0" dirty="0">
              <a:ln>
                <a:noFill/>
              </a:ln>
              <a:solidFill>
                <a:srgbClr val="FFFFFF"/>
              </a:solidFill>
              <a:effectLst/>
              <a:uLnTx/>
              <a:uFillTx/>
              <a:latin typeface="Lato"/>
              <a:ea typeface="Lato"/>
              <a:cs typeface="Lato"/>
              <a:sym typeface="Lato"/>
            </a:endParaRPr>
          </a:p>
        </p:txBody>
      </p:sp>
      <p:pic>
        <p:nvPicPr>
          <p:cNvPr id="375" name="Google Shape;375;p60">
            <a:extLst>
              <a:ext uri="{FF2B5EF4-FFF2-40B4-BE49-F238E27FC236}">
                <a16:creationId xmlns:a16="http://schemas.microsoft.com/office/drawing/2014/main" id="{7D35E461-4F28-5CA8-C131-756A1263311D}"/>
              </a:ext>
            </a:extLst>
          </p:cNvPr>
          <p:cNvPicPr preferRelativeResize="0"/>
          <p:nvPr/>
        </p:nvPicPr>
        <p:blipFill>
          <a:blip r:embed="rId3">
            <a:alphaModFix/>
          </a:blip>
          <a:stretch>
            <a:fillRect/>
          </a:stretch>
        </p:blipFill>
        <p:spPr>
          <a:xfrm>
            <a:off x="638124" y="670596"/>
            <a:ext cx="2915550" cy="393600"/>
          </a:xfrm>
          <a:prstGeom prst="rect">
            <a:avLst/>
          </a:prstGeom>
          <a:noFill/>
          <a:ln>
            <a:noFill/>
          </a:ln>
        </p:spPr>
      </p:pic>
      <p:sp>
        <p:nvSpPr>
          <p:cNvPr id="376" name="Google Shape;376;p60">
            <a:extLst>
              <a:ext uri="{FF2B5EF4-FFF2-40B4-BE49-F238E27FC236}">
                <a16:creationId xmlns:a16="http://schemas.microsoft.com/office/drawing/2014/main" id="{65C2B234-EDED-C600-3E98-D07A16E7696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1" i="0" u="none" strike="noStrike" kern="0" cap="none" spc="0" normalizeH="0" baseline="0" noProof="0">
                <a:ln>
                  <a:noFill/>
                </a:ln>
                <a:solidFill>
                  <a:srgbClr val="B7B7B7"/>
                </a:solidFill>
                <a:effectLst/>
                <a:uLnTx/>
                <a:uFillTx/>
                <a:latin typeface="Comfortaa"/>
                <a:sym typeface="Comfortaa"/>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222</a:t>
            </a:fld>
            <a:endParaRPr kumimoji="0" sz="1200" b="1" i="0" u="none" strike="noStrike" kern="0" cap="none" spc="0" normalizeH="0" baseline="0" noProof="0" dirty="0">
              <a:ln>
                <a:noFill/>
              </a:ln>
              <a:solidFill>
                <a:srgbClr val="B7B7B7"/>
              </a:solidFill>
              <a:effectLst/>
              <a:uLnTx/>
              <a:uFillTx/>
              <a:latin typeface="Comfortaa"/>
              <a:sym typeface="Comfortaa"/>
            </a:endParaRPr>
          </a:p>
        </p:txBody>
      </p:sp>
    </p:spTree>
    <p:extLst>
      <p:ext uri="{BB962C8B-B14F-4D97-AF65-F5344CB8AC3E}">
        <p14:creationId xmlns:p14="http://schemas.microsoft.com/office/powerpoint/2010/main" val="407899746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29BB257-0319-07C6-0C45-8F10A1769CE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13D3A6F-400C-109C-A9F4-2E4B412C8CE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what constitutes a query (execution)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43745CB-F1AF-ADD5-C073-A047A7E91D0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223</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82FF5D3E-599A-D604-11DB-75CD729D5CBE}"/>
              </a:ext>
            </a:extLst>
          </p:cNvPr>
          <p:cNvSpPr txBox="1"/>
          <p:nvPr/>
        </p:nvSpPr>
        <p:spPr>
          <a:xfrm>
            <a:off x="258000" y="932539"/>
            <a:ext cx="8272606" cy="3582489"/>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predicate pushdown, filter placement</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deciding where in the plan tree to apply a WHERE-clause filter, ideally as early as possible to reduce </a:t>
            </a:r>
            <a:r>
              <a:rPr lang="en-US" sz="1200" b="1" dirty="0">
                <a:solidFill>
                  <a:schemeClr val="tx1"/>
                </a:solidFill>
                <a:latin typeface="Lato"/>
                <a:ea typeface="Lato"/>
                <a:cs typeface="Lato"/>
                <a:sym typeface="Lato"/>
              </a:rPr>
              <a:t>tuple counts </a:t>
            </a:r>
            <a:r>
              <a:rPr lang="en-US" sz="1200" dirty="0">
                <a:solidFill>
                  <a:schemeClr val="tx1"/>
                </a:solidFill>
                <a:latin typeface="Lato"/>
                <a:ea typeface="Lato"/>
                <a:cs typeface="Lato"/>
                <a:sym typeface="Lato"/>
              </a:rPr>
              <a:t>before expensive operations</a:t>
            </a:r>
          </a:p>
          <a:p>
            <a:pPr marL="227013" lvl="0" indent="-22701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aggregation strategy</a:t>
            </a:r>
          </a:p>
          <a:p>
            <a:pPr marL="460375" lvl="0" indent="-233363">
              <a:lnSpc>
                <a:spcPct val="115000"/>
              </a:lnSpc>
              <a:buFont typeface="Arial" panose="020B0604020202020204" pitchFamily="34" charset="0"/>
              <a:buChar char="•"/>
              <a:tabLst>
                <a:tab pos="227013" algn="l"/>
              </a:tabLst>
              <a:defRPr/>
            </a:pPr>
            <a:r>
              <a:rPr lang="en-US" sz="1200" dirty="0">
                <a:solidFill>
                  <a:schemeClr val="tx1"/>
                </a:solidFill>
                <a:latin typeface="Lato"/>
                <a:ea typeface="Lato"/>
                <a:cs typeface="Lato"/>
                <a:sym typeface="Lato"/>
              </a:rPr>
              <a:t>hash aggregate vs. sort-then-group-aggregate for GROUP BY</a:t>
            </a:r>
          </a:p>
          <a:p>
            <a:pPr marL="227013" lvl="0" indent="-227013">
              <a:lnSpc>
                <a:spcPct val="115000"/>
              </a:lnSpc>
              <a:buFont typeface="Arial" panose="020B0604020202020204" pitchFamily="34" charset="0"/>
              <a:buChar char="•"/>
              <a:tabLst>
                <a:tab pos="227013" algn="l"/>
              </a:tabLst>
              <a:defRPr/>
            </a:pPr>
            <a:r>
              <a:rPr lang="en-US" sz="1200" dirty="0">
                <a:solidFill>
                  <a:schemeClr val="tx1"/>
                </a:solidFill>
                <a:latin typeface="Lato"/>
                <a:ea typeface="Lato"/>
                <a:cs typeface="Lato"/>
                <a:sym typeface="Lato"/>
              </a:rPr>
              <a:t>sort </a:t>
            </a: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elimination</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recognizing when an index already delivers tuples in the order an ORDER BY or GROUP BY needs, avoiding an explicit sort step entirely</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tx1"/>
                </a:solidFill>
                <a:latin typeface="Lato"/>
                <a:ea typeface="Lato"/>
                <a:cs typeface="Lato"/>
                <a:sym typeface="Lato"/>
              </a:rPr>
              <a:t>subquery transformation</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rewriting a correlated subquery into a join (or vice versa), converting IN/EXISTS into semi-joins/anti-joins, or "unnesting" subqueries into the main query when it's provably equivalent and cheaper</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materialization versus pi</a:t>
            </a:r>
            <a:r>
              <a:rPr lang="en-US" sz="1200" dirty="0">
                <a:solidFill>
                  <a:schemeClr val="tx1"/>
                </a:solidFill>
                <a:latin typeface="Lato"/>
                <a:ea typeface="Lato"/>
                <a:cs typeface="Lato"/>
                <a:sym typeface="Lato"/>
              </a:rPr>
              <a:t>pelining</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rewriting a correlated subquery into a join (or vice versa), converting IN/EXISTS into semi-joins/anti-joins, or "unnesting" subqueries into the main query when it's provably equivalent and cheaper</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tx1"/>
                </a:solidFill>
                <a:latin typeface="Lato"/>
                <a:ea typeface="Lato"/>
                <a:cs typeface="Lato"/>
                <a:sym typeface="Lato"/>
              </a:rPr>
              <a:t>      …</a:t>
            </a:r>
            <a:endParaRPr kumimoji="0" sz="12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42582275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F650B85-278E-4CDB-1226-6ADEFA84F08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A9E17C9-B4AE-FA9B-E788-895D5AD65D5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what constitutes a query (execution)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C7D4D20-D0C0-7188-628A-1195169F050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224</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0BE3D3F1-27FF-C34E-B3E7-F15795E5EAC1}"/>
              </a:ext>
            </a:extLst>
          </p:cNvPr>
          <p:cNvSpPr txBox="1"/>
          <p:nvPr/>
        </p:nvSpPr>
        <p:spPr>
          <a:xfrm>
            <a:off x="258000" y="932539"/>
            <a:ext cx="8272606" cy="273302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            …</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parallel execution planning</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how many worker processes to use for a parallel scan/join/aggregate, and whether parallelism is even worth the coordination overhead for this particular query</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tx1"/>
                </a:solidFill>
                <a:latin typeface="Lato"/>
                <a:ea typeface="Lato"/>
                <a:cs typeface="Lato"/>
                <a:sym typeface="Lato"/>
              </a:rPr>
              <a:t>partition pruning</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or partitioned tables, determining which partitions can be skipped entirely based on the query's filter conditions</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constants folding, expression simplification</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or partitioned tables, determining which partitions can be skipped entirely based on the query's filter conditions</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tx1"/>
                </a:solidFill>
                <a:latin typeface="Lato"/>
                <a:ea typeface="Lato"/>
                <a:cs typeface="Lato"/>
                <a:sym typeface="Lato"/>
              </a:rPr>
              <a:t>view/CTE inlining</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whether to expand a view or CTE inline into the surrounding query (allowing cross-boundary optimization) or treat it as an optimization fence (materializing it separately)</a:t>
            </a:r>
            <a:endParaRPr kumimoji="0" sz="12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50474077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4774D79-E91A-5C5F-DE74-F80C5F55F2C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62888A4-E995-BCDF-0AE9-6724846C9AE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aaa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8AD994F-9734-7598-4C6B-1B2A7E1E2C8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5D184F3C-9FC5-C86D-5E1D-0B1CA6E0AEAB}"/>
              </a:ext>
            </a:extLst>
          </p:cNvPr>
          <p:cNvSpPr txBox="1"/>
          <p:nvPr/>
        </p:nvSpPr>
        <p:spPr>
          <a:xfrm>
            <a:off x="315981" y="1244428"/>
            <a:ext cx="827260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aaa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30201764"/>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9E404BF-8F66-40D2-2E44-B6F4A5E0861E}"/>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FE85B005-947C-3BAC-CE44-699CDCC2F4C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C848613-1C45-DD02-F4AF-C1B7403912BF}"/>
              </a:ext>
            </a:extLst>
          </p:cNvPr>
          <p:cNvSpPr txBox="1"/>
          <p:nvPr/>
        </p:nvSpPr>
        <p:spPr>
          <a:xfrm>
            <a:off x="3235287"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Clip art</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2357446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BFCC599-F7F5-1E51-937B-45313B7B7589}"/>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EF8DDED4-AE36-1C50-20F7-E35AA32014E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pic>
        <p:nvPicPr>
          <p:cNvPr id="8" name="Picture 7">
            <a:extLst>
              <a:ext uri="{FF2B5EF4-FFF2-40B4-BE49-F238E27FC236}">
                <a16:creationId xmlns:a16="http://schemas.microsoft.com/office/drawing/2014/main" id="{BB09B835-8641-3500-A27E-5F6E8C15CD71}"/>
              </a:ext>
            </a:extLst>
          </p:cNvPr>
          <p:cNvPicPr>
            <a:picLocks noChangeAspect="1"/>
          </p:cNvPicPr>
          <p:nvPr/>
        </p:nvPicPr>
        <p:blipFill>
          <a:blip r:embed="rId3"/>
          <a:stretch>
            <a:fillRect/>
          </a:stretch>
        </p:blipFill>
        <p:spPr>
          <a:xfrm>
            <a:off x="286597" y="780203"/>
            <a:ext cx="3583093" cy="3583093"/>
          </a:xfrm>
          <a:prstGeom prst="rect">
            <a:avLst/>
          </a:prstGeom>
        </p:spPr>
      </p:pic>
      <p:pic>
        <p:nvPicPr>
          <p:cNvPr id="12" name="Picture 11">
            <a:extLst>
              <a:ext uri="{FF2B5EF4-FFF2-40B4-BE49-F238E27FC236}">
                <a16:creationId xmlns:a16="http://schemas.microsoft.com/office/drawing/2014/main" id="{F79929B7-03DB-131C-C8B9-A6D5D4A29493}"/>
              </a:ext>
            </a:extLst>
          </p:cNvPr>
          <p:cNvPicPr>
            <a:picLocks noChangeAspect="1"/>
          </p:cNvPicPr>
          <p:nvPr/>
        </p:nvPicPr>
        <p:blipFill>
          <a:blip r:embed="rId4"/>
          <a:stretch>
            <a:fillRect/>
          </a:stretch>
        </p:blipFill>
        <p:spPr>
          <a:xfrm>
            <a:off x="4081133" y="1151467"/>
            <a:ext cx="3156134" cy="3007360"/>
          </a:xfrm>
          <a:prstGeom prst="rect">
            <a:avLst/>
          </a:prstGeom>
        </p:spPr>
      </p:pic>
    </p:spTree>
    <p:extLst>
      <p:ext uri="{BB962C8B-B14F-4D97-AF65-F5344CB8AC3E}">
        <p14:creationId xmlns:p14="http://schemas.microsoft.com/office/powerpoint/2010/main" val="14632959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9F3E66A-A22F-75C9-F360-B6C2522030FE}"/>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FCBF826B-DBD0-5795-F097-80017D0A93B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228</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18" name="Rectangle 17">
            <a:extLst>
              <a:ext uri="{FF2B5EF4-FFF2-40B4-BE49-F238E27FC236}">
                <a16:creationId xmlns:a16="http://schemas.microsoft.com/office/drawing/2014/main" id="{15441545-5090-E880-90BD-B4BFEA1E7654}"/>
              </a:ext>
            </a:extLst>
          </p:cNvPr>
          <p:cNvSpPr/>
          <p:nvPr/>
        </p:nvSpPr>
        <p:spPr>
          <a:xfrm>
            <a:off x="1220061" y="1611488"/>
            <a:ext cx="2554884" cy="1618488"/>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BB374C9B-9265-69A5-5158-FF97972030D5}"/>
              </a:ext>
            </a:extLst>
          </p:cNvPr>
          <p:cNvCxnSpPr/>
          <p:nvPr/>
        </p:nvCxnSpPr>
        <p:spPr>
          <a:xfrm>
            <a:off x="1448661" y="1604501"/>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B57D463-1B08-D5DB-0A9B-F34D803E6758}"/>
              </a:ext>
            </a:extLst>
          </p:cNvPr>
          <p:cNvCxnSpPr>
            <a:cxnSpLocks/>
          </p:cNvCxnSpPr>
          <p:nvPr/>
        </p:nvCxnSpPr>
        <p:spPr>
          <a:xfrm>
            <a:off x="1220061" y="2127096"/>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D99301B-84BF-D06C-CB3C-D07CAF037B48}"/>
              </a:ext>
            </a:extLst>
          </p:cNvPr>
          <p:cNvCxnSpPr>
            <a:cxnSpLocks/>
          </p:cNvCxnSpPr>
          <p:nvPr/>
        </p:nvCxnSpPr>
        <p:spPr>
          <a:xfrm>
            <a:off x="1220061" y="1944878"/>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D643D26-4E39-EA32-1F50-1B635762F7E5}"/>
              </a:ext>
            </a:extLst>
          </p:cNvPr>
          <p:cNvCxnSpPr>
            <a:cxnSpLocks/>
          </p:cNvCxnSpPr>
          <p:nvPr/>
        </p:nvCxnSpPr>
        <p:spPr>
          <a:xfrm>
            <a:off x="1220061" y="2309314"/>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BA1301D-26C6-2F63-7953-C5C31660877E}"/>
              </a:ext>
            </a:extLst>
          </p:cNvPr>
          <p:cNvCxnSpPr>
            <a:cxnSpLocks/>
          </p:cNvCxnSpPr>
          <p:nvPr/>
        </p:nvCxnSpPr>
        <p:spPr>
          <a:xfrm>
            <a:off x="1220061" y="3038186"/>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BD3B99-4B31-5517-535A-8A12C824EA35}"/>
              </a:ext>
            </a:extLst>
          </p:cNvPr>
          <p:cNvCxnSpPr>
            <a:cxnSpLocks/>
          </p:cNvCxnSpPr>
          <p:nvPr/>
        </p:nvCxnSpPr>
        <p:spPr>
          <a:xfrm>
            <a:off x="1220061" y="2855968"/>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EDC1A78-0C2C-352C-25D8-09FCE125AB46}"/>
              </a:ext>
            </a:extLst>
          </p:cNvPr>
          <p:cNvCxnSpPr>
            <a:cxnSpLocks/>
          </p:cNvCxnSpPr>
          <p:nvPr/>
        </p:nvCxnSpPr>
        <p:spPr>
          <a:xfrm>
            <a:off x="1220061" y="2673750"/>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F01024-BFD1-6C1F-0F7E-AA3196415E0A}"/>
              </a:ext>
            </a:extLst>
          </p:cNvPr>
          <p:cNvCxnSpPr/>
          <p:nvPr/>
        </p:nvCxnSpPr>
        <p:spPr>
          <a:xfrm>
            <a:off x="2276208" y="1604500"/>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ACAD28B-7581-2B0F-2697-7582693DA5C7}"/>
              </a:ext>
            </a:extLst>
          </p:cNvPr>
          <p:cNvCxnSpPr/>
          <p:nvPr/>
        </p:nvCxnSpPr>
        <p:spPr>
          <a:xfrm>
            <a:off x="2863250" y="1604501"/>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98241FA-918C-A395-EAB8-40FDB6AF7FFA}"/>
              </a:ext>
            </a:extLst>
          </p:cNvPr>
          <p:cNvSpPr txBox="1"/>
          <p:nvPr/>
        </p:nvSpPr>
        <p:spPr>
          <a:xfrm>
            <a:off x="1484419" y="300989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31" name="TextBox 30">
            <a:extLst>
              <a:ext uri="{FF2B5EF4-FFF2-40B4-BE49-F238E27FC236}">
                <a16:creationId xmlns:a16="http://schemas.microsoft.com/office/drawing/2014/main" id="{552019BA-64E2-90E9-F9FA-942A8C7ED9CF}"/>
              </a:ext>
            </a:extLst>
          </p:cNvPr>
          <p:cNvSpPr txBox="1"/>
          <p:nvPr/>
        </p:nvSpPr>
        <p:spPr>
          <a:xfrm>
            <a:off x="1484419" y="2093384"/>
            <a:ext cx="396262" cy="246221"/>
          </a:xfrm>
          <a:prstGeom prst="rect">
            <a:avLst/>
          </a:prstGeom>
          <a:noFill/>
        </p:spPr>
        <p:txBody>
          <a:bodyPr wrap="none" rtlCol="0">
            <a:spAutoFit/>
          </a:bodyPr>
          <a:lstStyle/>
          <a:p>
            <a:r>
              <a:rPr lang="en-US" sz="1000" b="1" dirty="0">
                <a:solidFill>
                  <a:schemeClr val="bg1">
                    <a:lumMod val="50000"/>
                  </a:schemeClr>
                </a:solidFill>
              </a:rPr>
              <a:t>103</a:t>
            </a:r>
          </a:p>
        </p:txBody>
      </p:sp>
      <p:sp>
        <p:nvSpPr>
          <p:cNvPr id="32" name="TextBox 31">
            <a:extLst>
              <a:ext uri="{FF2B5EF4-FFF2-40B4-BE49-F238E27FC236}">
                <a16:creationId xmlns:a16="http://schemas.microsoft.com/office/drawing/2014/main" id="{76A28382-84FD-F597-3432-AFB4060224E0}"/>
              </a:ext>
            </a:extLst>
          </p:cNvPr>
          <p:cNvSpPr txBox="1"/>
          <p:nvPr/>
        </p:nvSpPr>
        <p:spPr>
          <a:xfrm>
            <a:off x="1484419" y="1910081"/>
            <a:ext cx="396262" cy="246221"/>
          </a:xfrm>
          <a:prstGeom prst="rect">
            <a:avLst/>
          </a:prstGeom>
          <a:noFill/>
        </p:spPr>
        <p:txBody>
          <a:bodyPr wrap="none" rtlCol="0">
            <a:spAutoFit/>
          </a:bodyPr>
          <a:lstStyle/>
          <a:p>
            <a:r>
              <a:rPr lang="en-US" sz="1000" b="1" dirty="0">
                <a:solidFill>
                  <a:schemeClr val="bg1">
                    <a:lumMod val="50000"/>
                  </a:schemeClr>
                </a:solidFill>
              </a:rPr>
              <a:t>102</a:t>
            </a:r>
          </a:p>
        </p:txBody>
      </p:sp>
      <p:sp>
        <p:nvSpPr>
          <p:cNvPr id="33" name="TextBox 32">
            <a:extLst>
              <a:ext uri="{FF2B5EF4-FFF2-40B4-BE49-F238E27FC236}">
                <a16:creationId xmlns:a16="http://schemas.microsoft.com/office/drawing/2014/main" id="{53C28846-3CF1-323A-6B28-4FD7B76F6BA1}"/>
              </a:ext>
            </a:extLst>
          </p:cNvPr>
          <p:cNvSpPr txBox="1"/>
          <p:nvPr/>
        </p:nvSpPr>
        <p:spPr>
          <a:xfrm>
            <a:off x="1484419" y="1726778"/>
            <a:ext cx="396262" cy="246221"/>
          </a:xfrm>
          <a:prstGeom prst="rect">
            <a:avLst/>
          </a:prstGeom>
          <a:noFill/>
        </p:spPr>
        <p:txBody>
          <a:bodyPr wrap="none" rtlCol="0">
            <a:spAutoFit/>
          </a:bodyPr>
          <a:lstStyle/>
          <a:p>
            <a:r>
              <a:rPr lang="en-US" sz="1000" b="1" dirty="0">
                <a:solidFill>
                  <a:schemeClr val="bg1">
                    <a:lumMod val="50000"/>
                  </a:schemeClr>
                </a:solidFill>
              </a:rPr>
              <a:t>101</a:t>
            </a:r>
          </a:p>
        </p:txBody>
      </p:sp>
      <p:sp>
        <p:nvSpPr>
          <p:cNvPr id="34" name="TextBox 33">
            <a:extLst>
              <a:ext uri="{FF2B5EF4-FFF2-40B4-BE49-F238E27FC236}">
                <a16:creationId xmlns:a16="http://schemas.microsoft.com/office/drawing/2014/main" id="{C9AFEC54-AD2C-E678-7B44-9476F4092CE9}"/>
              </a:ext>
            </a:extLst>
          </p:cNvPr>
          <p:cNvSpPr txBox="1"/>
          <p:nvPr/>
        </p:nvSpPr>
        <p:spPr>
          <a:xfrm>
            <a:off x="1484419" y="1543475"/>
            <a:ext cx="788999" cy="246221"/>
          </a:xfrm>
          <a:prstGeom prst="rect">
            <a:avLst/>
          </a:prstGeom>
          <a:noFill/>
        </p:spPr>
        <p:txBody>
          <a:bodyPr wrap="none" rtlCol="0">
            <a:spAutoFit/>
          </a:bodyPr>
          <a:lstStyle/>
          <a:p>
            <a:r>
              <a:rPr lang="en-US" sz="1000" b="1" dirty="0"/>
              <a:t>cust_num</a:t>
            </a:r>
          </a:p>
        </p:txBody>
      </p:sp>
      <p:sp>
        <p:nvSpPr>
          <p:cNvPr id="35" name="TextBox 34">
            <a:extLst>
              <a:ext uri="{FF2B5EF4-FFF2-40B4-BE49-F238E27FC236}">
                <a16:creationId xmlns:a16="http://schemas.microsoft.com/office/drawing/2014/main" id="{1FFB7674-C197-FAE8-8136-6B89D3CC9C28}"/>
              </a:ext>
            </a:extLst>
          </p:cNvPr>
          <p:cNvSpPr txBox="1"/>
          <p:nvPr/>
        </p:nvSpPr>
        <p:spPr>
          <a:xfrm>
            <a:off x="1484419" y="2826596"/>
            <a:ext cx="396262" cy="246221"/>
          </a:xfrm>
          <a:prstGeom prst="rect">
            <a:avLst/>
          </a:prstGeom>
          <a:noFill/>
        </p:spPr>
        <p:txBody>
          <a:bodyPr wrap="none" rtlCol="0">
            <a:spAutoFit/>
          </a:bodyPr>
          <a:lstStyle/>
          <a:p>
            <a:r>
              <a:rPr lang="en-US" sz="1000" b="1" dirty="0">
                <a:solidFill>
                  <a:schemeClr val="bg1">
                    <a:lumMod val="50000"/>
                  </a:schemeClr>
                </a:solidFill>
              </a:rPr>
              <a:t>107</a:t>
            </a:r>
          </a:p>
        </p:txBody>
      </p:sp>
      <p:sp>
        <p:nvSpPr>
          <p:cNvPr id="36" name="TextBox 35">
            <a:extLst>
              <a:ext uri="{FF2B5EF4-FFF2-40B4-BE49-F238E27FC236}">
                <a16:creationId xmlns:a16="http://schemas.microsoft.com/office/drawing/2014/main" id="{2F2808A8-E940-504C-9CF8-A67869859ACF}"/>
              </a:ext>
            </a:extLst>
          </p:cNvPr>
          <p:cNvSpPr txBox="1"/>
          <p:nvPr/>
        </p:nvSpPr>
        <p:spPr>
          <a:xfrm>
            <a:off x="1484419" y="2643293"/>
            <a:ext cx="396262" cy="246221"/>
          </a:xfrm>
          <a:prstGeom prst="rect">
            <a:avLst/>
          </a:prstGeom>
          <a:noFill/>
        </p:spPr>
        <p:txBody>
          <a:bodyPr wrap="none" rtlCol="0">
            <a:spAutoFit/>
          </a:bodyPr>
          <a:lstStyle/>
          <a:p>
            <a:r>
              <a:rPr lang="en-US" sz="1000" b="1" dirty="0">
                <a:solidFill>
                  <a:schemeClr val="bg1">
                    <a:lumMod val="50000"/>
                  </a:schemeClr>
                </a:solidFill>
              </a:rPr>
              <a:t>106</a:t>
            </a:r>
          </a:p>
        </p:txBody>
      </p:sp>
      <p:sp>
        <p:nvSpPr>
          <p:cNvPr id="37" name="TextBox 36">
            <a:extLst>
              <a:ext uri="{FF2B5EF4-FFF2-40B4-BE49-F238E27FC236}">
                <a16:creationId xmlns:a16="http://schemas.microsoft.com/office/drawing/2014/main" id="{4478D483-776C-94CD-B679-4C368EF48364}"/>
              </a:ext>
            </a:extLst>
          </p:cNvPr>
          <p:cNvSpPr txBox="1"/>
          <p:nvPr/>
        </p:nvSpPr>
        <p:spPr>
          <a:xfrm>
            <a:off x="1484419" y="2459990"/>
            <a:ext cx="396262" cy="246221"/>
          </a:xfrm>
          <a:prstGeom prst="rect">
            <a:avLst/>
          </a:prstGeom>
          <a:noFill/>
        </p:spPr>
        <p:txBody>
          <a:bodyPr wrap="none" rtlCol="0">
            <a:spAutoFit/>
          </a:bodyPr>
          <a:lstStyle/>
          <a:p>
            <a:r>
              <a:rPr lang="en-US" sz="1000" b="1" dirty="0">
                <a:solidFill>
                  <a:schemeClr val="bg1">
                    <a:lumMod val="50000"/>
                  </a:schemeClr>
                </a:solidFill>
              </a:rPr>
              <a:t>105</a:t>
            </a:r>
          </a:p>
        </p:txBody>
      </p:sp>
      <p:sp>
        <p:nvSpPr>
          <p:cNvPr id="38" name="TextBox 37">
            <a:extLst>
              <a:ext uri="{FF2B5EF4-FFF2-40B4-BE49-F238E27FC236}">
                <a16:creationId xmlns:a16="http://schemas.microsoft.com/office/drawing/2014/main" id="{BD4E433E-E0AC-E5D2-205A-34100E820B12}"/>
              </a:ext>
            </a:extLst>
          </p:cNvPr>
          <p:cNvSpPr txBox="1"/>
          <p:nvPr/>
        </p:nvSpPr>
        <p:spPr>
          <a:xfrm>
            <a:off x="1484419" y="2276687"/>
            <a:ext cx="396262" cy="246221"/>
          </a:xfrm>
          <a:prstGeom prst="rect">
            <a:avLst/>
          </a:prstGeom>
          <a:noFill/>
        </p:spPr>
        <p:txBody>
          <a:bodyPr wrap="none" rtlCol="0">
            <a:spAutoFit/>
          </a:bodyPr>
          <a:lstStyle/>
          <a:p>
            <a:r>
              <a:rPr lang="en-US" sz="1000" b="1" dirty="0">
                <a:solidFill>
                  <a:schemeClr val="bg1">
                    <a:lumMod val="50000"/>
                  </a:schemeClr>
                </a:solidFill>
              </a:rPr>
              <a:t>104</a:t>
            </a:r>
          </a:p>
        </p:txBody>
      </p:sp>
      <p:sp>
        <p:nvSpPr>
          <p:cNvPr id="39" name="TextBox 38">
            <a:extLst>
              <a:ext uri="{FF2B5EF4-FFF2-40B4-BE49-F238E27FC236}">
                <a16:creationId xmlns:a16="http://schemas.microsoft.com/office/drawing/2014/main" id="{FFFDAC96-1C45-5285-B5A8-594B104532C8}"/>
              </a:ext>
            </a:extLst>
          </p:cNvPr>
          <p:cNvSpPr txBox="1"/>
          <p:nvPr/>
        </p:nvSpPr>
        <p:spPr>
          <a:xfrm>
            <a:off x="2353174" y="300989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40" name="TextBox 39">
            <a:extLst>
              <a:ext uri="{FF2B5EF4-FFF2-40B4-BE49-F238E27FC236}">
                <a16:creationId xmlns:a16="http://schemas.microsoft.com/office/drawing/2014/main" id="{1EB2A829-598C-37E4-5D49-1155FFD65C0D}"/>
              </a:ext>
            </a:extLst>
          </p:cNvPr>
          <p:cNvSpPr txBox="1"/>
          <p:nvPr/>
        </p:nvSpPr>
        <p:spPr>
          <a:xfrm>
            <a:off x="2353174" y="2093384"/>
            <a:ext cx="396262" cy="246221"/>
          </a:xfrm>
          <a:prstGeom prst="rect">
            <a:avLst/>
          </a:prstGeom>
          <a:noFill/>
        </p:spPr>
        <p:txBody>
          <a:bodyPr wrap="none" rtlCol="0">
            <a:spAutoFit/>
          </a:bodyPr>
          <a:lstStyle/>
          <a:p>
            <a:r>
              <a:rPr lang="en-US" sz="1000" b="1" dirty="0">
                <a:solidFill>
                  <a:schemeClr val="bg1">
                    <a:lumMod val="50000"/>
                  </a:schemeClr>
                </a:solidFill>
              </a:rPr>
              <a:t>ccc</a:t>
            </a:r>
          </a:p>
        </p:txBody>
      </p:sp>
      <p:sp>
        <p:nvSpPr>
          <p:cNvPr id="41" name="TextBox 40">
            <a:extLst>
              <a:ext uri="{FF2B5EF4-FFF2-40B4-BE49-F238E27FC236}">
                <a16:creationId xmlns:a16="http://schemas.microsoft.com/office/drawing/2014/main" id="{725D4EDB-519C-77B1-C0F5-A7B878A388FE}"/>
              </a:ext>
            </a:extLst>
          </p:cNvPr>
          <p:cNvSpPr txBox="1"/>
          <p:nvPr/>
        </p:nvSpPr>
        <p:spPr>
          <a:xfrm>
            <a:off x="2353174" y="1910081"/>
            <a:ext cx="420308" cy="246221"/>
          </a:xfrm>
          <a:prstGeom prst="rect">
            <a:avLst/>
          </a:prstGeom>
          <a:noFill/>
        </p:spPr>
        <p:txBody>
          <a:bodyPr wrap="none" rtlCol="0">
            <a:spAutoFit/>
          </a:bodyPr>
          <a:lstStyle/>
          <a:p>
            <a:r>
              <a:rPr lang="en-US" sz="1000" b="1" dirty="0">
                <a:solidFill>
                  <a:schemeClr val="bg1">
                    <a:lumMod val="50000"/>
                  </a:schemeClr>
                </a:solidFill>
              </a:rPr>
              <a:t>bbb</a:t>
            </a:r>
          </a:p>
        </p:txBody>
      </p:sp>
      <p:sp>
        <p:nvSpPr>
          <p:cNvPr id="42" name="TextBox 41">
            <a:extLst>
              <a:ext uri="{FF2B5EF4-FFF2-40B4-BE49-F238E27FC236}">
                <a16:creationId xmlns:a16="http://schemas.microsoft.com/office/drawing/2014/main" id="{2FE3527A-73AE-E61C-B629-5C9E49396333}"/>
              </a:ext>
            </a:extLst>
          </p:cNvPr>
          <p:cNvSpPr txBox="1"/>
          <p:nvPr/>
        </p:nvSpPr>
        <p:spPr>
          <a:xfrm>
            <a:off x="2353174" y="1726778"/>
            <a:ext cx="396262" cy="246221"/>
          </a:xfrm>
          <a:prstGeom prst="rect">
            <a:avLst/>
          </a:prstGeom>
          <a:noFill/>
        </p:spPr>
        <p:txBody>
          <a:bodyPr wrap="none" rtlCol="0">
            <a:spAutoFit/>
          </a:bodyPr>
          <a:lstStyle/>
          <a:p>
            <a:r>
              <a:rPr lang="en-US" sz="1000" b="1" dirty="0">
                <a:solidFill>
                  <a:schemeClr val="bg1">
                    <a:lumMod val="50000"/>
                  </a:schemeClr>
                </a:solidFill>
              </a:rPr>
              <a:t>aaa</a:t>
            </a:r>
          </a:p>
        </p:txBody>
      </p:sp>
      <p:sp>
        <p:nvSpPr>
          <p:cNvPr id="43" name="TextBox 42">
            <a:extLst>
              <a:ext uri="{FF2B5EF4-FFF2-40B4-BE49-F238E27FC236}">
                <a16:creationId xmlns:a16="http://schemas.microsoft.com/office/drawing/2014/main" id="{46A198C7-B2BC-3424-FAD0-F8A55E433EE7}"/>
              </a:ext>
            </a:extLst>
          </p:cNvPr>
          <p:cNvSpPr txBox="1"/>
          <p:nvPr/>
        </p:nvSpPr>
        <p:spPr>
          <a:xfrm>
            <a:off x="2353174" y="1543475"/>
            <a:ext cx="510076" cy="246221"/>
          </a:xfrm>
          <a:prstGeom prst="rect">
            <a:avLst/>
          </a:prstGeom>
          <a:noFill/>
        </p:spPr>
        <p:txBody>
          <a:bodyPr wrap="none" rtlCol="0">
            <a:spAutoFit/>
          </a:bodyPr>
          <a:lstStyle/>
          <a:p>
            <a:r>
              <a:rPr lang="en-US" sz="1000" b="1" dirty="0"/>
              <a:t>col_x</a:t>
            </a:r>
          </a:p>
        </p:txBody>
      </p:sp>
      <p:sp>
        <p:nvSpPr>
          <p:cNvPr id="44" name="TextBox 43">
            <a:extLst>
              <a:ext uri="{FF2B5EF4-FFF2-40B4-BE49-F238E27FC236}">
                <a16:creationId xmlns:a16="http://schemas.microsoft.com/office/drawing/2014/main" id="{0D56BD3E-3C13-9401-B92E-399296BBEDE5}"/>
              </a:ext>
            </a:extLst>
          </p:cNvPr>
          <p:cNvSpPr txBox="1"/>
          <p:nvPr/>
        </p:nvSpPr>
        <p:spPr>
          <a:xfrm>
            <a:off x="2353174" y="2826596"/>
            <a:ext cx="420308" cy="246221"/>
          </a:xfrm>
          <a:prstGeom prst="rect">
            <a:avLst/>
          </a:prstGeom>
          <a:noFill/>
        </p:spPr>
        <p:txBody>
          <a:bodyPr wrap="none" rtlCol="0">
            <a:spAutoFit/>
          </a:bodyPr>
          <a:lstStyle/>
          <a:p>
            <a:r>
              <a:rPr lang="en-US" sz="1000" b="1" dirty="0">
                <a:solidFill>
                  <a:schemeClr val="bg1">
                    <a:lumMod val="50000"/>
                  </a:schemeClr>
                </a:solidFill>
              </a:rPr>
              <a:t>ggg</a:t>
            </a:r>
          </a:p>
        </p:txBody>
      </p:sp>
      <p:sp>
        <p:nvSpPr>
          <p:cNvPr id="45" name="TextBox 44">
            <a:extLst>
              <a:ext uri="{FF2B5EF4-FFF2-40B4-BE49-F238E27FC236}">
                <a16:creationId xmlns:a16="http://schemas.microsoft.com/office/drawing/2014/main" id="{2D7FAE2A-FFC9-CB88-E32C-89BE62D82329}"/>
              </a:ext>
            </a:extLst>
          </p:cNvPr>
          <p:cNvSpPr txBox="1"/>
          <p:nvPr/>
        </p:nvSpPr>
        <p:spPr>
          <a:xfrm>
            <a:off x="2353174" y="2643293"/>
            <a:ext cx="314510" cy="246221"/>
          </a:xfrm>
          <a:prstGeom prst="rect">
            <a:avLst/>
          </a:prstGeom>
          <a:noFill/>
        </p:spPr>
        <p:txBody>
          <a:bodyPr wrap="none" rtlCol="0">
            <a:spAutoFit/>
          </a:bodyPr>
          <a:lstStyle/>
          <a:p>
            <a:r>
              <a:rPr lang="en-US" sz="1000" b="1" dirty="0">
                <a:solidFill>
                  <a:schemeClr val="bg1">
                    <a:lumMod val="50000"/>
                  </a:schemeClr>
                </a:solidFill>
              </a:rPr>
              <a:t>fff</a:t>
            </a:r>
          </a:p>
        </p:txBody>
      </p:sp>
      <p:sp>
        <p:nvSpPr>
          <p:cNvPr id="46" name="TextBox 45">
            <a:extLst>
              <a:ext uri="{FF2B5EF4-FFF2-40B4-BE49-F238E27FC236}">
                <a16:creationId xmlns:a16="http://schemas.microsoft.com/office/drawing/2014/main" id="{37F85F03-3D3F-34C2-AE1E-5A7E401267E2}"/>
              </a:ext>
            </a:extLst>
          </p:cNvPr>
          <p:cNvSpPr txBox="1"/>
          <p:nvPr/>
        </p:nvSpPr>
        <p:spPr>
          <a:xfrm>
            <a:off x="2353174" y="2459990"/>
            <a:ext cx="396262" cy="246221"/>
          </a:xfrm>
          <a:prstGeom prst="rect">
            <a:avLst/>
          </a:prstGeom>
          <a:noFill/>
        </p:spPr>
        <p:txBody>
          <a:bodyPr wrap="none" rtlCol="0">
            <a:spAutoFit/>
          </a:bodyPr>
          <a:lstStyle/>
          <a:p>
            <a:r>
              <a:rPr lang="en-US" sz="1000" b="1" dirty="0">
                <a:solidFill>
                  <a:schemeClr val="bg1">
                    <a:lumMod val="50000"/>
                  </a:schemeClr>
                </a:solidFill>
              </a:rPr>
              <a:t>eee</a:t>
            </a:r>
          </a:p>
        </p:txBody>
      </p:sp>
      <p:sp>
        <p:nvSpPr>
          <p:cNvPr id="47" name="TextBox 46">
            <a:extLst>
              <a:ext uri="{FF2B5EF4-FFF2-40B4-BE49-F238E27FC236}">
                <a16:creationId xmlns:a16="http://schemas.microsoft.com/office/drawing/2014/main" id="{0484FB6E-DC38-C951-AB42-2DF1B8D44E7E}"/>
              </a:ext>
            </a:extLst>
          </p:cNvPr>
          <p:cNvSpPr txBox="1"/>
          <p:nvPr/>
        </p:nvSpPr>
        <p:spPr>
          <a:xfrm>
            <a:off x="2353174" y="2276687"/>
            <a:ext cx="420308" cy="246221"/>
          </a:xfrm>
          <a:prstGeom prst="rect">
            <a:avLst/>
          </a:prstGeom>
          <a:noFill/>
        </p:spPr>
        <p:txBody>
          <a:bodyPr wrap="none" rtlCol="0">
            <a:spAutoFit/>
          </a:bodyPr>
          <a:lstStyle/>
          <a:p>
            <a:r>
              <a:rPr lang="en-US" sz="1000" b="1" dirty="0">
                <a:solidFill>
                  <a:schemeClr val="bg1">
                    <a:lumMod val="50000"/>
                  </a:schemeClr>
                </a:solidFill>
              </a:rPr>
              <a:t>ddd</a:t>
            </a:r>
          </a:p>
        </p:txBody>
      </p:sp>
      <p:sp>
        <p:nvSpPr>
          <p:cNvPr id="48" name="TextBox 47">
            <a:extLst>
              <a:ext uri="{FF2B5EF4-FFF2-40B4-BE49-F238E27FC236}">
                <a16:creationId xmlns:a16="http://schemas.microsoft.com/office/drawing/2014/main" id="{48440ECB-8FE1-8EFA-921C-9DE2552B751C}"/>
              </a:ext>
            </a:extLst>
          </p:cNvPr>
          <p:cNvSpPr txBox="1"/>
          <p:nvPr/>
        </p:nvSpPr>
        <p:spPr>
          <a:xfrm>
            <a:off x="2921828" y="300989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49" name="TextBox 48">
            <a:extLst>
              <a:ext uri="{FF2B5EF4-FFF2-40B4-BE49-F238E27FC236}">
                <a16:creationId xmlns:a16="http://schemas.microsoft.com/office/drawing/2014/main" id="{E7292B3C-1C71-9AD5-41A7-8490D60C6755}"/>
              </a:ext>
            </a:extLst>
          </p:cNvPr>
          <p:cNvSpPr txBox="1"/>
          <p:nvPr/>
        </p:nvSpPr>
        <p:spPr>
          <a:xfrm>
            <a:off x="2921828" y="2093384"/>
            <a:ext cx="396262" cy="246221"/>
          </a:xfrm>
          <a:prstGeom prst="rect">
            <a:avLst/>
          </a:prstGeom>
          <a:noFill/>
        </p:spPr>
        <p:txBody>
          <a:bodyPr wrap="none" rtlCol="0">
            <a:spAutoFit/>
          </a:bodyPr>
          <a:lstStyle/>
          <a:p>
            <a:r>
              <a:rPr lang="en-US" sz="1000" b="1" dirty="0">
                <a:solidFill>
                  <a:schemeClr val="bg1">
                    <a:lumMod val="50000"/>
                  </a:schemeClr>
                </a:solidFill>
              </a:rPr>
              <a:t>403</a:t>
            </a:r>
          </a:p>
        </p:txBody>
      </p:sp>
      <p:sp>
        <p:nvSpPr>
          <p:cNvPr id="50" name="TextBox 49">
            <a:extLst>
              <a:ext uri="{FF2B5EF4-FFF2-40B4-BE49-F238E27FC236}">
                <a16:creationId xmlns:a16="http://schemas.microsoft.com/office/drawing/2014/main" id="{FAF0ED3E-C3DA-5D72-BF7E-25DEB0A01864}"/>
              </a:ext>
            </a:extLst>
          </p:cNvPr>
          <p:cNvSpPr txBox="1"/>
          <p:nvPr/>
        </p:nvSpPr>
        <p:spPr>
          <a:xfrm>
            <a:off x="2921828" y="1910081"/>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51" name="TextBox 50">
            <a:extLst>
              <a:ext uri="{FF2B5EF4-FFF2-40B4-BE49-F238E27FC236}">
                <a16:creationId xmlns:a16="http://schemas.microsoft.com/office/drawing/2014/main" id="{AE9BEE2A-9241-CE81-9BE4-49B5348651DE}"/>
              </a:ext>
            </a:extLst>
          </p:cNvPr>
          <p:cNvSpPr txBox="1"/>
          <p:nvPr/>
        </p:nvSpPr>
        <p:spPr>
          <a:xfrm>
            <a:off x="2921828" y="1726778"/>
            <a:ext cx="396262" cy="246221"/>
          </a:xfrm>
          <a:prstGeom prst="rect">
            <a:avLst/>
          </a:prstGeom>
          <a:noFill/>
        </p:spPr>
        <p:txBody>
          <a:bodyPr wrap="none" rtlCol="0">
            <a:spAutoFit/>
          </a:bodyPr>
          <a:lstStyle/>
          <a:p>
            <a:r>
              <a:rPr lang="en-US" sz="1000" b="1" dirty="0">
                <a:solidFill>
                  <a:schemeClr val="bg1">
                    <a:lumMod val="50000"/>
                  </a:schemeClr>
                </a:solidFill>
              </a:rPr>
              <a:t>401</a:t>
            </a:r>
          </a:p>
        </p:txBody>
      </p:sp>
      <p:sp>
        <p:nvSpPr>
          <p:cNvPr id="52" name="TextBox 51">
            <a:extLst>
              <a:ext uri="{FF2B5EF4-FFF2-40B4-BE49-F238E27FC236}">
                <a16:creationId xmlns:a16="http://schemas.microsoft.com/office/drawing/2014/main" id="{923FD844-97B5-210C-25BD-328A9DEBE168}"/>
              </a:ext>
            </a:extLst>
          </p:cNvPr>
          <p:cNvSpPr txBox="1"/>
          <p:nvPr/>
        </p:nvSpPr>
        <p:spPr>
          <a:xfrm>
            <a:off x="2921828" y="1543475"/>
            <a:ext cx="853119" cy="246221"/>
          </a:xfrm>
          <a:prstGeom prst="rect">
            <a:avLst/>
          </a:prstGeom>
          <a:noFill/>
        </p:spPr>
        <p:txBody>
          <a:bodyPr wrap="none" rtlCol="0">
            <a:spAutoFit/>
          </a:bodyPr>
          <a:lstStyle/>
          <a:p>
            <a:r>
              <a:rPr lang="en-US" sz="1000" b="1" dirty="0"/>
              <a:t>order_num</a:t>
            </a:r>
          </a:p>
        </p:txBody>
      </p:sp>
      <p:sp>
        <p:nvSpPr>
          <p:cNvPr id="53" name="TextBox 52">
            <a:extLst>
              <a:ext uri="{FF2B5EF4-FFF2-40B4-BE49-F238E27FC236}">
                <a16:creationId xmlns:a16="http://schemas.microsoft.com/office/drawing/2014/main" id="{C6E8D09A-BAC4-374C-D954-5F6BAF0974E5}"/>
              </a:ext>
            </a:extLst>
          </p:cNvPr>
          <p:cNvSpPr txBox="1"/>
          <p:nvPr/>
        </p:nvSpPr>
        <p:spPr>
          <a:xfrm>
            <a:off x="2921828" y="2826596"/>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54" name="TextBox 53">
            <a:extLst>
              <a:ext uri="{FF2B5EF4-FFF2-40B4-BE49-F238E27FC236}">
                <a16:creationId xmlns:a16="http://schemas.microsoft.com/office/drawing/2014/main" id="{9D40D9E0-2F34-30F1-74D8-9A2AD2761BF3}"/>
              </a:ext>
            </a:extLst>
          </p:cNvPr>
          <p:cNvSpPr txBox="1"/>
          <p:nvPr/>
        </p:nvSpPr>
        <p:spPr>
          <a:xfrm>
            <a:off x="2921828" y="2643293"/>
            <a:ext cx="396262" cy="246221"/>
          </a:xfrm>
          <a:prstGeom prst="rect">
            <a:avLst/>
          </a:prstGeom>
          <a:noFill/>
        </p:spPr>
        <p:txBody>
          <a:bodyPr wrap="none" rtlCol="0">
            <a:spAutoFit/>
          </a:bodyPr>
          <a:lstStyle/>
          <a:p>
            <a:r>
              <a:rPr lang="en-US" sz="1000" b="1" dirty="0">
                <a:solidFill>
                  <a:schemeClr val="bg1">
                    <a:lumMod val="50000"/>
                  </a:schemeClr>
                </a:solidFill>
              </a:rPr>
              <a:t>406</a:t>
            </a:r>
          </a:p>
        </p:txBody>
      </p:sp>
      <p:sp>
        <p:nvSpPr>
          <p:cNvPr id="55" name="TextBox 54">
            <a:extLst>
              <a:ext uri="{FF2B5EF4-FFF2-40B4-BE49-F238E27FC236}">
                <a16:creationId xmlns:a16="http://schemas.microsoft.com/office/drawing/2014/main" id="{53B7EFB5-E4C8-EEB1-9D5B-78DCA4DEBC54}"/>
              </a:ext>
            </a:extLst>
          </p:cNvPr>
          <p:cNvSpPr txBox="1"/>
          <p:nvPr/>
        </p:nvSpPr>
        <p:spPr>
          <a:xfrm>
            <a:off x="2921828" y="2459990"/>
            <a:ext cx="396262" cy="246221"/>
          </a:xfrm>
          <a:prstGeom prst="rect">
            <a:avLst/>
          </a:prstGeom>
          <a:noFill/>
        </p:spPr>
        <p:txBody>
          <a:bodyPr wrap="none" rtlCol="0">
            <a:spAutoFit/>
          </a:bodyPr>
          <a:lstStyle/>
          <a:p>
            <a:r>
              <a:rPr lang="en-US" sz="1000" b="1" dirty="0">
                <a:solidFill>
                  <a:schemeClr val="bg1">
                    <a:lumMod val="50000"/>
                  </a:schemeClr>
                </a:solidFill>
              </a:rPr>
              <a:t>405</a:t>
            </a:r>
          </a:p>
        </p:txBody>
      </p:sp>
      <p:sp>
        <p:nvSpPr>
          <p:cNvPr id="56" name="TextBox 55">
            <a:extLst>
              <a:ext uri="{FF2B5EF4-FFF2-40B4-BE49-F238E27FC236}">
                <a16:creationId xmlns:a16="http://schemas.microsoft.com/office/drawing/2014/main" id="{69A03B26-0E5A-43CE-882D-B7CA6F1DDE9D}"/>
              </a:ext>
            </a:extLst>
          </p:cNvPr>
          <p:cNvSpPr txBox="1"/>
          <p:nvPr/>
        </p:nvSpPr>
        <p:spPr>
          <a:xfrm>
            <a:off x="2921828" y="2276687"/>
            <a:ext cx="396262" cy="246221"/>
          </a:xfrm>
          <a:prstGeom prst="rect">
            <a:avLst/>
          </a:prstGeom>
          <a:noFill/>
        </p:spPr>
        <p:txBody>
          <a:bodyPr wrap="none" rtlCol="0">
            <a:spAutoFit/>
          </a:bodyPr>
          <a:lstStyle/>
          <a:p>
            <a:r>
              <a:rPr lang="en-US" sz="1000" b="1" dirty="0">
                <a:solidFill>
                  <a:schemeClr val="bg1">
                    <a:lumMod val="50000"/>
                  </a:schemeClr>
                </a:solidFill>
              </a:rPr>
              <a:t>404</a:t>
            </a:r>
          </a:p>
        </p:txBody>
      </p:sp>
      <p:sp>
        <p:nvSpPr>
          <p:cNvPr id="58" name="Rectangle 57">
            <a:extLst>
              <a:ext uri="{FF2B5EF4-FFF2-40B4-BE49-F238E27FC236}">
                <a16:creationId xmlns:a16="http://schemas.microsoft.com/office/drawing/2014/main" id="{6E5A09F9-F683-839D-5A59-08D1AC6E818E}"/>
              </a:ext>
            </a:extLst>
          </p:cNvPr>
          <p:cNvSpPr/>
          <p:nvPr/>
        </p:nvSpPr>
        <p:spPr>
          <a:xfrm>
            <a:off x="5102132" y="1604500"/>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9" name="Straight Connector 58">
            <a:extLst>
              <a:ext uri="{FF2B5EF4-FFF2-40B4-BE49-F238E27FC236}">
                <a16:creationId xmlns:a16="http://schemas.microsoft.com/office/drawing/2014/main" id="{26B0BB3D-A81A-F4AE-1F4E-7575AFAA706D}"/>
              </a:ext>
            </a:extLst>
          </p:cNvPr>
          <p:cNvCxnSpPr/>
          <p:nvPr/>
        </p:nvCxnSpPr>
        <p:spPr>
          <a:xfrm>
            <a:off x="5102132" y="212010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F02B54C-A56A-B26B-213F-7926C50D54E3}"/>
              </a:ext>
            </a:extLst>
          </p:cNvPr>
          <p:cNvCxnSpPr/>
          <p:nvPr/>
        </p:nvCxnSpPr>
        <p:spPr>
          <a:xfrm>
            <a:off x="5102132" y="1755672"/>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9B69C1E-3189-0F21-851D-4B4256A8E3EE}"/>
              </a:ext>
            </a:extLst>
          </p:cNvPr>
          <p:cNvCxnSpPr/>
          <p:nvPr/>
        </p:nvCxnSpPr>
        <p:spPr>
          <a:xfrm>
            <a:off x="5102132" y="193789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54998D8-BD44-02D1-2A2D-E63F81E85400}"/>
              </a:ext>
            </a:extLst>
          </p:cNvPr>
          <p:cNvCxnSpPr/>
          <p:nvPr/>
        </p:nvCxnSpPr>
        <p:spPr>
          <a:xfrm>
            <a:off x="5102132" y="230232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9709BA5-72AB-D9C4-6063-9E4A3837AEAD}"/>
              </a:ext>
            </a:extLst>
          </p:cNvPr>
          <p:cNvCxnSpPr/>
          <p:nvPr/>
        </p:nvCxnSpPr>
        <p:spPr>
          <a:xfrm>
            <a:off x="5102132" y="303119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5D7A4811-B67D-18B3-3153-E8223EDDB85D}"/>
              </a:ext>
            </a:extLst>
          </p:cNvPr>
          <p:cNvCxnSpPr/>
          <p:nvPr/>
        </p:nvCxnSpPr>
        <p:spPr>
          <a:xfrm>
            <a:off x="5102132" y="284898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DC81E19D-F0AE-5CB4-0A8B-393036F0FF64}"/>
              </a:ext>
            </a:extLst>
          </p:cNvPr>
          <p:cNvCxnSpPr/>
          <p:nvPr/>
        </p:nvCxnSpPr>
        <p:spPr>
          <a:xfrm>
            <a:off x="5102132" y="2666762"/>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83C2EA61-D58A-57A5-F9AC-777E7782487D}"/>
              </a:ext>
            </a:extLst>
          </p:cNvPr>
          <p:cNvCxnSpPr/>
          <p:nvPr/>
        </p:nvCxnSpPr>
        <p:spPr>
          <a:xfrm>
            <a:off x="6321332" y="1597512"/>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TextBox 258">
            <a:extLst>
              <a:ext uri="{FF2B5EF4-FFF2-40B4-BE49-F238E27FC236}">
                <a16:creationId xmlns:a16="http://schemas.microsoft.com/office/drawing/2014/main" id="{43B426BC-F4CD-DAF4-B4E9-7C0BD115C03A}"/>
              </a:ext>
            </a:extLst>
          </p:cNvPr>
          <p:cNvSpPr txBox="1"/>
          <p:nvPr/>
        </p:nvSpPr>
        <p:spPr>
          <a:xfrm>
            <a:off x="6626132" y="3002911"/>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60" name="TextBox 259">
            <a:extLst>
              <a:ext uri="{FF2B5EF4-FFF2-40B4-BE49-F238E27FC236}">
                <a16:creationId xmlns:a16="http://schemas.microsoft.com/office/drawing/2014/main" id="{C0330156-2999-37D1-B883-DD236EC8B347}"/>
              </a:ext>
            </a:extLst>
          </p:cNvPr>
          <p:cNvSpPr txBox="1"/>
          <p:nvPr/>
        </p:nvSpPr>
        <p:spPr>
          <a:xfrm>
            <a:off x="6370292" y="2086396"/>
            <a:ext cx="678391" cy="246221"/>
          </a:xfrm>
          <a:prstGeom prst="rect">
            <a:avLst/>
          </a:prstGeom>
          <a:noFill/>
        </p:spPr>
        <p:txBody>
          <a:bodyPr wrap="none" rtlCol="0">
            <a:spAutoFit/>
          </a:bodyPr>
          <a:lstStyle/>
          <a:p>
            <a:r>
              <a:rPr lang="en-US" sz="1000" b="1" dirty="0">
                <a:solidFill>
                  <a:schemeClr val="bg1">
                    <a:lumMod val="50000"/>
                  </a:schemeClr>
                </a:solidFill>
              </a:rPr>
              <a:t>07/07/18</a:t>
            </a:r>
          </a:p>
        </p:txBody>
      </p:sp>
      <p:sp>
        <p:nvSpPr>
          <p:cNvPr id="261" name="TextBox 260">
            <a:extLst>
              <a:ext uri="{FF2B5EF4-FFF2-40B4-BE49-F238E27FC236}">
                <a16:creationId xmlns:a16="http://schemas.microsoft.com/office/drawing/2014/main" id="{1C6D8DE5-084B-D59F-1983-B35F584A362D}"/>
              </a:ext>
            </a:extLst>
          </p:cNvPr>
          <p:cNvSpPr txBox="1"/>
          <p:nvPr/>
        </p:nvSpPr>
        <p:spPr>
          <a:xfrm>
            <a:off x="6370292" y="1903093"/>
            <a:ext cx="678391" cy="246221"/>
          </a:xfrm>
          <a:prstGeom prst="rect">
            <a:avLst/>
          </a:prstGeom>
          <a:noFill/>
        </p:spPr>
        <p:txBody>
          <a:bodyPr wrap="none" rtlCol="0">
            <a:spAutoFit/>
          </a:bodyPr>
          <a:lstStyle/>
          <a:p>
            <a:r>
              <a:rPr lang="en-US" sz="1000" b="1" dirty="0">
                <a:solidFill>
                  <a:schemeClr val="bg1">
                    <a:lumMod val="50000"/>
                  </a:schemeClr>
                </a:solidFill>
              </a:rPr>
              <a:t>11/12/15</a:t>
            </a:r>
          </a:p>
        </p:txBody>
      </p:sp>
      <p:sp>
        <p:nvSpPr>
          <p:cNvPr id="262" name="TextBox 261">
            <a:extLst>
              <a:ext uri="{FF2B5EF4-FFF2-40B4-BE49-F238E27FC236}">
                <a16:creationId xmlns:a16="http://schemas.microsoft.com/office/drawing/2014/main" id="{769FCE61-B0C9-E1DF-B23D-354E35BCD57C}"/>
              </a:ext>
            </a:extLst>
          </p:cNvPr>
          <p:cNvSpPr txBox="1"/>
          <p:nvPr/>
        </p:nvSpPr>
        <p:spPr>
          <a:xfrm>
            <a:off x="6370292" y="1719790"/>
            <a:ext cx="678391" cy="246221"/>
          </a:xfrm>
          <a:prstGeom prst="rect">
            <a:avLst/>
          </a:prstGeom>
          <a:noFill/>
        </p:spPr>
        <p:txBody>
          <a:bodyPr wrap="none" rtlCol="0">
            <a:spAutoFit/>
          </a:bodyPr>
          <a:lstStyle/>
          <a:p>
            <a:r>
              <a:rPr lang="en-US" sz="1000" b="1" dirty="0">
                <a:solidFill>
                  <a:schemeClr val="bg1">
                    <a:lumMod val="50000"/>
                  </a:schemeClr>
                </a:solidFill>
              </a:rPr>
              <a:t>09/01/16</a:t>
            </a:r>
          </a:p>
        </p:txBody>
      </p:sp>
      <p:sp>
        <p:nvSpPr>
          <p:cNvPr id="263" name="TextBox 262">
            <a:extLst>
              <a:ext uri="{FF2B5EF4-FFF2-40B4-BE49-F238E27FC236}">
                <a16:creationId xmlns:a16="http://schemas.microsoft.com/office/drawing/2014/main" id="{0C9FBBA7-C2B2-714F-3B63-8535D42B79C5}"/>
              </a:ext>
            </a:extLst>
          </p:cNvPr>
          <p:cNvSpPr txBox="1"/>
          <p:nvPr/>
        </p:nvSpPr>
        <p:spPr>
          <a:xfrm>
            <a:off x="6370292" y="1536487"/>
            <a:ext cx="845103" cy="246221"/>
          </a:xfrm>
          <a:prstGeom prst="rect">
            <a:avLst/>
          </a:prstGeom>
          <a:noFill/>
        </p:spPr>
        <p:txBody>
          <a:bodyPr wrap="none" rtlCol="0">
            <a:spAutoFit/>
          </a:bodyPr>
          <a:lstStyle/>
          <a:p>
            <a:r>
              <a:rPr lang="en-US" sz="1000" b="1" dirty="0"/>
              <a:t>order_date</a:t>
            </a:r>
          </a:p>
        </p:txBody>
      </p:sp>
      <p:sp>
        <p:nvSpPr>
          <p:cNvPr id="264" name="TextBox 263">
            <a:extLst>
              <a:ext uri="{FF2B5EF4-FFF2-40B4-BE49-F238E27FC236}">
                <a16:creationId xmlns:a16="http://schemas.microsoft.com/office/drawing/2014/main" id="{756E53C1-B5BB-5CEC-A685-67FD5AA0D9CD}"/>
              </a:ext>
            </a:extLst>
          </p:cNvPr>
          <p:cNvSpPr txBox="1"/>
          <p:nvPr/>
        </p:nvSpPr>
        <p:spPr>
          <a:xfrm>
            <a:off x="6370292" y="2819608"/>
            <a:ext cx="678391" cy="246221"/>
          </a:xfrm>
          <a:prstGeom prst="rect">
            <a:avLst/>
          </a:prstGeom>
          <a:noFill/>
        </p:spPr>
        <p:txBody>
          <a:bodyPr wrap="none" rtlCol="0">
            <a:spAutoFit/>
          </a:bodyPr>
          <a:lstStyle/>
          <a:p>
            <a:r>
              <a:rPr lang="en-US" sz="1000" b="1" dirty="0">
                <a:solidFill>
                  <a:schemeClr val="bg1">
                    <a:lumMod val="50000"/>
                  </a:schemeClr>
                </a:solidFill>
              </a:rPr>
              <a:t>08/02/18</a:t>
            </a:r>
          </a:p>
        </p:txBody>
      </p:sp>
      <p:sp>
        <p:nvSpPr>
          <p:cNvPr id="265" name="TextBox 264">
            <a:extLst>
              <a:ext uri="{FF2B5EF4-FFF2-40B4-BE49-F238E27FC236}">
                <a16:creationId xmlns:a16="http://schemas.microsoft.com/office/drawing/2014/main" id="{69EC5F37-BFEA-CFEE-EEF2-E7D2E9633528}"/>
              </a:ext>
            </a:extLst>
          </p:cNvPr>
          <p:cNvSpPr txBox="1"/>
          <p:nvPr/>
        </p:nvSpPr>
        <p:spPr>
          <a:xfrm>
            <a:off x="6370292" y="2636305"/>
            <a:ext cx="678391" cy="246221"/>
          </a:xfrm>
          <a:prstGeom prst="rect">
            <a:avLst/>
          </a:prstGeom>
          <a:noFill/>
        </p:spPr>
        <p:txBody>
          <a:bodyPr wrap="none" rtlCol="0">
            <a:spAutoFit/>
          </a:bodyPr>
          <a:lstStyle/>
          <a:p>
            <a:r>
              <a:rPr lang="en-US" sz="1000" b="1" dirty="0">
                <a:solidFill>
                  <a:schemeClr val="bg1">
                    <a:lumMod val="50000"/>
                  </a:schemeClr>
                </a:solidFill>
              </a:rPr>
              <a:t>03/12/12</a:t>
            </a:r>
          </a:p>
        </p:txBody>
      </p:sp>
      <p:sp>
        <p:nvSpPr>
          <p:cNvPr id="266" name="TextBox 265">
            <a:extLst>
              <a:ext uri="{FF2B5EF4-FFF2-40B4-BE49-F238E27FC236}">
                <a16:creationId xmlns:a16="http://schemas.microsoft.com/office/drawing/2014/main" id="{4C3A03BF-9A8A-E3EB-6509-A7B5916CF5B3}"/>
              </a:ext>
            </a:extLst>
          </p:cNvPr>
          <p:cNvSpPr txBox="1"/>
          <p:nvPr/>
        </p:nvSpPr>
        <p:spPr>
          <a:xfrm>
            <a:off x="6370292" y="2453002"/>
            <a:ext cx="678391" cy="246221"/>
          </a:xfrm>
          <a:prstGeom prst="rect">
            <a:avLst/>
          </a:prstGeom>
          <a:noFill/>
        </p:spPr>
        <p:txBody>
          <a:bodyPr wrap="none" rtlCol="0">
            <a:spAutoFit/>
          </a:bodyPr>
          <a:lstStyle/>
          <a:p>
            <a:r>
              <a:rPr lang="en-US" sz="1000" b="1" dirty="0">
                <a:solidFill>
                  <a:schemeClr val="bg1">
                    <a:lumMod val="50000"/>
                  </a:schemeClr>
                </a:solidFill>
              </a:rPr>
              <a:t>04/04/15</a:t>
            </a:r>
          </a:p>
        </p:txBody>
      </p:sp>
      <p:sp>
        <p:nvSpPr>
          <p:cNvPr id="267" name="TextBox 266">
            <a:extLst>
              <a:ext uri="{FF2B5EF4-FFF2-40B4-BE49-F238E27FC236}">
                <a16:creationId xmlns:a16="http://schemas.microsoft.com/office/drawing/2014/main" id="{90146F36-9EDD-58F7-F69B-F9156B9BD749}"/>
              </a:ext>
            </a:extLst>
          </p:cNvPr>
          <p:cNvSpPr txBox="1"/>
          <p:nvPr/>
        </p:nvSpPr>
        <p:spPr>
          <a:xfrm>
            <a:off x="6370292" y="2269699"/>
            <a:ext cx="678391" cy="246221"/>
          </a:xfrm>
          <a:prstGeom prst="rect">
            <a:avLst/>
          </a:prstGeom>
          <a:noFill/>
        </p:spPr>
        <p:txBody>
          <a:bodyPr wrap="none" rtlCol="0">
            <a:spAutoFit/>
          </a:bodyPr>
          <a:lstStyle/>
          <a:p>
            <a:r>
              <a:rPr lang="en-US" sz="1000" b="1" dirty="0">
                <a:solidFill>
                  <a:schemeClr val="bg1">
                    <a:lumMod val="50000"/>
                  </a:schemeClr>
                </a:solidFill>
              </a:rPr>
              <a:t>07/07/18</a:t>
            </a:r>
          </a:p>
        </p:txBody>
      </p:sp>
      <p:sp>
        <p:nvSpPr>
          <p:cNvPr id="268" name="TextBox 267">
            <a:extLst>
              <a:ext uri="{FF2B5EF4-FFF2-40B4-BE49-F238E27FC236}">
                <a16:creationId xmlns:a16="http://schemas.microsoft.com/office/drawing/2014/main" id="{5E2320E8-1C0A-F370-4B13-1FE452369C1D}"/>
              </a:ext>
            </a:extLst>
          </p:cNvPr>
          <p:cNvSpPr txBox="1"/>
          <p:nvPr/>
        </p:nvSpPr>
        <p:spPr>
          <a:xfrm>
            <a:off x="5330732" y="3002911"/>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69" name="TextBox 268">
            <a:extLst>
              <a:ext uri="{FF2B5EF4-FFF2-40B4-BE49-F238E27FC236}">
                <a16:creationId xmlns:a16="http://schemas.microsoft.com/office/drawing/2014/main" id="{17E0B0E2-69D7-A0F7-EEFB-336DAF2875FB}"/>
              </a:ext>
            </a:extLst>
          </p:cNvPr>
          <p:cNvSpPr txBox="1"/>
          <p:nvPr/>
        </p:nvSpPr>
        <p:spPr>
          <a:xfrm>
            <a:off x="5330732" y="2086396"/>
            <a:ext cx="396262" cy="246221"/>
          </a:xfrm>
          <a:prstGeom prst="rect">
            <a:avLst/>
          </a:prstGeom>
          <a:noFill/>
        </p:spPr>
        <p:txBody>
          <a:bodyPr wrap="none" rtlCol="0">
            <a:spAutoFit/>
          </a:bodyPr>
          <a:lstStyle/>
          <a:p>
            <a:r>
              <a:rPr lang="en-US" sz="1000" b="1" dirty="0">
                <a:solidFill>
                  <a:schemeClr val="bg1">
                    <a:lumMod val="50000"/>
                  </a:schemeClr>
                </a:solidFill>
              </a:rPr>
              <a:t>403</a:t>
            </a:r>
          </a:p>
        </p:txBody>
      </p:sp>
      <p:sp>
        <p:nvSpPr>
          <p:cNvPr id="270" name="TextBox 269">
            <a:extLst>
              <a:ext uri="{FF2B5EF4-FFF2-40B4-BE49-F238E27FC236}">
                <a16:creationId xmlns:a16="http://schemas.microsoft.com/office/drawing/2014/main" id="{59D1E11B-3B1F-3BD6-4AC0-C152B9ADCC6B}"/>
              </a:ext>
            </a:extLst>
          </p:cNvPr>
          <p:cNvSpPr txBox="1"/>
          <p:nvPr/>
        </p:nvSpPr>
        <p:spPr>
          <a:xfrm>
            <a:off x="5330732" y="1903093"/>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271" name="TextBox 270">
            <a:extLst>
              <a:ext uri="{FF2B5EF4-FFF2-40B4-BE49-F238E27FC236}">
                <a16:creationId xmlns:a16="http://schemas.microsoft.com/office/drawing/2014/main" id="{9C2FC3D5-C946-2A56-6A2C-4CB4693D6AE0}"/>
              </a:ext>
            </a:extLst>
          </p:cNvPr>
          <p:cNvSpPr txBox="1"/>
          <p:nvPr/>
        </p:nvSpPr>
        <p:spPr>
          <a:xfrm>
            <a:off x="5330732" y="1719790"/>
            <a:ext cx="396262" cy="246221"/>
          </a:xfrm>
          <a:prstGeom prst="rect">
            <a:avLst/>
          </a:prstGeom>
          <a:noFill/>
        </p:spPr>
        <p:txBody>
          <a:bodyPr wrap="none" rtlCol="0">
            <a:spAutoFit/>
          </a:bodyPr>
          <a:lstStyle/>
          <a:p>
            <a:r>
              <a:rPr lang="en-US" sz="1000" b="1" dirty="0">
                <a:solidFill>
                  <a:schemeClr val="bg1">
                    <a:lumMod val="50000"/>
                  </a:schemeClr>
                </a:solidFill>
              </a:rPr>
              <a:t>401</a:t>
            </a:r>
          </a:p>
        </p:txBody>
      </p:sp>
      <p:sp>
        <p:nvSpPr>
          <p:cNvPr id="272" name="TextBox 271">
            <a:extLst>
              <a:ext uri="{FF2B5EF4-FFF2-40B4-BE49-F238E27FC236}">
                <a16:creationId xmlns:a16="http://schemas.microsoft.com/office/drawing/2014/main" id="{E8CD5C22-4EBA-7F04-A6A5-603BDD3304C7}"/>
              </a:ext>
            </a:extLst>
          </p:cNvPr>
          <p:cNvSpPr txBox="1"/>
          <p:nvPr/>
        </p:nvSpPr>
        <p:spPr>
          <a:xfrm>
            <a:off x="5330732" y="1536487"/>
            <a:ext cx="853119" cy="246221"/>
          </a:xfrm>
          <a:prstGeom prst="rect">
            <a:avLst/>
          </a:prstGeom>
          <a:noFill/>
        </p:spPr>
        <p:txBody>
          <a:bodyPr wrap="none" rtlCol="0">
            <a:spAutoFit/>
          </a:bodyPr>
          <a:lstStyle/>
          <a:p>
            <a:r>
              <a:rPr lang="en-US" sz="1000" b="1" dirty="0"/>
              <a:t>order_num</a:t>
            </a:r>
          </a:p>
        </p:txBody>
      </p:sp>
      <p:sp>
        <p:nvSpPr>
          <p:cNvPr id="273" name="TextBox 272">
            <a:extLst>
              <a:ext uri="{FF2B5EF4-FFF2-40B4-BE49-F238E27FC236}">
                <a16:creationId xmlns:a16="http://schemas.microsoft.com/office/drawing/2014/main" id="{6DD09312-49AD-1356-BF52-F31D36C79DDD}"/>
              </a:ext>
            </a:extLst>
          </p:cNvPr>
          <p:cNvSpPr txBox="1"/>
          <p:nvPr/>
        </p:nvSpPr>
        <p:spPr>
          <a:xfrm>
            <a:off x="5330732" y="2819608"/>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275" name="TextBox 274">
            <a:extLst>
              <a:ext uri="{FF2B5EF4-FFF2-40B4-BE49-F238E27FC236}">
                <a16:creationId xmlns:a16="http://schemas.microsoft.com/office/drawing/2014/main" id="{EF7D644A-4138-7F37-F250-EECDDCE61202}"/>
              </a:ext>
            </a:extLst>
          </p:cNvPr>
          <p:cNvSpPr txBox="1"/>
          <p:nvPr/>
        </p:nvSpPr>
        <p:spPr>
          <a:xfrm>
            <a:off x="5330732" y="2636305"/>
            <a:ext cx="396262" cy="246221"/>
          </a:xfrm>
          <a:prstGeom prst="rect">
            <a:avLst/>
          </a:prstGeom>
          <a:noFill/>
        </p:spPr>
        <p:txBody>
          <a:bodyPr wrap="none" rtlCol="0">
            <a:spAutoFit/>
          </a:bodyPr>
          <a:lstStyle/>
          <a:p>
            <a:r>
              <a:rPr lang="en-US" sz="1000" b="1" dirty="0">
                <a:solidFill>
                  <a:schemeClr val="bg1">
                    <a:lumMod val="50000"/>
                  </a:schemeClr>
                </a:solidFill>
              </a:rPr>
              <a:t>406</a:t>
            </a:r>
          </a:p>
        </p:txBody>
      </p:sp>
      <p:sp>
        <p:nvSpPr>
          <p:cNvPr id="276" name="TextBox 275">
            <a:extLst>
              <a:ext uri="{FF2B5EF4-FFF2-40B4-BE49-F238E27FC236}">
                <a16:creationId xmlns:a16="http://schemas.microsoft.com/office/drawing/2014/main" id="{246D183F-0C19-24D9-6692-9D57713146EF}"/>
              </a:ext>
            </a:extLst>
          </p:cNvPr>
          <p:cNvSpPr txBox="1"/>
          <p:nvPr/>
        </p:nvSpPr>
        <p:spPr>
          <a:xfrm>
            <a:off x="5330732" y="2453002"/>
            <a:ext cx="396262" cy="246221"/>
          </a:xfrm>
          <a:prstGeom prst="rect">
            <a:avLst/>
          </a:prstGeom>
          <a:noFill/>
        </p:spPr>
        <p:txBody>
          <a:bodyPr wrap="none" rtlCol="0">
            <a:spAutoFit/>
          </a:bodyPr>
          <a:lstStyle/>
          <a:p>
            <a:r>
              <a:rPr lang="en-US" sz="1000" b="1" dirty="0">
                <a:solidFill>
                  <a:schemeClr val="bg1">
                    <a:lumMod val="50000"/>
                  </a:schemeClr>
                </a:solidFill>
              </a:rPr>
              <a:t>405</a:t>
            </a:r>
          </a:p>
        </p:txBody>
      </p:sp>
      <p:sp>
        <p:nvSpPr>
          <p:cNvPr id="277" name="TextBox 276">
            <a:extLst>
              <a:ext uri="{FF2B5EF4-FFF2-40B4-BE49-F238E27FC236}">
                <a16:creationId xmlns:a16="http://schemas.microsoft.com/office/drawing/2014/main" id="{65FFD5BF-5B73-7AD0-2A6E-5141CA1B2705}"/>
              </a:ext>
            </a:extLst>
          </p:cNvPr>
          <p:cNvSpPr txBox="1"/>
          <p:nvPr/>
        </p:nvSpPr>
        <p:spPr>
          <a:xfrm>
            <a:off x="5330732" y="2269699"/>
            <a:ext cx="396262" cy="246221"/>
          </a:xfrm>
          <a:prstGeom prst="rect">
            <a:avLst/>
          </a:prstGeom>
          <a:noFill/>
        </p:spPr>
        <p:txBody>
          <a:bodyPr wrap="none" rtlCol="0">
            <a:spAutoFit/>
          </a:bodyPr>
          <a:lstStyle/>
          <a:p>
            <a:r>
              <a:rPr lang="en-US" sz="1000" b="1" dirty="0">
                <a:solidFill>
                  <a:schemeClr val="bg1">
                    <a:lumMod val="50000"/>
                  </a:schemeClr>
                </a:solidFill>
              </a:rPr>
              <a:t>404</a:t>
            </a:r>
          </a:p>
        </p:txBody>
      </p:sp>
      <p:cxnSp>
        <p:nvCxnSpPr>
          <p:cNvPr id="278" name="Straight Connector 277">
            <a:extLst>
              <a:ext uri="{FF2B5EF4-FFF2-40B4-BE49-F238E27FC236}">
                <a16:creationId xmlns:a16="http://schemas.microsoft.com/office/drawing/2014/main" id="{45C07807-DE49-B4C8-769B-799F83814BE5}"/>
              </a:ext>
            </a:extLst>
          </p:cNvPr>
          <p:cNvCxnSpPr/>
          <p:nvPr/>
        </p:nvCxnSpPr>
        <p:spPr>
          <a:xfrm>
            <a:off x="5330732" y="1601006"/>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1DE3B9E4-55E7-279C-74AE-1893111D0721}"/>
              </a:ext>
            </a:extLst>
          </p:cNvPr>
          <p:cNvCxnSpPr/>
          <p:nvPr/>
        </p:nvCxnSpPr>
        <p:spPr>
          <a:xfrm>
            <a:off x="5102132" y="2460533"/>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082B59B0-110F-0D1E-9148-2B153BCFAF98}"/>
              </a:ext>
            </a:extLst>
          </p:cNvPr>
          <p:cNvCxnSpPr>
            <a:cxnSpLocks/>
          </p:cNvCxnSpPr>
          <p:nvPr/>
        </p:nvCxnSpPr>
        <p:spPr>
          <a:xfrm>
            <a:off x="1222334" y="1774285"/>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5AF7A9D2-66BC-2E02-D67F-A81C8FB14585}"/>
              </a:ext>
            </a:extLst>
          </p:cNvPr>
          <p:cNvCxnSpPr>
            <a:cxnSpLocks/>
          </p:cNvCxnSpPr>
          <p:nvPr/>
        </p:nvCxnSpPr>
        <p:spPr>
          <a:xfrm>
            <a:off x="1222339" y="2489008"/>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89307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3F57560-D349-13A0-FF96-5661589812B2}"/>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B6D20BAE-A7AD-7E9E-F8CF-2BD355306AC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229</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2" name="Rectangle 1">
            <a:extLst>
              <a:ext uri="{FF2B5EF4-FFF2-40B4-BE49-F238E27FC236}">
                <a16:creationId xmlns:a16="http://schemas.microsoft.com/office/drawing/2014/main" id="{CA9D797F-B39C-BA7E-7432-479704AF192D}"/>
              </a:ext>
            </a:extLst>
          </p:cNvPr>
          <p:cNvSpPr/>
          <p:nvPr/>
        </p:nvSpPr>
        <p:spPr>
          <a:xfrm>
            <a:off x="1234559" y="1509488"/>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72FDBC48-B649-90E1-8AEF-54284D13D0C8}"/>
              </a:ext>
            </a:extLst>
          </p:cNvPr>
          <p:cNvCxnSpPr/>
          <p:nvPr/>
        </p:nvCxnSpPr>
        <p:spPr>
          <a:xfrm>
            <a:off x="1234559" y="202509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2C028B4-4220-67F7-2654-F4C67135361D}"/>
              </a:ext>
            </a:extLst>
          </p:cNvPr>
          <p:cNvCxnSpPr/>
          <p:nvPr/>
        </p:nvCxnSpPr>
        <p:spPr>
          <a:xfrm>
            <a:off x="1234559" y="166066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C225260-469A-7F3D-7B05-DDC7786C0FA4}"/>
              </a:ext>
            </a:extLst>
          </p:cNvPr>
          <p:cNvCxnSpPr/>
          <p:nvPr/>
        </p:nvCxnSpPr>
        <p:spPr>
          <a:xfrm>
            <a:off x="1234559" y="184287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B38B285-D049-7748-4925-350D682C504A}"/>
              </a:ext>
            </a:extLst>
          </p:cNvPr>
          <p:cNvCxnSpPr/>
          <p:nvPr/>
        </p:nvCxnSpPr>
        <p:spPr>
          <a:xfrm>
            <a:off x="1234559" y="220731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F9F6DC7-DFFF-7992-F289-02BF14E58222}"/>
              </a:ext>
            </a:extLst>
          </p:cNvPr>
          <p:cNvCxnSpPr/>
          <p:nvPr/>
        </p:nvCxnSpPr>
        <p:spPr>
          <a:xfrm>
            <a:off x="1234559" y="293618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6D9C517-ADA3-98CB-150C-4C7A5AF354EB}"/>
              </a:ext>
            </a:extLst>
          </p:cNvPr>
          <p:cNvCxnSpPr/>
          <p:nvPr/>
        </p:nvCxnSpPr>
        <p:spPr>
          <a:xfrm>
            <a:off x="1234559" y="275396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9DE7DCD-C912-EF30-D11E-06B959FADDAA}"/>
              </a:ext>
            </a:extLst>
          </p:cNvPr>
          <p:cNvCxnSpPr/>
          <p:nvPr/>
        </p:nvCxnSpPr>
        <p:spPr>
          <a:xfrm>
            <a:off x="1234559" y="257175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53B8E3-95C4-0E9E-2A99-566C6A31365D}"/>
              </a:ext>
            </a:extLst>
          </p:cNvPr>
          <p:cNvCxnSpPr/>
          <p:nvPr/>
        </p:nvCxnSpPr>
        <p:spPr>
          <a:xfrm>
            <a:off x="2453759" y="1502500"/>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F0F1779-D5B0-3095-6DF5-D9D8DAB48F63}"/>
              </a:ext>
            </a:extLst>
          </p:cNvPr>
          <p:cNvSpPr txBox="1"/>
          <p:nvPr/>
        </p:nvSpPr>
        <p:spPr>
          <a:xfrm>
            <a:off x="2758559" y="290789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13" name="TextBox 12">
            <a:extLst>
              <a:ext uri="{FF2B5EF4-FFF2-40B4-BE49-F238E27FC236}">
                <a16:creationId xmlns:a16="http://schemas.microsoft.com/office/drawing/2014/main" id="{5EED8BE7-9D83-A022-4D84-C9068057CAEE}"/>
              </a:ext>
            </a:extLst>
          </p:cNvPr>
          <p:cNvSpPr txBox="1"/>
          <p:nvPr/>
        </p:nvSpPr>
        <p:spPr>
          <a:xfrm>
            <a:off x="2502719" y="1991384"/>
            <a:ext cx="503664" cy="246221"/>
          </a:xfrm>
          <a:prstGeom prst="rect">
            <a:avLst/>
          </a:prstGeom>
          <a:noFill/>
        </p:spPr>
        <p:txBody>
          <a:bodyPr wrap="none" rtlCol="0">
            <a:spAutoFit/>
          </a:bodyPr>
          <a:lstStyle/>
          <a:p>
            <a:r>
              <a:rPr lang="en-US" sz="1000" b="1" dirty="0">
                <a:solidFill>
                  <a:schemeClr val="bg1">
                    <a:lumMod val="50000"/>
                  </a:schemeClr>
                </a:solidFill>
              </a:rPr>
              <a:t>Carly</a:t>
            </a:r>
          </a:p>
        </p:txBody>
      </p:sp>
      <p:sp>
        <p:nvSpPr>
          <p:cNvPr id="14" name="TextBox 13">
            <a:extLst>
              <a:ext uri="{FF2B5EF4-FFF2-40B4-BE49-F238E27FC236}">
                <a16:creationId xmlns:a16="http://schemas.microsoft.com/office/drawing/2014/main" id="{9B147A40-853E-6535-3EC4-0D665685B724}"/>
              </a:ext>
            </a:extLst>
          </p:cNvPr>
          <p:cNvSpPr txBox="1"/>
          <p:nvPr/>
        </p:nvSpPr>
        <p:spPr>
          <a:xfrm>
            <a:off x="2502719" y="1808081"/>
            <a:ext cx="461986" cy="246221"/>
          </a:xfrm>
          <a:prstGeom prst="rect">
            <a:avLst/>
          </a:prstGeom>
          <a:noFill/>
        </p:spPr>
        <p:txBody>
          <a:bodyPr wrap="none" rtlCol="0">
            <a:spAutoFit/>
          </a:bodyPr>
          <a:lstStyle/>
          <a:p>
            <a:r>
              <a:rPr lang="en-US" sz="1000" b="1" dirty="0">
                <a:solidFill>
                  <a:schemeClr val="bg1">
                    <a:lumMod val="50000"/>
                  </a:schemeClr>
                </a:solidFill>
              </a:rPr>
              <a:t>Alan</a:t>
            </a:r>
          </a:p>
        </p:txBody>
      </p:sp>
      <p:sp>
        <p:nvSpPr>
          <p:cNvPr id="15" name="TextBox 14">
            <a:extLst>
              <a:ext uri="{FF2B5EF4-FFF2-40B4-BE49-F238E27FC236}">
                <a16:creationId xmlns:a16="http://schemas.microsoft.com/office/drawing/2014/main" id="{12FBFC08-92AE-CEE2-81AD-FB7053D86AF9}"/>
              </a:ext>
            </a:extLst>
          </p:cNvPr>
          <p:cNvSpPr txBox="1"/>
          <p:nvPr/>
        </p:nvSpPr>
        <p:spPr>
          <a:xfrm>
            <a:off x="2502719" y="1624778"/>
            <a:ext cx="503664" cy="246221"/>
          </a:xfrm>
          <a:prstGeom prst="rect">
            <a:avLst/>
          </a:prstGeom>
          <a:noFill/>
        </p:spPr>
        <p:txBody>
          <a:bodyPr wrap="none" rtlCol="0">
            <a:spAutoFit/>
          </a:bodyPr>
          <a:lstStyle/>
          <a:p>
            <a:r>
              <a:rPr lang="en-US" sz="1000" b="1" dirty="0">
                <a:solidFill>
                  <a:schemeClr val="bg1">
                    <a:lumMod val="50000"/>
                  </a:schemeClr>
                </a:solidFill>
              </a:rPr>
              <a:t>Carly</a:t>
            </a:r>
          </a:p>
        </p:txBody>
      </p:sp>
      <p:sp>
        <p:nvSpPr>
          <p:cNvPr id="16" name="TextBox 15">
            <a:extLst>
              <a:ext uri="{FF2B5EF4-FFF2-40B4-BE49-F238E27FC236}">
                <a16:creationId xmlns:a16="http://schemas.microsoft.com/office/drawing/2014/main" id="{974488B1-EF4D-0DA4-41D5-83B72CCBEF63}"/>
              </a:ext>
            </a:extLst>
          </p:cNvPr>
          <p:cNvSpPr txBox="1"/>
          <p:nvPr/>
        </p:nvSpPr>
        <p:spPr>
          <a:xfrm>
            <a:off x="2502719" y="1441475"/>
            <a:ext cx="561372" cy="246221"/>
          </a:xfrm>
          <a:prstGeom prst="rect">
            <a:avLst/>
          </a:prstGeom>
          <a:noFill/>
        </p:spPr>
        <p:txBody>
          <a:bodyPr wrap="none" rtlCol="0">
            <a:spAutoFit/>
          </a:bodyPr>
          <a:lstStyle/>
          <a:p>
            <a:r>
              <a:rPr lang="en-US" sz="1000" b="1" dirty="0"/>
              <a:t>fname</a:t>
            </a:r>
          </a:p>
        </p:txBody>
      </p:sp>
      <p:sp>
        <p:nvSpPr>
          <p:cNvPr id="17" name="TextBox 16">
            <a:extLst>
              <a:ext uri="{FF2B5EF4-FFF2-40B4-BE49-F238E27FC236}">
                <a16:creationId xmlns:a16="http://schemas.microsoft.com/office/drawing/2014/main" id="{C8A025DD-D1E4-4A77-CE23-E1D7991FE12D}"/>
              </a:ext>
            </a:extLst>
          </p:cNvPr>
          <p:cNvSpPr txBox="1"/>
          <p:nvPr/>
        </p:nvSpPr>
        <p:spPr>
          <a:xfrm>
            <a:off x="2502719" y="2724596"/>
            <a:ext cx="489236" cy="246221"/>
          </a:xfrm>
          <a:prstGeom prst="rect">
            <a:avLst/>
          </a:prstGeom>
          <a:noFill/>
        </p:spPr>
        <p:txBody>
          <a:bodyPr wrap="none" rtlCol="0">
            <a:spAutoFit/>
          </a:bodyPr>
          <a:lstStyle/>
          <a:p>
            <a:r>
              <a:rPr lang="en-US" sz="1000" b="1" dirty="0">
                <a:solidFill>
                  <a:schemeClr val="bg1">
                    <a:lumMod val="50000"/>
                  </a:schemeClr>
                </a:solidFill>
              </a:rPr>
              <a:t>Billie</a:t>
            </a:r>
          </a:p>
        </p:txBody>
      </p:sp>
      <p:sp>
        <p:nvSpPr>
          <p:cNvPr id="18" name="TextBox 17">
            <a:extLst>
              <a:ext uri="{FF2B5EF4-FFF2-40B4-BE49-F238E27FC236}">
                <a16:creationId xmlns:a16="http://schemas.microsoft.com/office/drawing/2014/main" id="{2D3DC50C-00FC-1754-EBFB-ED8B7411253D}"/>
              </a:ext>
            </a:extLst>
          </p:cNvPr>
          <p:cNvSpPr txBox="1"/>
          <p:nvPr/>
        </p:nvSpPr>
        <p:spPr>
          <a:xfrm>
            <a:off x="2502719" y="2541293"/>
            <a:ext cx="532518" cy="246221"/>
          </a:xfrm>
          <a:prstGeom prst="rect">
            <a:avLst/>
          </a:prstGeom>
          <a:noFill/>
        </p:spPr>
        <p:txBody>
          <a:bodyPr wrap="none" rtlCol="0">
            <a:spAutoFit/>
          </a:bodyPr>
          <a:lstStyle/>
          <a:p>
            <a:r>
              <a:rPr lang="en-US" sz="1000" b="1" dirty="0">
                <a:solidFill>
                  <a:schemeClr val="bg1">
                    <a:lumMod val="50000"/>
                  </a:schemeClr>
                </a:solidFill>
              </a:rPr>
              <a:t>Naitik</a:t>
            </a:r>
          </a:p>
        </p:txBody>
      </p:sp>
      <p:sp>
        <p:nvSpPr>
          <p:cNvPr id="19" name="TextBox 18">
            <a:extLst>
              <a:ext uri="{FF2B5EF4-FFF2-40B4-BE49-F238E27FC236}">
                <a16:creationId xmlns:a16="http://schemas.microsoft.com/office/drawing/2014/main" id="{E90DD61D-FD7D-98BC-3B66-8687A8445363}"/>
              </a:ext>
            </a:extLst>
          </p:cNvPr>
          <p:cNvSpPr txBox="1"/>
          <p:nvPr/>
        </p:nvSpPr>
        <p:spPr>
          <a:xfrm>
            <a:off x="2502719" y="2357990"/>
            <a:ext cx="404278" cy="246221"/>
          </a:xfrm>
          <a:prstGeom prst="rect">
            <a:avLst/>
          </a:prstGeom>
          <a:noFill/>
        </p:spPr>
        <p:txBody>
          <a:bodyPr wrap="none" rtlCol="0">
            <a:spAutoFit/>
          </a:bodyPr>
          <a:lstStyle/>
          <a:p>
            <a:r>
              <a:rPr lang="en-US" sz="1000" b="1" dirty="0">
                <a:solidFill>
                  <a:schemeClr val="bg1">
                    <a:lumMod val="50000"/>
                  </a:schemeClr>
                </a:solidFill>
              </a:rPr>
              <a:t>Jim</a:t>
            </a:r>
          </a:p>
        </p:txBody>
      </p:sp>
      <p:sp>
        <p:nvSpPr>
          <p:cNvPr id="20" name="TextBox 19">
            <a:extLst>
              <a:ext uri="{FF2B5EF4-FFF2-40B4-BE49-F238E27FC236}">
                <a16:creationId xmlns:a16="http://schemas.microsoft.com/office/drawing/2014/main" id="{47C36C0E-B484-E65D-454C-F6E4D0D278A9}"/>
              </a:ext>
            </a:extLst>
          </p:cNvPr>
          <p:cNvSpPr txBox="1"/>
          <p:nvPr/>
        </p:nvSpPr>
        <p:spPr>
          <a:xfrm>
            <a:off x="2502719" y="2174687"/>
            <a:ext cx="489236" cy="246221"/>
          </a:xfrm>
          <a:prstGeom prst="rect">
            <a:avLst/>
          </a:prstGeom>
          <a:noFill/>
        </p:spPr>
        <p:txBody>
          <a:bodyPr wrap="none" rtlCol="0">
            <a:spAutoFit/>
          </a:bodyPr>
          <a:lstStyle/>
          <a:p>
            <a:r>
              <a:rPr lang="en-US" sz="1000" b="1" dirty="0">
                <a:solidFill>
                  <a:schemeClr val="bg1">
                    <a:lumMod val="50000"/>
                  </a:schemeClr>
                </a:solidFill>
              </a:rPr>
              <a:t>Dave</a:t>
            </a:r>
          </a:p>
        </p:txBody>
      </p:sp>
      <p:sp>
        <p:nvSpPr>
          <p:cNvPr id="21" name="TextBox 20">
            <a:extLst>
              <a:ext uri="{FF2B5EF4-FFF2-40B4-BE49-F238E27FC236}">
                <a16:creationId xmlns:a16="http://schemas.microsoft.com/office/drawing/2014/main" id="{E4D8DB20-A4A4-4176-A74F-817D61492FAD}"/>
              </a:ext>
            </a:extLst>
          </p:cNvPr>
          <p:cNvSpPr txBox="1"/>
          <p:nvPr/>
        </p:nvSpPr>
        <p:spPr>
          <a:xfrm>
            <a:off x="1463159" y="290789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2" name="TextBox 21">
            <a:extLst>
              <a:ext uri="{FF2B5EF4-FFF2-40B4-BE49-F238E27FC236}">
                <a16:creationId xmlns:a16="http://schemas.microsoft.com/office/drawing/2014/main" id="{D137215E-DEB4-1F5D-ACE4-0433F69BAF3C}"/>
              </a:ext>
            </a:extLst>
          </p:cNvPr>
          <p:cNvSpPr txBox="1"/>
          <p:nvPr/>
        </p:nvSpPr>
        <p:spPr>
          <a:xfrm>
            <a:off x="1463159" y="1991384"/>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sp>
        <p:nvSpPr>
          <p:cNvPr id="23" name="TextBox 22">
            <a:extLst>
              <a:ext uri="{FF2B5EF4-FFF2-40B4-BE49-F238E27FC236}">
                <a16:creationId xmlns:a16="http://schemas.microsoft.com/office/drawing/2014/main" id="{A598FBDF-7F65-50F9-0C5B-CD01E0E8A53F}"/>
              </a:ext>
            </a:extLst>
          </p:cNvPr>
          <p:cNvSpPr txBox="1"/>
          <p:nvPr/>
        </p:nvSpPr>
        <p:spPr>
          <a:xfrm>
            <a:off x="1463159" y="1808081"/>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sp>
        <p:nvSpPr>
          <p:cNvPr id="24" name="TextBox 23">
            <a:extLst>
              <a:ext uri="{FF2B5EF4-FFF2-40B4-BE49-F238E27FC236}">
                <a16:creationId xmlns:a16="http://schemas.microsoft.com/office/drawing/2014/main" id="{A50EBE7D-1ED2-7EAE-C97D-23A6E74EDF94}"/>
              </a:ext>
            </a:extLst>
          </p:cNvPr>
          <p:cNvSpPr txBox="1"/>
          <p:nvPr/>
        </p:nvSpPr>
        <p:spPr>
          <a:xfrm>
            <a:off x="1463159" y="1624778"/>
            <a:ext cx="532518" cy="246221"/>
          </a:xfrm>
          <a:prstGeom prst="rect">
            <a:avLst/>
          </a:prstGeom>
          <a:noFill/>
        </p:spPr>
        <p:txBody>
          <a:bodyPr wrap="none" rtlCol="0">
            <a:spAutoFit/>
          </a:bodyPr>
          <a:lstStyle/>
          <a:p>
            <a:r>
              <a:rPr lang="en-US" sz="1000" b="1" dirty="0">
                <a:solidFill>
                  <a:schemeClr val="bg1">
                    <a:lumMod val="50000"/>
                  </a:schemeClr>
                </a:solidFill>
              </a:rPr>
              <a:t>Smite</a:t>
            </a:r>
          </a:p>
        </p:txBody>
      </p:sp>
      <p:sp>
        <p:nvSpPr>
          <p:cNvPr id="25" name="TextBox 24">
            <a:extLst>
              <a:ext uri="{FF2B5EF4-FFF2-40B4-BE49-F238E27FC236}">
                <a16:creationId xmlns:a16="http://schemas.microsoft.com/office/drawing/2014/main" id="{269E9543-6636-EF90-AA50-B24D441BCC7C}"/>
              </a:ext>
            </a:extLst>
          </p:cNvPr>
          <p:cNvSpPr txBox="1"/>
          <p:nvPr/>
        </p:nvSpPr>
        <p:spPr>
          <a:xfrm>
            <a:off x="1463159" y="1441475"/>
            <a:ext cx="553357" cy="246221"/>
          </a:xfrm>
          <a:prstGeom prst="rect">
            <a:avLst/>
          </a:prstGeom>
          <a:noFill/>
        </p:spPr>
        <p:txBody>
          <a:bodyPr wrap="none" rtlCol="0">
            <a:spAutoFit/>
          </a:bodyPr>
          <a:lstStyle/>
          <a:p>
            <a:r>
              <a:rPr lang="en-US" sz="1000" b="1" dirty="0"/>
              <a:t>lname</a:t>
            </a:r>
          </a:p>
        </p:txBody>
      </p:sp>
      <p:sp>
        <p:nvSpPr>
          <p:cNvPr id="26" name="TextBox 25">
            <a:extLst>
              <a:ext uri="{FF2B5EF4-FFF2-40B4-BE49-F238E27FC236}">
                <a16:creationId xmlns:a16="http://schemas.microsoft.com/office/drawing/2014/main" id="{467FFB64-7F14-8B29-EB8A-890261F1BCBA}"/>
              </a:ext>
            </a:extLst>
          </p:cNvPr>
          <p:cNvSpPr txBox="1"/>
          <p:nvPr/>
        </p:nvSpPr>
        <p:spPr>
          <a:xfrm>
            <a:off x="1463159" y="2724596"/>
            <a:ext cx="540533" cy="246221"/>
          </a:xfrm>
          <a:prstGeom prst="rect">
            <a:avLst/>
          </a:prstGeom>
          <a:noFill/>
        </p:spPr>
        <p:txBody>
          <a:bodyPr wrap="none" rtlCol="0">
            <a:spAutoFit/>
          </a:bodyPr>
          <a:lstStyle/>
          <a:p>
            <a:r>
              <a:rPr lang="en-US" sz="1000" b="1" dirty="0">
                <a:solidFill>
                  <a:schemeClr val="bg1">
                    <a:lumMod val="50000"/>
                  </a:schemeClr>
                </a:solidFill>
              </a:rPr>
              <a:t>Stang</a:t>
            </a:r>
          </a:p>
        </p:txBody>
      </p:sp>
      <p:sp>
        <p:nvSpPr>
          <p:cNvPr id="27" name="TextBox 26">
            <a:extLst>
              <a:ext uri="{FF2B5EF4-FFF2-40B4-BE49-F238E27FC236}">
                <a16:creationId xmlns:a16="http://schemas.microsoft.com/office/drawing/2014/main" id="{36A3E217-465C-4A42-6260-879291B5299D}"/>
              </a:ext>
            </a:extLst>
          </p:cNvPr>
          <p:cNvSpPr txBox="1"/>
          <p:nvPr/>
        </p:nvSpPr>
        <p:spPr>
          <a:xfrm>
            <a:off x="1463159" y="2541293"/>
            <a:ext cx="768159" cy="246221"/>
          </a:xfrm>
          <a:prstGeom prst="rect">
            <a:avLst/>
          </a:prstGeom>
          <a:noFill/>
        </p:spPr>
        <p:txBody>
          <a:bodyPr wrap="none" rtlCol="0">
            <a:spAutoFit/>
          </a:bodyPr>
          <a:lstStyle/>
          <a:p>
            <a:r>
              <a:rPr lang="en-US" sz="1000" b="1" dirty="0">
                <a:solidFill>
                  <a:schemeClr val="bg1">
                    <a:lumMod val="50000"/>
                  </a:schemeClr>
                </a:solidFill>
              </a:rPr>
              <a:t>Smithson</a:t>
            </a:r>
          </a:p>
        </p:txBody>
      </p:sp>
      <p:sp>
        <p:nvSpPr>
          <p:cNvPr id="28" name="TextBox 27">
            <a:extLst>
              <a:ext uri="{FF2B5EF4-FFF2-40B4-BE49-F238E27FC236}">
                <a16:creationId xmlns:a16="http://schemas.microsoft.com/office/drawing/2014/main" id="{053E9FCB-D472-F84F-61F9-E439ED061BC3}"/>
              </a:ext>
            </a:extLst>
          </p:cNvPr>
          <p:cNvSpPr txBox="1"/>
          <p:nvPr/>
        </p:nvSpPr>
        <p:spPr>
          <a:xfrm>
            <a:off x="1463159" y="2357990"/>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sp>
        <p:nvSpPr>
          <p:cNvPr id="29" name="TextBox 28">
            <a:extLst>
              <a:ext uri="{FF2B5EF4-FFF2-40B4-BE49-F238E27FC236}">
                <a16:creationId xmlns:a16="http://schemas.microsoft.com/office/drawing/2014/main" id="{8338698F-20E2-EBD6-0ED5-0CC116792502}"/>
              </a:ext>
            </a:extLst>
          </p:cNvPr>
          <p:cNvSpPr txBox="1"/>
          <p:nvPr/>
        </p:nvSpPr>
        <p:spPr>
          <a:xfrm>
            <a:off x="1463159" y="2174687"/>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cxnSp>
        <p:nvCxnSpPr>
          <p:cNvPr id="30" name="Straight Connector 29">
            <a:extLst>
              <a:ext uri="{FF2B5EF4-FFF2-40B4-BE49-F238E27FC236}">
                <a16:creationId xmlns:a16="http://schemas.microsoft.com/office/drawing/2014/main" id="{0DBE2812-4B97-BAAF-C54C-685EA8F83DD9}"/>
              </a:ext>
            </a:extLst>
          </p:cNvPr>
          <p:cNvCxnSpPr/>
          <p:nvPr/>
        </p:nvCxnSpPr>
        <p:spPr>
          <a:xfrm>
            <a:off x="1463159" y="1505994"/>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A23C6FA-7F7C-9662-3D3A-B0856053B373}"/>
              </a:ext>
            </a:extLst>
          </p:cNvPr>
          <p:cNvCxnSpPr/>
          <p:nvPr/>
        </p:nvCxnSpPr>
        <p:spPr>
          <a:xfrm>
            <a:off x="1234559" y="2365521"/>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DAC7E03-5DE4-C230-9BBE-9D46B2171E90}"/>
              </a:ext>
            </a:extLst>
          </p:cNvPr>
          <p:cNvSpPr/>
          <p:nvPr/>
        </p:nvSpPr>
        <p:spPr>
          <a:xfrm>
            <a:off x="5242441" y="1550998"/>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a:extLst>
              <a:ext uri="{FF2B5EF4-FFF2-40B4-BE49-F238E27FC236}">
                <a16:creationId xmlns:a16="http://schemas.microsoft.com/office/drawing/2014/main" id="{455482F1-AB9A-4CCF-70AC-4D5ED86F5567}"/>
              </a:ext>
            </a:extLst>
          </p:cNvPr>
          <p:cNvCxnSpPr/>
          <p:nvPr/>
        </p:nvCxnSpPr>
        <p:spPr>
          <a:xfrm>
            <a:off x="5242441" y="206660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2DBE45D-71A7-52A8-8BE1-34C92BA88C6D}"/>
              </a:ext>
            </a:extLst>
          </p:cNvPr>
          <p:cNvCxnSpPr/>
          <p:nvPr/>
        </p:nvCxnSpPr>
        <p:spPr>
          <a:xfrm>
            <a:off x="5242441" y="170217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36033F1-5579-D07A-30F1-ECDD0AA607B0}"/>
              </a:ext>
            </a:extLst>
          </p:cNvPr>
          <p:cNvCxnSpPr/>
          <p:nvPr/>
        </p:nvCxnSpPr>
        <p:spPr>
          <a:xfrm>
            <a:off x="5242441" y="188438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B7B6AD3-377E-E0BD-5953-DF557DA6CF5F}"/>
              </a:ext>
            </a:extLst>
          </p:cNvPr>
          <p:cNvCxnSpPr/>
          <p:nvPr/>
        </p:nvCxnSpPr>
        <p:spPr>
          <a:xfrm>
            <a:off x="5242441" y="224882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C39CCBD-6AD3-2C91-A46E-830004E6B4C0}"/>
              </a:ext>
            </a:extLst>
          </p:cNvPr>
          <p:cNvCxnSpPr/>
          <p:nvPr/>
        </p:nvCxnSpPr>
        <p:spPr>
          <a:xfrm>
            <a:off x="5242441" y="297769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AD047CA-AAAD-85B3-E902-3A98A0FF47BB}"/>
              </a:ext>
            </a:extLst>
          </p:cNvPr>
          <p:cNvCxnSpPr/>
          <p:nvPr/>
        </p:nvCxnSpPr>
        <p:spPr>
          <a:xfrm>
            <a:off x="5242441" y="279547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4B00365-28C5-22A0-F7DC-B7C894160B6B}"/>
              </a:ext>
            </a:extLst>
          </p:cNvPr>
          <p:cNvCxnSpPr/>
          <p:nvPr/>
        </p:nvCxnSpPr>
        <p:spPr>
          <a:xfrm>
            <a:off x="5242441" y="261326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10DD7B2-A8E5-6C1A-93AC-C5411CEE22A7}"/>
              </a:ext>
            </a:extLst>
          </p:cNvPr>
          <p:cNvCxnSpPr/>
          <p:nvPr/>
        </p:nvCxnSpPr>
        <p:spPr>
          <a:xfrm>
            <a:off x="6461641" y="1544010"/>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B31718C-3EA2-22F9-1F30-B8AA394C252A}"/>
              </a:ext>
            </a:extLst>
          </p:cNvPr>
          <p:cNvSpPr txBox="1"/>
          <p:nvPr/>
        </p:nvSpPr>
        <p:spPr>
          <a:xfrm>
            <a:off x="6766441" y="294940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41" name="TextBox 40">
            <a:extLst>
              <a:ext uri="{FF2B5EF4-FFF2-40B4-BE49-F238E27FC236}">
                <a16:creationId xmlns:a16="http://schemas.microsoft.com/office/drawing/2014/main" id="{A7B0B9BB-2497-2A23-392B-F86E4F68365B}"/>
              </a:ext>
            </a:extLst>
          </p:cNvPr>
          <p:cNvSpPr txBox="1"/>
          <p:nvPr/>
        </p:nvSpPr>
        <p:spPr>
          <a:xfrm>
            <a:off x="6510601" y="2032894"/>
            <a:ext cx="396262" cy="246221"/>
          </a:xfrm>
          <a:prstGeom prst="rect">
            <a:avLst/>
          </a:prstGeom>
          <a:noFill/>
        </p:spPr>
        <p:txBody>
          <a:bodyPr wrap="none" rtlCol="0">
            <a:spAutoFit/>
          </a:bodyPr>
          <a:lstStyle/>
          <a:p>
            <a:r>
              <a:rPr lang="en-US" sz="1000" b="1" dirty="0">
                <a:solidFill>
                  <a:schemeClr val="bg1">
                    <a:lumMod val="50000"/>
                  </a:schemeClr>
                </a:solidFill>
              </a:rPr>
              <a:t>aaa</a:t>
            </a:r>
          </a:p>
        </p:txBody>
      </p:sp>
      <p:sp>
        <p:nvSpPr>
          <p:cNvPr id="42" name="TextBox 41">
            <a:extLst>
              <a:ext uri="{FF2B5EF4-FFF2-40B4-BE49-F238E27FC236}">
                <a16:creationId xmlns:a16="http://schemas.microsoft.com/office/drawing/2014/main" id="{BF887CA5-F89E-7922-4176-8F6E80C4F0C8}"/>
              </a:ext>
            </a:extLst>
          </p:cNvPr>
          <p:cNvSpPr txBox="1"/>
          <p:nvPr/>
        </p:nvSpPr>
        <p:spPr>
          <a:xfrm>
            <a:off x="6510601" y="1849591"/>
            <a:ext cx="420308" cy="246221"/>
          </a:xfrm>
          <a:prstGeom prst="rect">
            <a:avLst/>
          </a:prstGeom>
          <a:noFill/>
        </p:spPr>
        <p:txBody>
          <a:bodyPr wrap="none" rtlCol="0">
            <a:spAutoFit/>
          </a:bodyPr>
          <a:lstStyle/>
          <a:p>
            <a:r>
              <a:rPr lang="en-US" sz="1000" b="1" dirty="0">
                <a:solidFill>
                  <a:schemeClr val="bg1">
                    <a:lumMod val="50000"/>
                  </a:schemeClr>
                </a:solidFill>
              </a:rPr>
              <a:t>bbb</a:t>
            </a:r>
          </a:p>
        </p:txBody>
      </p:sp>
      <p:sp>
        <p:nvSpPr>
          <p:cNvPr id="43" name="TextBox 42">
            <a:extLst>
              <a:ext uri="{FF2B5EF4-FFF2-40B4-BE49-F238E27FC236}">
                <a16:creationId xmlns:a16="http://schemas.microsoft.com/office/drawing/2014/main" id="{6AD191DF-EDED-448E-2405-903B26509704}"/>
              </a:ext>
            </a:extLst>
          </p:cNvPr>
          <p:cNvSpPr txBox="1"/>
          <p:nvPr/>
        </p:nvSpPr>
        <p:spPr>
          <a:xfrm>
            <a:off x="6510601" y="1666288"/>
            <a:ext cx="396262" cy="246221"/>
          </a:xfrm>
          <a:prstGeom prst="rect">
            <a:avLst/>
          </a:prstGeom>
          <a:noFill/>
        </p:spPr>
        <p:txBody>
          <a:bodyPr wrap="none" rtlCol="0">
            <a:spAutoFit/>
          </a:bodyPr>
          <a:lstStyle/>
          <a:p>
            <a:r>
              <a:rPr lang="en-US" sz="1000" b="1" dirty="0">
                <a:solidFill>
                  <a:schemeClr val="bg1">
                    <a:lumMod val="50000"/>
                  </a:schemeClr>
                </a:solidFill>
              </a:rPr>
              <a:t>aaa</a:t>
            </a:r>
          </a:p>
        </p:txBody>
      </p:sp>
      <p:sp>
        <p:nvSpPr>
          <p:cNvPr id="44" name="TextBox 43">
            <a:extLst>
              <a:ext uri="{FF2B5EF4-FFF2-40B4-BE49-F238E27FC236}">
                <a16:creationId xmlns:a16="http://schemas.microsoft.com/office/drawing/2014/main" id="{874DCE87-2811-DECF-9E36-EEB6F9CE43A8}"/>
              </a:ext>
            </a:extLst>
          </p:cNvPr>
          <p:cNvSpPr txBox="1"/>
          <p:nvPr/>
        </p:nvSpPr>
        <p:spPr>
          <a:xfrm>
            <a:off x="6510601" y="1482985"/>
            <a:ext cx="439544" cy="246221"/>
          </a:xfrm>
          <a:prstGeom prst="rect">
            <a:avLst/>
          </a:prstGeom>
          <a:noFill/>
        </p:spPr>
        <p:txBody>
          <a:bodyPr wrap="none" rtlCol="0">
            <a:spAutoFit/>
          </a:bodyPr>
          <a:lstStyle/>
          <a:p>
            <a:r>
              <a:rPr lang="en-US" sz="1000" b="1" dirty="0"/>
              <a:t>colx</a:t>
            </a:r>
          </a:p>
        </p:txBody>
      </p:sp>
      <p:sp>
        <p:nvSpPr>
          <p:cNvPr id="45" name="TextBox 44">
            <a:extLst>
              <a:ext uri="{FF2B5EF4-FFF2-40B4-BE49-F238E27FC236}">
                <a16:creationId xmlns:a16="http://schemas.microsoft.com/office/drawing/2014/main" id="{4A79F740-E7B3-691E-C9ED-5ECAB595FFD2}"/>
              </a:ext>
            </a:extLst>
          </p:cNvPr>
          <p:cNvSpPr txBox="1"/>
          <p:nvPr/>
        </p:nvSpPr>
        <p:spPr>
          <a:xfrm>
            <a:off x="6510601" y="2766106"/>
            <a:ext cx="396262" cy="246221"/>
          </a:xfrm>
          <a:prstGeom prst="rect">
            <a:avLst/>
          </a:prstGeom>
          <a:noFill/>
        </p:spPr>
        <p:txBody>
          <a:bodyPr wrap="none" rtlCol="0">
            <a:spAutoFit/>
          </a:bodyPr>
          <a:lstStyle/>
          <a:p>
            <a:r>
              <a:rPr lang="en-US" sz="1000" b="1" dirty="0">
                <a:solidFill>
                  <a:schemeClr val="bg1">
                    <a:lumMod val="50000"/>
                  </a:schemeClr>
                </a:solidFill>
              </a:rPr>
              <a:t>ccc</a:t>
            </a:r>
          </a:p>
        </p:txBody>
      </p:sp>
      <p:sp>
        <p:nvSpPr>
          <p:cNvPr id="46" name="TextBox 45">
            <a:extLst>
              <a:ext uri="{FF2B5EF4-FFF2-40B4-BE49-F238E27FC236}">
                <a16:creationId xmlns:a16="http://schemas.microsoft.com/office/drawing/2014/main" id="{12FDDA4C-FE1A-9007-0BAA-0423D7C7950D}"/>
              </a:ext>
            </a:extLst>
          </p:cNvPr>
          <p:cNvSpPr txBox="1"/>
          <p:nvPr/>
        </p:nvSpPr>
        <p:spPr>
          <a:xfrm>
            <a:off x="6510601" y="2582803"/>
            <a:ext cx="420308" cy="246221"/>
          </a:xfrm>
          <a:prstGeom prst="rect">
            <a:avLst/>
          </a:prstGeom>
          <a:noFill/>
        </p:spPr>
        <p:txBody>
          <a:bodyPr wrap="none" rtlCol="0">
            <a:spAutoFit/>
          </a:bodyPr>
          <a:lstStyle/>
          <a:p>
            <a:r>
              <a:rPr lang="en-US" sz="1000" b="1" dirty="0">
                <a:solidFill>
                  <a:schemeClr val="bg1">
                    <a:lumMod val="50000"/>
                  </a:schemeClr>
                </a:solidFill>
              </a:rPr>
              <a:t>bbb</a:t>
            </a:r>
          </a:p>
        </p:txBody>
      </p:sp>
      <p:sp>
        <p:nvSpPr>
          <p:cNvPr id="47" name="TextBox 46">
            <a:extLst>
              <a:ext uri="{FF2B5EF4-FFF2-40B4-BE49-F238E27FC236}">
                <a16:creationId xmlns:a16="http://schemas.microsoft.com/office/drawing/2014/main" id="{48050CC7-3ED7-D5A9-4D56-F6D278E36A2D}"/>
              </a:ext>
            </a:extLst>
          </p:cNvPr>
          <p:cNvSpPr txBox="1"/>
          <p:nvPr/>
        </p:nvSpPr>
        <p:spPr>
          <a:xfrm>
            <a:off x="6510601" y="2399500"/>
            <a:ext cx="396262" cy="246221"/>
          </a:xfrm>
          <a:prstGeom prst="rect">
            <a:avLst/>
          </a:prstGeom>
          <a:noFill/>
        </p:spPr>
        <p:txBody>
          <a:bodyPr wrap="none" rtlCol="0">
            <a:spAutoFit/>
          </a:bodyPr>
          <a:lstStyle/>
          <a:p>
            <a:r>
              <a:rPr lang="en-US" sz="1000" b="1" dirty="0">
                <a:solidFill>
                  <a:schemeClr val="bg1">
                    <a:lumMod val="50000"/>
                  </a:schemeClr>
                </a:solidFill>
              </a:rPr>
              <a:t>eee</a:t>
            </a:r>
          </a:p>
        </p:txBody>
      </p:sp>
      <p:sp>
        <p:nvSpPr>
          <p:cNvPr id="48" name="TextBox 47">
            <a:extLst>
              <a:ext uri="{FF2B5EF4-FFF2-40B4-BE49-F238E27FC236}">
                <a16:creationId xmlns:a16="http://schemas.microsoft.com/office/drawing/2014/main" id="{99785AC5-2E01-A7DD-AB8D-7D7A4640E7CE}"/>
              </a:ext>
            </a:extLst>
          </p:cNvPr>
          <p:cNvSpPr txBox="1"/>
          <p:nvPr/>
        </p:nvSpPr>
        <p:spPr>
          <a:xfrm>
            <a:off x="6510601" y="2216197"/>
            <a:ext cx="420308" cy="246221"/>
          </a:xfrm>
          <a:prstGeom prst="rect">
            <a:avLst/>
          </a:prstGeom>
          <a:noFill/>
        </p:spPr>
        <p:txBody>
          <a:bodyPr wrap="none" rtlCol="0">
            <a:spAutoFit/>
          </a:bodyPr>
          <a:lstStyle/>
          <a:p>
            <a:r>
              <a:rPr lang="en-US" sz="1000" b="1" dirty="0">
                <a:solidFill>
                  <a:schemeClr val="bg1">
                    <a:lumMod val="50000"/>
                  </a:schemeClr>
                </a:solidFill>
              </a:rPr>
              <a:t>ddd</a:t>
            </a:r>
          </a:p>
        </p:txBody>
      </p:sp>
      <p:sp>
        <p:nvSpPr>
          <p:cNvPr id="49" name="TextBox 48">
            <a:extLst>
              <a:ext uri="{FF2B5EF4-FFF2-40B4-BE49-F238E27FC236}">
                <a16:creationId xmlns:a16="http://schemas.microsoft.com/office/drawing/2014/main" id="{E4090D08-56FC-9246-08C5-1D6A95207C1B}"/>
              </a:ext>
            </a:extLst>
          </p:cNvPr>
          <p:cNvSpPr txBox="1"/>
          <p:nvPr/>
        </p:nvSpPr>
        <p:spPr>
          <a:xfrm>
            <a:off x="5471041" y="294940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50" name="TextBox 49">
            <a:extLst>
              <a:ext uri="{FF2B5EF4-FFF2-40B4-BE49-F238E27FC236}">
                <a16:creationId xmlns:a16="http://schemas.microsoft.com/office/drawing/2014/main" id="{7B133B7E-F279-2405-074A-CEDEB5A0F66F}"/>
              </a:ext>
            </a:extLst>
          </p:cNvPr>
          <p:cNvSpPr txBox="1"/>
          <p:nvPr/>
        </p:nvSpPr>
        <p:spPr>
          <a:xfrm>
            <a:off x="5471041" y="2032894"/>
            <a:ext cx="718466" cy="246221"/>
          </a:xfrm>
          <a:prstGeom prst="rect">
            <a:avLst/>
          </a:prstGeom>
          <a:noFill/>
        </p:spPr>
        <p:txBody>
          <a:bodyPr wrap="none" rtlCol="0">
            <a:spAutoFit/>
          </a:bodyPr>
          <a:lstStyle/>
          <a:p>
            <a:r>
              <a:rPr lang="en-US" sz="1000" b="1" dirty="0">
                <a:solidFill>
                  <a:schemeClr val="bg1">
                    <a:lumMod val="50000"/>
                  </a:schemeClr>
                </a:solidFill>
              </a:rPr>
              <a:t>John</a:t>
            </a:r>
            <a:r>
              <a:rPr lang="en-US" sz="1000" b="1" dirty="0">
                <a:solidFill>
                  <a:schemeClr val="tx1"/>
                </a:solidFill>
              </a:rPr>
              <a:t>son</a:t>
            </a:r>
          </a:p>
        </p:txBody>
      </p:sp>
      <p:sp>
        <p:nvSpPr>
          <p:cNvPr id="51" name="TextBox 50">
            <a:extLst>
              <a:ext uri="{FF2B5EF4-FFF2-40B4-BE49-F238E27FC236}">
                <a16:creationId xmlns:a16="http://schemas.microsoft.com/office/drawing/2014/main" id="{4448AB4E-207C-C951-4EF6-5D2BF384BAEC}"/>
              </a:ext>
            </a:extLst>
          </p:cNvPr>
          <p:cNvSpPr txBox="1"/>
          <p:nvPr/>
        </p:nvSpPr>
        <p:spPr>
          <a:xfrm>
            <a:off x="5471041" y="1849591"/>
            <a:ext cx="526106" cy="246221"/>
          </a:xfrm>
          <a:prstGeom prst="rect">
            <a:avLst/>
          </a:prstGeom>
          <a:noFill/>
        </p:spPr>
        <p:txBody>
          <a:bodyPr wrap="none" rtlCol="0">
            <a:spAutoFit/>
          </a:bodyPr>
          <a:lstStyle/>
          <a:p>
            <a:r>
              <a:rPr lang="en-US" sz="1000" b="1" dirty="0">
                <a:solidFill>
                  <a:schemeClr val="bg1">
                    <a:lumMod val="50000"/>
                  </a:schemeClr>
                </a:solidFill>
              </a:rPr>
              <a:t>Flynn</a:t>
            </a:r>
          </a:p>
        </p:txBody>
      </p:sp>
      <p:sp>
        <p:nvSpPr>
          <p:cNvPr id="52" name="TextBox 51">
            <a:extLst>
              <a:ext uri="{FF2B5EF4-FFF2-40B4-BE49-F238E27FC236}">
                <a16:creationId xmlns:a16="http://schemas.microsoft.com/office/drawing/2014/main" id="{E6F215AA-3EAC-4CDF-8012-B06BAE1EFC72}"/>
              </a:ext>
            </a:extLst>
          </p:cNvPr>
          <p:cNvSpPr txBox="1"/>
          <p:nvPr/>
        </p:nvSpPr>
        <p:spPr>
          <a:xfrm>
            <a:off x="5471041" y="1666288"/>
            <a:ext cx="652743" cy="246221"/>
          </a:xfrm>
          <a:prstGeom prst="rect">
            <a:avLst/>
          </a:prstGeom>
          <a:noFill/>
        </p:spPr>
        <p:txBody>
          <a:bodyPr wrap="none" rtlCol="0">
            <a:spAutoFit/>
          </a:bodyPr>
          <a:lstStyle/>
          <a:p>
            <a:r>
              <a:rPr lang="en-US" sz="1000" b="1" dirty="0">
                <a:solidFill>
                  <a:schemeClr val="bg1">
                    <a:lumMod val="50000"/>
                  </a:schemeClr>
                </a:solidFill>
              </a:rPr>
              <a:t>Caldera</a:t>
            </a:r>
          </a:p>
        </p:txBody>
      </p:sp>
      <p:sp>
        <p:nvSpPr>
          <p:cNvPr id="53" name="TextBox 52">
            <a:extLst>
              <a:ext uri="{FF2B5EF4-FFF2-40B4-BE49-F238E27FC236}">
                <a16:creationId xmlns:a16="http://schemas.microsoft.com/office/drawing/2014/main" id="{E100C67D-1C6D-3E28-FB7E-E1A5596FA831}"/>
              </a:ext>
            </a:extLst>
          </p:cNvPr>
          <p:cNvSpPr txBox="1"/>
          <p:nvPr/>
        </p:nvSpPr>
        <p:spPr>
          <a:xfrm>
            <a:off x="5471041" y="1482985"/>
            <a:ext cx="553357" cy="246221"/>
          </a:xfrm>
          <a:prstGeom prst="rect">
            <a:avLst/>
          </a:prstGeom>
          <a:noFill/>
        </p:spPr>
        <p:txBody>
          <a:bodyPr wrap="none" rtlCol="0">
            <a:spAutoFit/>
          </a:bodyPr>
          <a:lstStyle/>
          <a:p>
            <a:r>
              <a:rPr lang="en-US" sz="1000" b="1" dirty="0"/>
              <a:t>lname</a:t>
            </a:r>
          </a:p>
        </p:txBody>
      </p:sp>
      <p:sp>
        <p:nvSpPr>
          <p:cNvPr id="54" name="TextBox 53">
            <a:extLst>
              <a:ext uri="{FF2B5EF4-FFF2-40B4-BE49-F238E27FC236}">
                <a16:creationId xmlns:a16="http://schemas.microsoft.com/office/drawing/2014/main" id="{5DA4E23E-D17B-47A2-F1F4-BBC316F6A454}"/>
              </a:ext>
            </a:extLst>
          </p:cNvPr>
          <p:cNvSpPr txBox="1"/>
          <p:nvPr/>
        </p:nvSpPr>
        <p:spPr>
          <a:xfrm>
            <a:off x="5471041" y="2766106"/>
            <a:ext cx="859531" cy="246221"/>
          </a:xfrm>
          <a:prstGeom prst="rect">
            <a:avLst/>
          </a:prstGeom>
          <a:noFill/>
        </p:spPr>
        <p:txBody>
          <a:bodyPr wrap="none" rtlCol="0">
            <a:spAutoFit/>
          </a:bodyPr>
          <a:lstStyle/>
          <a:p>
            <a:r>
              <a:rPr lang="en-US" sz="1000" b="1" dirty="0">
                <a:solidFill>
                  <a:schemeClr val="bg1">
                    <a:lumMod val="50000"/>
                  </a:schemeClr>
                </a:solidFill>
              </a:rPr>
              <a:t>William</a:t>
            </a:r>
            <a:r>
              <a:rPr lang="en-US" sz="1000" b="1" dirty="0">
                <a:solidFill>
                  <a:schemeClr val="tx1"/>
                </a:solidFill>
              </a:rPr>
              <a:t>son</a:t>
            </a:r>
          </a:p>
        </p:txBody>
      </p:sp>
      <p:sp>
        <p:nvSpPr>
          <p:cNvPr id="55" name="TextBox 54">
            <a:extLst>
              <a:ext uri="{FF2B5EF4-FFF2-40B4-BE49-F238E27FC236}">
                <a16:creationId xmlns:a16="http://schemas.microsoft.com/office/drawing/2014/main" id="{E0475939-3072-BAD2-9DDC-B461572E93E1}"/>
              </a:ext>
            </a:extLst>
          </p:cNvPr>
          <p:cNvSpPr txBox="1"/>
          <p:nvPr/>
        </p:nvSpPr>
        <p:spPr>
          <a:xfrm>
            <a:off x="5471041" y="2582803"/>
            <a:ext cx="646331" cy="246221"/>
          </a:xfrm>
          <a:prstGeom prst="rect">
            <a:avLst/>
          </a:prstGeom>
          <a:noFill/>
        </p:spPr>
        <p:txBody>
          <a:bodyPr wrap="none" rtlCol="0">
            <a:spAutoFit/>
          </a:bodyPr>
          <a:lstStyle/>
          <a:p>
            <a:r>
              <a:rPr lang="en-US" sz="1000" b="1" dirty="0">
                <a:solidFill>
                  <a:schemeClr val="bg1">
                    <a:lumMod val="50000"/>
                  </a:schemeClr>
                </a:solidFill>
              </a:rPr>
              <a:t>Schulte</a:t>
            </a:r>
          </a:p>
        </p:txBody>
      </p:sp>
      <p:sp>
        <p:nvSpPr>
          <p:cNvPr id="56" name="TextBox 55">
            <a:extLst>
              <a:ext uri="{FF2B5EF4-FFF2-40B4-BE49-F238E27FC236}">
                <a16:creationId xmlns:a16="http://schemas.microsoft.com/office/drawing/2014/main" id="{0CFFC54C-D4F6-972E-5F8C-D01284A990EB}"/>
              </a:ext>
            </a:extLst>
          </p:cNvPr>
          <p:cNvSpPr txBox="1"/>
          <p:nvPr/>
        </p:nvSpPr>
        <p:spPr>
          <a:xfrm>
            <a:off x="5471041" y="2399500"/>
            <a:ext cx="837089" cy="246221"/>
          </a:xfrm>
          <a:prstGeom prst="rect">
            <a:avLst/>
          </a:prstGeom>
          <a:noFill/>
        </p:spPr>
        <p:txBody>
          <a:bodyPr wrap="none" rtlCol="0">
            <a:spAutoFit/>
          </a:bodyPr>
          <a:lstStyle/>
          <a:p>
            <a:r>
              <a:rPr lang="en-US" sz="1000" b="1" dirty="0">
                <a:solidFill>
                  <a:schemeClr val="bg1">
                    <a:lumMod val="50000"/>
                  </a:schemeClr>
                </a:solidFill>
              </a:rPr>
              <a:t>Paneendra</a:t>
            </a:r>
          </a:p>
        </p:txBody>
      </p:sp>
      <p:sp>
        <p:nvSpPr>
          <p:cNvPr id="57" name="TextBox 56">
            <a:extLst>
              <a:ext uri="{FF2B5EF4-FFF2-40B4-BE49-F238E27FC236}">
                <a16:creationId xmlns:a16="http://schemas.microsoft.com/office/drawing/2014/main" id="{865123EF-9A21-5412-7636-7BCFB19A5281}"/>
              </a:ext>
            </a:extLst>
          </p:cNvPr>
          <p:cNvSpPr txBox="1"/>
          <p:nvPr/>
        </p:nvSpPr>
        <p:spPr>
          <a:xfrm>
            <a:off x="5471041" y="2216197"/>
            <a:ext cx="638316" cy="246221"/>
          </a:xfrm>
          <a:prstGeom prst="rect">
            <a:avLst/>
          </a:prstGeom>
          <a:noFill/>
        </p:spPr>
        <p:txBody>
          <a:bodyPr wrap="none" rtlCol="0">
            <a:spAutoFit/>
          </a:bodyPr>
          <a:lstStyle/>
          <a:p>
            <a:r>
              <a:rPr lang="en-US" sz="1000" b="1" dirty="0">
                <a:solidFill>
                  <a:schemeClr val="bg1">
                    <a:lumMod val="50000"/>
                  </a:schemeClr>
                </a:solidFill>
              </a:rPr>
              <a:t>Knicely</a:t>
            </a:r>
          </a:p>
        </p:txBody>
      </p:sp>
      <p:cxnSp>
        <p:nvCxnSpPr>
          <p:cNvPr id="58" name="Straight Connector 57">
            <a:extLst>
              <a:ext uri="{FF2B5EF4-FFF2-40B4-BE49-F238E27FC236}">
                <a16:creationId xmlns:a16="http://schemas.microsoft.com/office/drawing/2014/main" id="{005EAA9E-6326-9A2C-1BF1-F1F1B0CA1964}"/>
              </a:ext>
            </a:extLst>
          </p:cNvPr>
          <p:cNvCxnSpPr/>
          <p:nvPr/>
        </p:nvCxnSpPr>
        <p:spPr>
          <a:xfrm>
            <a:off x="5471041" y="1547504"/>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6E002E3-F707-3D2A-0497-D7E253856030}"/>
              </a:ext>
            </a:extLst>
          </p:cNvPr>
          <p:cNvCxnSpPr/>
          <p:nvPr/>
        </p:nvCxnSpPr>
        <p:spPr>
          <a:xfrm>
            <a:off x="5242441" y="2407031"/>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160346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6D07338-EBD4-07CB-2B77-930FB5917F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E453B85-A73C-7F6D-09F7-90EE9C9B4B20}"/>
              </a:ext>
            </a:extLst>
          </p:cNvPr>
          <p:cNvPicPr>
            <a:picLocks noChangeAspect="1"/>
          </p:cNvPicPr>
          <p:nvPr/>
        </p:nvPicPr>
        <p:blipFill>
          <a:blip r:embed="rId3"/>
          <a:stretch>
            <a:fillRect/>
          </a:stretch>
        </p:blipFill>
        <p:spPr>
          <a:xfrm>
            <a:off x="432495" y="1240531"/>
            <a:ext cx="1521479" cy="1606672"/>
          </a:xfrm>
          <a:prstGeom prst="rect">
            <a:avLst/>
          </a:prstGeom>
        </p:spPr>
      </p:pic>
      <p:sp>
        <p:nvSpPr>
          <p:cNvPr id="5" name="Google Shape;242;p56">
            <a:extLst>
              <a:ext uri="{FF2B5EF4-FFF2-40B4-BE49-F238E27FC236}">
                <a16:creationId xmlns:a16="http://schemas.microsoft.com/office/drawing/2014/main" id="{C6EC9187-1224-B137-76D3-0EA9F3EA9110}"/>
              </a:ext>
            </a:extLst>
          </p:cNvPr>
          <p:cNvSpPr txBox="1">
            <a:spLocks/>
          </p:cNvSpPr>
          <p:nvPr/>
        </p:nvSpPr>
        <p:spPr>
          <a:xfrm>
            <a:off x="460849" y="1561512"/>
            <a:ext cx="1604461"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col2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Unique index </a:t>
            </a:r>
          </a:p>
          <a:p>
            <a:r>
              <a:rPr lang="en-US" sz="1400" dirty="0">
                <a:solidFill>
                  <a:schemeClr val="bg1"/>
                </a:solidFill>
                <a:latin typeface="Lato"/>
                <a:ea typeface="Lato"/>
                <a:cs typeface="Lato"/>
                <a:sym typeface="Lato"/>
              </a:rPr>
              <a:t>      (col1, col2)</a:t>
            </a:r>
          </a:p>
        </p:txBody>
      </p:sp>
      <p:pic>
        <p:nvPicPr>
          <p:cNvPr id="6" name="Picture 5">
            <a:extLst>
              <a:ext uri="{FF2B5EF4-FFF2-40B4-BE49-F238E27FC236}">
                <a16:creationId xmlns:a16="http://schemas.microsoft.com/office/drawing/2014/main" id="{9E5874F8-1FD1-CDFD-C971-AEE57D340C00}"/>
              </a:ext>
            </a:extLst>
          </p:cNvPr>
          <p:cNvPicPr>
            <a:picLocks noChangeAspect="1"/>
          </p:cNvPicPr>
          <p:nvPr/>
        </p:nvPicPr>
        <p:blipFill>
          <a:blip r:embed="rId3"/>
          <a:stretch>
            <a:fillRect/>
          </a:stretch>
        </p:blipFill>
        <p:spPr>
          <a:xfrm>
            <a:off x="2988290" y="2787866"/>
            <a:ext cx="1628181" cy="1945531"/>
          </a:xfrm>
          <a:prstGeom prst="rect">
            <a:avLst/>
          </a:prstGeom>
        </p:spPr>
      </p:pic>
      <p:sp>
        <p:nvSpPr>
          <p:cNvPr id="7" name="Google Shape;242;p56">
            <a:extLst>
              <a:ext uri="{FF2B5EF4-FFF2-40B4-BE49-F238E27FC236}">
                <a16:creationId xmlns:a16="http://schemas.microsoft.com/office/drawing/2014/main" id="{EC8D3BC8-D29E-F19E-8EC1-2071B84EA35F}"/>
              </a:ext>
            </a:extLst>
          </p:cNvPr>
          <p:cNvSpPr txBox="1">
            <a:spLocks/>
          </p:cNvSpPr>
          <p:nvPr/>
        </p:nvSpPr>
        <p:spPr>
          <a:xfrm>
            <a:off x="3016644" y="3108847"/>
            <a:ext cx="1899307" cy="6663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col2   NUMERIC</a:t>
            </a:r>
          </a:p>
          <a:p>
            <a:r>
              <a:rPr lang="en-US" sz="1400" dirty="0">
                <a:solidFill>
                  <a:schemeClr val="bg1"/>
                </a:solidFill>
                <a:latin typeface="Lato"/>
                <a:ea typeface="Lato"/>
                <a:cs typeface="Lato"/>
                <a:sym typeface="Lato"/>
              </a:rPr>
              <a:t>col3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Duplicate index </a:t>
            </a:r>
          </a:p>
          <a:p>
            <a:r>
              <a:rPr lang="en-US" sz="1400" dirty="0">
                <a:solidFill>
                  <a:schemeClr val="bg1"/>
                </a:solidFill>
                <a:latin typeface="Lato"/>
                <a:ea typeface="Lato"/>
                <a:cs typeface="Lato"/>
                <a:sym typeface="Lato"/>
              </a:rPr>
              <a:t>      (col1, col2, col3)</a:t>
            </a:r>
          </a:p>
        </p:txBody>
      </p:sp>
      <p:sp>
        <p:nvSpPr>
          <p:cNvPr id="8" name="Oval 7">
            <a:extLst>
              <a:ext uri="{FF2B5EF4-FFF2-40B4-BE49-F238E27FC236}">
                <a16:creationId xmlns:a16="http://schemas.microsoft.com/office/drawing/2014/main" id="{1D1A1E6B-98D3-4576-0063-593D3275761E}"/>
              </a:ext>
            </a:extLst>
          </p:cNvPr>
          <p:cNvSpPr/>
          <p:nvPr/>
        </p:nvSpPr>
        <p:spPr>
          <a:xfrm>
            <a:off x="4357745" y="4427994"/>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t2</a:t>
            </a:r>
          </a:p>
        </p:txBody>
      </p:sp>
      <p:sp>
        <p:nvSpPr>
          <p:cNvPr id="9" name="Oval 8">
            <a:extLst>
              <a:ext uri="{FF2B5EF4-FFF2-40B4-BE49-F238E27FC236}">
                <a16:creationId xmlns:a16="http://schemas.microsoft.com/office/drawing/2014/main" id="{541DA375-92F4-9177-824C-674536C3F528}"/>
              </a:ext>
            </a:extLst>
          </p:cNvPr>
          <p:cNvSpPr/>
          <p:nvPr/>
        </p:nvSpPr>
        <p:spPr>
          <a:xfrm>
            <a:off x="133015" y="2355893"/>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t1</a:t>
            </a:r>
          </a:p>
        </p:txBody>
      </p:sp>
      <p:sp>
        <p:nvSpPr>
          <p:cNvPr id="10" name="Google Shape;242;p56">
            <a:extLst>
              <a:ext uri="{FF2B5EF4-FFF2-40B4-BE49-F238E27FC236}">
                <a16:creationId xmlns:a16="http://schemas.microsoft.com/office/drawing/2014/main" id="{F6AD9664-2761-923E-5AB4-2AF6E28A69E7}"/>
              </a:ext>
            </a:extLst>
          </p:cNvPr>
          <p:cNvSpPr txBox="1">
            <a:spLocks/>
          </p:cNvSpPr>
          <p:nvPr/>
        </p:nvSpPr>
        <p:spPr>
          <a:xfrm>
            <a:off x="2016745" y="788348"/>
            <a:ext cx="2333062"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FILTER t1.col1 = LITERAL</a:t>
            </a:r>
          </a:p>
        </p:txBody>
      </p:sp>
      <p:cxnSp>
        <p:nvCxnSpPr>
          <p:cNvPr id="11" name="Straight Connector 10">
            <a:extLst>
              <a:ext uri="{FF2B5EF4-FFF2-40B4-BE49-F238E27FC236}">
                <a16:creationId xmlns:a16="http://schemas.microsoft.com/office/drawing/2014/main" id="{F32A2D85-BDC9-50AA-2517-A475CA0F7462}"/>
              </a:ext>
            </a:extLst>
          </p:cNvPr>
          <p:cNvCxnSpPr>
            <a:cxnSpLocks/>
            <a:endCxn id="12" idx="2"/>
          </p:cNvCxnSpPr>
          <p:nvPr/>
        </p:nvCxnSpPr>
        <p:spPr>
          <a:xfrm>
            <a:off x="2297483" y="1171155"/>
            <a:ext cx="7938" cy="368025"/>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BC07B0F6-C647-F456-348D-A058E09EA044}"/>
              </a:ext>
            </a:extLst>
          </p:cNvPr>
          <p:cNvSpPr/>
          <p:nvPr/>
        </p:nvSpPr>
        <p:spPr>
          <a:xfrm rot="16200000">
            <a:off x="2065488" y="1536650"/>
            <a:ext cx="479865" cy="48492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41E7012B-AD93-29E5-3F0D-A3D0497984F0}"/>
              </a:ext>
            </a:extLst>
          </p:cNvPr>
          <p:cNvCxnSpPr>
            <a:cxnSpLocks/>
          </p:cNvCxnSpPr>
          <p:nvPr/>
        </p:nvCxnSpPr>
        <p:spPr>
          <a:xfrm flipH="1">
            <a:off x="1579528" y="1772512"/>
            <a:ext cx="485782" cy="0"/>
          </a:xfrm>
          <a:prstGeom prst="line">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Google Shape;242;p56">
            <a:extLst>
              <a:ext uri="{FF2B5EF4-FFF2-40B4-BE49-F238E27FC236}">
                <a16:creationId xmlns:a16="http://schemas.microsoft.com/office/drawing/2014/main" id="{03CB07BF-DC80-656A-A5A3-4A72A874B120}"/>
              </a:ext>
            </a:extLst>
          </p:cNvPr>
          <p:cNvSpPr txBox="1">
            <a:spLocks/>
          </p:cNvSpPr>
          <p:nvPr/>
        </p:nvSpPr>
        <p:spPr>
          <a:xfrm>
            <a:off x="883238" y="3499730"/>
            <a:ext cx="1897672"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JOIN t1.col2 = t2.col1</a:t>
            </a:r>
          </a:p>
        </p:txBody>
      </p:sp>
      <p:cxnSp>
        <p:nvCxnSpPr>
          <p:cNvPr id="15" name="Straight Connector 14">
            <a:extLst>
              <a:ext uri="{FF2B5EF4-FFF2-40B4-BE49-F238E27FC236}">
                <a16:creationId xmlns:a16="http://schemas.microsoft.com/office/drawing/2014/main" id="{9E9E0D32-C6C9-ECD3-AD0D-81F1D27B5F91}"/>
              </a:ext>
            </a:extLst>
          </p:cNvPr>
          <p:cNvCxnSpPr>
            <a:cxnSpLocks/>
          </p:cNvCxnSpPr>
          <p:nvPr/>
        </p:nvCxnSpPr>
        <p:spPr>
          <a:xfrm flipH="1" flipV="1">
            <a:off x="1736651" y="1998317"/>
            <a:ext cx="484497" cy="2765"/>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86F395B-29B1-0229-5FBB-433E8D040CE0}"/>
              </a:ext>
            </a:extLst>
          </p:cNvPr>
          <p:cNvSpPr/>
          <p:nvPr/>
        </p:nvSpPr>
        <p:spPr>
          <a:xfrm>
            <a:off x="2144026" y="1619026"/>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1</a:t>
            </a:r>
          </a:p>
        </p:txBody>
      </p:sp>
      <p:sp>
        <p:nvSpPr>
          <p:cNvPr id="17" name="Arc 16">
            <a:extLst>
              <a:ext uri="{FF2B5EF4-FFF2-40B4-BE49-F238E27FC236}">
                <a16:creationId xmlns:a16="http://schemas.microsoft.com/office/drawing/2014/main" id="{73346973-FA10-5EAA-AB3C-34F5D5009A64}"/>
              </a:ext>
            </a:extLst>
          </p:cNvPr>
          <p:cNvSpPr/>
          <p:nvPr/>
        </p:nvSpPr>
        <p:spPr>
          <a:xfrm>
            <a:off x="2109091" y="1998317"/>
            <a:ext cx="223478" cy="22583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DA683A16-4672-DA27-B0EB-A468F4DAA630}"/>
              </a:ext>
            </a:extLst>
          </p:cNvPr>
          <p:cNvCxnSpPr>
            <a:cxnSpLocks/>
          </p:cNvCxnSpPr>
          <p:nvPr/>
        </p:nvCxnSpPr>
        <p:spPr>
          <a:xfrm>
            <a:off x="2335175" y="2109496"/>
            <a:ext cx="0" cy="966276"/>
          </a:xfrm>
          <a:prstGeom prst="line">
            <a:avLst/>
          </a:prstGeom>
          <a:ln w="25400">
            <a:solidFill>
              <a:srgbClr val="FFC000"/>
            </a:solidFill>
            <a:tailEnd type="none"/>
          </a:ln>
        </p:spPr>
        <p:style>
          <a:lnRef idx="1">
            <a:schemeClr val="accent1"/>
          </a:lnRef>
          <a:fillRef idx="0">
            <a:schemeClr val="accent1"/>
          </a:fillRef>
          <a:effectRef idx="0">
            <a:schemeClr val="accent1"/>
          </a:effectRef>
          <a:fontRef idx="minor">
            <a:schemeClr val="tx1"/>
          </a:fontRef>
        </p:style>
      </p:cxnSp>
      <p:sp>
        <p:nvSpPr>
          <p:cNvPr id="19" name="Arc 18">
            <a:extLst>
              <a:ext uri="{FF2B5EF4-FFF2-40B4-BE49-F238E27FC236}">
                <a16:creationId xmlns:a16="http://schemas.microsoft.com/office/drawing/2014/main" id="{827942A8-A2C1-3446-5388-4198DA369AF5}"/>
              </a:ext>
            </a:extLst>
          </p:cNvPr>
          <p:cNvSpPr/>
          <p:nvPr/>
        </p:nvSpPr>
        <p:spPr>
          <a:xfrm>
            <a:off x="2093664" y="3075772"/>
            <a:ext cx="479865" cy="48492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3B4CA57-9E1A-DB76-24B9-2C582B3B224F}"/>
              </a:ext>
            </a:extLst>
          </p:cNvPr>
          <p:cNvCxnSpPr>
            <a:cxnSpLocks/>
          </p:cNvCxnSpPr>
          <p:nvPr/>
        </p:nvCxnSpPr>
        <p:spPr>
          <a:xfrm flipH="1">
            <a:off x="2566335" y="3315976"/>
            <a:ext cx="544275" cy="0"/>
          </a:xfrm>
          <a:prstGeom prst="line">
            <a:avLst/>
          </a:prstGeom>
          <a:ln w="25400">
            <a:solidFill>
              <a:srgbClr val="FFC000"/>
            </a:solidFill>
            <a:head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E0E8717-E5D7-347A-F79A-3375CD0A21B0}"/>
              </a:ext>
            </a:extLst>
          </p:cNvPr>
          <p:cNvSpPr/>
          <p:nvPr/>
        </p:nvSpPr>
        <p:spPr>
          <a:xfrm>
            <a:off x="2179144" y="3139073"/>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2</a:t>
            </a:r>
          </a:p>
        </p:txBody>
      </p:sp>
    </p:spTree>
    <p:extLst>
      <p:ext uri="{BB962C8B-B14F-4D97-AF65-F5344CB8AC3E}">
        <p14:creationId xmlns:p14="http://schemas.microsoft.com/office/powerpoint/2010/main" val="340040407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F7C0AA9-F0FE-46D1-6446-83F902065EC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E33C719-C657-0BA0-A185-60A64A10EB0E}"/>
              </a:ext>
            </a:extLst>
          </p:cNvPr>
          <p:cNvPicPr>
            <a:picLocks noChangeAspect="1"/>
          </p:cNvPicPr>
          <p:nvPr/>
        </p:nvPicPr>
        <p:blipFill>
          <a:blip r:embed="rId3"/>
          <a:stretch>
            <a:fillRect/>
          </a:stretch>
        </p:blipFill>
        <p:spPr>
          <a:xfrm>
            <a:off x="432495" y="1240531"/>
            <a:ext cx="1521479" cy="1606672"/>
          </a:xfrm>
          <a:prstGeom prst="rect">
            <a:avLst/>
          </a:prstGeom>
        </p:spPr>
      </p:pic>
      <p:sp>
        <p:nvSpPr>
          <p:cNvPr id="5" name="Google Shape;242;p56">
            <a:extLst>
              <a:ext uri="{FF2B5EF4-FFF2-40B4-BE49-F238E27FC236}">
                <a16:creationId xmlns:a16="http://schemas.microsoft.com/office/drawing/2014/main" id="{BE145229-BA57-B3B1-A555-9C1DCEC94873}"/>
              </a:ext>
            </a:extLst>
          </p:cNvPr>
          <p:cNvSpPr txBox="1">
            <a:spLocks/>
          </p:cNvSpPr>
          <p:nvPr/>
        </p:nvSpPr>
        <p:spPr>
          <a:xfrm>
            <a:off x="460849" y="1561512"/>
            <a:ext cx="1604461"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col2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Unique index </a:t>
            </a:r>
          </a:p>
          <a:p>
            <a:r>
              <a:rPr lang="en-US" sz="1400" dirty="0">
                <a:solidFill>
                  <a:schemeClr val="bg1"/>
                </a:solidFill>
                <a:latin typeface="Lato"/>
                <a:ea typeface="Lato"/>
                <a:cs typeface="Lato"/>
                <a:sym typeface="Lato"/>
              </a:rPr>
              <a:t>      (col1, col2)</a:t>
            </a:r>
          </a:p>
        </p:txBody>
      </p:sp>
      <p:sp>
        <p:nvSpPr>
          <p:cNvPr id="9" name="Oval 8">
            <a:extLst>
              <a:ext uri="{FF2B5EF4-FFF2-40B4-BE49-F238E27FC236}">
                <a16:creationId xmlns:a16="http://schemas.microsoft.com/office/drawing/2014/main" id="{CB93EDB8-81E5-3460-EB5F-B3F956B28AD2}"/>
              </a:ext>
            </a:extLst>
          </p:cNvPr>
          <p:cNvSpPr/>
          <p:nvPr/>
        </p:nvSpPr>
        <p:spPr>
          <a:xfrm>
            <a:off x="133015" y="2355893"/>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t1</a:t>
            </a:r>
          </a:p>
        </p:txBody>
      </p:sp>
      <p:sp>
        <p:nvSpPr>
          <p:cNvPr id="10" name="Google Shape;242;p56">
            <a:extLst>
              <a:ext uri="{FF2B5EF4-FFF2-40B4-BE49-F238E27FC236}">
                <a16:creationId xmlns:a16="http://schemas.microsoft.com/office/drawing/2014/main" id="{35B93394-910C-F1E6-E211-35A357094818}"/>
              </a:ext>
            </a:extLst>
          </p:cNvPr>
          <p:cNvSpPr txBox="1">
            <a:spLocks/>
          </p:cNvSpPr>
          <p:nvPr/>
        </p:nvSpPr>
        <p:spPr>
          <a:xfrm>
            <a:off x="2016745" y="788348"/>
            <a:ext cx="2333062"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FILTER t1.col1 = LITERAL</a:t>
            </a:r>
          </a:p>
        </p:txBody>
      </p:sp>
      <p:cxnSp>
        <p:nvCxnSpPr>
          <p:cNvPr id="11" name="Straight Connector 10">
            <a:extLst>
              <a:ext uri="{FF2B5EF4-FFF2-40B4-BE49-F238E27FC236}">
                <a16:creationId xmlns:a16="http://schemas.microsoft.com/office/drawing/2014/main" id="{6AEB5032-856E-EBA5-D5C3-39860B209C6D}"/>
              </a:ext>
            </a:extLst>
          </p:cNvPr>
          <p:cNvCxnSpPr>
            <a:cxnSpLocks/>
            <a:endCxn id="12" idx="2"/>
          </p:cNvCxnSpPr>
          <p:nvPr/>
        </p:nvCxnSpPr>
        <p:spPr>
          <a:xfrm>
            <a:off x="2297483" y="1171155"/>
            <a:ext cx="7938" cy="368025"/>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87FD933F-7D11-CE13-5100-D0BDA640148E}"/>
              </a:ext>
            </a:extLst>
          </p:cNvPr>
          <p:cNvSpPr/>
          <p:nvPr/>
        </p:nvSpPr>
        <p:spPr>
          <a:xfrm rot="16200000">
            <a:off x="2065488" y="1536650"/>
            <a:ext cx="479865" cy="48492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FD44198A-CBCC-F7BA-F5DA-DB3CF6DF611A}"/>
              </a:ext>
            </a:extLst>
          </p:cNvPr>
          <p:cNvCxnSpPr>
            <a:cxnSpLocks/>
          </p:cNvCxnSpPr>
          <p:nvPr/>
        </p:nvCxnSpPr>
        <p:spPr>
          <a:xfrm flipH="1">
            <a:off x="1579528" y="1772512"/>
            <a:ext cx="485782" cy="0"/>
          </a:xfrm>
          <a:prstGeom prst="line">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4011650-D120-678E-7FFB-15A155211049}"/>
              </a:ext>
            </a:extLst>
          </p:cNvPr>
          <p:cNvCxnSpPr>
            <a:cxnSpLocks/>
          </p:cNvCxnSpPr>
          <p:nvPr/>
        </p:nvCxnSpPr>
        <p:spPr>
          <a:xfrm flipH="1">
            <a:off x="1736651" y="1998317"/>
            <a:ext cx="2308655" cy="0"/>
          </a:xfrm>
          <a:prstGeom prst="line">
            <a:avLst/>
          </a:prstGeom>
          <a:ln w="25400">
            <a:solidFill>
              <a:srgbClr val="FFC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15C7F53-A09E-4507-7BB9-73A0B384ED10}"/>
              </a:ext>
            </a:extLst>
          </p:cNvPr>
          <p:cNvSpPr/>
          <p:nvPr/>
        </p:nvSpPr>
        <p:spPr>
          <a:xfrm>
            <a:off x="2144026" y="1619026"/>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1</a:t>
            </a:r>
          </a:p>
        </p:txBody>
      </p:sp>
      <p:sp>
        <p:nvSpPr>
          <p:cNvPr id="3" name="Rectangle 2">
            <a:extLst>
              <a:ext uri="{FF2B5EF4-FFF2-40B4-BE49-F238E27FC236}">
                <a16:creationId xmlns:a16="http://schemas.microsoft.com/office/drawing/2014/main" id="{108ACA82-DBC5-9BDE-B3F7-5DE702C0951D}"/>
              </a:ext>
            </a:extLst>
          </p:cNvPr>
          <p:cNvSpPr/>
          <p:nvPr/>
        </p:nvSpPr>
        <p:spPr>
          <a:xfrm>
            <a:off x="2670048" y="1843430"/>
            <a:ext cx="671064" cy="307234"/>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98%</a:t>
            </a:r>
          </a:p>
        </p:txBody>
      </p:sp>
    </p:spTree>
    <p:extLst>
      <p:ext uri="{BB962C8B-B14F-4D97-AF65-F5344CB8AC3E}">
        <p14:creationId xmlns:p14="http://schemas.microsoft.com/office/powerpoint/2010/main" val="304579385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25" name="Group 13">
            <a:extLst>
              <a:ext uri="{FF2B5EF4-FFF2-40B4-BE49-F238E27FC236}">
                <a16:creationId xmlns:a16="http://schemas.microsoft.com/office/drawing/2014/main" id="{D65D5A4E-8C9E-1B80-5AA9-23B33E58804F}"/>
              </a:ext>
            </a:extLst>
          </p:cNvPr>
          <p:cNvGrpSpPr>
            <a:grpSpLocks/>
          </p:cNvGrpSpPr>
          <p:nvPr/>
        </p:nvGrpSpPr>
        <p:grpSpPr bwMode="auto">
          <a:xfrm>
            <a:off x="4335066" y="880244"/>
            <a:ext cx="1437084" cy="2637235"/>
            <a:chOff x="3041" y="1366"/>
            <a:chExt cx="1207" cy="2215"/>
          </a:xfrm>
        </p:grpSpPr>
        <p:sp>
          <p:nvSpPr>
            <p:cNvPr id="38920" name="Rectangle 8">
              <a:extLst>
                <a:ext uri="{FF2B5EF4-FFF2-40B4-BE49-F238E27FC236}">
                  <a16:creationId xmlns:a16="http://schemas.microsoft.com/office/drawing/2014/main" id="{34D3BEC4-B377-ABA0-D54D-56811828A642}"/>
                </a:ext>
              </a:extLst>
            </p:cNvPr>
            <p:cNvSpPr>
              <a:spLocks noChangeArrowheads="1"/>
            </p:cNvSpPr>
            <p:nvPr/>
          </p:nvSpPr>
          <p:spPr bwMode="auto">
            <a:xfrm>
              <a:off x="3066" y="1611"/>
              <a:ext cx="1182" cy="1690"/>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21" name="Rectangle 9">
              <a:extLst>
                <a:ext uri="{FF2B5EF4-FFF2-40B4-BE49-F238E27FC236}">
                  <a16:creationId xmlns:a16="http://schemas.microsoft.com/office/drawing/2014/main" id="{7660A1D3-872D-A4D4-9175-08C261C1973F}"/>
                </a:ext>
              </a:extLst>
            </p:cNvPr>
            <p:cNvSpPr>
              <a:spLocks noChangeArrowheads="1"/>
            </p:cNvSpPr>
            <p:nvPr/>
          </p:nvSpPr>
          <p:spPr bwMode="auto">
            <a:xfrm>
              <a:off x="3041" y="1532"/>
              <a:ext cx="1181" cy="1690"/>
            </a:xfrm>
            <a:prstGeom prst="rect">
              <a:avLst/>
            </a:prstGeom>
            <a:solidFill>
              <a:srgbClr val="3300A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22" name="Oval 10">
              <a:extLst>
                <a:ext uri="{FF2B5EF4-FFF2-40B4-BE49-F238E27FC236}">
                  <a16:creationId xmlns:a16="http://schemas.microsoft.com/office/drawing/2014/main" id="{A1D8D249-FCF7-5D1A-7F84-233B3BA4D327}"/>
                </a:ext>
              </a:extLst>
            </p:cNvPr>
            <p:cNvSpPr>
              <a:spLocks noChangeArrowheads="1"/>
            </p:cNvSpPr>
            <p:nvPr/>
          </p:nvSpPr>
          <p:spPr bwMode="auto">
            <a:xfrm>
              <a:off x="3066" y="3133"/>
              <a:ext cx="1182" cy="448"/>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23" name="Oval 11">
              <a:extLst>
                <a:ext uri="{FF2B5EF4-FFF2-40B4-BE49-F238E27FC236}">
                  <a16:creationId xmlns:a16="http://schemas.microsoft.com/office/drawing/2014/main" id="{E33A8BF9-8345-53E8-89DE-FFE042BED8D8}"/>
                </a:ext>
              </a:extLst>
            </p:cNvPr>
            <p:cNvSpPr>
              <a:spLocks noChangeArrowheads="1"/>
            </p:cNvSpPr>
            <p:nvPr/>
          </p:nvSpPr>
          <p:spPr bwMode="auto">
            <a:xfrm>
              <a:off x="3041" y="3059"/>
              <a:ext cx="1181" cy="449"/>
            </a:xfrm>
            <a:prstGeom prst="ellipse">
              <a:avLst/>
            </a:prstGeom>
            <a:solidFill>
              <a:srgbClr val="3300AA"/>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24" name="Oval 12">
              <a:extLst>
                <a:ext uri="{FF2B5EF4-FFF2-40B4-BE49-F238E27FC236}">
                  <a16:creationId xmlns:a16="http://schemas.microsoft.com/office/drawing/2014/main" id="{E5849884-6A5B-0B83-FAF3-1D5D999C4791}"/>
                </a:ext>
              </a:extLst>
            </p:cNvPr>
            <p:cNvSpPr>
              <a:spLocks noChangeArrowheads="1"/>
            </p:cNvSpPr>
            <p:nvPr/>
          </p:nvSpPr>
          <p:spPr bwMode="auto">
            <a:xfrm>
              <a:off x="3041" y="1366"/>
              <a:ext cx="1181" cy="334"/>
            </a:xfrm>
            <a:prstGeom prst="ellipse">
              <a:avLst/>
            </a:prstGeom>
            <a:solidFill>
              <a:srgbClr val="8955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grpSp>
      <p:sp>
        <p:nvSpPr>
          <p:cNvPr id="38926" name="Rectangle 14">
            <a:extLst>
              <a:ext uri="{FF2B5EF4-FFF2-40B4-BE49-F238E27FC236}">
                <a16:creationId xmlns:a16="http://schemas.microsoft.com/office/drawing/2014/main" id="{60FA4EDB-7ABA-5AEC-00C3-0250680B9D9C}"/>
              </a:ext>
            </a:extLst>
          </p:cNvPr>
          <p:cNvSpPr>
            <a:spLocks noChangeArrowheads="1"/>
          </p:cNvSpPr>
          <p:nvPr/>
        </p:nvSpPr>
        <p:spPr bwMode="auto">
          <a:xfrm>
            <a:off x="4588643" y="755228"/>
            <a:ext cx="365548" cy="217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r"/>
            <a:endParaRPr lang="en-US" altLang="en-US" sz="1050">
              <a:solidFill>
                <a:schemeClr val="tx2"/>
              </a:solidFill>
              <a:effectLst>
                <a:outerShdw blurRad="38100" dist="38100" dir="2700000" algn="tl">
                  <a:srgbClr val="000000"/>
                </a:outerShdw>
              </a:effectLst>
            </a:endParaRPr>
          </a:p>
          <a:p>
            <a:pPr algn="r"/>
            <a:r>
              <a:rPr lang="en-US" altLang="en-US" sz="1050">
                <a:solidFill>
                  <a:schemeClr val="tx2"/>
                </a:solidFill>
                <a:effectLst>
                  <a:outerShdw blurRad="38100" dist="38100" dir="2700000" algn="tl">
                    <a:srgbClr val="000000"/>
                  </a:outerShdw>
                </a:effectLst>
              </a:rPr>
              <a:t>89</a:t>
            </a:r>
          </a:p>
          <a:p>
            <a:pPr algn="r"/>
            <a:r>
              <a:rPr lang="en-US" altLang="en-US" sz="1050">
                <a:solidFill>
                  <a:schemeClr val="tx2"/>
                </a:solidFill>
                <a:effectLst>
                  <a:outerShdw blurRad="38100" dist="38100" dir="2700000" algn="tl">
                    <a:srgbClr val="000000"/>
                  </a:outerShdw>
                </a:effectLst>
              </a:rPr>
              <a:t>485</a:t>
            </a:r>
          </a:p>
          <a:p>
            <a:pPr algn="r"/>
            <a:r>
              <a:rPr lang="en-US" altLang="en-US" sz="1050">
                <a:solidFill>
                  <a:schemeClr val="tx2"/>
                </a:solidFill>
                <a:effectLst>
                  <a:outerShdw blurRad="38100" dist="38100" dir="2700000" algn="tl">
                    <a:srgbClr val="000000"/>
                  </a:outerShdw>
                </a:effectLst>
              </a:rPr>
              <a:t>300</a:t>
            </a:r>
          </a:p>
          <a:p>
            <a:pPr algn="r"/>
            <a:r>
              <a:rPr lang="en-US" altLang="en-US" sz="1050">
                <a:solidFill>
                  <a:schemeClr val="tx2"/>
                </a:solidFill>
                <a:effectLst>
                  <a:outerShdw blurRad="38100" dist="38100" dir="2700000" algn="tl">
                    <a:srgbClr val="000000"/>
                  </a:outerShdw>
                </a:effectLst>
              </a:rPr>
              <a:t>4</a:t>
            </a:r>
          </a:p>
          <a:p>
            <a:pPr algn="r"/>
            <a:r>
              <a:rPr lang="en-US" altLang="en-US" sz="1050">
                <a:solidFill>
                  <a:schemeClr val="tx2"/>
                </a:solidFill>
                <a:effectLst>
                  <a:outerShdw blurRad="38100" dist="38100" dir="2700000" algn="tl">
                    <a:srgbClr val="000000"/>
                  </a:outerShdw>
                </a:effectLst>
              </a:rPr>
              <a:t>505</a:t>
            </a:r>
          </a:p>
          <a:p>
            <a:pPr algn="r"/>
            <a:r>
              <a:rPr lang="en-US" altLang="en-US" sz="1050">
                <a:solidFill>
                  <a:schemeClr val="tx2"/>
                </a:solidFill>
                <a:effectLst>
                  <a:outerShdw blurRad="38100" dist="38100" dir="2700000" algn="tl">
                    <a:srgbClr val="000000"/>
                  </a:outerShdw>
                </a:effectLst>
              </a:rPr>
              <a:t>292</a:t>
            </a:r>
          </a:p>
          <a:p>
            <a:pPr algn="r"/>
            <a:r>
              <a:rPr lang="en-US" altLang="en-US" sz="1050">
                <a:solidFill>
                  <a:schemeClr val="tx2"/>
                </a:solidFill>
                <a:effectLst>
                  <a:outerShdw blurRad="38100" dist="38100" dir="2700000" algn="tl">
                    <a:srgbClr val="000000"/>
                  </a:outerShdw>
                </a:effectLst>
              </a:rPr>
              <a:t>156</a:t>
            </a:r>
          </a:p>
          <a:p>
            <a:pPr algn="r"/>
            <a:r>
              <a:rPr lang="en-US" altLang="en-US" sz="1050">
                <a:solidFill>
                  <a:schemeClr val="tx2"/>
                </a:solidFill>
                <a:effectLst>
                  <a:outerShdw blurRad="38100" dist="38100" dir="2700000" algn="tl">
                    <a:srgbClr val="000000"/>
                  </a:outerShdw>
                </a:effectLst>
              </a:rPr>
              <a:t>436</a:t>
            </a:r>
          </a:p>
          <a:p>
            <a:pPr algn="r"/>
            <a:r>
              <a:rPr lang="en-US" altLang="en-US" sz="1050">
                <a:solidFill>
                  <a:schemeClr val="tx2"/>
                </a:solidFill>
                <a:effectLst>
                  <a:outerShdw blurRad="38100" dist="38100" dir="2700000" algn="tl">
                    <a:srgbClr val="000000"/>
                  </a:outerShdw>
                </a:effectLst>
              </a:rPr>
              <a:t>476</a:t>
            </a:r>
          </a:p>
          <a:p>
            <a:pPr algn="r"/>
            <a:r>
              <a:rPr lang="en-US" altLang="en-US" sz="1050">
                <a:solidFill>
                  <a:schemeClr val="tx2"/>
                </a:solidFill>
                <a:effectLst>
                  <a:outerShdw blurRad="38100" dist="38100" dir="2700000" algn="tl">
                    <a:srgbClr val="000000"/>
                  </a:outerShdw>
                </a:effectLst>
              </a:rPr>
              <a:t>143</a:t>
            </a:r>
          </a:p>
          <a:p>
            <a:pPr algn="r"/>
            <a:r>
              <a:rPr lang="en-US" altLang="en-US" sz="1050">
                <a:solidFill>
                  <a:schemeClr val="tx2"/>
                </a:solidFill>
                <a:effectLst>
                  <a:outerShdw blurRad="38100" dist="38100" dir="2700000" algn="tl">
                    <a:srgbClr val="000000"/>
                  </a:outerShdw>
                </a:effectLst>
              </a:rPr>
              <a:t>21</a:t>
            </a:r>
          </a:p>
          <a:p>
            <a:pPr algn="r"/>
            <a:r>
              <a:rPr lang="en-US" altLang="en-US" sz="1050">
                <a:solidFill>
                  <a:schemeClr val="tx2"/>
                </a:solidFill>
                <a:effectLst>
                  <a:outerShdw blurRad="38100" dist="38100" dir="2700000" algn="tl">
                    <a:srgbClr val="000000"/>
                  </a:outerShdw>
                </a:effectLst>
              </a:rPr>
              <a:t>...</a:t>
            </a:r>
          </a:p>
        </p:txBody>
      </p:sp>
      <p:sp>
        <p:nvSpPr>
          <p:cNvPr id="38927" name="Rectangle 15">
            <a:extLst>
              <a:ext uri="{FF2B5EF4-FFF2-40B4-BE49-F238E27FC236}">
                <a16:creationId xmlns:a16="http://schemas.microsoft.com/office/drawing/2014/main" id="{3C29A269-DDFA-A1C5-1CF8-72E108A6431D}"/>
              </a:ext>
            </a:extLst>
          </p:cNvPr>
          <p:cNvSpPr>
            <a:spLocks noChangeArrowheads="1"/>
          </p:cNvSpPr>
          <p:nvPr/>
        </p:nvSpPr>
        <p:spPr bwMode="auto">
          <a:xfrm>
            <a:off x="914400" y="2684041"/>
            <a:ext cx="740569" cy="470298"/>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28" name="Line 16">
            <a:extLst>
              <a:ext uri="{FF2B5EF4-FFF2-40B4-BE49-F238E27FC236}">
                <a16:creationId xmlns:a16="http://schemas.microsoft.com/office/drawing/2014/main" id="{756C787D-7285-F1EB-6D38-B170FFFC1769}"/>
              </a:ext>
            </a:extLst>
          </p:cNvPr>
          <p:cNvSpPr>
            <a:spLocks noChangeShapeType="1"/>
          </p:cNvSpPr>
          <p:nvPr/>
        </p:nvSpPr>
        <p:spPr bwMode="auto">
          <a:xfrm>
            <a:off x="917972" y="2792388"/>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29" name="Line 17">
            <a:extLst>
              <a:ext uri="{FF2B5EF4-FFF2-40B4-BE49-F238E27FC236}">
                <a16:creationId xmlns:a16="http://schemas.microsoft.com/office/drawing/2014/main" id="{E74D51F6-01B2-F8C6-0C9E-AC3D698A9525}"/>
              </a:ext>
            </a:extLst>
          </p:cNvPr>
          <p:cNvSpPr>
            <a:spLocks noChangeShapeType="1"/>
          </p:cNvSpPr>
          <p:nvPr/>
        </p:nvSpPr>
        <p:spPr bwMode="auto">
          <a:xfrm>
            <a:off x="917972" y="2919785"/>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30" name="Line 18">
            <a:extLst>
              <a:ext uri="{FF2B5EF4-FFF2-40B4-BE49-F238E27FC236}">
                <a16:creationId xmlns:a16="http://schemas.microsoft.com/office/drawing/2014/main" id="{11483B95-6D16-849A-95A4-6B25A347D8CC}"/>
              </a:ext>
            </a:extLst>
          </p:cNvPr>
          <p:cNvSpPr>
            <a:spLocks noChangeShapeType="1"/>
          </p:cNvSpPr>
          <p:nvPr/>
        </p:nvSpPr>
        <p:spPr bwMode="auto">
          <a:xfrm>
            <a:off x="917972" y="3061469"/>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31" name="Line 19">
            <a:extLst>
              <a:ext uri="{FF2B5EF4-FFF2-40B4-BE49-F238E27FC236}">
                <a16:creationId xmlns:a16="http://schemas.microsoft.com/office/drawing/2014/main" id="{0F3D71DE-F46F-24F0-906C-9DD892FE3D8F}"/>
              </a:ext>
            </a:extLst>
          </p:cNvPr>
          <p:cNvSpPr>
            <a:spLocks noChangeShapeType="1"/>
          </p:cNvSpPr>
          <p:nvPr/>
        </p:nvSpPr>
        <p:spPr bwMode="auto">
          <a:xfrm>
            <a:off x="1497806" y="2686422"/>
            <a:ext cx="0" cy="478632"/>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32" name="Rectangle 20">
            <a:extLst>
              <a:ext uri="{FF2B5EF4-FFF2-40B4-BE49-F238E27FC236}">
                <a16:creationId xmlns:a16="http://schemas.microsoft.com/office/drawing/2014/main" id="{71647DA6-E4B8-B3E8-B1BA-669B548CC72A}"/>
              </a:ext>
            </a:extLst>
          </p:cNvPr>
          <p:cNvSpPr>
            <a:spLocks noChangeArrowheads="1"/>
          </p:cNvSpPr>
          <p:nvPr/>
        </p:nvSpPr>
        <p:spPr bwMode="auto">
          <a:xfrm>
            <a:off x="1003697" y="2559025"/>
            <a:ext cx="53578" cy="115491"/>
          </a:xfrm>
          <a:prstGeom prst="rect">
            <a:avLst/>
          </a:prstGeom>
          <a:solidFill>
            <a:srgbClr val="00B0F0"/>
          </a:solidFill>
          <a:ln w="12700">
            <a:solidFill>
              <a:schemeClr val="bg2"/>
            </a:solidFill>
            <a:miter lim="800000"/>
            <a:headEnd/>
            <a:tailEnd/>
          </a:ln>
          <a:effectLst/>
        </p:spPr>
        <p:txBody>
          <a:bodyPr wrap="none" anchor="ctr"/>
          <a:lstStyle/>
          <a:p>
            <a:endParaRPr lang="en-US" sz="1050"/>
          </a:p>
        </p:txBody>
      </p:sp>
      <p:sp>
        <p:nvSpPr>
          <p:cNvPr id="38934" name="Rectangle 22">
            <a:extLst>
              <a:ext uri="{FF2B5EF4-FFF2-40B4-BE49-F238E27FC236}">
                <a16:creationId xmlns:a16="http://schemas.microsoft.com/office/drawing/2014/main" id="{25199969-E70C-2968-4906-50B6FFC56183}"/>
              </a:ext>
            </a:extLst>
          </p:cNvPr>
          <p:cNvSpPr>
            <a:spLocks noChangeArrowheads="1"/>
          </p:cNvSpPr>
          <p:nvPr/>
        </p:nvSpPr>
        <p:spPr bwMode="auto">
          <a:xfrm>
            <a:off x="1027509" y="2667372"/>
            <a:ext cx="290513" cy="494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89</a:t>
            </a:r>
          </a:p>
        </p:txBody>
      </p:sp>
      <p:sp>
        <p:nvSpPr>
          <p:cNvPr id="38936" name="Rectangle 24">
            <a:extLst>
              <a:ext uri="{FF2B5EF4-FFF2-40B4-BE49-F238E27FC236}">
                <a16:creationId xmlns:a16="http://schemas.microsoft.com/office/drawing/2014/main" id="{2BA4EA68-F235-B759-B0AA-2E097B796C51}"/>
              </a:ext>
            </a:extLst>
          </p:cNvPr>
          <p:cNvSpPr>
            <a:spLocks noChangeArrowheads="1"/>
          </p:cNvSpPr>
          <p:nvPr/>
        </p:nvSpPr>
        <p:spPr bwMode="auto">
          <a:xfrm>
            <a:off x="1988344" y="3004320"/>
            <a:ext cx="740569" cy="470297"/>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37" name="Line 25">
            <a:extLst>
              <a:ext uri="{FF2B5EF4-FFF2-40B4-BE49-F238E27FC236}">
                <a16:creationId xmlns:a16="http://schemas.microsoft.com/office/drawing/2014/main" id="{6EB4E5EB-C42F-825E-3A96-B626649F59D7}"/>
              </a:ext>
            </a:extLst>
          </p:cNvPr>
          <p:cNvSpPr>
            <a:spLocks noChangeShapeType="1"/>
          </p:cNvSpPr>
          <p:nvPr/>
        </p:nvSpPr>
        <p:spPr bwMode="auto">
          <a:xfrm>
            <a:off x="1991916" y="3112666"/>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38" name="Line 26">
            <a:extLst>
              <a:ext uri="{FF2B5EF4-FFF2-40B4-BE49-F238E27FC236}">
                <a16:creationId xmlns:a16="http://schemas.microsoft.com/office/drawing/2014/main" id="{55AD46B0-87F3-9F71-D130-5EE1D8A501B9}"/>
              </a:ext>
            </a:extLst>
          </p:cNvPr>
          <p:cNvSpPr>
            <a:spLocks noChangeShapeType="1"/>
          </p:cNvSpPr>
          <p:nvPr/>
        </p:nvSpPr>
        <p:spPr bwMode="auto">
          <a:xfrm>
            <a:off x="1991916" y="3240063"/>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39" name="Line 27">
            <a:extLst>
              <a:ext uri="{FF2B5EF4-FFF2-40B4-BE49-F238E27FC236}">
                <a16:creationId xmlns:a16="http://schemas.microsoft.com/office/drawing/2014/main" id="{94041C6A-62F1-E26A-CF9F-093EBF86A6A8}"/>
              </a:ext>
            </a:extLst>
          </p:cNvPr>
          <p:cNvSpPr>
            <a:spLocks noChangeShapeType="1"/>
          </p:cNvSpPr>
          <p:nvPr/>
        </p:nvSpPr>
        <p:spPr bwMode="auto">
          <a:xfrm>
            <a:off x="1991916" y="3381748"/>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40" name="Line 28">
            <a:extLst>
              <a:ext uri="{FF2B5EF4-FFF2-40B4-BE49-F238E27FC236}">
                <a16:creationId xmlns:a16="http://schemas.microsoft.com/office/drawing/2014/main" id="{B7F892DD-83FC-E34B-5876-03539960E257}"/>
              </a:ext>
            </a:extLst>
          </p:cNvPr>
          <p:cNvSpPr>
            <a:spLocks noChangeShapeType="1"/>
          </p:cNvSpPr>
          <p:nvPr/>
        </p:nvSpPr>
        <p:spPr bwMode="auto">
          <a:xfrm>
            <a:off x="2571750" y="3006701"/>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41" name="Rectangle 29">
            <a:extLst>
              <a:ext uri="{FF2B5EF4-FFF2-40B4-BE49-F238E27FC236}">
                <a16:creationId xmlns:a16="http://schemas.microsoft.com/office/drawing/2014/main" id="{E8ACB6A7-7563-F8D2-2331-051284F8AD97}"/>
              </a:ext>
            </a:extLst>
          </p:cNvPr>
          <p:cNvSpPr>
            <a:spLocks noChangeArrowheads="1"/>
          </p:cNvSpPr>
          <p:nvPr/>
        </p:nvSpPr>
        <p:spPr bwMode="auto">
          <a:xfrm>
            <a:off x="2077641" y="2879304"/>
            <a:ext cx="53578" cy="115491"/>
          </a:xfrm>
          <a:prstGeom prst="rect">
            <a:avLst/>
          </a:prstGeom>
          <a:solidFill>
            <a:srgbClr val="00B0F0"/>
          </a:solidFill>
          <a:ln w="12700">
            <a:solidFill>
              <a:schemeClr val="bg2"/>
            </a:solidFill>
            <a:miter lim="800000"/>
            <a:headEnd/>
            <a:tailEnd/>
          </a:ln>
          <a:effectLst/>
        </p:spPr>
        <p:txBody>
          <a:bodyPr wrap="none" anchor="ctr"/>
          <a:lstStyle/>
          <a:p>
            <a:endParaRPr lang="en-US" sz="1050"/>
          </a:p>
        </p:txBody>
      </p:sp>
      <p:sp>
        <p:nvSpPr>
          <p:cNvPr id="38943" name="Rectangle 31">
            <a:extLst>
              <a:ext uri="{FF2B5EF4-FFF2-40B4-BE49-F238E27FC236}">
                <a16:creationId xmlns:a16="http://schemas.microsoft.com/office/drawing/2014/main" id="{75A7CA92-B25A-C4CE-4A2E-336641EB71E9}"/>
              </a:ext>
            </a:extLst>
          </p:cNvPr>
          <p:cNvSpPr>
            <a:spLocks noChangeArrowheads="1"/>
          </p:cNvSpPr>
          <p:nvPr/>
        </p:nvSpPr>
        <p:spPr bwMode="auto">
          <a:xfrm>
            <a:off x="2101453" y="2987651"/>
            <a:ext cx="290513"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89</a:t>
            </a:r>
          </a:p>
          <a:p>
            <a:pPr algn="ctr">
              <a:lnSpc>
                <a:spcPct val="65000"/>
              </a:lnSpc>
            </a:pPr>
            <a:r>
              <a:rPr lang="en-US" altLang="en-US" sz="1050">
                <a:solidFill>
                  <a:schemeClr val="tx1"/>
                </a:solidFill>
                <a:effectLst>
                  <a:outerShdw blurRad="38100" dist="38100" dir="2700000" algn="tl">
                    <a:srgbClr val="000000"/>
                  </a:outerShdw>
                </a:effectLst>
              </a:rPr>
              <a:t>55</a:t>
            </a:r>
          </a:p>
          <a:p>
            <a:pPr algn="ctr">
              <a:lnSpc>
                <a:spcPct val="65000"/>
              </a:lnSpc>
            </a:pPr>
            <a:r>
              <a:rPr lang="en-US" altLang="en-US" sz="1050">
                <a:solidFill>
                  <a:schemeClr val="tx1"/>
                </a:solidFill>
                <a:effectLst>
                  <a:outerShdw blurRad="38100" dist="38100" dir="2700000" algn="tl">
                    <a:srgbClr val="000000"/>
                  </a:outerShdw>
                </a:effectLst>
              </a:rPr>
              <a:t>21</a:t>
            </a:r>
          </a:p>
        </p:txBody>
      </p:sp>
      <p:sp>
        <p:nvSpPr>
          <p:cNvPr id="38945" name="Rectangle 33">
            <a:extLst>
              <a:ext uri="{FF2B5EF4-FFF2-40B4-BE49-F238E27FC236}">
                <a16:creationId xmlns:a16="http://schemas.microsoft.com/office/drawing/2014/main" id="{931F2618-9612-F8E2-6D30-97DF71993F44}"/>
              </a:ext>
            </a:extLst>
          </p:cNvPr>
          <p:cNvSpPr>
            <a:spLocks noChangeArrowheads="1"/>
          </p:cNvSpPr>
          <p:nvPr/>
        </p:nvSpPr>
        <p:spPr bwMode="auto">
          <a:xfrm>
            <a:off x="2000250" y="2294707"/>
            <a:ext cx="740569" cy="470297"/>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46" name="Line 34">
            <a:extLst>
              <a:ext uri="{FF2B5EF4-FFF2-40B4-BE49-F238E27FC236}">
                <a16:creationId xmlns:a16="http://schemas.microsoft.com/office/drawing/2014/main" id="{86F94A2E-C868-422C-B907-0126B6D419F1}"/>
              </a:ext>
            </a:extLst>
          </p:cNvPr>
          <p:cNvSpPr>
            <a:spLocks noChangeShapeType="1"/>
          </p:cNvSpPr>
          <p:nvPr/>
        </p:nvSpPr>
        <p:spPr bwMode="auto">
          <a:xfrm>
            <a:off x="2003822" y="2403053"/>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47" name="Line 35">
            <a:extLst>
              <a:ext uri="{FF2B5EF4-FFF2-40B4-BE49-F238E27FC236}">
                <a16:creationId xmlns:a16="http://schemas.microsoft.com/office/drawing/2014/main" id="{5F7854F1-73E7-F98D-3AE4-CD59984DA399}"/>
              </a:ext>
            </a:extLst>
          </p:cNvPr>
          <p:cNvSpPr>
            <a:spLocks noChangeShapeType="1"/>
          </p:cNvSpPr>
          <p:nvPr/>
        </p:nvSpPr>
        <p:spPr bwMode="auto">
          <a:xfrm>
            <a:off x="2003822" y="2530450"/>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48" name="Line 36">
            <a:extLst>
              <a:ext uri="{FF2B5EF4-FFF2-40B4-BE49-F238E27FC236}">
                <a16:creationId xmlns:a16="http://schemas.microsoft.com/office/drawing/2014/main" id="{352E5E92-C588-21A6-E1CE-F0376F050F22}"/>
              </a:ext>
            </a:extLst>
          </p:cNvPr>
          <p:cNvSpPr>
            <a:spLocks noChangeShapeType="1"/>
          </p:cNvSpPr>
          <p:nvPr/>
        </p:nvSpPr>
        <p:spPr bwMode="auto">
          <a:xfrm>
            <a:off x="2003822" y="2672135"/>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49" name="Line 37">
            <a:extLst>
              <a:ext uri="{FF2B5EF4-FFF2-40B4-BE49-F238E27FC236}">
                <a16:creationId xmlns:a16="http://schemas.microsoft.com/office/drawing/2014/main" id="{EA986B9D-C707-5DDA-A486-F10F4368C077}"/>
              </a:ext>
            </a:extLst>
          </p:cNvPr>
          <p:cNvSpPr>
            <a:spLocks noChangeShapeType="1"/>
          </p:cNvSpPr>
          <p:nvPr/>
        </p:nvSpPr>
        <p:spPr bwMode="auto">
          <a:xfrm>
            <a:off x="2583656" y="2297088"/>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50" name="Rectangle 38">
            <a:extLst>
              <a:ext uri="{FF2B5EF4-FFF2-40B4-BE49-F238E27FC236}">
                <a16:creationId xmlns:a16="http://schemas.microsoft.com/office/drawing/2014/main" id="{55C53870-4D38-4961-98F0-9B883D4B1680}"/>
              </a:ext>
            </a:extLst>
          </p:cNvPr>
          <p:cNvSpPr>
            <a:spLocks noChangeArrowheads="1"/>
          </p:cNvSpPr>
          <p:nvPr/>
        </p:nvSpPr>
        <p:spPr bwMode="auto">
          <a:xfrm>
            <a:off x="2089547" y="2169691"/>
            <a:ext cx="53578" cy="115491"/>
          </a:xfrm>
          <a:prstGeom prst="rect">
            <a:avLst/>
          </a:prstGeom>
          <a:solidFill>
            <a:srgbClr val="00B0F0"/>
          </a:solidFill>
          <a:ln w="12700">
            <a:solidFill>
              <a:schemeClr val="bg2"/>
            </a:solidFill>
            <a:miter lim="800000"/>
            <a:headEnd/>
            <a:tailEnd/>
          </a:ln>
          <a:effectLst/>
        </p:spPr>
        <p:txBody>
          <a:bodyPr wrap="none" anchor="ctr"/>
          <a:lstStyle/>
          <a:p>
            <a:endParaRPr lang="en-US" sz="1050"/>
          </a:p>
        </p:txBody>
      </p:sp>
      <p:sp>
        <p:nvSpPr>
          <p:cNvPr id="38952" name="Rectangle 40">
            <a:extLst>
              <a:ext uri="{FF2B5EF4-FFF2-40B4-BE49-F238E27FC236}">
                <a16:creationId xmlns:a16="http://schemas.microsoft.com/office/drawing/2014/main" id="{60E38068-8694-E44F-B68B-53CE88C2A14E}"/>
              </a:ext>
            </a:extLst>
          </p:cNvPr>
          <p:cNvSpPr>
            <a:spLocks noChangeArrowheads="1"/>
          </p:cNvSpPr>
          <p:nvPr/>
        </p:nvSpPr>
        <p:spPr bwMode="auto">
          <a:xfrm>
            <a:off x="2076450" y="2278038"/>
            <a:ext cx="365522"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485</a:t>
            </a:r>
          </a:p>
          <a:p>
            <a:pPr algn="ctr">
              <a:lnSpc>
                <a:spcPct val="65000"/>
              </a:lnSpc>
            </a:pPr>
            <a:r>
              <a:rPr lang="en-US" altLang="en-US" sz="1050">
                <a:solidFill>
                  <a:schemeClr val="tx1"/>
                </a:solidFill>
                <a:effectLst>
                  <a:outerShdw blurRad="38100" dist="38100" dir="2700000" algn="tl">
                    <a:srgbClr val="000000"/>
                  </a:outerShdw>
                </a:effectLst>
              </a:rPr>
              <a:t>376</a:t>
            </a:r>
          </a:p>
          <a:p>
            <a:pPr algn="ctr">
              <a:lnSpc>
                <a:spcPct val="65000"/>
              </a:lnSpc>
            </a:pPr>
            <a:r>
              <a:rPr lang="en-US" altLang="en-US" sz="1050">
                <a:solidFill>
                  <a:schemeClr val="tx1"/>
                </a:solidFill>
                <a:effectLst>
                  <a:outerShdw blurRad="38100" dist="38100" dir="2700000" algn="tl">
                    <a:srgbClr val="000000"/>
                  </a:outerShdw>
                </a:effectLst>
              </a:rPr>
              <a:t>292</a:t>
            </a:r>
          </a:p>
          <a:p>
            <a:pPr algn="ctr">
              <a:lnSpc>
                <a:spcPct val="65000"/>
              </a:lnSpc>
            </a:pPr>
            <a:r>
              <a:rPr lang="en-US" altLang="en-US" sz="1050">
                <a:solidFill>
                  <a:schemeClr val="tx1"/>
                </a:solidFill>
                <a:effectLst>
                  <a:outerShdw blurRad="38100" dist="38100" dir="2700000" algn="tl">
                    <a:srgbClr val="000000"/>
                  </a:outerShdw>
                </a:effectLst>
              </a:rPr>
              <a:t>180</a:t>
            </a:r>
          </a:p>
        </p:txBody>
      </p:sp>
      <p:sp>
        <p:nvSpPr>
          <p:cNvPr id="38954" name="Rectangle 42">
            <a:extLst>
              <a:ext uri="{FF2B5EF4-FFF2-40B4-BE49-F238E27FC236}">
                <a16:creationId xmlns:a16="http://schemas.microsoft.com/office/drawing/2014/main" id="{A056AB43-C512-CB43-EA12-1B562E1DA3AA}"/>
              </a:ext>
            </a:extLst>
          </p:cNvPr>
          <p:cNvSpPr>
            <a:spLocks noChangeArrowheads="1"/>
          </p:cNvSpPr>
          <p:nvPr/>
        </p:nvSpPr>
        <p:spPr bwMode="auto">
          <a:xfrm>
            <a:off x="3223022" y="712367"/>
            <a:ext cx="740569" cy="470296"/>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55" name="Line 43">
            <a:extLst>
              <a:ext uri="{FF2B5EF4-FFF2-40B4-BE49-F238E27FC236}">
                <a16:creationId xmlns:a16="http://schemas.microsoft.com/office/drawing/2014/main" id="{A67D8A21-A1B6-BD13-726B-DA5A71402A85}"/>
              </a:ext>
            </a:extLst>
          </p:cNvPr>
          <p:cNvSpPr>
            <a:spLocks noChangeShapeType="1"/>
          </p:cNvSpPr>
          <p:nvPr/>
        </p:nvSpPr>
        <p:spPr bwMode="auto">
          <a:xfrm>
            <a:off x="3226594" y="820714"/>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56" name="Line 44">
            <a:extLst>
              <a:ext uri="{FF2B5EF4-FFF2-40B4-BE49-F238E27FC236}">
                <a16:creationId xmlns:a16="http://schemas.microsoft.com/office/drawing/2014/main" id="{33662838-0C0B-911A-3B6B-9B1465EC50F9}"/>
              </a:ext>
            </a:extLst>
          </p:cNvPr>
          <p:cNvSpPr>
            <a:spLocks noChangeShapeType="1"/>
          </p:cNvSpPr>
          <p:nvPr/>
        </p:nvSpPr>
        <p:spPr bwMode="auto">
          <a:xfrm>
            <a:off x="3226594" y="948111"/>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57" name="Line 45">
            <a:extLst>
              <a:ext uri="{FF2B5EF4-FFF2-40B4-BE49-F238E27FC236}">
                <a16:creationId xmlns:a16="http://schemas.microsoft.com/office/drawing/2014/main" id="{19CA06AE-049A-2301-2E6D-27571CEAFB9C}"/>
              </a:ext>
            </a:extLst>
          </p:cNvPr>
          <p:cNvSpPr>
            <a:spLocks noChangeShapeType="1"/>
          </p:cNvSpPr>
          <p:nvPr/>
        </p:nvSpPr>
        <p:spPr bwMode="auto">
          <a:xfrm>
            <a:off x="3226594" y="1089795"/>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58" name="Line 46">
            <a:extLst>
              <a:ext uri="{FF2B5EF4-FFF2-40B4-BE49-F238E27FC236}">
                <a16:creationId xmlns:a16="http://schemas.microsoft.com/office/drawing/2014/main" id="{75882A0B-1478-37FF-D11B-17DD7AF7B0B3}"/>
              </a:ext>
            </a:extLst>
          </p:cNvPr>
          <p:cNvSpPr>
            <a:spLocks noChangeShapeType="1"/>
          </p:cNvSpPr>
          <p:nvPr/>
        </p:nvSpPr>
        <p:spPr bwMode="auto">
          <a:xfrm>
            <a:off x="3806428" y="714748"/>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60" name="Rectangle 48">
            <a:extLst>
              <a:ext uri="{FF2B5EF4-FFF2-40B4-BE49-F238E27FC236}">
                <a16:creationId xmlns:a16="http://schemas.microsoft.com/office/drawing/2014/main" id="{6B54429E-6AB7-22F4-E820-6B4F653FB4B5}"/>
              </a:ext>
            </a:extLst>
          </p:cNvPr>
          <p:cNvSpPr>
            <a:spLocks noChangeArrowheads="1"/>
          </p:cNvSpPr>
          <p:nvPr/>
        </p:nvSpPr>
        <p:spPr bwMode="auto">
          <a:xfrm>
            <a:off x="3298031" y="695698"/>
            <a:ext cx="365522"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505</a:t>
            </a:r>
          </a:p>
          <a:p>
            <a:pPr algn="ctr">
              <a:lnSpc>
                <a:spcPct val="65000"/>
              </a:lnSpc>
            </a:pPr>
            <a:r>
              <a:rPr lang="en-US" altLang="en-US" sz="1050">
                <a:solidFill>
                  <a:schemeClr val="tx1"/>
                </a:solidFill>
                <a:effectLst>
                  <a:outerShdw blurRad="38100" dist="38100" dir="2700000" algn="tl">
                    <a:srgbClr val="000000"/>
                  </a:outerShdw>
                </a:effectLst>
              </a:rPr>
              <a:t>490</a:t>
            </a:r>
          </a:p>
          <a:p>
            <a:pPr algn="ctr">
              <a:lnSpc>
                <a:spcPct val="65000"/>
              </a:lnSpc>
            </a:pPr>
            <a:r>
              <a:rPr lang="en-US" altLang="en-US" sz="1050">
                <a:solidFill>
                  <a:schemeClr val="tx1"/>
                </a:solidFill>
                <a:effectLst>
                  <a:outerShdw blurRad="38100" dist="38100" dir="2700000" algn="tl">
                    <a:srgbClr val="000000"/>
                  </a:outerShdw>
                </a:effectLst>
              </a:rPr>
              <a:t>487</a:t>
            </a:r>
          </a:p>
        </p:txBody>
      </p:sp>
      <p:sp>
        <p:nvSpPr>
          <p:cNvPr id="38962" name="Rectangle 50">
            <a:extLst>
              <a:ext uri="{FF2B5EF4-FFF2-40B4-BE49-F238E27FC236}">
                <a16:creationId xmlns:a16="http://schemas.microsoft.com/office/drawing/2014/main" id="{88527D7F-9D37-1FD5-6821-28D2BA693F97}"/>
              </a:ext>
            </a:extLst>
          </p:cNvPr>
          <p:cNvSpPr>
            <a:spLocks noChangeArrowheads="1"/>
          </p:cNvSpPr>
          <p:nvPr/>
        </p:nvSpPr>
        <p:spPr bwMode="auto">
          <a:xfrm>
            <a:off x="3223022" y="1262436"/>
            <a:ext cx="740569" cy="470296"/>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63" name="Line 51">
            <a:extLst>
              <a:ext uri="{FF2B5EF4-FFF2-40B4-BE49-F238E27FC236}">
                <a16:creationId xmlns:a16="http://schemas.microsoft.com/office/drawing/2014/main" id="{D0DCB83F-C573-3ED7-A727-9FF7D5828F40}"/>
              </a:ext>
            </a:extLst>
          </p:cNvPr>
          <p:cNvSpPr>
            <a:spLocks noChangeShapeType="1"/>
          </p:cNvSpPr>
          <p:nvPr/>
        </p:nvSpPr>
        <p:spPr bwMode="auto">
          <a:xfrm>
            <a:off x="3226594" y="1370783"/>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64" name="Line 52">
            <a:extLst>
              <a:ext uri="{FF2B5EF4-FFF2-40B4-BE49-F238E27FC236}">
                <a16:creationId xmlns:a16="http://schemas.microsoft.com/office/drawing/2014/main" id="{9999705E-30B9-2B07-D405-441407446085}"/>
              </a:ext>
            </a:extLst>
          </p:cNvPr>
          <p:cNvSpPr>
            <a:spLocks noChangeShapeType="1"/>
          </p:cNvSpPr>
          <p:nvPr/>
        </p:nvSpPr>
        <p:spPr bwMode="auto">
          <a:xfrm>
            <a:off x="3226594" y="1498180"/>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65" name="Line 53">
            <a:extLst>
              <a:ext uri="{FF2B5EF4-FFF2-40B4-BE49-F238E27FC236}">
                <a16:creationId xmlns:a16="http://schemas.microsoft.com/office/drawing/2014/main" id="{A811615B-3BD9-FCA7-850F-24B0DEDBD8F3}"/>
              </a:ext>
            </a:extLst>
          </p:cNvPr>
          <p:cNvSpPr>
            <a:spLocks noChangeShapeType="1"/>
          </p:cNvSpPr>
          <p:nvPr/>
        </p:nvSpPr>
        <p:spPr bwMode="auto">
          <a:xfrm>
            <a:off x="3226594" y="1639864"/>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66" name="Line 54">
            <a:extLst>
              <a:ext uri="{FF2B5EF4-FFF2-40B4-BE49-F238E27FC236}">
                <a16:creationId xmlns:a16="http://schemas.microsoft.com/office/drawing/2014/main" id="{4931942E-928E-CB67-6316-CF83435123EC}"/>
              </a:ext>
            </a:extLst>
          </p:cNvPr>
          <p:cNvSpPr>
            <a:spLocks noChangeShapeType="1"/>
          </p:cNvSpPr>
          <p:nvPr/>
        </p:nvSpPr>
        <p:spPr bwMode="auto">
          <a:xfrm>
            <a:off x="3806428" y="1264817"/>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68" name="Rectangle 56">
            <a:extLst>
              <a:ext uri="{FF2B5EF4-FFF2-40B4-BE49-F238E27FC236}">
                <a16:creationId xmlns:a16="http://schemas.microsoft.com/office/drawing/2014/main" id="{7AEB38B3-ACF6-96D3-8CEA-ECF832AC4970}"/>
              </a:ext>
            </a:extLst>
          </p:cNvPr>
          <p:cNvSpPr>
            <a:spLocks noChangeArrowheads="1"/>
          </p:cNvSpPr>
          <p:nvPr/>
        </p:nvSpPr>
        <p:spPr bwMode="auto">
          <a:xfrm>
            <a:off x="3298031" y="1245767"/>
            <a:ext cx="365522"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485</a:t>
            </a:r>
          </a:p>
          <a:p>
            <a:pPr algn="ctr">
              <a:lnSpc>
                <a:spcPct val="65000"/>
              </a:lnSpc>
            </a:pPr>
            <a:r>
              <a:rPr lang="en-US" altLang="en-US" sz="1050">
                <a:solidFill>
                  <a:schemeClr val="tx1"/>
                </a:solidFill>
                <a:effectLst>
                  <a:outerShdw blurRad="38100" dist="38100" dir="2700000" algn="tl">
                    <a:srgbClr val="000000"/>
                  </a:outerShdw>
                </a:effectLst>
              </a:rPr>
              <a:t>476</a:t>
            </a:r>
          </a:p>
          <a:p>
            <a:pPr algn="ctr">
              <a:lnSpc>
                <a:spcPct val="65000"/>
              </a:lnSpc>
            </a:pPr>
            <a:r>
              <a:rPr lang="en-US" altLang="en-US" sz="1050">
                <a:solidFill>
                  <a:schemeClr val="tx1"/>
                </a:solidFill>
                <a:effectLst>
                  <a:outerShdw blurRad="38100" dist="38100" dir="2700000" algn="tl">
                    <a:srgbClr val="000000"/>
                  </a:outerShdw>
                </a:effectLst>
              </a:rPr>
              <a:t>436</a:t>
            </a:r>
          </a:p>
        </p:txBody>
      </p:sp>
      <p:sp>
        <p:nvSpPr>
          <p:cNvPr id="38970" name="Rectangle 58">
            <a:extLst>
              <a:ext uri="{FF2B5EF4-FFF2-40B4-BE49-F238E27FC236}">
                <a16:creationId xmlns:a16="http://schemas.microsoft.com/office/drawing/2014/main" id="{E0B90FDB-A2AC-6ECE-94AE-66E2EB8D76DB}"/>
              </a:ext>
            </a:extLst>
          </p:cNvPr>
          <p:cNvSpPr>
            <a:spLocks noChangeArrowheads="1"/>
          </p:cNvSpPr>
          <p:nvPr/>
        </p:nvSpPr>
        <p:spPr bwMode="auto">
          <a:xfrm>
            <a:off x="3223022" y="1816076"/>
            <a:ext cx="740569" cy="470296"/>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71" name="Line 59">
            <a:extLst>
              <a:ext uri="{FF2B5EF4-FFF2-40B4-BE49-F238E27FC236}">
                <a16:creationId xmlns:a16="http://schemas.microsoft.com/office/drawing/2014/main" id="{128842F0-4386-1EAA-7CF9-9C20A8CAA3AE}"/>
              </a:ext>
            </a:extLst>
          </p:cNvPr>
          <p:cNvSpPr>
            <a:spLocks noChangeShapeType="1"/>
          </p:cNvSpPr>
          <p:nvPr/>
        </p:nvSpPr>
        <p:spPr bwMode="auto">
          <a:xfrm>
            <a:off x="3226594" y="1924423"/>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72" name="Line 60">
            <a:extLst>
              <a:ext uri="{FF2B5EF4-FFF2-40B4-BE49-F238E27FC236}">
                <a16:creationId xmlns:a16="http://schemas.microsoft.com/office/drawing/2014/main" id="{57F8B1A5-00DA-98FB-B197-4C627938AF0B}"/>
              </a:ext>
            </a:extLst>
          </p:cNvPr>
          <p:cNvSpPr>
            <a:spLocks noChangeShapeType="1"/>
          </p:cNvSpPr>
          <p:nvPr/>
        </p:nvSpPr>
        <p:spPr bwMode="auto">
          <a:xfrm>
            <a:off x="3226594" y="2051820"/>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73" name="Line 61">
            <a:extLst>
              <a:ext uri="{FF2B5EF4-FFF2-40B4-BE49-F238E27FC236}">
                <a16:creationId xmlns:a16="http://schemas.microsoft.com/office/drawing/2014/main" id="{BF3F349C-076C-6DD9-1C35-A29874D6584B}"/>
              </a:ext>
            </a:extLst>
          </p:cNvPr>
          <p:cNvSpPr>
            <a:spLocks noChangeShapeType="1"/>
          </p:cNvSpPr>
          <p:nvPr/>
        </p:nvSpPr>
        <p:spPr bwMode="auto">
          <a:xfrm>
            <a:off x="3226594" y="2193504"/>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74" name="Line 62">
            <a:extLst>
              <a:ext uri="{FF2B5EF4-FFF2-40B4-BE49-F238E27FC236}">
                <a16:creationId xmlns:a16="http://schemas.microsoft.com/office/drawing/2014/main" id="{EBC05FC6-58EB-0B76-F33E-93EA4114DD0B}"/>
              </a:ext>
            </a:extLst>
          </p:cNvPr>
          <p:cNvSpPr>
            <a:spLocks noChangeShapeType="1"/>
          </p:cNvSpPr>
          <p:nvPr/>
        </p:nvSpPr>
        <p:spPr bwMode="auto">
          <a:xfrm>
            <a:off x="3806428" y="1818457"/>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76" name="Rectangle 64">
            <a:extLst>
              <a:ext uri="{FF2B5EF4-FFF2-40B4-BE49-F238E27FC236}">
                <a16:creationId xmlns:a16="http://schemas.microsoft.com/office/drawing/2014/main" id="{4748F0CB-BD95-F465-1338-6037B9F2C9DA}"/>
              </a:ext>
            </a:extLst>
          </p:cNvPr>
          <p:cNvSpPr>
            <a:spLocks noChangeArrowheads="1"/>
          </p:cNvSpPr>
          <p:nvPr/>
        </p:nvSpPr>
        <p:spPr bwMode="auto">
          <a:xfrm>
            <a:off x="3299222" y="1799407"/>
            <a:ext cx="365522"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378</a:t>
            </a:r>
          </a:p>
          <a:p>
            <a:pPr algn="ctr">
              <a:lnSpc>
                <a:spcPct val="65000"/>
              </a:lnSpc>
            </a:pPr>
            <a:r>
              <a:rPr lang="en-US" altLang="en-US" sz="1050">
                <a:solidFill>
                  <a:schemeClr val="tx1"/>
                </a:solidFill>
                <a:effectLst>
                  <a:outerShdw blurRad="38100" dist="38100" dir="2700000" algn="tl">
                    <a:srgbClr val="000000"/>
                  </a:outerShdw>
                </a:effectLst>
              </a:rPr>
              <a:t>300</a:t>
            </a:r>
          </a:p>
        </p:txBody>
      </p:sp>
      <p:sp>
        <p:nvSpPr>
          <p:cNvPr id="38978" name="Rectangle 66">
            <a:extLst>
              <a:ext uri="{FF2B5EF4-FFF2-40B4-BE49-F238E27FC236}">
                <a16:creationId xmlns:a16="http://schemas.microsoft.com/office/drawing/2014/main" id="{C87CAED1-7295-FC3A-1E13-EDFAED0B79A8}"/>
              </a:ext>
            </a:extLst>
          </p:cNvPr>
          <p:cNvSpPr>
            <a:spLocks noChangeArrowheads="1"/>
          </p:cNvSpPr>
          <p:nvPr/>
        </p:nvSpPr>
        <p:spPr bwMode="auto">
          <a:xfrm>
            <a:off x="3223022" y="2372098"/>
            <a:ext cx="740569" cy="470296"/>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79" name="Line 67">
            <a:extLst>
              <a:ext uri="{FF2B5EF4-FFF2-40B4-BE49-F238E27FC236}">
                <a16:creationId xmlns:a16="http://schemas.microsoft.com/office/drawing/2014/main" id="{5C674837-28F0-A431-F812-08EE13CA027F}"/>
              </a:ext>
            </a:extLst>
          </p:cNvPr>
          <p:cNvSpPr>
            <a:spLocks noChangeShapeType="1"/>
          </p:cNvSpPr>
          <p:nvPr/>
        </p:nvSpPr>
        <p:spPr bwMode="auto">
          <a:xfrm>
            <a:off x="3226594" y="2480445"/>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80" name="Line 68">
            <a:extLst>
              <a:ext uri="{FF2B5EF4-FFF2-40B4-BE49-F238E27FC236}">
                <a16:creationId xmlns:a16="http://schemas.microsoft.com/office/drawing/2014/main" id="{7669A1FD-86A1-4DB2-14D5-DA370FA8A656}"/>
              </a:ext>
            </a:extLst>
          </p:cNvPr>
          <p:cNvSpPr>
            <a:spLocks noChangeShapeType="1"/>
          </p:cNvSpPr>
          <p:nvPr/>
        </p:nvSpPr>
        <p:spPr bwMode="auto">
          <a:xfrm>
            <a:off x="3226594" y="2607842"/>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81" name="Line 69">
            <a:extLst>
              <a:ext uri="{FF2B5EF4-FFF2-40B4-BE49-F238E27FC236}">
                <a16:creationId xmlns:a16="http://schemas.microsoft.com/office/drawing/2014/main" id="{8F3E58A8-98B1-6FD6-9824-4B5762581DD8}"/>
              </a:ext>
            </a:extLst>
          </p:cNvPr>
          <p:cNvSpPr>
            <a:spLocks noChangeShapeType="1"/>
          </p:cNvSpPr>
          <p:nvPr/>
        </p:nvSpPr>
        <p:spPr bwMode="auto">
          <a:xfrm>
            <a:off x="3226594" y="2749526"/>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82" name="Line 70">
            <a:extLst>
              <a:ext uri="{FF2B5EF4-FFF2-40B4-BE49-F238E27FC236}">
                <a16:creationId xmlns:a16="http://schemas.microsoft.com/office/drawing/2014/main" id="{CDB56326-7AD9-57E7-317E-B7EE0D2F1D61}"/>
              </a:ext>
            </a:extLst>
          </p:cNvPr>
          <p:cNvSpPr>
            <a:spLocks noChangeShapeType="1"/>
          </p:cNvSpPr>
          <p:nvPr/>
        </p:nvSpPr>
        <p:spPr bwMode="auto">
          <a:xfrm>
            <a:off x="3806428" y="2374479"/>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84" name="Rectangle 72">
            <a:extLst>
              <a:ext uri="{FF2B5EF4-FFF2-40B4-BE49-F238E27FC236}">
                <a16:creationId xmlns:a16="http://schemas.microsoft.com/office/drawing/2014/main" id="{8C0BF664-5D8A-52DF-3388-6886C0287E00}"/>
              </a:ext>
            </a:extLst>
          </p:cNvPr>
          <p:cNvSpPr>
            <a:spLocks noChangeArrowheads="1"/>
          </p:cNvSpPr>
          <p:nvPr/>
        </p:nvSpPr>
        <p:spPr bwMode="auto">
          <a:xfrm>
            <a:off x="3299222" y="2355429"/>
            <a:ext cx="365522"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292</a:t>
            </a:r>
          </a:p>
          <a:p>
            <a:pPr algn="ctr">
              <a:lnSpc>
                <a:spcPct val="65000"/>
              </a:lnSpc>
            </a:pPr>
            <a:r>
              <a:rPr lang="en-US" altLang="en-US" sz="1050">
                <a:solidFill>
                  <a:schemeClr val="tx1"/>
                </a:solidFill>
                <a:effectLst>
                  <a:outerShdw blurRad="38100" dist="38100" dir="2700000" algn="tl">
                    <a:srgbClr val="000000"/>
                  </a:outerShdw>
                </a:effectLst>
              </a:rPr>
              <a:t>209</a:t>
            </a:r>
          </a:p>
        </p:txBody>
      </p:sp>
      <p:sp>
        <p:nvSpPr>
          <p:cNvPr id="38986" name="Rectangle 74">
            <a:extLst>
              <a:ext uri="{FF2B5EF4-FFF2-40B4-BE49-F238E27FC236}">
                <a16:creationId xmlns:a16="http://schemas.microsoft.com/office/drawing/2014/main" id="{17D03477-59F2-C310-A84F-3752BADBCD39}"/>
              </a:ext>
            </a:extLst>
          </p:cNvPr>
          <p:cNvSpPr>
            <a:spLocks noChangeArrowheads="1"/>
          </p:cNvSpPr>
          <p:nvPr/>
        </p:nvSpPr>
        <p:spPr bwMode="auto">
          <a:xfrm>
            <a:off x="3223022" y="2926929"/>
            <a:ext cx="740569" cy="470296"/>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87" name="Line 75">
            <a:extLst>
              <a:ext uri="{FF2B5EF4-FFF2-40B4-BE49-F238E27FC236}">
                <a16:creationId xmlns:a16="http://schemas.microsoft.com/office/drawing/2014/main" id="{363BE090-DC6A-036F-5CBA-BAFBBE2EB2BB}"/>
              </a:ext>
            </a:extLst>
          </p:cNvPr>
          <p:cNvSpPr>
            <a:spLocks noChangeShapeType="1"/>
          </p:cNvSpPr>
          <p:nvPr/>
        </p:nvSpPr>
        <p:spPr bwMode="auto">
          <a:xfrm>
            <a:off x="3226594" y="3035276"/>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88" name="Line 76">
            <a:extLst>
              <a:ext uri="{FF2B5EF4-FFF2-40B4-BE49-F238E27FC236}">
                <a16:creationId xmlns:a16="http://schemas.microsoft.com/office/drawing/2014/main" id="{2774F22B-631F-6D59-8466-F58F314C2BE6}"/>
              </a:ext>
            </a:extLst>
          </p:cNvPr>
          <p:cNvSpPr>
            <a:spLocks noChangeShapeType="1"/>
          </p:cNvSpPr>
          <p:nvPr/>
        </p:nvSpPr>
        <p:spPr bwMode="auto">
          <a:xfrm>
            <a:off x="3226594" y="3162673"/>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89" name="Line 77">
            <a:extLst>
              <a:ext uri="{FF2B5EF4-FFF2-40B4-BE49-F238E27FC236}">
                <a16:creationId xmlns:a16="http://schemas.microsoft.com/office/drawing/2014/main" id="{77FE58A6-E437-093C-E9B7-4395A045E400}"/>
              </a:ext>
            </a:extLst>
          </p:cNvPr>
          <p:cNvSpPr>
            <a:spLocks noChangeShapeType="1"/>
          </p:cNvSpPr>
          <p:nvPr/>
        </p:nvSpPr>
        <p:spPr bwMode="auto">
          <a:xfrm>
            <a:off x="3226594" y="3304357"/>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90" name="Line 78">
            <a:extLst>
              <a:ext uri="{FF2B5EF4-FFF2-40B4-BE49-F238E27FC236}">
                <a16:creationId xmlns:a16="http://schemas.microsoft.com/office/drawing/2014/main" id="{C5D6BEF7-9E00-B4F7-90CB-A4422D61396E}"/>
              </a:ext>
            </a:extLst>
          </p:cNvPr>
          <p:cNvSpPr>
            <a:spLocks noChangeShapeType="1"/>
          </p:cNvSpPr>
          <p:nvPr/>
        </p:nvSpPr>
        <p:spPr bwMode="auto">
          <a:xfrm>
            <a:off x="3806428" y="2929310"/>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92" name="Rectangle 80">
            <a:extLst>
              <a:ext uri="{FF2B5EF4-FFF2-40B4-BE49-F238E27FC236}">
                <a16:creationId xmlns:a16="http://schemas.microsoft.com/office/drawing/2014/main" id="{B21EEAD7-E12D-AE27-D8A2-5CF7F5F6AB3F}"/>
              </a:ext>
            </a:extLst>
          </p:cNvPr>
          <p:cNvSpPr>
            <a:spLocks noChangeArrowheads="1"/>
          </p:cNvSpPr>
          <p:nvPr/>
        </p:nvSpPr>
        <p:spPr bwMode="auto">
          <a:xfrm>
            <a:off x="3299222" y="2910260"/>
            <a:ext cx="365522"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180</a:t>
            </a:r>
          </a:p>
          <a:p>
            <a:pPr algn="ctr">
              <a:lnSpc>
                <a:spcPct val="65000"/>
              </a:lnSpc>
            </a:pPr>
            <a:r>
              <a:rPr lang="en-US" altLang="en-US" sz="1050">
                <a:solidFill>
                  <a:schemeClr val="tx1"/>
                </a:solidFill>
                <a:effectLst>
                  <a:outerShdw blurRad="38100" dist="38100" dir="2700000" algn="tl">
                    <a:srgbClr val="000000"/>
                  </a:outerShdw>
                </a:effectLst>
              </a:rPr>
              <a:t>156</a:t>
            </a:r>
          </a:p>
          <a:p>
            <a:pPr algn="ctr">
              <a:lnSpc>
                <a:spcPct val="65000"/>
              </a:lnSpc>
            </a:pPr>
            <a:r>
              <a:rPr lang="en-US" altLang="en-US" sz="1050">
                <a:solidFill>
                  <a:schemeClr val="tx1"/>
                </a:solidFill>
                <a:effectLst>
                  <a:outerShdw blurRad="38100" dist="38100" dir="2700000" algn="tl">
                    <a:srgbClr val="000000"/>
                  </a:outerShdw>
                </a:effectLst>
              </a:rPr>
              <a:t>143</a:t>
            </a:r>
          </a:p>
        </p:txBody>
      </p:sp>
      <p:sp>
        <p:nvSpPr>
          <p:cNvPr id="38994" name="Rectangle 82">
            <a:extLst>
              <a:ext uri="{FF2B5EF4-FFF2-40B4-BE49-F238E27FC236}">
                <a16:creationId xmlns:a16="http://schemas.microsoft.com/office/drawing/2014/main" id="{785C7477-F29B-746B-B642-E17220264CD1}"/>
              </a:ext>
            </a:extLst>
          </p:cNvPr>
          <p:cNvSpPr>
            <a:spLocks noChangeArrowheads="1"/>
          </p:cNvSpPr>
          <p:nvPr/>
        </p:nvSpPr>
        <p:spPr bwMode="auto">
          <a:xfrm>
            <a:off x="3223022" y="3485332"/>
            <a:ext cx="740569" cy="470296"/>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sz="1050"/>
          </a:p>
        </p:txBody>
      </p:sp>
      <p:sp>
        <p:nvSpPr>
          <p:cNvPr id="38995" name="Line 83">
            <a:extLst>
              <a:ext uri="{FF2B5EF4-FFF2-40B4-BE49-F238E27FC236}">
                <a16:creationId xmlns:a16="http://schemas.microsoft.com/office/drawing/2014/main" id="{0BCAD080-6C5F-5DBE-6F0A-77D48122A26A}"/>
              </a:ext>
            </a:extLst>
          </p:cNvPr>
          <p:cNvSpPr>
            <a:spLocks noChangeShapeType="1"/>
          </p:cNvSpPr>
          <p:nvPr/>
        </p:nvSpPr>
        <p:spPr bwMode="auto">
          <a:xfrm>
            <a:off x="3226594" y="3593679"/>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96" name="Line 84">
            <a:extLst>
              <a:ext uri="{FF2B5EF4-FFF2-40B4-BE49-F238E27FC236}">
                <a16:creationId xmlns:a16="http://schemas.microsoft.com/office/drawing/2014/main" id="{526CEC1B-EB99-685F-12E9-E200E8D53E82}"/>
              </a:ext>
            </a:extLst>
          </p:cNvPr>
          <p:cNvSpPr>
            <a:spLocks noChangeShapeType="1"/>
          </p:cNvSpPr>
          <p:nvPr/>
        </p:nvSpPr>
        <p:spPr bwMode="auto">
          <a:xfrm>
            <a:off x="3226594" y="3721076"/>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97" name="Line 85">
            <a:extLst>
              <a:ext uri="{FF2B5EF4-FFF2-40B4-BE49-F238E27FC236}">
                <a16:creationId xmlns:a16="http://schemas.microsoft.com/office/drawing/2014/main" id="{BBF36B09-9B3D-5AC8-CA06-B1847291C405}"/>
              </a:ext>
            </a:extLst>
          </p:cNvPr>
          <p:cNvSpPr>
            <a:spLocks noChangeShapeType="1"/>
          </p:cNvSpPr>
          <p:nvPr/>
        </p:nvSpPr>
        <p:spPr bwMode="auto">
          <a:xfrm>
            <a:off x="3226594" y="3862760"/>
            <a:ext cx="73937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8998" name="Line 86">
            <a:extLst>
              <a:ext uri="{FF2B5EF4-FFF2-40B4-BE49-F238E27FC236}">
                <a16:creationId xmlns:a16="http://schemas.microsoft.com/office/drawing/2014/main" id="{8F704AFE-379A-5F9F-582F-C9AFBD7B636D}"/>
              </a:ext>
            </a:extLst>
          </p:cNvPr>
          <p:cNvSpPr>
            <a:spLocks noChangeShapeType="1"/>
          </p:cNvSpPr>
          <p:nvPr/>
        </p:nvSpPr>
        <p:spPr bwMode="auto">
          <a:xfrm>
            <a:off x="3806428" y="3487713"/>
            <a:ext cx="0" cy="478631"/>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00" name="Rectangle 88">
            <a:extLst>
              <a:ext uri="{FF2B5EF4-FFF2-40B4-BE49-F238E27FC236}">
                <a16:creationId xmlns:a16="http://schemas.microsoft.com/office/drawing/2014/main" id="{44F40F0F-A17D-DF9D-C33D-E661F497AC72}"/>
              </a:ext>
            </a:extLst>
          </p:cNvPr>
          <p:cNvSpPr>
            <a:spLocks noChangeArrowheads="1"/>
          </p:cNvSpPr>
          <p:nvPr/>
        </p:nvSpPr>
        <p:spPr bwMode="auto">
          <a:xfrm>
            <a:off x="3336131" y="3468663"/>
            <a:ext cx="290513" cy="49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a:t>
            </a:r>
          </a:p>
          <a:p>
            <a:pPr algn="ctr">
              <a:lnSpc>
                <a:spcPct val="65000"/>
              </a:lnSpc>
            </a:pPr>
            <a:r>
              <a:rPr lang="en-US" altLang="en-US" sz="1050">
                <a:solidFill>
                  <a:schemeClr val="tx1"/>
                </a:solidFill>
                <a:effectLst>
                  <a:outerShdw blurRad="38100" dist="38100" dir="2700000" algn="tl">
                    <a:srgbClr val="000000"/>
                  </a:outerShdw>
                </a:effectLst>
              </a:rPr>
              <a:t>89</a:t>
            </a:r>
          </a:p>
          <a:p>
            <a:pPr algn="ctr">
              <a:lnSpc>
                <a:spcPct val="65000"/>
              </a:lnSpc>
            </a:pPr>
            <a:r>
              <a:rPr lang="en-US" altLang="en-US" sz="1050">
                <a:solidFill>
                  <a:schemeClr val="tx1"/>
                </a:solidFill>
                <a:effectLst>
                  <a:outerShdw blurRad="38100" dist="38100" dir="2700000" algn="tl">
                    <a:srgbClr val="000000"/>
                  </a:outerShdw>
                </a:effectLst>
              </a:rPr>
              <a:t>70</a:t>
            </a:r>
          </a:p>
        </p:txBody>
      </p:sp>
      <p:sp>
        <p:nvSpPr>
          <p:cNvPr id="39002" name="Rectangle 90">
            <a:extLst>
              <a:ext uri="{FF2B5EF4-FFF2-40B4-BE49-F238E27FC236}">
                <a16:creationId xmlns:a16="http://schemas.microsoft.com/office/drawing/2014/main" id="{7272ED9F-969A-F860-E4E1-790267E76817}"/>
              </a:ext>
            </a:extLst>
          </p:cNvPr>
          <p:cNvSpPr>
            <a:spLocks noChangeArrowheads="1"/>
          </p:cNvSpPr>
          <p:nvPr/>
        </p:nvSpPr>
        <p:spPr bwMode="auto">
          <a:xfrm>
            <a:off x="1027509" y="3862760"/>
            <a:ext cx="527388" cy="23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1050">
                <a:solidFill>
                  <a:schemeClr val="tx1"/>
                </a:solidFill>
                <a:effectLst>
                  <a:outerShdw blurRad="38100" dist="38100" dir="2700000" algn="tl">
                    <a:srgbClr val="000000"/>
                  </a:outerShdw>
                </a:effectLst>
              </a:rPr>
              <a:t>ROOT</a:t>
            </a:r>
          </a:p>
        </p:txBody>
      </p:sp>
      <p:sp>
        <p:nvSpPr>
          <p:cNvPr id="39003" name="Rectangle 91">
            <a:extLst>
              <a:ext uri="{FF2B5EF4-FFF2-40B4-BE49-F238E27FC236}">
                <a16:creationId xmlns:a16="http://schemas.microsoft.com/office/drawing/2014/main" id="{A0446AF2-4B13-29D6-DE6C-B345A0ACBA2E}"/>
              </a:ext>
            </a:extLst>
          </p:cNvPr>
          <p:cNvSpPr>
            <a:spLocks noChangeArrowheads="1"/>
          </p:cNvSpPr>
          <p:nvPr/>
        </p:nvSpPr>
        <p:spPr bwMode="auto">
          <a:xfrm>
            <a:off x="938140" y="4049687"/>
            <a:ext cx="671658" cy="23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1050">
                <a:solidFill>
                  <a:schemeClr val="tx1"/>
                </a:solidFill>
                <a:effectLst>
                  <a:outerShdw blurRad="38100" dist="38100" dir="2700000" algn="tl">
                    <a:srgbClr val="000000"/>
                  </a:outerShdw>
                </a:effectLst>
              </a:rPr>
              <a:t>LEVEL 2</a:t>
            </a:r>
          </a:p>
        </p:txBody>
      </p:sp>
      <p:sp>
        <p:nvSpPr>
          <p:cNvPr id="39004" name="Rectangle 92">
            <a:extLst>
              <a:ext uri="{FF2B5EF4-FFF2-40B4-BE49-F238E27FC236}">
                <a16:creationId xmlns:a16="http://schemas.microsoft.com/office/drawing/2014/main" id="{A83A6471-FDDB-8016-3E45-B92782BDF310}"/>
              </a:ext>
            </a:extLst>
          </p:cNvPr>
          <p:cNvSpPr>
            <a:spLocks noChangeArrowheads="1"/>
          </p:cNvSpPr>
          <p:nvPr/>
        </p:nvSpPr>
        <p:spPr bwMode="auto">
          <a:xfrm>
            <a:off x="2099000" y="4049687"/>
            <a:ext cx="671658" cy="23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1050">
                <a:solidFill>
                  <a:schemeClr val="tx1"/>
                </a:solidFill>
                <a:effectLst>
                  <a:outerShdw blurRad="38100" dist="38100" dir="2700000" algn="tl">
                    <a:srgbClr val="000000"/>
                  </a:outerShdw>
                </a:effectLst>
              </a:rPr>
              <a:t>LEVEL 1</a:t>
            </a:r>
          </a:p>
        </p:txBody>
      </p:sp>
      <p:sp>
        <p:nvSpPr>
          <p:cNvPr id="39005" name="Rectangle 93">
            <a:extLst>
              <a:ext uri="{FF2B5EF4-FFF2-40B4-BE49-F238E27FC236}">
                <a16:creationId xmlns:a16="http://schemas.microsoft.com/office/drawing/2014/main" id="{102AFBBC-BEC3-E874-D864-1D2F5AA365D8}"/>
              </a:ext>
            </a:extLst>
          </p:cNvPr>
          <p:cNvSpPr>
            <a:spLocks noChangeArrowheads="1"/>
          </p:cNvSpPr>
          <p:nvPr/>
        </p:nvSpPr>
        <p:spPr bwMode="auto">
          <a:xfrm>
            <a:off x="3219378" y="4049687"/>
            <a:ext cx="671658" cy="23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1050">
                <a:solidFill>
                  <a:schemeClr val="tx1"/>
                </a:solidFill>
                <a:effectLst>
                  <a:outerShdw blurRad="38100" dist="38100" dir="2700000" algn="tl">
                    <a:srgbClr val="000000"/>
                  </a:outerShdw>
                </a:effectLst>
              </a:rPr>
              <a:t>LEVEL 0</a:t>
            </a:r>
          </a:p>
        </p:txBody>
      </p:sp>
      <p:sp>
        <p:nvSpPr>
          <p:cNvPr id="39006" name="Line 94">
            <a:extLst>
              <a:ext uri="{FF2B5EF4-FFF2-40B4-BE49-F238E27FC236}">
                <a16:creationId xmlns:a16="http://schemas.microsoft.com/office/drawing/2014/main" id="{B86B2D5D-5F68-0D0A-E636-CEAF4F64F77E}"/>
              </a:ext>
            </a:extLst>
          </p:cNvPr>
          <p:cNvSpPr>
            <a:spLocks noChangeShapeType="1"/>
          </p:cNvSpPr>
          <p:nvPr/>
        </p:nvSpPr>
        <p:spPr bwMode="auto">
          <a:xfrm>
            <a:off x="1588294" y="3129335"/>
            <a:ext cx="452438" cy="85725"/>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07" name="Line 95">
            <a:extLst>
              <a:ext uri="{FF2B5EF4-FFF2-40B4-BE49-F238E27FC236}">
                <a16:creationId xmlns:a16="http://schemas.microsoft.com/office/drawing/2014/main" id="{4F222EA2-79CC-E705-BA6B-AD728F8E5E93}"/>
              </a:ext>
            </a:extLst>
          </p:cNvPr>
          <p:cNvSpPr>
            <a:spLocks noChangeShapeType="1"/>
          </p:cNvSpPr>
          <p:nvPr/>
        </p:nvSpPr>
        <p:spPr bwMode="auto">
          <a:xfrm flipV="1">
            <a:off x="1045369" y="2472110"/>
            <a:ext cx="989410" cy="142875"/>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08" name="Line 96">
            <a:extLst>
              <a:ext uri="{FF2B5EF4-FFF2-40B4-BE49-F238E27FC236}">
                <a16:creationId xmlns:a16="http://schemas.microsoft.com/office/drawing/2014/main" id="{6E81A9F7-3157-7DCD-95B6-38C2491D751D}"/>
              </a:ext>
            </a:extLst>
          </p:cNvPr>
          <p:cNvSpPr>
            <a:spLocks noChangeShapeType="1"/>
          </p:cNvSpPr>
          <p:nvPr/>
        </p:nvSpPr>
        <p:spPr bwMode="auto">
          <a:xfrm flipV="1">
            <a:off x="2126456" y="1025501"/>
            <a:ext cx="1147763" cy="1212056"/>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09" name="Line 97">
            <a:extLst>
              <a:ext uri="{FF2B5EF4-FFF2-40B4-BE49-F238E27FC236}">
                <a16:creationId xmlns:a16="http://schemas.microsoft.com/office/drawing/2014/main" id="{2C4036A4-9F93-89CD-08F5-79D0C7F9FF29}"/>
              </a:ext>
            </a:extLst>
          </p:cNvPr>
          <p:cNvSpPr>
            <a:spLocks noChangeShapeType="1"/>
          </p:cNvSpPr>
          <p:nvPr/>
        </p:nvSpPr>
        <p:spPr bwMode="auto">
          <a:xfrm flipV="1">
            <a:off x="2686050" y="1574379"/>
            <a:ext cx="571500" cy="783431"/>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0" name="Line 98">
            <a:extLst>
              <a:ext uri="{FF2B5EF4-FFF2-40B4-BE49-F238E27FC236}">
                <a16:creationId xmlns:a16="http://schemas.microsoft.com/office/drawing/2014/main" id="{3B94F0A2-A01E-E2DE-09F5-AEB762E7B9C1}"/>
              </a:ext>
            </a:extLst>
          </p:cNvPr>
          <p:cNvSpPr>
            <a:spLocks noChangeShapeType="1"/>
          </p:cNvSpPr>
          <p:nvPr/>
        </p:nvSpPr>
        <p:spPr bwMode="auto">
          <a:xfrm flipV="1">
            <a:off x="2714626" y="2117304"/>
            <a:ext cx="526256" cy="360759"/>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1" name="Line 99">
            <a:extLst>
              <a:ext uri="{FF2B5EF4-FFF2-40B4-BE49-F238E27FC236}">
                <a16:creationId xmlns:a16="http://schemas.microsoft.com/office/drawing/2014/main" id="{77795BFB-683D-411F-6A9A-7C89BF6C85C9}"/>
              </a:ext>
            </a:extLst>
          </p:cNvPr>
          <p:cNvSpPr>
            <a:spLocks noChangeShapeType="1"/>
          </p:cNvSpPr>
          <p:nvPr/>
        </p:nvSpPr>
        <p:spPr bwMode="auto">
          <a:xfrm>
            <a:off x="2702719" y="2614985"/>
            <a:ext cx="583406" cy="79772"/>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2" name="Line 100">
            <a:extLst>
              <a:ext uri="{FF2B5EF4-FFF2-40B4-BE49-F238E27FC236}">
                <a16:creationId xmlns:a16="http://schemas.microsoft.com/office/drawing/2014/main" id="{C6152EEA-DD72-7A84-6A22-E2D2D000D0E9}"/>
              </a:ext>
            </a:extLst>
          </p:cNvPr>
          <p:cNvSpPr>
            <a:spLocks noChangeShapeType="1"/>
          </p:cNvSpPr>
          <p:nvPr/>
        </p:nvSpPr>
        <p:spPr bwMode="auto">
          <a:xfrm>
            <a:off x="2697956" y="2729285"/>
            <a:ext cx="582216" cy="382190"/>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3" name="Line 101">
            <a:extLst>
              <a:ext uri="{FF2B5EF4-FFF2-40B4-BE49-F238E27FC236}">
                <a16:creationId xmlns:a16="http://schemas.microsoft.com/office/drawing/2014/main" id="{6A762F97-A25F-9B14-D81B-D2BE92A365AF}"/>
              </a:ext>
            </a:extLst>
          </p:cNvPr>
          <p:cNvSpPr>
            <a:spLocks noChangeShapeType="1"/>
          </p:cNvSpPr>
          <p:nvPr/>
        </p:nvSpPr>
        <p:spPr bwMode="auto">
          <a:xfrm>
            <a:off x="2697957" y="3174579"/>
            <a:ext cx="565547" cy="634603"/>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4" name="Line 102">
            <a:extLst>
              <a:ext uri="{FF2B5EF4-FFF2-40B4-BE49-F238E27FC236}">
                <a16:creationId xmlns:a16="http://schemas.microsoft.com/office/drawing/2014/main" id="{5659482B-88F1-8B8B-BCD2-63C290F90111}"/>
              </a:ext>
            </a:extLst>
          </p:cNvPr>
          <p:cNvSpPr>
            <a:spLocks noChangeShapeType="1"/>
          </p:cNvSpPr>
          <p:nvPr/>
        </p:nvSpPr>
        <p:spPr bwMode="auto">
          <a:xfrm>
            <a:off x="2651522" y="3472235"/>
            <a:ext cx="285750" cy="548878"/>
          </a:xfrm>
          <a:prstGeom prst="line">
            <a:avLst/>
          </a:prstGeom>
          <a:noFill/>
          <a:ln w="12700">
            <a:solidFill>
              <a:schemeClr val="bg1">
                <a:lumMod val="50000"/>
              </a:schemeClr>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5" name="Arc 103">
            <a:extLst>
              <a:ext uri="{FF2B5EF4-FFF2-40B4-BE49-F238E27FC236}">
                <a16:creationId xmlns:a16="http://schemas.microsoft.com/office/drawing/2014/main" id="{37FA4DCC-4D19-BAE8-3E65-4B5B4FFD9D40}"/>
              </a:ext>
            </a:extLst>
          </p:cNvPr>
          <p:cNvSpPr>
            <a:spLocks/>
          </p:cNvSpPr>
          <p:nvPr/>
        </p:nvSpPr>
        <p:spPr bwMode="auto">
          <a:xfrm>
            <a:off x="1384697" y="1700585"/>
            <a:ext cx="457200" cy="742950"/>
          </a:xfrm>
          <a:custGeom>
            <a:avLst/>
            <a:gdLst>
              <a:gd name="G0" fmla="+- 21600 0 0"/>
              <a:gd name="G1" fmla="+- 21600 0 0"/>
              <a:gd name="G2" fmla="+- 21600 0 0"/>
              <a:gd name="T0" fmla="*/ 0 w 21600"/>
              <a:gd name="T1" fmla="*/ 21600 h 21600"/>
              <a:gd name="T2" fmla="*/ 21544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close/>
              </a:path>
            </a:pathLst>
          </a:custGeom>
          <a:noFill/>
          <a:ln w="25400" cap="rnd">
            <a:solidFill>
              <a:srgbClr val="FC012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6" name="Arc 104">
            <a:extLst>
              <a:ext uri="{FF2B5EF4-FFF2-40B4-BE49-F238E27FC236}">
                <a16:creationId xmlns:a16="http://schemas.microsoft.com/office/drawing/2014/main" id="{07F2879D-75D1-6F34-2CA4-BF6F0E49E289}"/>
              </a:ext>
            </a:extLst>
          </p:cNvPr>
          <p:cNvSpPr>
            <a:spLocks/>
          </p:cNvSpPr>
          <p:nvPr/>
        </p:nvSpPr>
        <p:spPr bwMode="auto">
          <a:xfrm>
            <a:off x="1852612" y="1705347"/>
            <a:ext cx="263129" cy="25122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rgbClr val="FC0128"/>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7" name="Arc 105">
            <a:extLst>
              <a:ext uri="{FF2B5EF4-FFF2-40B4-BE49-F238E27FC236}">
                <a16:creationId xmlns:a16="http://schemas.microsoft.com/office/drawing/2014/main" id="{B4D121AF-EB0A-7E87-9BEC-F8CDA144DDEA}"/>
              </a:ext>
            </a:extLst>
          </p:cNvPr>
          <p:cNvSpPr>
            <a:spLocks/>
          </p:cNvSpPr>
          <p:nvPr/>
        </p:nvSpPr>
        <p:spPr bwMode="auto">
          <a:xfrm>
            <a:off x="2114550" y="255166"/>
            <a:ext cx="932260" cy="1703784"/>
          </a:xfrm>
          <a:custGeom>
            <a:avLst/>
            <a:gdLst>
              <a:gd name="G0" fmla="+- 21600 0 0"/>
              <a:gd name="G1" fmla="+- 21600 0 0"/>
              <a:gd name="G2" fmla="+- 21600 0 0"/>
              <a:gd name="T0" fmla="*/ 0 w 21600"/>
              <a:gd name="T1" fmla="*/ 21600 h 21600"/>
              <a:gd name="T2" fmla="*/ 21572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81"/>
                  <a:pt x="9653" y="15"/>
                  <a:pt x="21572" y="0"/>
                </a:cubicBezTo>
              </a:path>
              <a:path w="21600" h="21600" stroke="0" extrusionOk="0">
                <a:moveTo>
                  <a:pt x="0" y="21599"/>
                </a:moveTo>
                <a:cubicBezTo>
                  <a:pt x="0" y="9681"/>
                  <a:pt x="9653" y="15"/>
                  <a:pt x="21572" y="0"/>
                </a:cubicBezTo>
                <a:lnTo>
                  <a:pt x="21600" y="21600"/>
                </a:lnTo>
                <a:close/>
              </a:path>
            </a:pathLst>
          </a:custGeom>
          <a:noFill/>
          <a:ln w="25400" cap="rnd">
            <a:solidFill>
              <a:srgbClr val="FC012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8" name="Arc 106">
            <a:extLst>
              <a:ext uri="{FF2B5EF4-FFF2-40B4-BE49-F238E27FC236}">
                <a16:creationId xmlns:a16="http://schemas.microsoft.com/office/drawing/2014/main" id="{187860C5-F560-0F0C-5E05-63482D6AA364}"/>
              </a:ext>
            </a:extLst>
          </p:cNvPr>
          <p:cNvSpPr>
            <a:spLocks/>
          </p:cNvSpPr>
          <p:nvPr/>
        </p:nvSpPr>
        <p:spPr bwMode="auto">
          <a:xfrm>
            <a:off x="3038475" y="255167"/>
            <a:ext cx="647700" cy="4214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rgbClr val="FC012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19" name="Arc 107">
            <a:extLst>
              <a:ext uri="{FF2B5EF4-FFF2-40B4-BE49-F238E27FC236}">
                <a16:creationId xmlns:a16="http://schemas.microsoft.com/office/drawing/2014/main" id="{1CC755F7-8562-3835-D1A8-7C1C41F380AE}"/>
              </a:ext>
            </a:extLst>
          </p:cNvPr>
          <p:cNvSpPr>
            <a:spLocks/>
          </p:cNvSpPr>
          <p:nvPr/>
        </p:nvSpPr>
        <p:spPr bwMode="auto">
          <a:xfrm>
            <a:off x="3690938" y="331366"/>
            <a:ext cx="456010" cy="348853"/>
          </a:xfrm>
          <a:custGeom>
            <a:avLst/>
            <a:gdLst>
              <a:gd name="G0" fmla="+- 21600 0 0"/>
              <a:gd name="G1" fmla="+- 21600 0 0"/>
              <a:gd name="G2" fmla="+- 21600 0 0"/>
              <a:gd name="T0" fmla="*/ 0 w 21600"/>
              <a:gd name="T1" fmla="*/ 21600 h 21600"/>
              <a:gd name="T2" fmla="*/ 21544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close/>
              </a:path>
            </a:pathLst>
          </a:custGeom>
          <a:noFill/>
          <a:ln w="25400" cap="rnd">
            <a:solidFill>
              <a:srgbClr val="FC0128"/>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20" name="Arc 108">
            <a:extLst>
              <a:ext uri="{FF2B5EF4-FFF2-40B4-BE49-F238E27FC236}">
                <a16:creationId xmlns:a16="http://schemas.microsoft.com/office/drawing/2014/main" id="{794673F6-BABF-7B7B-245E-34F65E7ABA68}"/>
              </a:ext>
            </a:extLst>
          </p:cNvPr>
          <p:cNvSpPr>
            <a:spLocks/>
          </p:cNvSpPr>
          <p:nvPr/>
        </p:nvSpPr>
        <p:spPr bwMode="auto">
          <a:xfrm>
            <a:off x="4152900" y="333748"/>
            <a:ext cx="570310" cy="648890"/>
          </a:xfrm>
          <a:custGeom>
            <a:avLst/>
            <a:gdLst>
              <a:gd name="G0" fmla="+- 0 0 0"/>
              <a:gd name="G1" fmla="+- 21600 0 0"/>
              <a:gd name="G2" fmla="+- 21600 0 0"/>
              <a:gd name="T0" fmla="*/ 0 w 21600"/>
              <a:gd name="T1" fmla="*/ 0 h 21600"/>
              <a:gd name="T2" fmla="*/ 21600 w 21600"/>
              <a:gd name="T3" fmla="*/ 2156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13" y="0"/>
                  <a:pt x="21577" y="9646"/>
                  <a:pt x="21599" y="21560"/>
                </a:cubicBezTo>
              </a:path>
              <a:path w="21600" h="21600" stroke="0" extrusionOk="0">
                <a:moveTo>
                  <a:pt x="0" y="0"/>
                </a:moveTo>
                <a:cubicBezTo>
                  <a:pt x="11913" y="0"/>
                  <a:pt x="21577" y="9646"/>
                  <a:pt x="21599" y="21560"/>
                </a:cubicBezTo>
                <a:lnTo>
                  <a:pt x="0" y="21600"/>
                </a:lnTo>
                <a:close/>
              </a:path>
            </a:pathLst>
          </a:custGeom>
          <a:noFill/>
          <a:ln w="25400" cap="rnd">
            <a:solidFill>
              <a:srgbClr val="FC012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9021" name="Line 109">
            <a:extLst>
              <a:ext uri="{FF2B5EF4-FFF2-40B4-BE49-F238E27FC236}">
                <a16:creationId xmlns:a16="http://schemas.microsoft.com/office/drawing/2014/main" id="{8AAD92C0-A696-2A0E-BE72-6491570B2852}"/>
              </a:ext>
            </a:extLst>
          </p:cNvPr>
          <p:cNvSpPr>
            <a:spLocks noChangeShapeType="1"/>
          </p:cNvSpPr>
          <p:nvPr/>
        </p:nvSpPr>
        <p:spPr bwMode="auto">
          <a:xfrm>
            <a:off x="5291138" y="2008956"/>
            <a:ext cx="0" cy="1028700"/>
          </a:xfrm>
          <a:prstGeom prst="line">
            <a:avLst/>
          </a:prstGeom>
          <a:noFill/>
          <a:ln w="12700">
            <a:solidFill>
              <a:srgbClr val="FC0128"/>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useBgFill="1">
        <p:nvSpPr>
          <p:cNvPr id="39022" name="Rectangle 110">
            <a:extLst>
              <a:ext uri="{FF2B5EF4-FFF2-40B4-BE49-F238E27FC236}">
                <a16:creationId xmlns:a16="http://schemas.microsoft.com/office/drawing/2014/main" id="{CC53116F-1F84-8F2A-144C-60A6A80FEF9E}"/>
              </a:ext>
            </a:extLst>
          </p:cNvPr>
          <p:cNvSpPr>
            <a:spLocks noChangeArrowheads="1"/>
          </p:cNvSpPr>
          <p:nvPr/>
        </p:nvSpPr>
        <p:spPr bwMode="auto">
          <a:xfrm>
            <a:off x="1800542" y="882625"/>
            <a:ext cx="673261" cy="392898"/>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1050">
                <a:effectLst>
                  <a:outerShdw blurRad="38100" dist="38100" dir="2700000" algn="tl">
                    <a:srgbClr val="000000"/>
                  </a:outerShdw>
                </a:effectLst>
              </a:rPr>
              <a:t>Index</a:t>
            </a:r>
          </a:p>
          <a:p>
            <a:pPr algn="ctr"/>
            <a:r>
              <a:rPr lang="en-US" altLang="en-US" sz="1050">
                <a:effectLst>
                  <a:outerShdw blurRad="38100" dist="38100" dir="2700000" algn="tl">
                    <a:srgbClr val="000000"/>
                  </a:outerShdw>
                </a:effectLst>
              </a:rPr>
              <a:t>Retrieval</a:t>
            </a:r>
          </a:p>
        </p:txBody>
      </p:sp>
      <p:sp>
        <p:nvSpPr>
          <p:cNvPr id="39023" name="Rectangle 111">
            <a:extLst>
              <a:ext uri="{FF2B5EF4-FFF2-40B4-BE49-F238E27FC236}">
                <a16:creationId xmlns:a16="http://schemas.microsoft.com/office/drawing/2014/main" id="{8A4181E7-58E7-7843-7EEB-172A8340575C}"/>
              </a:ext>
            </a:extLst>
          </p:cNvPr>
          <p:cNvSpPr>
            <a:spLocks noChangeArrowheads="1"/>
          </p:cNvSpPr>
          <p:nvPr/>
        </p:nvSpPr>
        <p:spPr bwMode="auto">
          <a:xfrm>
            <a:off x="5119493" y="1462460"/>
            <a:ext cx="77905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1050">
                <a:effectLst>
                  <a:outerShdw blurRad="38100" dist="38100" dir="2700000" algn="tl">
                    <a:srgbClr val="000000"/>
                  </a:outerShdw>
                </a:effectLst>
              </a:rPr>
              <a:t>Sequential</a:t>
            </a:r>
          </a:p>
          <a:p>
            <a:pPr algn="ctr"/>
            <a:r>
              <a:rPr lang="en-US" altLang="en-US" sz="1050">
                <a:effectLst>
                  <a:outerShdw blurRad="38100" dist="38100" dir="2700000" algn="tl">
                    <a:srgbClr val="000000"/>
                  </a:outerShdw>
                </a:effectLst>
              </a:rPr>
              <a:t>Scan</a:t>
            </a:r>
          </a:p>
        </p:txBody>
      </p:sp>
      <p:sp>
        <p:nvSpPr>
          <p:cNvPr id="39024" name="Line 112">
            <a:extLst>
              <a:ext uri="{FF2B5EF4-FFF2-40B4-BE49-F238E27FC236}">
                <a16:creationId xmlns:a16="http://schemas.microsoft.com/office/drawing/2014/main" id="{5E095369-8E49-9A97-2D24-B33B6B1D14A3}"/>
              </a:ext>
            </a:extLst>
          </p:cNvPr>
          <p:cNvSpPr>
            <a:spLocks noChangeShapeType="1"/>
          </p:cNvSpPr>
          <p:nvPr/>
        </p:nvSpPr>
        <p:spPr bwMode="auto">
          <a:xfrm flipV="1">
            <a:off x="5291138" y="407566"/>
            <a:ext cx="0" cy="1006078"/>
          </a:xfrm>
          <a:prstGeom prst="line">
            <a:avLst/>
          </a:prstGeom>
          <a:noFill/>
          <a:ln w="25400">
            <a:solidFill>
              <a:srgbClr val="FC012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Tree>
  </p:cSld>
  <p:clrMapOvr>
    <a:masterClrMapping/>
  </p:clrMapOvr>
  <p:transition spd="med">
    <p:wipe/>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39D0BC3-7EB0-8449-3D7D-7345A6181305}"/>
              </a:ext>
            </a:extLst>
          </p:cNvPr>
          <p:cNvSpPr>
            <a:spLocks noChangeArrowheads="1"/>
          </p:cNvSpPr>
          <p:nvPr/>
        </p:nvSpPr>
        <p:spPr bwMode="auto">
          <a:xfrm>
            <a:off x="854870" y="1570435"/>
            <a:ext cx="1407318" cy="1271588"/>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solidFill>
                <a:schemeClr val="bg1"/>
              </a:solidFill>
            </a:endParaRPr>
          </a:p>
        </p:txBody>
      </p:sp>
      <p:sp>
        <p:nvSpPr>
          <p:cNvPr id="49155" name="Rectangle 3">
            <a:extLst>
              <a:ext uri="{FF2B5EF4-FFF2-40B4-BE49-F238E27FC236}">
                <a16:creationId xmlns:a16="http://schemas.microsoft.com/office/drawing/2014/main" id="{5D319570-77B6-6487-8F2A-E64476595CAE}"/>
              </a:ext>
            </a:extLst>
          </p:cNvPr>
          <p:cNvSpPr>
            <a:spLocks noChangeArrowheads="1"/>
          </p:cNvSpPr>
          <p:nvPr/>
        </p:nvSpPr>
        <p:spPr bwMode="auto">
          <a:xfrm>
            <a:off x="825104" y="1510904"/>
            <a:ext cx="1406128" cy="1271588"/>
          </a:xfrm>
          <a:prstGeom prst="rect">
            <a:avLst/>
          </a:prstGeom>
          <a:solidFill>
            <a:srgbClr val="3300A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solidFill>
                <a:schemeClr val="bg1"/>
              </a:solidFill>
            </a:endParaRPr>
          </a:p>
        </p:txBody>
      </p:sp>
      <p:sp>
        <p:nvSpPr>
          <p:cNvPr id="49156" name="Oval 4">
            <a:extLst>
              <a:ext uri="{FF2B5EF4-FFF2-40B4-BE49-F238E27FC236}">
                <a16:creationId xmlns:a16="http://schemas.microsoft.com/office/drawing/2014/main" id="{D01BFA94-F931-BAC9-BB08-E6459903CC6F}"/>
              </a:ext>
            </a:extLst>
          </p:cNvPr>
          <p:cNvSpPr>
            <a:spLocks noChangeArrowheads="1"/>
          </p:cNvSpPr>
          <p:nvPr/>
        </p:nvSpPr>
        <p:spPr bwMode="auto">
          <a:xfrm>
            <a:off x="854870" y="2715816"/>
            <a:ext cx="1407318" cy="336947"/>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solidFill>
                <a:schemeClr val="bg1"/>
              </a:solidFill>
            </a:endParaRPr>
          </a:p>
        </p:txBody>
      </p:sp>
      <p:sp>
        <p:nvSpPr>
          <p:cNvPr id="49157" name="Oval 5">
            <a:extLst>
              <a:ext uri="{FF2B5EF4-FFF2-40B4-BE49-F238E27FC236}">
                <a16:creationId xmlns:a16="http://schemas.microsoft.com/office/drawing/2014/main" id="{6A640D8D-81B4-C78A-3741-2E3F84253BF9}"/>
              </a:ext>
            </a:extLst>
          </p:cNvPr>
          <p:cNvSpPr>
            <a:spLocks noChangeArrowheads="1"/>
          </p:cNvSpPr>
          <p:nvPr/>
        </p:nvSpPr>
        <p:spPr bwMode="auto">
          <a:xfrm>
            <a:off x="825104" y="2659857"/>
            <a:ext cx="1406128" cy="338138"/>
          </a:xfrm>
          <a:prstGeom prst="ellipse">
            <a:avLst/>
          </a:prstGeom>
          <a:solidFill>
            <a:srgbClr val="3300AA"/>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solidFill>
                <a:schemeClr val="bg1"/>
              </a:solidFill>
            </a:endParaRPr>
          </a:p>
        </p:txBody>
      </p:sp>
      <p:sp>
        <p:nvSpPr>
          <p:cNvPr id="49158" name="Oval 6">
            <a:extLst>
              <a:ext uri="{FF2B5EF4-FFF2-40B4-BE49-F238E27FC236}">
                <a16:creationId xmlns:a16="http://schemas.microsoft.com/office/drawing/2014/main" id="{E3985040-8E05-2540-50D6-443F65794D5A}"/>
              </a:ext>
            </a:extLst>
          </p:cNvPr>
          <p:cNvSpPr>
            <a:spLocks noChangeArrowheads="1"/>
          </p:cNvSpPr>
          <p:nvPr/>
        </p:nvSpPr>
        <p:spPr bwMode="auto">
          <a:xfrm>
            <a:off x="825104" y="1385888"/>
            <a:ext cx="1406128" cy="251222"/>
          </a:xfrm>
          <a:prstGeom prst="ellipse">
            <a:avLst/>
          </a:prstGeom>
          <a:solidFill>
            <a:srgbClr val="8955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solidFill>
                <a:schemeClr val="bg1"/>
              </a:solidFill>
            </a:endParaRPr>
          </a:p>
        </p:txBody>
      </p:sp>
      <p:sp>
        <p:nvSpPr>
          <p:cNvPr id="49163" name="Rectangle 11">
            <a:extLst>
              <a:ext uri="{FF2B5EF4-FFF2-40B4-BE49-F238E27FC236}">
                <a16:creationId xmlns:a16="http://schemas.microsoft.com/office/drawing/2014/main" id="{64A8981F-5381-85CB-AD70-F20EEAE6DFC7}"/>
              </a:ext>
            </a:extLst>
          </p:cNvPr>
          <p:cNvSpPr>
            <a:spLocks noChangeArrowheads="1"/>
          </p:cNvSpPr>
          <p:nvPr/>
        </p:nvSpPr>
        <p:spPr bwMode="auto">
          <a:xfrm>
            <a:off x="864300" y="1891904"/>
            <a:ext cx="84157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r>
              <a:rPr lang="en-US" altLang="en-US" sz="1050" dirty="0">
                <a:solidFill>
                  <a:schemeClr val="bg1"/>
                </a:solidFill>
                <a:effectLst>
                  <a:outerShdw blurRad="38100" dist="38100" dir="2700000" algn="tl">
                    <a:srgbClr val="000000"/>
                  </a:outerShdw>
                </a:effectLst>
              </a:rPr>
              <a:t>col1   TEXT</a:t>
            </a:r>
          </a:p>
          <a:p>
            <a:r>
              <a:rPr lang="en-US" altLang="en-US" sz="1050" dirty="0">
                <a:solidFill>
                  <a:schemeClr val="bg1"/>
                </a:solidFill>
                <a:effectLst>
                  <a:outerShdw blurRad="38100" dist="38100" dir="2700000" algn="tl">
                    <a:srgbClr val="000000"/>
                  </a:outerShdw>
                </a:effectLst>
              </a:rPr>
              <a:t>col2   TEXT</a:t>
            </a:r>
          </a:p>
        </p:txBody>
      </p:sp>
      <p:sp>
        <p:nvSpPr>
          <p:cNvPr id="49164" name="Line 12">
            <a:extLst>
              <a:ext uri="{FF2B5EF4-FFF2-40B4-BE49-F238E27FC236}">
                <a16:creationId xmlns:a16="http://schemas.microsoft.com/office/drawing/2014/main" id="{BDD61379-61CE-9971-F814-60516CB4551B}"/>
              </a:ext>
            </a:extLst>
          </p:cNvPr>
          <p:cNvSpPr>
            <a:spLocks noChangeShapeType="1"/>
          </p:cNvSpPr>
          <p:nvPr/>
        </p:nvSpPr>
        <p:spPr bwMode="auto">
          <a:xfrm>
            <a:off x="1004888" y="2412206"/>
            <a:ext cx="1028700" cy="0"/>
          </a:xfrm>
          <a:prstGeom prst="line">
            <a:avLst/>
          </a:prstGeom>
          <a:noFill/>
          <a:ln w="12700">
            <a:solidFill>
              <a:schemeClr val="bg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solidFill>
                <a:schemeClr val="bg1"/>
              </a:solidFill>
            </a:endParaRPr>
          </a:p>
        </p:txBody>
      </p:sp>
      <p:sp>
        <p:nvSpPr>
          <p:cNvPr id="49165" name="Rectangle 13">
            <a:extLst>
              <a:ext uri="{FF2B5EF4-FFF2-40B4-BE49-F238E27FC236}">
                <a16:creationId xmlns:a16="http://schemas.microsoft.com/office/drawing/2014/main" id="{5F8BAE6C-DFD8-5146-452C-8F523313FB8D}"/>
              </a:ext>
            </a:extLst>
          </p:cNvPr>
          <p:cNvSpPr>
            <a:spLocks noChangeArrowheads="1"/>
          </p:cNvSpPr>
          <p:nvPr/>
        </p:nvSpPr>
        <p:spPr bwMode="auto">
          <a:xfrm>
            <a:off x="865492" y="2475310"/>
            <a:ext cx="936154"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r>
              <a:rPr lang="en-US" altLang="en-US" sz="1050">
                <a:solidFill>
                  <a:schemeClr val="bg1"/>
                </a:solidFill>
                <a:effectLst>
                  <a:outerShdw blurRad="38100" dist="38100" dir="2700000" algn="tl">
                    <a:srgbClr val="000000"/>
                  </a:outerShdw>
                </a:effectLst>
              </a:rPr>
              <a:t>Unique Index</a:t>
            </a:r>
          </a:p>
          <a:p>
            <a:r>
              <a:rPr lang="en-US" altLang="en-US" sz="1050">
                <a:solidFill>
                  <a:schemeClr val="bg1"/>
                </a:solidFill>
                <a:effectLst>
                  <a:outerShdw blurRad="38100" dist="38100" dir="2700000" algn="tl">
                    <a:srgbClr val="000000"/>
                  </a:outerShdw>
                </a:effectLst>
              </a:rPr>
              <a:t>   (col1,col2)</a:t>
            </a:r>
          </a:p>
        </p:txBody>
      </p:sp>
      <p:sp>
        <p:nvSpPr>
          <p:cNvPr id="49166" name="Rectangle 14">
            <a:extLst>
              <a:ext uri="{FF2B5EF4-FFF2-40B4-BE49-F238E27FC236}">
                <a16:creationId xmlns:a16="http://schemas.microsoft.com/office/drawing/2014/main" id="{2E5297A2-8B81-4AE6-F619-773DB5DAFE75}"/>
              </a:ext>
            </a:extLst>
          </p:cNvPr>
          <p:cNvSpPr>
            <a:spLocks noChangeArrowheads="1"/>
          </p:cNvSpPr>
          <p:nvPr/>
        </p:nvSpPr>
        <p:spPr bwMode="auto">
          <a:xfrm>
            <a:off x="2437210" y="1348979"/>
            <a:ext cx="1829026" cy="215157"/>
          </a:xfrm>
          <a:prstGeom prst="rect">
            <a:avLst/>
          </a:prstGeom>
          <a:noFill/>
          <a:ln w="127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nSpc>
                <a:spcPct val="90000"/>
              </a:lnSpc>
            </a:pPr>
            <a:r>
              <a:rPr lang="en-US" altLang="en-US" sz="1050" b="1" dirty="0">
                <a:solidFill>
                  <a:srgbClr val="FFBB00"/>
                </a:solidFill>
              </a:rPr>
              <a:t>FILTER, t1.col1 = LITERAL</a:t>
            </a:r>
          </a:p>
        </p:txBody>
      </p:sp>
      <p:sp>
        <p:nvSpPr>
          <p:cNvPr id="49167" name="Line 15">
            <a:extLst>
              <a:ext uri="{FF2B5EF4-FFF2-40B4-BE49-F238E27FC236}">
                <a16:creationId xmlns:a16="http://schemas.microsoft.com/office/drawing/2014/main" id="{1B8971D4-164E-8ADE-DA78-00F9D3082474}"/>
              </a:ext>
            </a:extLst>
          </p:cNvPr>
          <p:cNvSpPr>
            <a:spLocks noChangeShapeType="1"/>
          </p:cNvSpPr>
          <p:nvPr/>
        </p:nvSpPr>
        <p:spPr bwMode="auto">
          <a:xfrm>
            <a:off x="2743200" y="1644254"/>
            <a:ext cx="0" cy="129778"/>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168" name="Line 16">
            <a:extLst>
              <a:ext uri="{FF2B5EF4-FFF2-40B4-BE49-F238E27FC236}">
                <a16:creationId xmlns:a16="http://schemas.microsoft.com/office/drawing/2014/main" id="{43501CE3-7F43-D050-F63D-E5C8DD26D04C}"/>
              </a:ext>
            </a:extLst>
          </p:cNvPr>
          <p:cNvSpPr>
            <a:spLocks noChangeShapeType="1"/>
          </p:cNvSpPr>
          <p:nvPr/>
        </p:nvSpPr>
        <p:spPr bwMode="auto">
          <a:xfrm flipH="1">
            <a:off x="2168129" y="2038350"/>
            <a:ext cx="401240" cy="0"/>
          </a:xfrm>
          <a:prstGeom prst="line">
            <a:avLst/>
          </a:prstGeom>
          <a:noFill/>
          <a:ln w="127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169" name="Rectangle 17">
            <a:extLst>
              <a:ext uri="{FF2B5EF4-FFF2-40B4-BE49-F238E27FC236}">
                <a16:creationId xmlns:a16="http://schemas.microsoft.com/office/drawing/2014/main" id="{A16B6A51-91F2-9A4F-2383-FDBCA1084F1B}"/>
              </a:ext>
            </a:extLst>
          </p:cNvPr>
          <p:cNvSpPr>
            <a:spLocks noChangeArrowheads="1"/>
          </p:cNvSpPr>
          <p:nvPr/>
        </p:nvSpPr>
        <p:spPr bwMode="auto">
          <a:xfrm>
            <a:off x="1121559" y="3240881"/>
            <a:ext cx="1532471" cy="215157"/>
          </a:xfrm>
          <a:prstGeom prst="rect">
            <a:avLst/>
          </a:prstGeom>
          <a:noFill/>
          <a:ln w="127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nSpc>
                <a:spcPct val="90000"/>
              </a:lnSpc>
            </a:pPr>
            <a:r>
              <a:rPr lang="en-US" altLang="en-US" sz="1050" b="1" dirty="0">
                <a:solidFill>
                  <a:srgbClr val="FFBB00"/>
                </a:solidFill>
              </a:rPr>
              <a:t>JOIN, t1.col2 = t2.col1</a:t>
            </a:r>
          </a:p>
        </p:txBody>
      </p:sp>
      <p:sp>
        <p:nvSpPr>
          <p:cNvPr id="49170" name="Line 18">
            <a:extLst>
              <a:ext uri="{FF2B5EF4-FFF2-40B4-BE49-F238E27FC236}">
                <a16:creationId xmlns:a16="http://schemas.microsoft.com/office/drawing/2014/main" id="{5FF5229C-E326-9B92-61D7-B9605064CCF3}"/>
              </a:ext>
            </a:extLst>
          </p:cNvPr>
          <p:cNvSpPr>
            <a:spLocks noChangeShapeType="1"/>
          </p:cNvSpPr>
          <p:nvPr/>
        </p:nvSpPr>
        <p:spPr bwMode="auto">
          <a:xfrm>
            <a:off x="2110979" y="2240756"/>
            <a:ext cx="567928" cy="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171" name="Line 19">
            <a:extLst>
              <a:ext uri="{FF2B5EF4-FFF2-40B4-BE49-F238E27FC236}">
                <a16:creationId xmlns:a16="http://schemas.microsoft.com/office/drawing/2014/main" id="{62461AF9-56D8-2265-1043-EFA97EFAC0F4}"/>
              </a:ext>
            </a:extLst>
          </p:cNvPr>
          <p:cNvSpPr>
            <a:spLocks noChangeShapeType="1"/>
          </p:cNvSpPr>
          <p:nvPr/>
        </p:nvSpPr>
        <p:spPr bwMode="auto">
          <a:xfrm>
            <a:off x="2946797" y="3038475"/>
            <a:ext cx="261938" cy="1191"/>
          </a:xfrm>
          <a:prstGeom prst="line">
            <a:avLst/>
          </a:prstGeom>
          <a:noFill/>
          <a:ln w="127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172" name="Line 20">
            <a:extLst>
              <a:ext uri="{FF2B5EF4-FFF2-40B4-BE49-F238E27FC236}">
                <a16:creationId xmlns:a16="http://schemas.microsoft.com/office/drawing/2014/main" id="{A08FD40D-C1A7-0EAA-4461-A7210F266395}"/>
              </a:ext>
            </a:extLst>
          </p:cNvPr>
          <p:cNvSpPr>
            <a:spLocks noChangeShapeType="1"/>
          </p:cNvSpPr>
          <p:nvPr/>
        </p:nvSpPr>
        <p:spPr bwMode="auto">
          <a:xfrm flipV="1">
            <a:off x="2739629" y="2326482"/>
            <a:ext cx="0" cy="489347"/>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useBgFill="1">
        <p:nvSpPr>
          <p:cNvPr id="49173" name="Rectangle 21">
            <a:extLst>
              <a:ext uri="{FF2B5EF4-FFF2-40B4-BE49-F238E27FC236}">
                <a16:creationId xmlns:a16="http://schemas.microsoft.com/office/drawing/2014/main" id="{14B49254-9A53-FE2F-23F5-962364A7CAE0}"/>
              </a:ext>
            </a:extLst>
          </p:cNvPr>
          <p:cNvSpPr>
            <a:spLocks noChangeArrowheads="1"/>
          </p:cNvSpPr>
          <p:nvPr/>
        </p:nvSpPr>
        <p:spPr bwMode="auto">
          <a:xfrm>
            <a:off x="2632954" y="2839642"/>
            <a:ext cx="310983" cy="439064"/>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2400">
                <a:solidFill>
                  <a:schemeClr val="accent2"/>
                </a:solidFill>
                <a:effectLst>
                  <a:outerShdw blurRad="38100" dist="38100" dir="2700000" algn="tl">
                    <a:srgbClr val="000000"/>
                  </a:outerShdw>
                </a:effectLst>
              </a:rPr>
              <a:t>2</a:t>
            </a:r>
          </a:p>
        </p:txBody>
      </p:sp>
      <p:sp useBgFill="1">
        <p:nvSpPr>
          <p:cNvPr id="49174" name="Rectangle 22">
            <a:extLst>
              <a:ext uri="{FF2B5EF4-FFF2-40B4-BE49-F238E27FC236}">
                <a16:creationId xmlns:a16="http://schemas.microsoft.com/office/drawing/2014/main" id="{5A93AC2B-DDC6-1D1D-21E3-A1D759DFA2EB}"/>
              </a:ext>
            </a:extLst>
          </p:cNvPr>
          <p:cNvSpPr>
            <a:spLocks noChangeArrowheads="1"/>
          </p:cNvSpPr>
          <p:nvPr/>
        </p:nvSpPr>
        <p:spPr bwMode="auto">
          <a:xfrm>
            <a:off x="2580566" y="1775223"/>
            <a:ext cx="310983" cy="439064"/>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r>
              <a:rPr lang="en-US" altLang="en-US" sz="2400">
                <a:solidFill>
                  <a:schemeClr val="accent2"/>
                </a:solidFill>
                <a:effectLst>
                  <a:outerShdw blurRad="38100" dist="38100" dir="2700000" algn="tl">
                    <a:srgbClr val="000000"/>
                  </a:outerShdw>
                </a:effectLst>
              </a:rPr>
              <a:t>1</a:t>
            </a:r>
          </a:p>
        </p:txBody>
      </p:sp>
      <p:sp>
        <p:nvSpPr>
          <p:cNvPr id="49175" name="Arc 23">
            <a:extLst>
              <a:ext uri="{FF2B5EF4-FFF2-40B4-BE49-F238E27FC236}">
                <a16:creationId xmlns:a16="http://schemas.microsoft.com/office/drawing/2014/main" id="{EE91B9F8-E74F-7B64-853B-4E32411B1A29}"/>
              </a:ext>
            </a:extLst>
          </p:cNvPr>
          <p:cNvSpPr>
            <a:spLocks/>
          </p:cNvSpPr>
          <p:nvPr/>
        </p:nvSpPr>
        <p:spPr bwMode="auto">
          <a:xfrm>
            <a:off x="2566988" y="1770460"/>
            <a:ext cx="175022" cy="265509"/>
          </a:xfrm>
          <a:custGeom>
            <a:avLst/>
            <a:gdLst>
              <a:gd name="G0" fmla="+- 21600 0 0"/>
              <a:gd name="G1" fmla="+- 21600 0 0"/>
              <a:gd name="G2" fmla="+- 21600 0 0"/>
              <a:gd name="T0" fmla="*/ 0 w 21600"/>
              <a:gd name="T1" fmla="*/ 21600 h 21600"/>
              <a:gd name="T2" fmla="*/ 21453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28"/>
                  <a:pt x="9581" y="81"/>
                  <a:pt x="21453" y="0"/>
                </a:cubicBezTo>
              </a:path>
              <a:path w="21600" h="21600" stroke="0" extrusionOk="0">
                <a:moveTo>
                  <a:pt x="0" y="21599"/>
                </a:moveTo>
                <a:cubicBezTo>
                  <a:pt x="0" y="9728"/>
                  <a:pt x="9581" y="81"/>
                  <a:pt x="21453" y="0"/>
                </a:cubicBezTo>
                <a:lnTo>
                  <a:pt x="21600" y="2160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176" name="Arc 24">
            <a:extLst>
              <a:ext uri="{FF2B5EF4-FFF2-40B4-BE49-F238E27FC236}">
                <a16:creationId xmlns:a16="http://schemas.microsoft.com/office/drawing/2014/main" id="{B35CB948-63D3-69AD-AC48-87CC3E2B82FF}"/>
              </a:ext>
            </a:extLst>
          </p:cNvPr>
          <p:cNvSpPr>
            <a:spLocks/>
          </p:cNvSpPr>
          <p:nvPr/>
        </p:nvSpPr>
        <p:spPr bwMode="auto">
          <a:xfrm>
            <a:off x="2740819" y="2808685"/>
            <a:ext cx="208360" cy="228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177" name="Arc 25">
            <a:extLst>
              <a:ext uri="{FF2B5EF4-FFF2-40B4-BE49-F238E27FC236}">
                <a16:creationId xmlns:a16="http://schemas.microsoft.com/office/drawing/2014/main" id="{333F267A-1246-9A1A-4C7B-5AF23AB65907}"/>
              </a:ext>
            </a:extLst>
          </p:cNvPr>
          <p:cNvSpPr>
            <a:spLocks/>
          </p:cNvSpPr>
          <p:nvPr/>
        </p:nvSpPr>
        <p:spPr bwMode="auto">
          <a:xfrm>
            <a:off x="2665810" y="2237185"/>
            <a:ext cx="76200" cy="857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grpSp>
        <p:nvGrpSpPr>
          <p:cNvPr id="49222" name="Group 70">
            <a:extLst>
              <a:ext uri="{FF2B5EF4-FFF2-40B4-BE49-F238E27FC236}">
                <a16:creationId xmlns:a16="http://schemas.microsoft.com/office/drawing/2014/main" id="{C9F9AD55-3572-55FD-4104-AAA7D6B4174C}"/>
              </a:ext>
            </a:extLst>
          </p:cNvPr>
          <p:cNvGrpSpPr>
            <a:grpSpLocks/>
          </p:cNvGrpSpPr>
          <p:nvPr/>
        </p:nvGrpSpPr>
        <p:grpSpPr bwMode="auto">
          <a:xfrm>
            <a:off x="3245644" y="2743201"/>
            <a:ext cx="1859756" cy="822722"/>
            <a:chOff x="2126" y="2304"/>
            <a:chExt cx="1562" cy="691"/>
          </a:xfrm>
        </p:grpSpPr>
        <p:grpSp>
          <p:nvGrpSpPr>
            <p:cNvPr id="49197" name="Group 45">
              <a:extLst>
                <a:ext uri="{FF2B5EF4-FFF2-40B4-BE49-F238E27FC236}">
                  <a16:creationId xmlns:a16="http://schemas.microsoft.com/office/drawing/2014/main" id="{59FE218D-B950-EC41-69C3-6B78C9F3CCC2}"/>
                </a:ext>
              </a:extLst>
            </p:cNvPr>
            <p:cNvGrpSpPr>
              <a:grpSpLocks/>
            </p:cNvGrpSpPr>
            <p:nvPr/>
          </p:nvGrpSpPr>
          <p:grpSpPr bwMode="auto">
            <a:xfrm>
              <a:off x="2126" y="2304"/>
              <a:ext cx="509" cy="691"/>
              <a:chOff x="2126" y="2304"/>
              <a:chExt cx="509" cy="691"/>
            </a:xfrm>
          </p:grpSpPr>
          <p:sp>
            <p:nvSpPr>
              <p:cNvPr id="49178" name="Freeform 26">
                <a:extLst>
                  <a:ext uri="{FF2B5EF4-FFF2-40B4-BE49-F238E27FC236}">
                    <a16:creationId xmlns:a16="http://schemas.microsoft.com/office/drawing/2014/main" id="{4CF80BB0-25AD-F157-709A-66CD9F1EACC2}"/>
                  </a:ext>
                </a:extLst>
              </p:cNvPr>
              <p:cNvSpPr>
                <a:spLocks/>
              </p:cNvSpPr>
              <p:nvPr/>
            </p:nvSpPr>
            <p:spPr bwMode="auto">
              <a:xfrm>
                <a:off x="2126" y="2304"/>
                <a:ext cx="509" cy="691"/>
              </a:xfrm>
              <a:custGeom>
                <a:avLst/>
                <a:gdLst>
                  <a:gd name="T0" fmla="*/ 4 w 509"/>
                  <a:gd name="T1" fmla="*/ 126 h 691"/>
                  <a:gd name="T2" fmla="*/ 2 w 509"/>
                  <a:gd name="T3" fmla="*/ 183 h 691"/>
                  <a:gd name="T4" fmla="*/ 11 w 509"/>
                  <a:gd name="T5" fmla="*/ 238 h 691"/>
                  <a:gd name="T6" fmla="*/ 78 w 509"/>
                  <a:gd name="T7" fmla="*/ 320 h 691"/>
                  <a:gd name="T8" fmla="*/ 130 w 509"/>
                  <a:gd name="T9" fmla="*/ 387 h 691"/>
                  <a:gd name="T10" fmla="*/ 151 w 509"/>
                  <a:gd name="T11" fmla="*/ 446 h 691"/>
                  <a:gd name="T12" fmla="*/ 173 w 509"/>
                  <a:gd name="T13" fmla="*/ 553 h 691"/>
                  <a:gd name="T14" fmla="*/ 197 w 509"/>
                  <a:gd name="T15" fmla="*/ 672 h 691"/>
                  <a:gd name="T16" fmla="*/ 203 w 509"/>
                  <a:gd name="T17" fmla="*/ 684 h 691"/>
                  <a:gd name="T18" fmla="*/ 213 w 509"/>
                  <a:gd name="T19" fmla="*/ 689 h 691"/>
                  <a:gd name="T20" fmla="*/ 226 w 509"/>
                  <a:gd name="T21" fmla="*/ 690 h 691"/>
                  <a:gd name="T22" fmla="*/ 238 w 509"/>
                  <a:gd name="T23" fmla="*/ 687 h 691"/>
                  <a:gd name="T24" fmla="*/ 247 w 509"/>
                  <a:gd name="T25" fmla="*/ 678 h 691"/>
                  <a:gd name="T26" fmla="*/ 251 w 509"/>
                  <a:gd name="T27" fmla="*/ 663 h 691"/>
                  <a:gd name="T28" fmla="*/ 251 w 509"/>
                  <a:gd name="T29" fmla="*/ 641 h 691"/>
                  <a:gd name="T30" fmla="*/ 235 w 509"/>
                  <a:gd name="T31" fmla="*/ 538 h 691"/>
                  <a:gd name="T32" fmla="*/ 244 w 509"/>
                  <a:gd name="T33" fmla="*/ 525 h 691"/>
                  <a:gd name="T34" fmla="*/ 316 w 509"/>
                  <a:gd name="T35" fmla="*/ 623 h 691"/>
                  <a:gd name="T36" fmla="*/ 372 w 509"/>
                  <a:gd name="T37" fmla="*/ 683 h 691"/>
                  <a:gd name="T38" fmla="*/ 386 w 509"/>
                  <a:gd name="T39" fmla="*/ 680 h 691"/>
                  <a:gd name="T40" fmla="*/ 396 w 509"/>
                  <a:gd name="T41" fmla="*/ 671 h 691"/>
                  <a:gd name="T42" fmla="*/ 400 w 509"/>
                  <a:gd name="T43" fmla="*/ 660 h 691"/>
                  <a:gd name="T44" fmla="*/ 403 w 509"/>
                  <a:gd name="T45" fmla="*/ 649 h 691"/>
                  <a:gd name="T46" fmla="*/ 403 w 509"/>
                  <a:gd name="T47" fmla="*/ 639 h 691"/>
                  <a:gd name="T48" fmla="*/ 399 w 509"/>
                  <a:gd name="T49" fmla="*/ 623 h 691"/>
                  <a:gd name="T50" fmla="*/ 387 w 509"/>
                  <a:gd name="T51" fmla="*/ 601 h 691"/>
                  <a:gd name="T52" fmla="*/ 351 w 509"/>
                  <a:gd name="T53" fmla="*/ 561 h 691"/>
                  <a:gd name="T54" fmla="*/ 403 w 509"/>
                  <a:gd name="T55" fmla="*/ 548 h 691"/>
                  <a:gd name="T56" fmla="*/ 465 w 509"/>
                  <a:gd name="T57" fmla="*/ 571 h 691"/>
                  <a:gd name="T58" fmla="*/ 482 w 509"/>
                  <a:gd name="T59" fmla="*/ 574 h 691"/>
                  <a:gd name="T60" fmla="*/ 493 w 509"/>
                  <a:gd name="T61" fmla="*/ 568 h 691"/>
                  <a:gd name="T62" fmla="*/ 500 w 509"/>
                  <a:gd name="T63" fmla="*/ 556 h 691"/>
                  <a:gd name="T64" fmla="*/ 504 w 509"/>
                  <a:gd name="T65" fmla="*/ 540 h 691"/>
                  <a:gd name="T66" fmla="*/ 502 w 509"/>
                  <a:gd name="T67" fmla="*/ 528 h 691"/>
                  <a:gd name="T68" fmla="*/ 496 w 509"/>
                  <a:gd name="T69" fmla="*/ 519 h 691"/>
                  <a:gd name="T70" fmla="*/ 485 w 509"/>
                  <a:gd name="T71" fmla="*/ 510 h 691"/>
                  <a:gd name="T72" fmla="*/ 426 w 509"/>
                  <a:gd name="T73" fmla="*/ 474 h 691"/>
                  <a:gd name="T74" fmla="*/ 387 w 509"/>
                  <a:gd name="T75" fmla="*/ 448 h 691"/>
                  <a:gd name="T76" fmla="*/ 376 w 509"/>
                  <a:gd name="T77" fmla="*/ 425 h 691"/>
                  <a:gd name="T78" fmla="*/ 369 w 509"/>
                  <a:gd name="T79" fmla="*/ 387 h 691"/>
                  <a:gd name="T80" fmla="*/ 353 w 509"/>
                  <a:gd name="T81" fmla="*/ 340 h 691"/>
                  <a:gd name="T82" fmla="*/ 341 w 509"/>
                  <a:gd name="T83" fmla="*/ 297 h 691"/>
                  <a:gd name="T84" fmla="*/ 326 w 509"/>
                  <a:gd name="T85" fmla="*/ 259 h 691"/>
                  <a:gd name="T86" fmla="*/ 314 w 509"/>
                  <a:gd name="T87" fmla="*/ 206 h 691"/>
                  <a:gd name="T88" fmla="*/ 304 w 509"/>
                  <a:gd name="T89" fmla="*/ 163 h 691"/>
                  <a:gd name="T90" fmla="*/ 314 w 509"/>
                  <a:gd name="T91" fmla="*/ 138 h 691"/>
                  <a:gd name="T92" fmla="*/ 371 w 509"/>
                  <a:gd name="T93" fmla="*/ 119 h 691"/>
                  <a:gd name="T94" fmla="*/ 418 w 509"/>
                  <a:gd name="T95" fmla="*/ 107 h 691"/>
                  <a:gd name="T96" fmla="*/ 451 w 509"/>
                  <a:gd name="T97" fmla="*/ 94 h 691"/>
                  <a:gd name="T98" fmla="*/ 479 w 509"/>
                  <a:gd name="T99" fmla="*/ 76 h 691"/>
                  <a:gd name="T100" fmla="*/ 492 w 509"/>
                  <a:gd name="T101" fmla="*/ 63 h 691"/>
                  <a:gd name="T102" fmla="*/ 501 w 509"/>
                  <a:gd name="T103" fmla="*/ 46 h 691"/>
                  <a:gd name="T104" fmla="*/ 507 w 509"/>
                  <a:gd name="T105" fmla="*/ 29 h 691"/>
                  <a:gd name="T106" fmla="*/ 508 w 509"/>
                  <a:gd name="T107" fmla="*/ 13 h 691"/>
                  <a:gd name="T108" fmla="*/ 503 w 509"/>
                  <a:gd name="T109" fmla="*/ 4 h 691"/>
                  <a:gd name="T110" fmla="*/ 496 w 509"/>
                  <a:gd name="T111" fmla="*/ 0 h 691"/>
                  <a:gd name="T112" fmla="*/ 447 w 509"/>
                  <a:gd name="T113" fmla="*/ 25 h 691"/>
                  <a:gd name="T114" fmla="*/ 405 w 509"/>
                  <a:gd name="T115" fmla="*/ 32 h 691"/>
                  <a:gd name="T116" fmla="*/ 364 w 509"/>
                  <a:gd name="T117" fmla="*/ 41 h 691"/>
                  <a:gd name="T118" fmla="*/ 302 w 509"/>
                  <a:gd name="T119" fmla="*/ 44 h 691"/>
                  <a:gd name="T120" fmla="*/ 184 w 509"/>
                  <a:gd name="T121" fmla="*/ 59 h 691"/>
                  <a:gd name="T122" fmla="*/ 111 w 509"/>
                  <a:gd name="T123" fmla="*/ 69 h 691"/>
                  <a:gd name="T124" fmla="*/ 29 w 509"/>
                  <a:gd name="T125" fmla="*/ 64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9" h="691">
                    <a:moveTo>
                      <a:pt x="29" y="64"/>
                    </a:moveTo>
                    <a:lnTo>
                      <a:pt x="4" y="126"/>
                    </a:lnTo>
                    <a:lnTo>
                      <a:pt x="0" y="148"/>
                    </a:lnTo>
                    <a:lnTo>
                      <a:pt x="2" y="183"/>
                    </a:lnTo>
                    <a:lnTo>
                      <a:pt x="4" y="208"/>
                    </a:lnTo>
                    <a:lnTo>
                      <a:pt x="11" y="238"/>
                    </a:lnTo>
                    <a:lnTo>
                      <a:pt x="27" y="273"/>
                    </a:lnTo>
                    <a:lnTo>
                      <a:pt x="78" y="320"/>
                    </a:lnTo>
                    <a:lnTo>
                      <a:pt x="120" y="369"/>
                    </a:lnTo>
                    <a:lnTo>
                      <a:pt x="130" y="387"/>
                    </a:lnTo>
                    <a:lnTo>
                      <a:pt x="140" y="406"/>
                    </a:lnTo>
                    <a:lnTo>
                      <a:pt x="151" y="446"/>
                    </a:lnTo>
                    <a:lnTo>
                      <a:pt x="162" y="515"/>
                    </a:lnTo>
                    <a:lnTo>
                      <a:pt x="173" y="553"/>
                    </a:lnTo>
                    <a:lnTo>
                      <a:pt x="188" y="609"/>
                    </a:lnTo>
                    <a:lnTo>
                      <a:pt x="197" y="672"/>
                    </a:lnTo>
                    <a:lnTo>
                      <a:pt x="199" y="679"/>
                    </a:lnTo>
                    <a:lnTo>
                      <a:pt x="203" y="684"/>
                    </a:lnTo>
                    <a:lnTo>
                      <a:pt x="208" y="687"/>
                    </a:lnTo>
                    <a:lnTo>
                      <a:pt x="213" y="689"/>
                    </a:lnTo>
                    <a:lnTo>
                      <a:pt x="220" y="690"/>
                    </a:lnTo>
                    <a:lnTo>
                      <a:pt x="226" y="690"/>
                    </a:lnTo>
                    <a:lnTo>
                      <a:pt x="233" y="689"/>
                    </a:lnTo>
                    <a:lnTo>
                      <a:pt x="238" y="687"/>
                    </a:lnTo>
                    <a:lnTo>
                      <a:pt x="243" y="683"/>
                    </a:lnTo>
                    <a:lnTo>
                      <a:pt x="247" y="678"/>
                    </a:lnTo>
                    <a:lnTo>
                      <a:pt x="250" y="670"/>
                    </a:lnTo>
                    <a:lnTo>
                      <a:pt x="251" y="663"/>
                    </a:lnTo>
                    <a:lnTo>
                      <a:pt x="251" y="650"/>
                    </a:lnTo>
                    <a:lnTo>
                      <a:pt x="251" y="641"/>
                    </a:lnTo>
                    <a:lnTo>
                      <a:pt x="244" y="595"/>
                    </a:lnTo>
                    <a:lnTo>
                      <a:pt x="235" y="538"/>
                    </a:lnTo>
                    <a:lnTo>
                      <a:pt x="229" y="490"/>
                    </a:lnTo>
                    <a:lnTo>
                      <a:pt x="244" y="525"/>
                    </a:lnTo>
                    <a:lnTo>
                      <a:pt x="284" y="578"/>
                    </a:lnTo>
                    <a:lnTo>
                      <a:pt x="316" y="623"/>
                    </a:lnTo>
                    <a:lnTo>
                      <a:pt x="365" y="680"/>
                    </a:lnTo>
                    <a:lnTo>
                      <a:pt x="372" y="683"/>
                    </a:lnTo>
                    <a:lnTo>
                      <a:pt x="379" y="683"/>
                    </a:lnTo>
                    <a:lnTo>
                      <a:pt x="386" y="680"/>
                    </a:lnTo>
                    <a:lnTo>
                      <a:pt x="392" y="675"/>
                    </a:lnTo>
                    <a:lnTo>
                      <a:pt x="396" y="671"/>
                    </a:lnTo>
                    <a:lnTo>
                      <a:pt x="399" y="665"/>
                    </a:lnTo>
                    <a:lnTo>
                      <a:pt x="400" y="660"/>
                    </a:lnTo>
                    <a:lnTo>
                      <a:pt x="402" y="654"/>
                    </a:lnTo>
                    <a:lnTo>
                      <a:pt x="403" y="649"/>
                    </a:lnTo>
                    <a:lnTo>
                      <a:pt x="403" y="644"/>
                    </a:lnTo>
                    <a:lnTo>
                      <a:pt x="403" y="639"/>
                    </a:lnTo>
                    <a:lnTo>
                      <a:pt x="401" y="633"/>
                    </a:lnTo>
                    <a:lnTo>
                      <a:pt x="399" y="623"/>
                    </a:lnTo>
                    <a:lnTo>
                      <a:pt x="396" y="616"/>
                    </a:lnTo>
                    <a:lnTo>
                      <a:pt x="387" y="601"/>
                    </a:lnTo>
                    <a:lnTo>
                      <a:pt x="376" y="585"/>
                    </a:lnTo>
                    <a:lnTo>
                      <a:pt x="351" y="561"/>
                    </a:lnTo>
                    <a:lnTo>
                      <a:pt x="323" y="507"/>
                    </a:lnTo>
                    <a:lnTo>
                      <a:pt x="403" y="548"/>
                    </a:lnTo>
                    <a:lnTo>
                      <a:pt x="456" y="568"/>
                    </a:lnTo>
                    <a:lnTo>
                      <a:pt x="465" y="571"/>
                    </a:lnTo>
                    <a:lnTo>
                      <a:pt x="474" y="574"/>
                    </a:lnTo>
                    <a:lnTo>
                      <a:pt x="482" y="574"/>
                    </a:lnTo>
                    <a:lnTo>
                      <a:pt x="488" y="571"/>
                    </a:lnTo>
                    <a:lnTo>
                      <a:pt x="493" y="568"/>
                    </a:lnTo>
                    <a:lnTo>
                      <a:pt x="497" y="563"/>
                    </a:lnTo>
                    <a:lnTo>
                      <a:pt x="500" y="556"/>
                    </a:lnTo>
                    <a:lnTo>
                      <a:pt x="503" y="549"/>
                    </a:lnTo>
                    <a:lnTo>
                      <a:pt x="504" y="540"/>
                    </a:lnTo>
                    <a:lnTo>
                      <a:pt x="504" y="534"/>
                    </a:lnTo>
                    <a:lnTo>
                      <a:pt x="502" y="528"/>
                    </a:lnTo>
                    <a:lnTo>
                      <a:pt x="499" y="524"/>
                    </a:lnTo>
                    <a:lnTo>
                      <a:pt x="496" y="519"/>
                    </a:lnTo>
                    <a:lnTo>
                      <a:pt x="490" y="514"/>
                    </a:lnTo>
                    <a:lnTo>
                      <a:pt x="485" y="510"/>
                    </a:lnTo>
                    <a:lnTo>
                      <a:pt x="456" y="493"/>
                    </a:lnTo>
                    <a:lnTo>
                      <a:pt x="426" y="474"/>
                    </a:lnTo>
                    <a:lnTo>
                      <a:pt x="401" y="456"/>
                    </a:lnTo>
                    <a:lnTo>
                      <a:pt x="387" y="448"/>
                    </a:lnTo>
                    <a:lnTo>
                      <a:pt x="376" y="443"/>
                    </a:lnTo>
                    <a:lnTo>
                      <a:pt x="376" y="425"/>
                    </a:lnTo>
                    <a:lnTo>
                      <a:pt x="375" y="407"/>
                    </a:lnTo>
                    <a:lnTo>
                      <a:pt x="369" y="387"/>
                    </a:lnTo>
                    <a:lnTo>
                      <a:pt x="358" y="363"/>
                    </a:lnTo>
                    <a:lnTo>
                      <a:pt x="353" y="340"/>
                    </a:lnTo>
                    <a:lnTo>
                      <a:pt x="348" y="318"/>
                    </a:lnTo>
                    <a:lnTo>
                      <a:pt x="341" y="297"/>
                    </a:lnTo>
                    <a:lnTo>
                      <a:pt x="334" y="279"/>
                    </a:lnTo>
                    <a:lnTo>
                      <a:pt x="326" y="259"/>
                    </a:lnTo>
                    <a:lnTo>
                      <a:pt x="321" y="236"/>
                    </a:lnTo>
                    <a:lnTo>
                      <a:pt x="314" y="206"/>
                    </a:lnTo>
                    <a:lnTo>
                      <a:pt x="310" y="190"/>
                    </a:lnTo>
                    <a:lnTo>
                      <a:pt x="304" y="163"/>
                    </a:lnTo>
                    <a:lnTo>
                      <a:pt x="309" y="148"/>
                    </a:lnTo>
                    <a:lnTo>
                      <a:pt x="314" y="138"/>
                    </a:lnTo>
                    <a:lnTo>
                      <a:pt x="326" y="127"/>
                    </a:lnTo>
                    <a:lnTo>
                      <a:pt x="371" y="119"/>
                    </a:lnTo>
                    <a:lnTo>
                      <a:pt x="392" y="113"/>
                    </a:lnTo>
                    <a:lnTo>
                      <a:pt x="418" y="107"/>
                    </a:lnTo>
                    <a:lnTo>
                      <a:pt x="434" y="101"/>
                    </a:lnTo>
                    <a:lnTo>
                      <a:pt x="451" y="94"/>
                    </a:lnTo>
                    <a:lnTo>
                      <a:pt x="471" y="81"/>
                    </a:lnTo>
                    <a:lnTo>
                      <a:pt x="479" y="76"/>
                    </a:lnTo>
                    <a:lnTo>
                      <a:pt x="487" y="69"/>
                    </a:lnTo>
                    <a:lnTo>
                      <a:pt x="492" y="63"/>
                    </a:lnTo>
                    <a:lnTo>
                      <a:pt x="498" y="54"/>
                    </a:lnTo>
                    <a:lnTo>
                      <a:pt x="501" y="46"/>
                    </a:lnTo>
                    <a:lnTo>
                      <a:pt x="505" y="37"/>
                    </a:lnTo>
                    <a:lnTo>
                      <a:pt x="507" y="29"/>
                    </a:lnTo>
                    <a:lnTo>
                      <a:pt x="508" y="22"/>
                    </a:lnTo>
                    <a:lnTo>
                      <a:pt x="508" y="13"/>
                    </a:lnTo>
                    <a:lnTo>
                      <a:pt x="505" y="7"/>
                    </a:lnTo>
                    <a:lnTo>
                      <a:pt x="503" y="4"/>
                    </a:lnTo>
                    <a:lnTo>
                      <a:pt x="500" y="2"/>
                    </a:lnTo>
                    <a:lnTo>
                      <a:pt x="496" y="0"/>
                    </a:lnTo>
                    <a:lnTo>
                      <a:pt x="482" y="7"/>
                    </a:lnTo>
                    <a:lnTo>
                      <a:pt x="447" y="25"/>
                    </a:lnTo>
                    <a:lnTo>
                      <a:pt x="420" y="35"/>
                    </a:lnTo>
                    <a:lnTo>
                      <a:pt x="405" y="32"/>
                    </a:lnTo>
                    <a:lnTo>
                      <a:pt x="382" y="40"/>
                    </a:lnTo>
                    <a:lnTo>
                      <a:pt x="364" y="41"/>
                    </a:lnTo>
                    <a:lnTo>
                      <a:pt x="342" y="42"/>
                    </a:lnTo>
                    <a:lnTo>
                      <a:pt x="302" y="44"/>
                    </a:lnTo>
                    <a:lnTo>
                      <a:pt x="235" y="57"/>
                    </a:lnTo>
                    <a:lnTo>
                      <a:pt x="184" y="59"/>
                    </a:lnTo>
                    <a:lnTo>
                      <a:pt x="138" y="69"/>
                    </a:lnTo>
                    <a:lnTo>
                      <a:pt x="111" y="69"/>
                    </a:lnTo>
                    <a:lnTo>
                      <a:pt x="71" y="62"/>
                    </a:lnTo>
                    <a:lnTo>
                      <a:pt x="29" y="64"/>
                    </a:lnTo>
                  </a:path>
                </a:pathLst>
              </a:custGeom>
              <a:solidFill>
                <a:srgbClr val="FF9F9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79" name="Freeform 27">
                <a:extLst>
                  <a:ext uri="{FF2B5EF4-FFF2-40B4-BE49-F238E27FC236}">
                    <a16:creationId xmlns:a16="http://schemas.microsoft.com/office/drawing/2014/main" id="{569BDB4C-A024-5F62-469D-7502D155E079}"/>
                  </a:ext>
                </a:extLst>
              </p:cNvPr>
              <p:cNvSpPr>
                <a:spLocks/>
              </p:cNvSpPr>
              <p:nvPr/>
            </p:nvSpPr>
            <p:spPr bwMode="auto">
              <a:xfrm>
                <a:off x="2581" y="2305"/>
                <a:ext cx="46" cy="26"/>
              </a:xfrm>
              <a:custGeom>
                <a:avLst/>
                <a:gdLst>
                  <a:gd name="T0" fmla="*/ 0 w 46"/>
                  <a:gd name="T1" fmla="*/ 20 h 26"/>
                  <a:gd name="T2" fmla="*/ 3 w 46"/>
                  <a:gd name="T3" fmla="*/ 23 h 26"/>
                  <a:gd name="T4" fmla="*/ 7 w 46"/>
                  <a:gd name="T5" fmla="*/ 24 h 26"/>
                  <a:gd name="T6" fmla="*/ 12 w 46"/>
                  <a:gd name="T7" fmla="*/ 25 h 26"/>
                  <a:gd name="T8" fmla="*/ 15 w 46"/>
                  <a:gd name="T9" fmla="*/ 25 h 26"/>
                  <a:gd name="T10" fmla="*/ 20 w 46"/>
                  <a:gd name="T11" fmla="*/ 24 h 26"/>
                  <a:gd name="T12" fmla="*/ 28 w 46"/>
                  <a:gd name="T13" fmla="*/ 22 h 26"/>
                  <a:gd name="T14" fmla="*/ 33 w 46"/>
                  <a:gd name="T15" fmla="*/ 19 h 26"/>
                  <a:gd name="T16" fmla="*/ 38 w 46"/>
                  <a:gd name="T17" fmla="*/ 16 h 26"/>
                  <a:gd name="T18" fmla="*/ 44 w 46"/>
                  <a:gd name="T19" fmla="*/ 13 h 26"/>
                  <a:gd name="T20" fmla="*/ 45 w 46"/>
                  <a:gd name="T21" fmla="*/ 10 h 26"/>
                  <a:gd name="T22" fmla="*/ 45 w 46"/>
                  <a:gd name="T23" fmla="*/ 6 h 26"/>
                  <a:gd name="T24" fmla="*/ 41 w 46"/>
                  <a:gd name="T25" fmla="*/ 3 h 26"/>
                  <a:gd name="T26" fmla="*/ 38 w 46"/>
                  <a:gd name="T27" fmla="*/ 0 h 26"/>
                  <a:gd name="T28" fmla="*/ 26 w 46"/>
                  <a:gd name="T29" fmla="*/ 6 h 26"/>
                  <a:gd name="T30" fmla="*/ 0 w 46"/>
                  <a:gd name="T31"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26">
                    <a:moveTo>
                      <a:pt x="0" y="20"/>
                    </a:moveTo>
                    <a:lnTo>
                      <a:pt x="3" y="23"/>
                    </a:lnTo>
                    <a:lnTo>
                      <a:pt x="7" y="24"/>
                    </a:lnTo>
                    <a:lnTo>
                      <a:pt x="12" y="25"/>
                    </a:lnTo>
                    <a:lnTo>
                      <a:pt x="15" y="25"/>
                    </a:lnTo>
                    <a:lnTo>
                      <a:pt x="20" y="24"/>
                    </a:lnTo>
                    <a:lnTo>
                      <a:pt x="28" y="22"/>
                    </a:lnTo>
                    <a:lnTo>
                      <a:pt x="33" y="19"/>
                    </a:lnTo>
                    <a:lnTo>
                      <a:pt x="38" y="16"/>
                    </a:lnTo>
                    <a:lnTo>
                      <a:pt x="44" y="13"/>
                    </a:lnTo>
                    <a:lnTo>
                      <a:pt x="45" y="10"/>
                    </a:lnTo>
                    <a:lnTo>
                      <a:pt x="45" y="6"/>
                    </a:lnTo>
                    <a:lnTo>
                      <a:pt x="41" y="3"/>
                    </a:lnTo>
                    <a:lnTo>
                      <a:pt x="38" y="0"/>
                    </a:lnTo>
                    <a:lnTo>
                      <a:pt x="26" y="6"/>
                    </a:lnTo>
                    <a:lnTo>
                      <a:pt x="0" y="20"/>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nvGrpSpPr>
              <p:cNvPr id="49196" name="Group 44">
                <a:extLst>
                  <a:ext uri="{FF2B5EF4-FFF2-40B4-BE49-F238E27FC236}">
                    <a16:creationId xmlns:a16="http://schemas.microsoft.com/office/drawing/2014/main" id="{27AB660C-0DC8-AF02-E52D-FAD3AEA0E36F}"/>
                  </a:ext>
                </a:extLst>
              </p:cNvPr>
              <p:cNvGrpSpPr>
                <a:grpSpLocks/>
              </p:cNvGrpSpPr>
              <p:nvPr/>
            </p:nvGrpSpPr>
            <p:grpSpPr bwMode="auto">
              <a:xfrm>
                <a:off x="2212" y="2338"/>
                <a:ext cx="413" cy="652"/>
                <a:chOff x="2212" y="2338"/>
                <a:chExt cx="413" cy="652"/>
              </a:xfrm>
            </p:grpSpPr>
            <p:sp>
              <p:nvSpPr>
                <p:cNvPr id="49180" name="Freeform 28">
                  <a:extLst>
                    <a:ext uri="{FF2B5EF4-FFF2-40B4-BE49-F238E27FC236}">
                      <a16:creationId xmlns:a16="http://schemas.microsoft.com/office/drawing/2014/main" id="{19A84428-CE1E-572E-7678-71F43EFC6200}"/>
                    </a:ext>
                  </a:extLst>
                </p:cNvPr>
                <p:cNvSpPr>
                  <a:spLocks/>
                </p:cNvSpPr>
                <p:nvPr/>
              </p:nvSpPr>
              <p:spPr bwMode="auto">
                <a:xfrm>
                  <a:off x="2314" y="2501"/>
                  <a:ext cx="188" cy="272"/>
                </a:xfrm>
                <a:custGeom>
                  <a:avLst/>
                  <a:gdLst>
                    <a:gd name="T0" fmla="*/ 0 w 188"/>
                    <a:gd name="T1" fmla="*/ 0 h 272"/>
                    <a:gd name="T2" fmla="*/ 16 w 188"/>
                    <a:gd name="T3" fmla="*/ 12 h 272"/>
                    <a:gd name="T4" fmla="*/ 27 w 188"/>
                    <a:gd name="T5" fmla="*/ 32 h 272"/>
                    <a:gd name="T6" fmla="*/ 51 w 188"/>
                    <a:gd name="T7" fmla="*/ 70 h 272"/>
                    <a:gd name="T8" fmla="*/ 66 w 188"/>
                    <a:gd name="T9" fmla="*/ 94 h 272"/>
                    <a:gd name="T10" fmla="*/ 77 w 188"/>
                    <a:gd name="T11" fmla="*/ 125 h 272"/>
                    <a:gd name="T12" fmla="*/ 81 w 188"/>
                    <a:gd name="T13" fmla="*/ 143 h 272"/>
                    <a:gd name="T14" fmla="*/ 99 w 188"/>
                    <a:gd name="T15" fmla="*/ 174 h 272"/>
                    <a:gd name="T16" fmla="*/ 122 w 188"/>
                    <a:gd name="T17" fmla="*/ 218 h 272"/>
                    <a:gd name="T18" fmla="*/ 138 w 188"/>
                    <a:gd name="T19" fmla="*/ 249 h 272"/>
                    <a:gd name="T20" fmla="*/ 149 w 188"/>
                    <a:gd name="T21" fmla="*/ 269 h 272"/>
                    <a:gd name="T22" fmla="*/ 153 w 188"/>
                    <a:gd name="T23" fmla="*/ 270 h 272"/>
                    <a:gd name="T24" fmla="*/ 159 w 188"/>
                    <a:gd name="T25" fmla="*/ 271 h 272"/>
                    <a:gd name="T26" fmla="*/ 167 w 188"/>
                    <a:gd name="T27" fmla="*/ 270 h 272"/>
                    <a:gd name="T28" fmla="*/ 175 w 188"/>
                    <a:gd name="T29" fmla="*/ 267 h 272"/>
                    <a:gd name="T30" fmla="*/ 180 w 188"/>
                    <a:gd name="T31" fmla="*/ 262 h 272"/>
                    <a:gd name="T32" fmla="*/ 184 w 188"/>
                    <a:gd name="T33" fmla="*/ 253 h 272"/>
                    <a:gd name="T34" fmla="*/ 187 w 188"/>
                    <a:gd name="T35" fmla="*/ 242 h 272"/>
                    <a:gd name="T36" fmla="*/ 187 w 188"/>
                    <a:gd name="T37" fmla="*/ 22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8" h="272">
                      <a:moveTo>
                        <a:pt x="0" y="0"/>
                      </a:moveTo>
                      <a:lnTo>
                        <a:pt x="16" y="12"/>
                      </a:lnTo>
                      <a:lnTo>
                        <a:pt x="27" y="32"/>
                      </a:lnTo>
                      <a:lnTo>
                        <a:pt x="51" y="70"/>
                      </a:lnTo>
                      <a:lnTo>
                        <a:pt x="66" y="94"/>
                      </a:lnTo>
                      <a:lnTo>
                        <a:pt x="77" y="125"/>
                      </a:lnTo>
                      <a:lnTo>
                        <a:pt x="81" y="143"/>
                      </a:lnTo>
                      <a:lnTo>
                        <a:pt x="99" y="174"/>
                      </a:lnTo>
                      <a:lnTo>
                        <a:pt x="122" y="218"/>
                      </a:lnTo>
                      <a:lnTo>
                        <a:pt x="138" y="249"/>
                      </a:lnTo>
                      <a:lnTo>
                        <a:pt x="149" y="269"/>
                      </a:lnTo>
                      <a:lnTo>
                        <a:pt x="153" y="270"/>
                      </a:lnTo>
                      <a:lnTo>
                        <a:pt x="159" y="271"/>
                      </a:lnTo>
                      <a:lnTo>
                        <a:pt x="167" y="270"/>
                      </a:lnTo>
                      <a:lnTo>
                        <a:pt x="175" y="267"/>
                      </a:lnTo>
                      <a:lnTo>
                        <a:pt x="180" y="262"/>
                      </a:lnTo>
                      <a:lnTo>
                        <a:pt x="184" y="253"/>
                      </a:lnTo>
                      <a:lnTo>
                        <a:pt x="187" y="242"/>
                      </a:lnTo>
                      <a:lnTo>
                        <a:pt x="187" y="22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1" name="Freeform 29">
                  <a:extLst>
                    <a:ext uri="{FF2B5EF4-FFF2-40B4-BE49-F238E27FC236}">
                      <a16:creationId xmlns:a16="http://schemas.microsoft.com/office/drawing/2014/main" id="{9ACF3CE5-B76B-D2DB-9B5F-DF70E92E3696}"/>
                    </a:ext>
                  </a:extLst>
                </p:cNvPr>
                <p:cNvSpPr>
                  <a:spLocks/>
                </p:cNvSpPr>
                <p:nvPr/>
              </p:nvSpPr>
              <p:spPr bwMode="auto">
                <a:xfrm>
                  <a:off x="2279" y="2596"/>
                  <a:ext cx="177" cy="219"/>
                </a:xfrm>
                <a:custGeom>
                  <a:avLst/>
                  <a:gdLst>
                    <a:gd name="T0" fmla="*/ 0 w 177"/>
                    <a:gd name="T1" fmla="*/ 0 h 219"/>
                    <a:gd name="T2" fmla="*/ 18 w 177"/>
                    <a:gd name="T3" fmla="*/ 30 h 219"/>
                    <a:gd name="T4" fmla="*/ 49 w 177"/>
                    <a:gd name="T5" fmla="*/ 57 h 219"/>
                    <a:gd name="T6" fmla="*/ 70 w 177"/>
                    <a:gd name="T7" fmla="*/ 82 h 219"/>
                    <a:gd name="T8" fmla="*/ 90 w 177"/>
                    <a:gd name="T9" fmla="*/ 113 h 219"/>
                    <a:gd name="T10" fmla="*/ 112 w 177"/>
                    <a:gd name="T11" fmla="*/ 145 h 219"/>
                    <a:gd name="T12" fmla="*/ 136 w 177"/>
                    <a:gd name="T13" fmla="*/ 187 h 219"/>
                    <a:gd name="T14" fmla="*/ 152 w 177"/>
                    <a:gd name="T15" fmla="*/ 200 h 219"/>
                    <a:gd name="T16" fmla="*/ 176 w 177"/>
                    <a:gd name="T17" fmla="*/ 21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19">
                      <a:moveTo>
                        <a:pt x="0" y="0"/>
                      </a:moveTo>
                      <a:lnTo>
                        <a:pt x="18" y="30"/>
                      </a:lnTo>
                      <a:lnTo>
                        <a:pt x="49" y="57"/>
                      </a:lnTo>
                      <a:lnTo>
                        <a:pt x="70" y="82"/>
                      </a:lnTo>
                      <a:lnTo>
                        <a:pt x="90" y="113"/>
                      </a:lnTo>
                      <a:lnTo>
                        <a:pt x="112" y="145"/>
                      </a:lnTo>
                      <a:lnTo>
                        <a:pt x="136" y="187"/>
                      </a:lnTo>
                      <a:lnTo>
                        <a:pt x="152" y="200"/>
                      </a:lnTo>
                      <a:lnTo>
                        <a:pt x="176" y="21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2" name="Freeform 30">
                  <a:extLst>
                    <a:ext uri="{FF2B5EF4-FFF2-40B4-BE49-F238E27FC236}">
                      <a16:creationId xmlns:a16="http://schemas.microsoft.com/office/drawing/2014/main" id="{4B622BF5-D559-C1A4-B658-114F51EA9BFD}"/>
                    </a:ext>
                  </a:extLst>
                </p:cNvPr>
                <p:cNvSpPr>
                  <a:spLocks/>
                </p:cNvSpPr>
                <p:nvPr/>
              </p:nvSpPr>
              <p:spPr bwMode="auto">
                <a:xfrm>
                  <a:off x="2268" y="2649"/>
                  <a:ext cx="88" cy="147"/>
                </a:xfrm>
                <a:custGeom>
                  <a:avLst/>
                  <a:gdLst>
                    <a:gd name="T0" fmla="*/ 0 w 88"/>
                    <a:gd name="T1" fmla="*/ 0 h 147"/>
                    <a:gd name="T2" fmla="*/ 29 w 88"/>
                    <a:gd name="T3" fmla="*/ 41 h 147"/>
                    <a:gd name="T4" fmla="*/ 51 w 88"/>
                    <a:gd name="T5" fmla="*/ 78 h 147"/>
                    <a:gd name="T6" fmla="*/ 71 w 88"/>
                    <a:gd name="T7" fmla="*/ 116 h 147"/>
                    <a:gd name="T8" fmla="*/ 87 w 88"/>
                    <a:gd name="T9" fmla="*/ 146 h 147"/>
                  </a:gdLst>
                  <a:ahLst/>
                  <a:cxnLst>
                    <a:cxn ang="0">
                      <a:pos x="T0" y="T1"/>
                    </a:cxn>
                    <a:cxn ang="0">
                      <a:pos x="T2" y="T3"/>
                    </a:cxn>
                    <a:cxn ang="0">
                      <a:pos x="T4" y="T5"/>
                    </a:cxn>
                    <a:cxn ang="0">
                      <a:pos x="T6" y="T7"/>
                    </a:cxn>
                    <a:cxn ang="0">
                      <a:pos x="T8" y="T9"/>
                    </a:cxn>
                  </a:cxnLst>
                  <a:rect l="0" t="0" r="r" b="b"/>
                  <a:pathLst>
                    <a:path w="88" h="147">
                      <a:moveTo>
                        <a:pt x="0" y="0"/>
                      </a:moveTo>
                      <a:lnTo>
                        <a:pt x="29" y="41"/>
                      </a:lnTo>
                      <a:lnTo>
                        <a:pt x="51" y="78"/>
                      </a:lnTo>
                      <a:lnTo>
                        <a:pt x="71" y="116"/>
                      </a:lnTo>
                      <a:lnTo>
                        <a:pt x="87" y="14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3" name="Freeform 31">
                  <a:extLst>
                    <a:ext uri="{FF2B5EF4-FFF2-40B4-BE49-F238E27FC236}">
                      <a16:creationId xmlns:a16="http://schemas.microsoft.com/office/drawing/2014/main" id="{254B35A5-FFB8-8739-9929-5ABEF6B0FDE3}"/>
                    </a:ext>
                  </a:extLst>
                </p:cNvPr>
                <p:cNvSpPr>
                  <a:spLocks/>
                </p:cNvSpPr>
                <p:nvPr/>
              </p:nvSpPr>
              <p:spPr bwMode="auto">
                <a:xfrm>
                  <a:off x="2531" y="2338"/>
                  <a:ext cx="17" cy="25"/>
                </a:xfrm>
                <a:custGeom>
                  <a:avLst/>
                  <a:gdLst>
                    <a:gd name="T0" fmla="*/ 0 w 17"/>
                    <a:gd name="T1" fmla="*/ 0 h 25"/>
                    <a:gd name="T2" fmla="*/ 16 w 17"/>
                    <a:gd name="T3" fmla="*/ 9 h 25"/>
                    <a:gd name="T4" fmla="*/ 16 w 17"/>
                    <a:gd name="T5" fmla="*/ 18 h 25"/>
                    <a:gd name="T6" fmla="*/ 12 w 17"/>
                    <a:gd name="T7" fmla="*/ 24 h 25"/>
                  </a:gdLst>
                  <a:ahLst/>
                  <a:cxnLst>
                    <a:cxn ang="0">
                      <a:pos x="T0" y="T1"/>
                    </a:cxn>
                    <a:cxn ang="0">
                      <a:pos x="T2" y="T3"/>
                    </a:cxn>
                    <a:cxn ang="0">
                      <a:pos x="T4" y="T5"/>
                    </a:cxn>
                    <a:cxn ang="0">
                      <a:pos x="T6" y="T7"/>
                    </a:cxn>
                  </a:cxnLst>
                  <a:rect l="0" t="0" r="r" b="b"/>
                  <a:pathLst>
                    <a:path w="17" h="25">
                      <a:moveTo>
                        <a:pt x="0" y="0"/>
                      </a:moveTo>
                      <a:lnTo>
                        <a:pt x="16" y="9"/>
                      </a:lnTo>
                      <a:lnTo>
                        <a:pt x="16" y="18"/>
                      </a:lnTo>
                      <a:lnTo>
                        <a:pt x="12" y="24"/>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4" name="Freeform 32">
                  <a:extLst>
                    <a:ext uri="{FF2B5EF4-FFF2-40B4-BE49-F238E27FC236}">
                      <a16:creationId xmlns:a16="http://schemas.microsoft.com/office/drawing/2014/main" id="{5692D05B-C145-4B01-2892-911DDE85B39B}"/>
                    </a:ext>
                  </a:extLst>
                </p:cNvPr>
                <p:cNvSpPr>
                  <a:spLocks/>
                </p:cNvSpPr>
                <p:nvPr/>
              </p:nvSpPr>
              <p:spPr bwMode="auto">
                <a:xfrm>
                  <a:off x="2527" y="2338"/>
                  <a:ext cx="17" cy="25"/>
                </a:xfrm>
                <a:custGeom>
                  <a:avLst/>
                  <a:gdLst>
                    <a:gd name="T0" fmla="*/ 0 w 17"/>
                    <a:gd name="T1" fmla="*/ 0 h 25"/>
                    <a:gd name="T2" fmla="*/ 16 w 17"/>
                    <a:gd name="T3" fmla="*/ 9 h 25"/>
                    <a:gd name="T4" fmla="*/ 16 w 17"/>
                    <a:gd name="T5" fmla="*/ 18 h 25"/>
                    <a:gd name="T6" fmla="*/ 12 w 17"/>
                    <a:gd name="T7" fmla="*/ 24 h 25"/>
                  </a:gdLst>
                  <a:ahLst/>
                  <a:cxnLst>
                    <a:cxn ang="0">
                      <a:pos x="T0" y="T1"/>
                    </a:cxn>
                    <a:cxn ang="0">
                      <a:pos x="T2" y="T3"/>
                    </a:cxn>
                    <a:cxn ang="0">
                      <a:pos x="T4" y="T5"/>
                    </a:cxn>
                    <a:cxn ang="0">
                      <a:pos x="T6" y="T7"/>
                    </a:cxn>
                  </a:cxnLst>
                  <a:rect l="0" t="0" r="r" b="b"/>
                  <a:pathLst>
                    <a:path w="17" h="25">
                      <a:moveTo>
                        <a:pt x="0" y="0"/>
                      </a:moveTo>
                      <a:lnTo>
                        <a:pt x="16" y="9"/>
                      </a:lnTo>
                      <a:lnTo>
                        <a:pt x="16" y="18"/>
                      </a:lnTo>
                      <a:lnTo>
                        <a:pt x="12" y="24"/>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5" name="Freeform 33">
                  <a:extLst>
                    <a:ext uri="{FF2B5EF4-FFF2-40B4-BE49-F238E27FC236}">
                      <a16:creationId xmlns:a16="http://schemas.microsoft.com/office/drawing/2014/main" id="{691A8565-641B-DD5D-D2B4-4EBAE01B4F89}"/>
                    </a:ext>
                  </a:extLst>
                </p:cNvPr>
                <p:cNvSpPr>
                  <a:spLocks/>
                </p:cNvSpPr>
                <p:nvPr/>
              </p:nvSpPr>
              <p:spPr bwMode="auto">
                <a:xfrm>
                  <a:off x="2440" y="2411"/>
                  <a:ext cx="38" cy="29"/>
                </a:xfrm>
                <a:custGeom>
                  <a:avLst/>
                  <a:gdLst>
                    <a:gd name="T0" fmla="*/ 37 w 38"/>
                    <a:gd name="T1" fmla="*/ 0 h 29"/>
                    <a:gd name="T2" fmla="*/ 18 w 38"/>
                    <a:gd name="T3" fmla="*/ 8 h 29"/>
                    <a:gd name="T4" fmla="*/ 10 w 38"/>
                    <a:gd name="T5" fmla="*/ 16 h 29"/>
                    <a:gd name="T6" fmla="*/ 0 w 38"/>
                    <a:gd name="T7" fmla="*/ 28 h 29"/>
                  </a:gdLst>
                  <a:ahLst/>
                  <a:cxnLst>
                    <a:cxn ang="0">
                      <a:pos x="T0" y="T1"/>
                    </a:cxn>
                    <a:cxn ang="0">
                      <a:pos x="T2" y="T3"/>
                    </a:cxn>
                    <a:cxn ang="0">
                      <a:pos x="T4" y="T5"/>
                    </a:cxn>
                    <a:cxn ang="0">
                      <a:pos x="T6" y="T7"/>
                    </a:cxn>
                  </a:cxnLst>
                  <a:rect l="0" t="0" r="r" b="b"/>
                  <a:pathLst>
                    <a:path w="38" h="29">
                      <a:moveTo>
                        <a:pt x="37" y="0"/>
                      </a:moveTo>
                      <a:lnTo>
                        <a:pt x="18" y="8"/>
                      </a:lnTo>
                      <a:lnTo>
                        <a:pt x="10" y="16"/>
                      </a:lnTo>
                      <a:lnTo>
                        <a:pt x="0" y="2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6" name="Freeform 34">
                  <a:extLst>
                    <a:ext uri="{FF2B5EF4-FFF2-40B4-BE49-F238E27FC236}">
                      <a16:creationId xmlns:a16="http://schemas.microsoft.com/office/drawing/2014/main" id="{1AE64474-1077-98CE-B42C-F1507DDF919B}"/>
                    </a:ext>
                  </a:extLst>
                </p:cNvPr>
                <p:cNvSpPr>
                  <a:spLocks/>
                </p:cNvSpPr>
                <p:nvPr/>
              </p:nvSpPr>
              <p:spPr bwMode="auto">
                <a:xfrm>
                  <a:off x="2212" y="2373"/>
                  <a:ext cx="55" cy="17"/>
                </a:xfrm>
                <a:custGeom>
                  <a:avLst/>
                  <a:gdLst>
                    <a:gd name="T0" fmla="*/ 0 w 55"/>
                    <a:gd name="T1" fmla="*/ 16 h 17"/>
                    <a:gd name="T2" fmla="*/ 32 w 55"/>
                    <a:gd name="T3" fmla="*/ 12 h 17"/>
                    <a:gd name="T4" fmla="*/ 54 w 55"/>
                    <a:gd name="T5" fmla="*/ 0 h 17"/>
                  </a:gdLst>
                  <a:ahLst/>
                  <a:cxnLst>
                    <a:cxn ang="0">
                      <a:pos x="T0" y="T1"/>
                    </a:cxn>
                    <a:cxn ang="0">
                      <a:pos x="T2" y="T3"/>
                    </a:cxn>
                    <a:cxn ang="0">
                      <a:pos x="T4" y="T5"/>
                    </a:cxn>
                  </a:cxnLst>
                  <a:rect l="0" t="0" r="r" b="b"/>
                  <a:pathLst>
                    <a:path w="55" h="17">
                      <a:moveTo>
                        <a:pt x="0" y="16"/>
                      </a:moveTo>
                      <a:lnTo>
                        <a:pt x="32" y="12"/>
                      </a:lnTo>
                      <a:lnTo>
                        <a:pt x="54"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7" name="Freeform 35">
                  <a:extLst>
                    <a:ext uri="{FF2B5EF4-FFF2-40B4-BE49-F238E27FC236}">
                      <a16:creationId xmlns:a16="http://schemas.microsoft.com/office/drawing/2014/main" id="{3D6BA512-80E4-E1BF-79A9-B2B9205653A5}"/>
                    </a:ext>
                  </a:extLst>
                </p:cNvPr>
                <p:cNvSpPr>
                  <a:spLocks/>
                </p:cNvSpPr>
                <p:nvPr/>
              </p:nvSpPr>
              <p:spPr bwMode="auto">
                <a:xfrm>
                  <a:off x="2469" y="2654"/>
                  <a:ext cx="17" cy="18"/>
                </a:xfrm>
                <a:custGeom>
                  <a:avLst/>
                  <a:gdLst>
                    <a:gd name="T0" fmla="*/ 0 w 17"/>
                    <a:gd name="T1" fmla="*/ 0 h 18"/>
                    <a:gd name="T2" fmla="*/ 10 w 17"/>
                    <a:gd name="T3" fmla="*/ 10 h 18"/>
                    <a:gd name="T4" fmla="*/ 16 w 17"/>
                    <a:gd name="T5" fmla="*/ 17 h 18"/>
                  </a:gdLst>
                  <a:ahLst/>
                  <a:cxnLst>
                    <a:cxn ang="0">
                      <a:pos x="T0" y="T1"/>
                    </a:cxn>
                    <a:cxn ang="0">
                      <a:pos x="T2" y="T3"/>
                    </a:cxn>
                    <a:cxn ang="0">
                      <a:pos x="T4" y="T5"/>
                    </a:cxn>
                  </a:cxnLst>
                  <a:rect l="0" t="0" r="r" b="b"/>
                  <a:pathLst>
                    <a:path w="17" h="18">
                      <a:moveTo>
                        <a:pt x="0" y="0"/>
                      </a:moveTo>
                      <a:lnTo>
                        <a:pt x="10" y="10"/>
                      </a:lnTo>
                      <a:lnTo>
                        <a:pt x="16" y="1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8" name="Freeform 36">
                  <a:extLst>
                    <a:ext uri="{FF2B5EF4-FFF2-40B4-BE49-F238E27FC236}">
                      <a16:creationId xmlns:a16="http://schemas.microsoft.com/office/drawing/2014/main" id="{DE7E3964-482E-7884-4F87-73AD8A126519}"/>
                    </a:ext>
                  </a:extLst>
                </p:cNvPr>
                <p:cNvSpPr>
                  <a:spLocks/>
                </p:cNvSpPr>
                <p:nvPr/>
              </p:nvSpPr>
              <p:spPr bwMode="auto">
                <a:xfrm>
                  <a:off x="2440" y="2550"/>
                  <a:ext cx="17" cy="19"/>
                </a:xfrm>
                <a:custGeom>
                  <a:avLst/>
                  <a:gdLst>
                    <a:gd name="T0" fmla="*/ 0 w 17"/>
                    <a:gd name="T1" fmla="*/ 0 h 19"/>
                    <a:gd name="T2" fmla="*/ 9 w 17"/>
                    <a:gd name="T3" fmla="*/ 11 h 19"/>
                    <a:gd name="T4" fmla="*/ 16 w 17"/>
                    <a:gd name="T5" fmla="*/ 18 h 19"/>
                  </a:gdLst>
                  <a:ahLst/>
                  <a:cxnLst>
                    <a:cxn ang="0">
                      <a:pos x="T0" y="T1"/>
                    </a:cxn>
                    <a:cxn ang="0">
                      <a:pos x="T2" y="T3"/>
                    </a:cxn>
                    <a:cxn ang="0">
                      <a:pos x="T4" y="T5"/>
                    </a:cxn>
                  </a:cxnLst>
                  <a:rect l="0" t="0" r="r" b="b"/>
                  <a:pathLst>
                    <a:path w="17" h="19">
                      <a:moveTo>
                        <a:pt x="0" y="0"/>
                      </a:moveTo>
                      <a:lnTo>
                        <a:pt x="9" y="11"/>
                      </a:lnTo>
                      <a:lnTo>
                        <a:pt x="16" y="1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89" name="Freeform 37">
                  <a:extLst>
                    <a:ext uri="{FF2B5EF4-FFF2-40B4-BE49-F238E27FC236}">
                      <a16:creationId xmlns:a16="http://schemas.microsoft.com/office/drawing/2014/main" id="{5B2BD7C1-9157-0C44-72E4-43910C8BE0DA}"/>
                    </a:ext>
                  </a:extLst>
                </p:cNvPr>
                <p:cNvSpPr>
                  <a:spLocks/>
                </p:cNvSpPr>
                <p:nvPr/>
              </p:nvSpPr>
              <p:spPr bwMode="auto">
                <a:xfrm>
                  <a:off x="2224" y="2569"/>
                  <a:ext cx="38" cy="76"/>
                </a:xfrm>
                <a:custGeom>
                  <a:avLst/>
                  <a:gdLst>
                    <a:gd name="T0" fmla="*/ 0 w 38"/>
                    <a:gd name="T1" fmla="*/ 0 h 76"/>
                    <a:gd name="T2" fmla="*/ 13 w 38"/>
                    <a:gd name="T3" fmla="*/ 12 h 76"/>
                    <a:gd name="T4" fmla="*/ 37 w 38"/>
                    <a:gd name="T5" fmla="*/ 75 h 76"/>
                  </a:gdLst>
                  <a:ahLst/>
                  <a:cxnLst>
                    <a:cxn ang="0">
                      <a:pos x="T0" y="T1"/>
                    </a:cxn>
                    <a:cxn ang="0">
                      <a:pos x="T2" y="T3"/>
                    </a:cxn>
                    <a:cxn ang="0">
                      <a:pos x="T4" y="T5"/>
                    </a:cxn>
                  </a:cxnLst>
                  <a:rect l="0" t="0" r="r" b="b"/>
                  <a:pathLst>
                    <a:path w="38" h="76">
                      <a:moveTo>
                        <a:pt x="0" y="0"/>
                      </a:moveTo>
                      <a:lnTo>
                        <a:pt x="13" y="12"/>
                      </a:lnTo>
                      <a:lnTo>
                        <a:pt x="37" y="75"/>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90" name="Freeform 38">
                  <a:extLst>
                    <a:ext uri="{FF2B5EF4-FFF2-40B4-BE49-F238E27FC236}">
                      <a16:creationId xmlns:a16="http://schemas.microsoft.com/office/drawing/2014/main" id="{5B6F4C0E-3A3E-A852-7554-4A815455CBEA}"/>
                    </a:ext>
                  </a:extLst>
                </p:cNvPr>
                <p:cNvSpPr>
                  <a:spLocks/>
                </p:cNvSpPr>
                <p:nvPr/>
              </p:nvSpPr>
              <p:spPr bwMode="auto">
                <a:xfrm>
                  <a:off x="2294" y="2827"/>
                  <a:ext cx="24" cy="17"/>
                </a:xfrm>
                <a:custGeom>
                  <a:avLst/>
                  <a:gdLst>
                    <a:gd name="T0" fmla="*/ 0 w 24"/>
                    <a:gd name="T1" fmla="*/ 16 h 17"/>
                    <a:gd name="T2" fmla="*/ 5 w 24"/>
                    <a:gd name="T3" fmla="*/ 9 h 17"/>
                    <a:gd name="T4" fmla="*/ 9 w 24"/>
                    <a:gd name="T5" fmla="*/ 4 h 17"/>
                    <a:gd name="T6" fmla="*/ 15 w 24"/>
                    <a:gd name="T7" fmla="*/ 0 h 17"/>
                    <a:gd name="T8" fmla="*/ 23 w 24"/>
                    <a:gd name="T9" fmla="*/ 0 h 17"/>
                  </a:gdLst>
                  <a:ahLst/>
                  <a:cxnLst>
                    <a:cxn ang="0">
                      <a:pos x="T0" y="T1"/>
                    </a:cxn>
                    <a:cxn ang="0">
                      <a:pos x="T2" y="T3"/>
                    </a:cxn>
                    <a:cxn ang="0">
                      <a:pos x="T4" y="T5"/>
                    </a:cxn>
                    <a:cxn ang="0">
                      <a:pos x="T6" y="T7"/>
                    </a:cxn>
                    <a:cxn ang="0">
                      <a:pos x="T8" y="T9"/>
                    </a:cxn>
                  </a:cxnLst>
                  <a:rect l="0" t="0" r="r" b="b"/>
                  <a:pathLst>
                    <a:path w="24" h="17">
                      <a:moveTo>
                        <a:pt x="0" y="16"/>
                      </a:moveTo>
                      <a:lnTo>
                        <a:pt x="5" y="9"/>
                      </a:lnTo>
                      <a:lnTo>
                        <a:pt x="9" y="4"/>
                      </a:lnTo>
                      <a:lnTo>
                        <a:pt x="15" y="0"/>
                      </a:lnTo>
                      <a:lnTo>
                        <a:pt x="23"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91" name="Freeform 39">
                  <a:extLst>
                    <a:ext uri="{FF2B5EF4-FFF2-40B4-BE49-F238E27FC236}">
                      <a16:creationId xmlns:a16="http://schemas.microsoft.com/office/drawing/2014/main" id="{90F230F4-D6FA-97E6-D543-1AFDCA2D2DE8}"/>
                    </a:ext>
                  </a:extLst>
                </p:cNvPr>
                <p:cNvSpPr>
                  <a:spLocks/>
                </p:cNvSpPr>
                <p:nvPr/>
              </p:nvSpPr>
              <p:spPr bwMode="auto">
                <a:xfrm>
                  <a:off x="2318" y="2937"/>
                  <a:ext cx="30" cy="53"/>
                </a:xfrm>
                <a:custGeom>
                  <a:avLst/>
                  <a:gdLst>
                    <a:gd name="T0" fmla="*/ 0 w 30"/>
                    <a:gd name="T1" fmla="*/ 0 h 53"/>
                    <a:gd name="T2" fmla="*/ 7 w 30"/>
                    <a:gd name="T3" fmla="*/ 0 h 53"/>
                    <a:gd name="T4" fmla="*/ 13 w 30"/>
                    <a:gd name="T5" fmla="*/ 0 h 53"/>
                    <a:gd name="T6" fmla="*/ 16 w 30"/>
                    <a:gd name="T7" fmla="*/ 1 h 53"/>
                    <a:gd name="T8" fmla="*/ 19 w 30"/>
                    <a:gd name="T9" fmla="*/ 4 h 53"/>
                    <a:gd name="T10" fmla="*/ 22 w 30"/>
                    <a:gd name="T11" fmla="*/ 7 h 53"/>
                    <a:gd name="T12" fmla="*/ 23 w 30"/>
                    <a:gd name="T13" fmla="*/ 11 h 53"/>
                    <a:gd name="T14" fmla="*/ 29 w 30"/>
                    <a:gd name="T15" fmla="*/ 51 h 53"/>
                    <a:gd name="T16" fmla="*/ 22 w 30"/>
                    <a:gd name="T17" fmla="*/ 52 h 53"/>
                    <a:gd name="T18" fmla="*/ 16 w 30"/>
                    <a:gd name="T19" fmla="*/ 52 h 53"/>
                    <a:gd name="T20" fmla="*/ 12 w 30"/>
                    <a:gd name="T21" fmla="*/ 50 h 53"/>
                    <a:gd name="T22" fmla="*/ 10 w 30"/>
                    <a:gd name="T23" fmla="*/ 49 h 53"/>
                    <a:gd name="T24" fmla="*/ 7 w 30"/>
                    <a:gd name="T25" fmla="*/ 45 h 53"/>
                    <a:gd name="T26" fmla="*/ 5 w 30"/>
                    <a:gd name="T27" fmla="*/ 41 h 53"/>
                    <a:gd name="T28" fmla="*/ 0 w 30"/>
                    <a:gd name="T2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3">
                      <a:moveTo>
                        <a:pt x="0" y="0"/>
                      </a:moveTo>
                      <a:lnTo>
                        <a:pt x="7" y="0"/>
                      </a:lnTo>
                      <a:lnTo>
                        <a:pt x="13" y="0"/>
                      </a:lnTo>
                      <a:lnTo>
                        <a:pt x="16" y="1"/>
                      </a:lnTo>
                      <a:lnTo>
                        <a:pt x="19" y="4"/>
                      </a:lnTo>
                      <a:lnTo>
                        <a:pt x="22" y="7"/>
                      </a:lnTo>
                      <a:lnTo>
                        <a:pt x="23" y="11"/>
                      </a:lnTo>
                      <a:lnTo>
                        <a:pt x="29" y="51"/>
                      </a:lnTo>
                      <a:lnTo>
                        <a:pt x="22" y="52"/>
                      </a:lnTo>
                      <a:lnTo>
                        <a:pt x="16" y="52"/>
                      </a:lnTo>
                      <a:lnTo>
                        <a:pt x="12" y="50"/>
                      </a:lnTo>
                      <a:lnTo>
                        <a:pt x="10" y="49"/>
                      </a:lnTo>
                      <a:lnTo>
                        <a:pt x="7" y="45"/>
                      </a:lnTo>
                      <a:lnTo>
                        <a:pt x="5" y="41"/>
                      </a:lnTo>
                      <a:lnTo>
                        <a:pt x="0" y="0"/>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92" name="Freeform 40">
                  <a:extLst>
                    <a:ext uri="{FF2B5EF4-FFF2-40B4-BE49-F238E27FC236}">
                      <a16:creationId xmlns:a16="http://schemas.microsoft.com/office/drawing/2014/main" id="{B53EB550-B047-7A47-2B25-887A115DE1AF}"/>
                    </a:ext>
                  </a:extLst>
                </p:cNvPr>
                <p:cNvSpPr>
                  <a:spLocks/>
                </p:cNvSpPr>
                <p:nvPr/>
              </p:nvSpPr>
              <p:spPr bwMode="auto">
                <a:xfrm>
                  <a:off x="2464" y="2942"/>
                  <a:ext cx="49" cy="43"/>
                </a:xfrm>
                <a:custGeom>
                  <a:avLst/>
                  <a:gdLst>
                    <a:gd name="T0" fmla="*/ 0 w 49"/>
                    <a:gd name="T1" fmla="*/ 10 h 43"/>
                    <a:gd name="T2" fmla="*/ 4 w 49"/>
                    <a:gd name="T3" fmla="*/ 7 h 43"/>
                    <a:gd name="T4" fmla="*/ 7 w 49"/>
                    <a:gd name="T5" fmla="*/ 4 h 43"/>
                    <a:gd name="T6" fmla="*/ 11 w 49"/>
                    <a:gd name="T7" fmla="*/ 2 h 43"/>
                    <a:gd name="T8" fmla="*/ 17 w 49"/>
                    <a:gd name="T9" fmla="*/ 0 h 43"/>
                    <a:gd name="T10" fmla="*/ 21 w 49"/>
                    <a:gd name="T11" fmla="*/ 0 h 43"/>
                    <a:gd name="T12" fmla="*/ 26 w 49"/>
                    <a:gd name="T13" fmla="*/ 0 h 43"/>
                    <a:gd name="T14" fmla="*/ 30 w 49"/>
                    <a:gd name="T15" fmla="*/ 1 h 43"/>
                    <a:gd name="T16" fmla="*/ 33 w 49"/>
                    <a:gd name="T17" fmla="*/ 4 h 43"/>
                    <a:gd name="T18" fmla="*/ 44 w 49"/>
                    <a:gd name="T19" fmla="*/ 14 h 43"/>
                    <a:gd name="T20" fmla="*/ 47 w 49"/>
                    <a:gd name="T21" fmla="*/ 20 h 43"/>
                    <a:gd name="T22" fmla="*/ 48 w 49"/>
                    <a:gd name="T23" fmla="*/ 24 h 43"/>
                    <a:gd name="T24" fmla="*/ 48 w 49"/>
                    <a:gd name="T25" fmla="*/ 28 h 43"/>
                    <a:gd name="T26" fmla="*/ 46 w 49"/>
                    <a:gd name="T27" fmla="*/ 31 h 43"/>
                    <a:gd name="T28" fmla="*/ 44 w 49"/>
                    <a:gd name="T29" fmla="*/ 35 h 43"/>
                    <a:gd name="T30" fmla="*/ 40 w 49"/>
                    <a:gd name="T31" fmla="*/ 38 h 43"/>
                    <a:gd name="T32" fmla="*/ 37 w 49"/>
                    <a:gd name="T33" fmla="*/ 40 h 43"/>
                    <a:gd name="T34" fmla="*/ 33 w 49"/>
                    <a:gd name="T35" fmla="*/ 42 h 43"/>
                    <a:gd name="T36" fmla="*/ 29 w 49"/>
                    <a:gd name="T37" fmla="*/ 42 h 43"/>
                    <a:gd name="T38" fmla="*/ 27 w 49"/>
                    <a:gd name="T39" fmla="*/ 42 h 43"/>
                    <a:gd name="T40" fmla="*/ 0 w 49"/>
                    <a:gd name="T41" fmla="*/ 1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43">
                      <a:moveTo>
                        <a:pt x="0" y="10"/>
                      </a:moveTo>
                      <a:lnTo>
                        <a:pt x="4" y="7"/>
                      </a:lnTo>
                      <a:lnTo>
                        <a:pt x="7" y="4"/>
                      </a:lnTo>
                      <a:lnTo>
                        <a:pt x="11" y="2"/>
                      </a:lnTo>
                      <a:lnTo>
                        <a:pt x="17" y="0"/>
                      </a:lnTo>
                      <a:lnTo>
                        <a:pt x="21" y="0"/>
                      </a:lnTo>
                      <a:lnTo>
                        <a:pt x="26" y="0"/>
                      </a:lnTo>
                      <a:lnTo>
                        <a:pt x="30" y="1"/>
                      </a:lnTo>
                      <a:lnTo>
                        <a:pt x="33" y="4"/>
                      </a:lnTo>
                      <a:lnTo>
                        <a:pt x="44" y="14"/>
                      </a:lnTo>
                      <a:lnTo>
                        <a:pt x="47" y="20"/>
                      </a:lnTo>
                      <a:lnTo>
                        <a:pt x="48" y="24"/>
                      </a:lnTo>
                      <a:lnTo>
                        <a:pt x="48" y="28"/>
                      </a:lnTo>
                      <a:lnTo>
                        <a:pt x="46" y="31"/>
                      </a:lnTo>
                      <a:lnTo>
                        <a:pt x="44" y="35"/>
                      </a:lnTo>
                      <a:lnTo>
                        <a:pt x="40" y="38"/>
                      </a:lnTo>
                      <a:lnTo>
                        <a:pt x="37" y="40"/>
                      </a:lnTo>
                      <a:lnTo>
                        <a:pt x="33" y="42"/>
                      </a:lnTo>
                      <a:lnTo>
                        <a:pt x="29" y="42"/>
                      </a:lnTo>
                      <a:lnTo>
                        <a:pt x="27" y="42"/>
                      </a:lnTo>
                      <a:lnTo>
                        <a:pt x="0" y="10"/>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93" name="Freeform 41">
                  <a:extLst>
                    <a:ext uri="{FF2B5EF4-FFF2-40B4-BE49-F238E27FC236}">
                      <a16:creationId xmlns:a16="http://schemas.microsoft.com/office/drawing/2014/main" id="{F03421E2-420A-4CEA-F0B5-733C73013108}"/>
                    </a:ext>
                  </a:extLst>
                </p:cNvPr>
                <p:cNvSpPr>
                  <a:spLocks/>
                </p:cNvSpPr>
                <p:nvPr/>
              </p:nvSpPr>
              <p:spPr bwMode="auto">
                <a:xfrm>
                  <a:off x="2366" y="2799"/>
                  <a:ext cx="28" cy="20"/>
                </a:xfrm>
                <a:custGeom>
                  <a:avLst/>
                  <a:gdLst>
                    <a:gd name="T0" fmla="*/ 0 w 28"/>
                    <a:gd name="T1" fmla="*/ 19 h 20"/>
                    <a:gd name="T2" fmla="*/ 6 w 28"/>
                    <a:gd name="T3" fmla="*/ 13 h 20"/>
                    <a:gd name="T4" fmla="*/ 12 w 28"/>
                    <a:gd name="T5" fmla="*/ 8 h 20"/>
                    <a:gd name="T6" fmla="*/ 18 w 28"/>
                    <a:gd name="T7" fmla="*/ 4 h 20"/>
                    <a:gd name="T8" fmla="*/ 27 w 28"/>
                    <a:gd name="T9" fmla="*/ 0 h 20"/>
                  </a:gdLst>
                  <a:ahLst/>
                  <a:cxnLst>
                    <a:cxn ang="0">
                      <a:pos x="T0" y="T1"/>
                    </a:cxn>
                    <a:cxn ang="0">
                      <a:pos x="T2" y="T3"/>
                    </a:cxn>
                    <a:cxn ang="0">
                      <a:pos x="T4" y="T5"/>
                    </a:cxn>
                    <a:cxn ang="0">
                      <a:pos x="T6" y="T7"/>
                    </a:cxn>
                    <a:cxn ang="0">
                      <a:pos x="T8" y="T9"/>
                    </a:cxn>
                  </a:cxnLst>
                  <a:rect l="0" t="0" r="r" b="b"/>
                  <a:pathLst>
                    <a:path w="28" h="20">
                      <a:moveTo>
                        <a:pt x="0" y="19"/>
                      </a:moveTo>
                      <a:lnTo>
                        <a:pt x="6" y="13"/>
                      </a:lnTo>
                      <a:lnTo>
                        <a:pt x="12" y="8"/>
                      </a:lnTo>
                      <a:lnTo>
                        <a:pt x="18" y="4"/>
                      </a:lnTo>
                      <a:lnTo>
                        <a:pt x="27"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94" name="Freeform 42">
                  <a:extLst>
                    <a:ext uri="{FF2B5EF4-FFF2-40B4-BE49-F238E27FC236}">
                      <a16:creationId xmlns:a16="http://schemas.microsoft.com/office/drawing/2014/main" id="{642600CA-E088-F4DE-12BA-7919515FAFF3}"/>
                    </a:ext>
                  </a:extLst>
                </p:cNvPr>
                <p:cNvSpPr>
                  <a:spLocks/>
                </p:cNvSpPr>
                <p:nvPr/>
              </p:nvSpPr>
              <p:spPr bwMode="auto">
                <a:xfrm>
                  <a:off x="2565" y="2841"/>
                  <a:ext cx="60" cy="39"/>
                </a:xfrm>
                <a:custGeom>
                  <a:avLst/>
                  <a:gdLst>
                    <a:gd name="T0" fmla="*/ 0 w 60"/>
                    <a:gd name="T1" fmla="*/ 24 h 39"/>
                    <a:gd name="T2" fmla="*/ 0 w 60"/>
                    <a:gd name="T3" fmla="*/ 16 h 39"/>
                    <a:gd name="T4" fmla="*/ 2 w 60"/>
                    <a:gd name="T5" fmla="*/ 10 h 39"/>
                    <a:gd name="T6" fmla="*/ 4 w 60"/>
                    <a:gd name="T7" fmla="*/ 6 h 39"/>
                    <a:gd name="T8" fmla="*/ 10 w 60"/>
                    <a:gd name="T9" fmla="*/ 1 h 39"/>
                    <a:gd name="T10" fmla="*/ 16 w 60"/>
                    <a:gd name="T11" fmla="*/ 0 h 39"/>
                    <a:gd name="T12" fmla="*/ 23 w 60"/>
                    <a:gd name="T13" fmla="*/ 0 h 39"/>
                    <a:gd name="T14" fmla="*/ 33 w 60"/>
                    <a:gd name="T15" fmla="*/ 3 h 39"/>
                    <a:gd name="T16" fmla="*/ 41 w 60"/>
                    <a:gd name="T17" fmla="*/ 6 h 39"/>
                    <a:gd name="T18" fmla="*/ 54 w 60"/>
                    <a:gd name="T19" fmla="*/ 12 h 39"/>
                    <a:gd name="T20" fmla="*/ 57 w 60"/>
                    <a:gd name="T21" fmla="*/ 15 h 39"/>
                    <a:gd name="T22" fmla="*/ 59 w 60"/>
                    <a:gd name="T23" fmla="*/ 17 h 39"/>
                    <a:gd name="T24" fmla="*/ 57 w 60"/>
                    <a:gd name="T25" fmla="*/ 23 h 39"/>
                    <a:gd name="T26" fmla="*/ 54 w 60"/>
                    <a:gd name="T27" fmla="*/ 29 h 39"/>
                    <a:gd name="T28" fmla="*/ 50 w 60"/>
                    <a:gd name="T29" fmla="*/ 34 h 39"/>
                    <a:gd name="T30" fmla="*/ 43 w 60"/>
                    <a:gd name="T31" fmla="*/ 38 h 39"/>
                    <a:gd name="T32" fmla="*/ 39 w 60"/>
                    <a:gd name="T33" fmla="*/ 38 h 39"/>
                    <a:gd name="T34" fmla="*/ 0 w 60"/>
                    <a:gd name="T35" fmla="*/ 2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0" h="39">
                      <a:moveTo>
                        <a:pt x="0" y="24"/>
                      </a:moveTo>
                      <a:lnTo>
                        <a:pt x="0" y="16"/>
                      </a:lnTo>
                      <a:lnTo>
                        <a:pt x="2" y="10"/>
                      </a:lnTo>
                      <a:lnTo>
                        <a:pt x="4" y="6"/>
                      </a:lnTo>
                      <a:lnTo>
                        <a:pt x="10" y="1"/>
                      </a:lnTo>
                      <a:lnTo>
                        <a:pt x="16" y="0"/>
                      </a:lnTo>
                      <a:lnTo>
                        <a:pt x="23" y="0"/>
                      </a:lnTo>
                      <a:lnTo>
                        <a:pt x="33" y="3"/>
                      </a:lnTo>
                      <a:lnTo>
                        <a:pt x="41" y="6"/>
                      </a:lnTo>
                      <a:lnTo>
                        <a:pt x="54" y="12"/>
                      </a:lnTo>
                      <a:lnTo>
                        <a:pt x="57" y="15"/>
                      </a:lnTo>
                      <a:lnTo>
                        <a:pt x="59" y="17"/>
                      </a:lnTo>
                      <a:lnTo>
                        <a:pt x="57" y="23"/>
                      </a:lnTo>
                      <a:lnTo>
                        <a:pt x="54" y="29"/>
                      </a:lnTo>
                      <a:lnTo>
                        <a:pt x="50" y="34"/>
                      </a:lnTo>
                      <a:lnTo>
                        <a:pt x="43" y="38"/>
                      </a:lnTo>
                      <a:lnTo>
                        <a:pt x="39" y="38"/>
                      </a:lnTo>
                      <a:lnTo>
                        <a:pt x="0" y="24"/>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95" name="Freeform 43">
                  <a:extLst>
                    <a:ext uri="{FF2B5EF4-FFF2-40B4-BE49-F238E27FC236}">
                      <a16:creationId xmlns:a16="http://schemas.microsoft.com/office/drawing/2014/main" id="{42B98128-4BA8-5331-B50C-573C9504CDBC}"/>
                    </a:ext>
                  </a:extLst>
                </p:cNvPr>
                <p:cNvSpPr>
                  <a:spLocks/>
                </p:cNvSpPr>
                <p:nvPr/>
              </p:nvSpPr>
              <p:spPr bwMode="auto">
                <a:xfrm>
                  <a:off x="2444" y="2720"/>
                  <a:ext cx="35" cy="49"/>
                </a:xfrm>
                <a:custGeom>
                  <a:avLst/>
                  <a:gdLst>
                    <a:gd name="T0" fmla="*/ 0 w 35"/>
                    <a:gd name="T1" fmla="*/ 12 h 49"/>
                    <a:gd name="T2" fmla="*/ 5 w 35"/>
                    <a:gd name="T3" fmla="*/ 5 h 49"/>
                    <a:gd name="T4" fmla="*/ 11 w 35"/>
                    <a:gd name="T5" fmla="*/ 2 h 49"/>
                    <a:gd name="T6" fmla="*/ 17 w 35"/>
                    <a:gd name="T7" fmla="*/ 0 h 49"/>
                    <a:gd name="T8" fmla="*/ 23 w 35"/>
                    <a:gd name="T9" fmla="*/ 0 h 49"/>
                    <a:gd name="T10" fmla="*/ 27 w 35"/>
                    <a:gd name="T11" fmla="*/ 3 h 49"/>
                    <a:gd name="T12" fmla="*/ 30 w 35"/>
                    <a:gd name="T13" fmla="*/ 9 h 49"/>
                    <a:gd name="T14" fmla="*/ 33 w 35"/>
                    <a:gd name="T15" fmla="*/ 18 h 49"/>
                    <a:gd name="T16" fmla="*/ 34 w 35"/>
                    <a:gd name="T17" fmla="*/ 25 h 49"/>
                    <a:gd name="T18" fmla="*/ 34 w 35"/>
                    <a:gd name="T19" fmla="*/ 32 h 49"/>
                    <a:gd name="T20" fmla="*/ 33 w 35"/>
                    <a:gd name="T21" fmla="*/ 38 h 49"/>
                    <a:gd name="T22" fmla="*/ 29 w 35"/>
                    <a:gd name="T23" fmla="*/ 43 h 49"/>
                    <a:gd name="T24" fmla="*/ 26 w 35"/>
                    <a:gd name="T25" fmla="*/ 46 h 49"/>
                    <a:gd name="T26" fmla="*/ 19 w 35"/>
                    <a:gd name="T27" fmla="*/ 48 h 49"/>
                    <a:gd name="T28" fmla="*/ 8 w 35"/>
                    <a:gd name="T29" fmla="*/ 27 h 49"/>
                    <a:gd name="T30" fmla="*/ 0 w 35"/>
                    <a:gd name="T31" fmla="*/ 1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49">
                      <a:moveTo>
                        <a:pt x="0" y="12"/>
                      </a:moveTo>
                      <a:lnTo>
                        <a:pt x="5" y="5"/>
                      </a:lnTo>
                      <a:lnTo>
                        <a:pt x="11" y="2"/>
                      </a:lnTo>
                      <a:lnTo>
                        <a:pt x="17" y="0"/>
                      </a:lnTo>
                      <a:lnTo>
                        <a:pt x="23" y="0"/>
                      </a:lnTo>
                      <a:lnTo>
                        <a:pt x="27" y="3"/>
                      </a:lnTo>
                      <a:lnTo>
                        <a:pt x="30" y="9"/>
                      </a:lnTo>
                      <a:lnTo>
                        <a:pt x="33" y="18"/>
                      </a:lnTo>
                      <a:lnTo>
                        <a:pt x="34" y="25"/>
                      </a:lnTo>
                      <a:lnTo>
                        <a:pt x="34" y="32"/>
                      </a:lnTo>
                      <a:lnTo>
                        <a:pt x="33" y="38"/>
                      </a:lnTo>
                      <a:lnTo>
                        <a:pt x="29" y="43"/>
                      </a:lnTo>
                      <a:lnTo>
                        <a:pt x="26" y="46"/>
                      </a:lnTo>
                      <a:lnTo>
                        <a:pt x="19" y="48"/>
                      </a:lnTo>
                      <a:lnTo>
                        <a:pt x="8" y="27"/>
                      </a:lnTo>
                      <a:lnTo>
                        <a:pt x="0" y="12"/>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grpSp>
          <p:nvGrpSpPr>
            <p:cNvPr id="49215" name="Group 63">
              <a:extLst>
                <a:ext uri="{FF2B5EF4-FFF2-40B4-BE49-F238E27FC236}">
                  <a16:creationId xmlns:a16="http://schemas.microsoft.com/office/drawing/2014/main" id="{A3D6125E-E344-2B53-5C21-BD32DA0D2BC8}"/>
                </a:ext>
              </a:extLst>
            </p:cNvPr>
            <p:cNvGrpSpPr>
              <a:grpSpLocks/>
            </p:cNvGrpSpPr>
            <p:nvPr/>
          </p:nvGrpSpPr>
          <p:grpSpPr bwMode="auto">
            <a:xfrm>
              <a:off x="3166" y="2333"/>
              <a:ext cx="522" cy="635"/>
              <a:chOff x="3166" y="2333"/>
              <a:chExt cx="522" cy="635"/>
            </a:xfrm>
          </p:grpSpPr>
          <p:sp>
            <p:nvSpPr>
              <p:cNvPr id="49198" name="Freeform 46">
                <a:extLst>
                  <a:ext uri="{FF2B5EF4-FFF2-40B4-BE49-F238E27FC236}">
                    <a16:creationId xmlns:a16="http://schemas.microsoft.com/office/drawing/2014/main" id="{0669920B-A9EB-BF34-4B6B-D0646FB4B151}"/>
                  </a:ext>
                </a:extLst>
              </p:cNvPr>
              <p:cNvSpPr>
                <a:spLocks/>
              </p:cNvSpPr>
              <p:nvPr/>
            </p:nvSpPr>
            <p:spPr bwMode="auto">
              <a:xfrm>
                <a:off x="3166" y="2333"/>
                <a:ext cx="522" cy="635"/>
              </a:xfrm>
              <a:custGeom>
                <a:avLst/>
                <a:gdLst>
                  <a:gd name="T0" fmla="*/ 394 w 522"/>
                  <a:gd name="T1" fmla="*/ 30 h 635"/>
                  <a:gd name="T2" fmla="*/ 323 w 522"/>
                  <a:gd name="T3" fmla="*/ 28 h 635"/>
                  <a:gd name="T4" fmla="*/ 225 w 522"/>
                  <a:gd name="T5" fmla="*/ 8 h 635"/>
                  <a:gd name="T6" fmla="*/ 150 w 522"/>
                  <a:gd name="T7" fmla="*/ 8 h 635"/>
                  <a:gd name="T8" fmla="*/ 100 w 522"/>
                  <a:gd name="T9" fmla="*/ 1 h 635"/>
                  <a:gd name="T10" fmla="*/ 7 w 522"/>
                  <a:gd name="T11" fmla="*/ 8 h 635"/>
                  <a:gd name="T12" fmla="*/ 2 w 522"/>
                  <a:gd name="T13" fmla="*/ 16 h 635"/>
                  <a:gd name="T14" fmla="*/ 0 w 522"/>
                  <a:gd name="T15" fmla="*/ 31 h 635"/>
                  <a:gd name="T16" fmla="*/ 6 w 522"/>
                  <a:gd name="T17" fmla="*/ 46 h 635"/>
                  <a:gd name="T18" fmla="*/ 16 w 522"/>
                  <a:gd name="T19" fmla="*/ 56 h 635"/>
                  <a:gd name="T20" fmla="*/ 28 w 522"/>
                  <a:gd name="T21" fmla="*/ 63 h 635"/>
                  <a:gd name="T22" fmla="*/ 49 w 522"/>
                  <a:gd name="T23" fmla="*/ 69 h 635"/>
                  <a:gd name="T24" fmla="*/ 80 w 522"/>
                  <a:gd name="T25" fmla="*/ 74 h 635"/>
                  <a:gd name="T26" fmla="*/ 127 w 522"/>
                  <a:gd name="T27" fmla="*/ 72 h 635"/>
                  <a:gd name="T28" fmla="*/ 175 w 522"/>
                  <a:gd name="T29" fmla="*/ 84 h 635"/>
                  <a:gd name="T30" fmla="*/ 207 w 522"/>
                  <a:gd name="T31" fmla="*/ 121 h 635"/>
                  <a:gd name="T32" fmla="*/ 226 w 522"/>
                  <a:gd name="T33" fmla="*/ 160 h 635"/>
                  <a:gd name="T34" fmla="*/ 229 w 522"/>
                  <a:gd name="T35" fmla="*/ 207 h 635"/>
                  <a:gd name="T36" fmla="*/ 227 w 522"/>
                  <a:gd name="T37" fmla="*/ 271 h 635"/>
                  <a:gd name="T38" fmla="*/ 194 w 522"/>
                  <a:gd name="T39" fmla="*/ 338 h 635"/>
                  <a:gd name="T40" fmla="*/ 175 w 522"/>
                  <a:gd name="T41" fmla="*/ 362 h 635"/>
                  <a:gd name="T42" fmla="*/ 153 w 522"/>
                  <a:gd name="T43" fmla="*/ 390 h 635"/>
                  <a:gd name="T44" fmla="*/ 123 w 522"/>
                  <a:gd name="T45" fmla="*/ 407 h 635"/>
                  <a:gd name="T46" fmla="*/ 98 w 522"/>
                  <a:gd name="T47" fmla="*/ 428 h 635"/>
                  <a:gd name="T48" fmla="*/ 57 w 522"/>
                  <a:gd name="T49" fmla="*/ 449 h 635"/>
                  <a:gd name="T50" fmla="*/ 41 w 522"/>
                  <a:gd name="T51" fmla="*/ 461 h 635"/>
                  <a:gd name="T52" fmla="*/ 28 w 522"/>
                  <a:gd name="T53" fmla="*/ 473 h 635"/>
                  <a:gd name="T54" fmla="*/ 21 w 522"/>
                  <a:gd name="T55" fmla="*/ 486 h 635"/>
                  <a:gd name="T56" fmla="*/ 18 w 522"/>
                  <a:gd name="T57" fmla="*/ 502 h 635"/>
                  <a:gd name="T58" fmla="*/ 22 w 522"/>
                  <a:gd name="T59" fmla="*/ 516 h 635"/>
                  <a:gd name="T60" fmla="*/ 32 w 522"/>
                  <a:gd name="T61" fmla="*/ 525 h 635"/>
                  <a:gd name="T62" fmla="*/ 44 w 522"/>
                  <a:gd name="T63" fmla="*/ 528 h 635"/>
                  <a:gd name="T64" fmla="*/ 70 w 522"/>
                  <a:gd name="T65" fmla="*/ 520 h 635"/>
                  <a:gd name="T66" fmla="*/ 127 w 522"/>
                  <a:gd name="T67" fmla="*/ 501 h 635"/>
                  <a:gd name="T68" fmla="*/ 222 w 522"/>
                  <a:gd name="T69" fmla="*/ 433 h 635"/>
                  <a:gd name="T70" fmla="*/ 141 w 522"/>
                  <a:gd name="T71" fmla="*/ 533 h 635"/>
                  <a:gd name="T72" fmla="*/ 112 w 522"/>
                  <a:gd name="T73" fmla="*/ 558 h 635"/>
                  <a:gd name="T74" fmla="*/ 103 w 522"/>
                  <a:gd name="T75" fmla="*/ 571 h 635"/>
                  <a:gd name="T76" fmla="*/ 100 w 522"/>
                  <a:gd name="T77" fmla="*/ 582 h 635"/>
                  <a:gd name="T78" fmla="*/ 101 w 522"/>
                  <a:gd name="T79" fmla="*/ 595 h 635"/>
                  <a:gd name="T80" fmla="*/ 108 w 522"/>
                  <a:gd name="T81" fmla="*/ 606 h 635"/>
                  <a:gd name="T82" fmla="*/ 119 w 522"/>
                  <a:gd name="T83" fmla="*/ 613 h 635"/>
                  <a:gd name="T84" fmla="*/ 155 w 522"/>
                  <a:gd name="T85" fmla="*/ 592 h 635"/>
                  <a:gd name="T86" fmla="*/ 282 w 522"/>
                  <a:gd name="T87" fmla="*/ 474 h 635"/>
                  <a:gd name="T88" fmla="*/ 249 w 522"/>
                  <a:gd name="T89" fmla="*/ 557 h 635"/>
                  <a:gd name="T90" fmla="*/ 238 w 522"/>
                  <a:gd name="T91" fmla="*/ 583 h 635"/>
                  <a:gd name="T92" fmla="*/ 233 w 522"/>
                  <a:gd name="T93" fmla="*/ 601 h 635"/>
                  <a:gd name="T94" fmla="*/ 233 w 522"/>
                  <a:gd name="T95" fmla="*/ 613 h 635"/>
                  <a:gd name="T96" fmla="*/ 238 w 522"/>
                  <a:gd name="T97" fmla="*/ 626 h 635"/>
                  <a:gd name="T98" fmla="*/ 247 w 522"/>
                  <a:gd name="T99" fmla="*/ 633 h 635"/>
                  <a:gd name="T100" fmla="*/ 260 w 522"/>
                  <a:gd name="T101" fmla="*/ 634 h 635"/>
                  <a:gd name="T102" fmla="*/ 330 w 522"/>
                  <a:gd name="T103" fmla="*/ 524 h 635"/>
                  <a:gd name="T104" fmla="*/ 376 w 522"/>
                  <a:gd name="T105" fmla="*/ 371 h 635"/>
                  <a:gd name="T106" fmla="*/ 412 w 522"/>
                  <a:gd name="T107" fmla="*/ 307 h 635"/>
                  <a:gd name="T108" fmla="*/ 447 w 522"/>
                  <a:gd name="T109" fmla="*/ 258 h 635"/>
                  <a:gd name="T110" fmla="*/ 499 w 522"/>
                  <a:gd name="T111" fmla="*/ 207 h 635"/>
                  <a:gd name="T112" fmla="*/ 521 w 522"/>
                  <a:gd name="T113" fmla="*/ 113 h 635"/>
                  <a:gd name="T114" fmla="*/ 466 w 522"/>
                  <a:gd name="T115" fmla="*/ 6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2" h="635">
                    <a:moveTo>
                      <a:pt x="442" y="3"/>
                    </a:moveTo>
                    <a:lnTo>
                      <a:pt x="394" y="30"/>
                    </a:lnTo>
                    <a:lnTo>
                      <a:pt x="361" y="30"/>
                    </a:lnTo>
                    <a:lnTo>
                      <a:pt x="323" y="28"/>
                    </a:lnTo>
                    <a:lnTo>
                      <a:pt x="295" y="28"/>
                    </a:lnTo>
                    <a:lnTo>
                      <a:pt x="225" y="8"/>
                    </a:lnTo>
                    <a:lnTo>
                      <a:pt x="185" y="8"/>
                    </a:lnTo>
                    <a:lnTo>
                      <a:pt x="150" y="8"/>
                    </a:lnTo>
                    <a:lnTo>
                      <a:pt x="115" y="0"/>
                    </a:lnTo>
                    <a:lnTo>
                      <a:pt x="100" y="1"/>
                    </a:lnTo>
                    <a:lnTo>
                      <a:pt x="75" y="8"/>
                    </a:lnTo>
                    <a:lnTo>
                      <a:pt x="7" y="8"/>
                    </a:lnTo>
                    <a:lnTo>
                      <a:pt x="4" y="12"/>
                    </a:lnTo>
                    <a:lnTo>
                      <a:pt x="2" y="16"/>
                    </a:lnTo>
                    <a:lnTo>
                      <a:pt x="0" y="24"/>
                    </a:lnTo>
                    <a:lnTo>
                      <a:pt x="0" y="31"/>
                    </a:lnTo>
                    <a:lnTo>
                      <a:pt x="2" y="39"/>
                    </a:lnTo>
                    <a:lnTo>
                      <a:pt x="6" y="46"/>
                    </a:lnTo>
                    <a:lnTo>
                      <a:pt x="11" y="51"/>
                    </a:lnTo>
                    <a:lnTo>
                      <a:pt x="16" y="56"/>
                    </a:lnTo>
                    <a:lnTo>
                      <a:pt x="21" y="59"/>
                    </a:lnTo>
                    <a:lnTo>
                      <a:pt x="28" y="63"/>
                    </a:lnTo>
                    <a:lnTo>
                      <a:pt x="35" y="65"/>
                    </a:lnTo>
                    <a:lnTo>
                      <a:pt x="49" y="69"/>
                    </a:lnTo>
                    <a:lnTo>
                      <a:pt x="62" y="71"/>
                    </a:lnTo>
                    <a:lnTo>
                      <a:pt x="80" y="74"/>
                    </a:lnTo>
                    <a:lnTo>
                      <a:pt x="99" y="77"/>
                    </a:lnTo>
                    <a:lnTo>
                      <a:pt x="127" y="72"/>
                    </a:lnTo>
                    <a:lnTo>
                      <a:pt x="152" y="77"/>
                    </a:lnTo>
                    <a:lnTo>
                      <a:pt x="175" y="84"/>
                    </a:lnTo>
                    <a:lnTo>
                      <a:pt x="195" y="101"/>
                    </a:lnTo>
                    <a:lnTo>
                      <a:pt x="207" y="121"/>
                    </a:lnTo>
                    <a:lnTo>
                      <a:pt x="220" y="142"/>
                    </a:lnTo>
                    <a:lnTo>
                      <a:pt x="226" y="160"/>
                    </a:lnTo>
                    <a:lnTo>
                      <a:pt x="229" y="182"/>
                    </a:lnTo>
                    <a:lnTo>
                      <a:pt x="229" y="207"/>
                    </a:lnTo>
                    <a:lnTo>
                      <a:pt x="229" y="239"/>
                    </a:lnTo>
                    <a:lnTo>
                      <a:pt x="227" y="271"/>
                    </a:lnTo>
                    <a:lnTo>
                      <a:pt x="213" y="313"/>
                    </a:lnTo>
                    <a:lnTo>
                      <a:pt x="194" y="338"/>
                    </a:lnTo>
                    <a:lnTo>
                      <a:pt x="184" y="349"/>
                    </a:lnTo>
                    <a:lnTo>
                      <a:pt x="175" y="362"/>
                    </a:lnTo>
                    <a:lnTo>
                      <a:pt x="163" y="378"/>
                    </a:lnTo>
                    <a:lnTo>
                      <a:pt x="153" y="390"/>
                    </a:lnTo>
                    <a:lnTo>
                      <a:pt x="136" y="398"/>
                    </a:lnTo>
                    <a:lnTo>
                      <a:pt x="123" y="407"/>
                    </a:lnTo>
                    <a:lnTo>
                      <a:pt x="110" y="418"/>
                    </a:lnTo>
                    <a:lnTo>
                      <a:pt x="98" y="428"/>
                    </a:lnTo>
                    <a:lnTo>
                      <a:pt x="64" y="445"/>
                    </a:lnTo>
                    <a:lnTo>
                      <a:pt x="57" y="449"/>
                    </a:lnTo>
                    <a:lnTo>
                      <a:pt x="49" y="455"/>
                    </a:lnTo>
                    <a:lnTo>
                      <a:pt x="41" y="461"/>
                    </a:lnTo>
                    <a:lnTo>
                      <a:pt x="34" y="466"/>
                    </a:lnTo>
                    <a:lnTo>
                      <a:pt x="28" y="473"/>
                    </a:lnTo>
                    <a:lnTo>
                      <a:pt x="24" y="479"/>
                    </a:lnTo>
                    <a:lnTo>
                      <a:pt x="21" y="486"/>
                    </a:lnTo>
                    <a:lnTo>
                      <a:pt x="19" y="494"/>
                    </a:lnTo>
                    <a:lnTo>
                      <a:pt x="18" y="502"/>
                    </a:lnTo>
                    <a:lnTo>
                      <a:pt x="19" y="508"/>
                    </a:lnTo>
                    <a:lnTo>
                      <a:pt x="22" y="516"/>
                    </a:lnTo>
                    <a:lnTo>
                      <a:pt x="26" y="521"/>
                    </a:lnTo>
                    <a:lnTo>
                      <a:pt x="32" y="525"/>
                    </a:lnTo>
                    <a:lnTo>
                      <a:pt x="39" y="528"/>
                    </a:lnTo>
                    <a:lnTo>
                      <a:pt x="44" y="528"/>
                    </a:lnTo>
                    <a:lnTo>
                      <a:pt x="60" y="522"/>
                    </a:lnTo>
                    <a:lnTo>
                      <a:pt x="70" y="520"/>
                    </a:lnTo>
                    <a:lnTo>
                      <a:pt x="99" y="510"/>
                    </a:lnTo>
                    <a:lnTo>
                      <a:pt x="127" y="501"/>
                    </a:lnTo>
                    <a:lnTo>
                      <a:pt x="165" y="470"/>
                    </a:lnTo>
                    <a:lnTo>
                      <a:pt x="222" y="433"/>
                    </a:lnTo>
                    <a:lnTo>
                      <a:pt x="172" y="508"/>
                    </a:lnTo>
                    <a:lnTo>
                      <a:pt x="141" y="533"/>
                    </a:lnTo>
                    <a:lnTo>
                      <a:pt x="117" y="552"/>
                    </a:lnTo>
                    <a:lnTo>
                      <a:pt x="112" y="558"/>
                    </a:lnTo>
                    <a:lnTo>
                      <a:pt x="106" y="564"/>
                    </a:lnTo>
                    <a:lnTo>
                      <a:pt x="103" y="571"/>
                    </a:lnTo>
                    <a:lnTo>
                      <a:pt x="101" y="576"/>
                    </a:lnTo>
                    <a:lnTo>
                      <a:pt x="100" y="582"/>
                    </a:lnTo>
                    <a:lnTo>
                      <a:pt x="99" y="589"/>
                    </a:lnTo>
                    <a:lnTo>
                      <a:pt x="101" y="595"/>
                    </a:lnTo>
                    <a:lnTo>
                      <a:pt x="104" y="601"/>
                    </a:lnTo>
                    <a:lnTo>
                      <a:pt x="108" y="606"/>
                    </a:lnTo>
                    <a:lnTo>
                      <a:pt x="113" y="611"/>
                    </a:lnTo>
                    <a:lnTo>
                      <a:pt x="119" y="613"/>
                    </a:lnTo>
                    <a:lnTo>
                      <a:pt x="131" y="608"/>
                    </a:lnTo>
                    <a:lnTo>
                      <a:pt x="155" y="592"/>
                    </a:lnTo>
                    <a:lnTo>
                      <a:pt x="207" y="560"/>
                    </a:lnTo>
                    <a:lnTo>
                      <a:pt x="282" y="474"/>
                    </a:lnTo>
                    <a:lnTo>
                      <a:pt x="264" y="526"/>
                    </a:lnTo>
                    <a:lnTo>
                      <a:pt x="249" y="557"/>
                    </a:lnTo>
                    <a:lnTo>
                      <a:pt x="243" y="572"/>
                    </a:lnTo>
                    <a:lnTo>
                      <a:pt x="238" y="583"/>
                    </a:lnTo>
                    <a:lnTo>
                      <a:pt x="235" y="592"/>
                    </a:lnTo>
                    <a:lnTo>
                      <a:pt x="233" y="601"/>
                    </a:lnTo>
                    <a:lnTo>
                      <a:pt x="232" y="607"/>
                    </a:lnTo>
                    <a:lnTo>
                      <a:pt x="233" y="613"/>
                    </a:lnTo>
                    <a:lnTo>
                      <a:pt x="234" y="620"/>
                    </a:lnTo>
                    <a:lnTo>
                      <a:pt x="238" y="626"/>
                    </a:lnTo>
                    <a:lnTo>
                      <a:pt x="242" y="629"/>
                    </a:lnTo>
                    <a:lnTo>
                      <a:pt x="247" y="633"/>
                    </a:lnTo>
                    <a:lnTo>
                      <a:pt x="253" y="634"/>
                    </a:lnTo>
                    <a:lnTo>
                      <a:pt x="260" y="634"/>
                    </a:lnTo>
                    <a:lnTo>
                      <a:pt x="292" y="574"/>
                    </a:lnTo>
                    <a:lnTo>
                      <a:pt x="330" y="524"/>
                    </a:lnTo>
                    <a:lnTo>
                      <a:pt x="352" y="457"/>
                    </a:lnTo>
                    <a:lnTo>
                      <a:pt x="376" y="371"/>
                    </a:lnTo>
                    <a:lnTo>
                      <a:pt x="398" y="332"/>
                    </a:lnTo>
                    <a:lnTo>
                      <a:pt x="412" y="307"/>
                    </a:lnTo>
                    <a:lnTo>
                      <a:pt x="430" y="280"/>
                    </a:lnTo>
                    <a:lnTo>
                      <a:pt x="447" y="258"/>
                    </a:lnTo>
                    <a:lnTo>
                      <a:pt x="469" y="231"/>
                    </a:lnTo>
                    <a:lnTo>
                      <a:pt x="499" y="207"/>
                    </a:lnTo>
                    <a:lnTo>
                      <a:pt x="519" y="187"/>
                    </a:lnTo>
                    <a:lnTo>
                      <a:pt x="521" y="113"/>
                    </a:lnTo>
                    <a:lnTo>
                      <a:pt x="510" y="30"/>
                    </a:lnTo>
                    <a:lnTo>
                      <a:pt x="466" y="6"/>
                    </a:lnTo>
                    <a:lnTo>
                      <a:pt x="442" y="3"/>
                    </a:lnTo>
                  </a:path>
                </a:pathLst>
              </a:custGeom>
              <a:solidFill>
                <a:srgbClr val="FF9F9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199" name="Freeform 47">
                <a:extLst>
                  <a:ext uri="{FF2B5EF4-FFF2-40B4-BE49-F238E27FC236}">
                    <a16:creationId xmlns:a16="http://schemas.microsoft.com/office/drawing/2014/main" id="{23C4E0FA-B465-42FE-91B8-D3658B88B75F}"/>
                  </a:ext>
                </a:extLst>
              </p:cNvPr>
              <p:cNvSpPr>
                <a:spLocks/>
              </p:cNvSpPr>
              <p:nvPr/>
            </p:nvSpPr>
            <p:spPr bwMode="auto">
              <a:xfrm>
                <a:off x="3346" y="2513"/>
                <a:ext cx="173" cy="266"/>
              </a:xfrm>
              <a:custGeom>
                <a:avLst/>
                <a:gdLst>
                  <a:gd name="T0" fmla="*/ 36 w 173"/>
                  <a:gd name="T1" fmla="*/ 128 h 266"/>
                  <a:gd name="T2" fmla="*/ 14 w 173"/>
                  <a:gd name="T3" fmla="*/ 174 h 266"/>
                  <a:gd name="T4" fmla="*/ 8 w 173"/>
                  <a:gd name="T5" fmla="*/ 187 h 266"/>
                  <a:gd name="T6" fmla="*/ 3 w 173"/>
                  <a:gd name="T7" fmla="*/ 204 h 266"/>
                  <a:gd name="T8" fmla="*/ 0 w 173"/>
                  <a:gd name="T9" fmla="*/ 217 h 266"/>
                  <a:gd name="T10" fmla="*/ 0 w 173"/>
                  <a:gd name="T11" fmla="*/ 229 h 266"/>
                  <a:gd name="T12" fmla="*/ 0 w 173"/>
                  <a:gd name="T13" fmla="*/ 243 h 266"/>
                  <a:gd name="T14" fmla="*/ 2 w 173"/>
                  <a:gd name="T15" fmla="*/ 253 h 266"/>
                  <a:gd name="T16" fmla="*/ 6 w 173"/>
                  <a:gd name="T17" fmla="*/ 261 h 266"/>
                  <a:gd name="T18" fmla="*/ 12 w 173"/>
                  <a:gd name="T19" fmla="*/ 265 h 266"/>
                  <a:gd name="T20" fmla="*/ 21 w 173"/>
                  <a:gd name="T21" fmla="*/ 265 h 266"/>
                  <a:gd name="T22" fmla="*/ 31 w 173"/>
                  <a:gd name="T23" fmla="*/ 253 h 266"/>
                  <a:gd name="T24" fmla="*/ 67 w 173"/>
                  <a:gd name="T25" fmla="*/ 203 h 266"/>
                  <a:gd name="T26" fmla="*/ 104 w 173"/>
                  <a:gd name="T27" fmla="*/ 152 h 266"/>
                  <a:gd name="T28" fmla="*/ 115 w 173"/>
                  <a:gd name="T29" fmla="*/ 98 h 266"/>
                  <a:gd name="T30" fmla="*/ 148 w 173"/>
                  <a:gd name="T31" fmla="*/ 52 h 266"/>
                  <a:gd name="T32" fmla="*/ 168 w 173"/>
                  <a:gd name="T33" fmla="*/ 25 h 266"/>
                  <a:gd name="T34" fmla="*/ 172 w 173"/>
                  <a:gd name="T35"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3" h="266">
                    <a:moveTo>
                      <a:pt x="36" y="128"/>
                    </a:moveTo>
                    <a:lnTo>
                      <a:pt x="14" y="174"/>
                    </a:lnTo>
                    <a:lnTo>
                      <a:pt x="8" y="187"/>
                    </a:lnTo>
                    <a:lnTo>
                      <a:pt x="3" y="204"/>
                    </a:lnTo>
                    <a:lnTo>
                      <a:pt x="0" y="217"/>
                    </a:lnTo>
                    <a:lnTo>
                      <a:pt x="0" y="229"/>
                    </a:lnTo>
                    <a:lnTo>
                      <a:pt x="0" y="243"/>
                    </a:lnTo>
                    <a:lnTo>
                      <a:pt x="2" y="253"/>
                    </a:lnTo>
                    <a:lnTo>
                      <a:pt x="6" y="261"/>
                    </a:lnTo>
                    <a:lnTo>
                      <a:pt x="12" y="265"/>
                    </a:lnTo>
                    <a:lnTo>
                      <a:pt x="21" y="265"/>
                    </a:lnTo>
                    <a:lnTo>
                      <a:pt x="31" y="253"/>
                    </a:lnTo>
                    <a:lnTo>
                      <a:pt x="67" y="203"/>
                    </a:lnTo>
                    <a:lnTo>
                      <a:pt x="104" y="152"/>
                    </a:lnTo>
                    <a:lnTo>
                      <a:pt x="115" y="98"/>
                    </a:lnTo>
                    <a:lnTo>
                      <a:pt x="148" y="52"/>
                    </a:lnTo>
                    <a:lnTo>
                      <a:pt x="168" y="25"/>
                    </a:lnTo>
                    <a:lnTo>
                      <a:pt x="172"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0" name="Freeform 48">
                <a:extLst>
                  <a:ext uri="{FF2B5EF4-FFF2-40B4-BE49-F238E27FC236}">
                    <a16:creationId xmlns:a16="http://schemas.microsoft.com/office/drawing/2014/main" id="{ECC58C1A-78A0-5E6C-3F3C-959DC6AF669D}"/>
                  </a:ext>
                </a:extLst>
              </p:cNvPr>
              <p:cNvSpPr>
                <a:spLocks/>
              </p:cNvSpPr>
              <p:nvPr/>
            </p:nvSpPr>
            <p:spPr bwMode="auto">
              <a:xfrm>
                <a:off x="3387" y="2587"/>
                <a:ext cx="148" cy="181"/>
              </a:xfrm>
              <a:custGeom>
                <a:avLst/>
                <a:gdLst>
                  <a:gd name="T0" fmla="*/ 147 w 148"/>
                  <a:gd name="T1" fmla="*/ 0 h 181"/>
                  <a:gd name="T2" fmla="*/ 139 w 148"/>
                  <a:gd name="T3" fmla="*/ 11 h 181"/>
                  <a:gd name="T4" fmla="*/ 133 w 148"/>
                  <a:gd name="T5" fmla="*/ 22 h 181"/>
                  <a:gd name="T6" fmla="*/ 127 w 148"/>
                  <a:gd name="T7" fmla="*/ 35 h 181"/>
                  <a:gd name="T8" fmla="*/ 122 w 148"/>
                  <a:gd name="T9" fmla="*/ 54 h 181"/>
                  <a:gd name="T10" fmla="*/ 73 w 148"/>
                  <a:gd name="T11" fmla="*/ 104 h 181"/>
                  <a:gd name="T12" fmla="*/ 53 w 148"/>
                  <a:gd name="T13" fmla="*/ 124 h 181"/>
                  <a:gd name="T14" fmla="*/ 0 w 148"/>
                  <a:gd name="T15" fmla="*/ 180 h 1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81">
                    <a:moveTo>
                      <a:pt x="147" y="0"/>
                    </a:moveTo>
                    <a:lnTo>
                      <a:pt x="139" y="11"/>
                    </a:lnTo>
                    <a:lnTo>
                      <a:pt x="133" y="22"/>
                    </a:lnTo>
                    <a:lnTo>
                      <a:pt x="127" y="35"/>
                    </a:lnTo>
                    <a:lnTo>
                      <a:pt x="122" y="54"/>
                    </a:lnTo>
                    <a:lnTo>
                      <a:pt x="73" y="104"/>
                    </a:lnTo>
                    <a:lnTo>
                      <a:pt x="53" y="124"/>
                    </a:lnTo>
                    <a:lnTo>
                      <a:pt x="0" y="18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1" name="Freeform 49">
                <a:extLst>
                  <a:ext uri="{FF2B5EF4-FFF2-40B4-BE49-F238E27FC236}">
                    <a16:creationId xmlns:a16="http://schemas.microsoft.com/office/drawing/2014/main" id="{CDFE2A26-A6F5-BC0B-FA35-D1DC1C2C9645}"/>
                  </a:ext>
                </a:extLst>
              </p:cNvPr>
              <p:cNvSpPr>
                <a:spLocks/>
              </p:cNvSpPr>
              <p:nvPr/>
            </p:nvSpPr>
            <p:spPr bwMode="auto">
              <a:xfrm>
                <a:off x="3449" y="2618"/>
                <a:ext cx="95" cy="189"/>
              </a:xfrm>
              <a:custGeom>
                <a:avLst/>
                <a:gdLst>
                  <a:gd name="T0" fmla="*/ 0 w 95"/>
                  <a:gd name="T1" fmla="*/ 188 h 189"/>
                  <a:gd name="T2" fmla="*/ 26 w 95"/>
                  <a:gd name="T3" fmla="*/ 139 h 189"/>
                  <a:gd name="T4" fmla="*/ 46 w 95"/>
                  <a:gd name="T5" fmla="*/ 98 h 189"/>
                  <a:gd name="T6" fmla="*/ 63 w 95"/>
                  <a:gd name="T7" fmla="*/ 63 h 189"/>
                  <a:gd name="T8" fmla="*/ 81 w 95"/>
                  <a:gd name="T9" fmla="*/ 43 h 189"/>
                  <a:gd name="T10" fmla="*/ 85 w 95"/>
                  <a:gd name="T11" fmla="*/ 26 h 189"/>
                  <a:gd name="T12" fmla="*/ 89 w 95"/>
                  <a:gd name="T13" fmla="*/ 15 h 189"/>
                  <a:gd name="T14" fmla="*/ 94 w 95"/>
                  <a:gd name="T15" fmla="*/ 0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189">
                    <a:moveTo>
                      <a:pt x="0" y="188"/>
                    </a:moveTo>
                    <a:lnTo>
                      <a:pt x="26" y="139"/>
                    </a:lnTo>
                    <a:lnTo>
                      <a:pt x="46" y="98"/>
                    </a:lnTo>
                    <a:lnTo>
                      <a:pt x="63" y="63"/>
                    </a:lnTo>
                    <a:lnTo>
                      <a:pt x="81" y="43"/>
                    </a:lnTo>
                    <a:lnTo>
                      <a:pt x="85" y="26"/>
                    </a:lnTo>
                    <a:lnTo>
                      <a:pt x="89" y="15"/>
                    </a:lnTo>
                    <a:lnTo>
                      <a:pt x="94"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2" name="Freeform 50">
                <a:extLst>
                  <a:ext uri="{FF2B5EF4-FFF2-40B4-BE49-F238E27FC236}">
                    <a16:creationId xmlns:a16="http://schemas.microsoft.com/office/drawing/2014/main" id="{45A685A3-C456-C74F-EFE2-C6A3FF7BF95D}"/>
                  </a:ext>
                </a:extLst>
              </p:cNvPr>
              <p:cNvSpPr>
                <a:spLocks/>
              </p:cNvSpPr>
              <p:nvPr/>
            </p:nvSpPr>
            <p:spPr bwMode="auto">
              <a:xfrm>
                <a:off x="3176" y="2342"/>
                <a:ext cx="47" cy="17"/>
              </a:xfrm>
              <a:custGeom>
                <a:avLst/>
                <a:gdLst>
                  <a:gd name="T0" fmla="*/ 0 w 47"/>
                  <a:gd name="T1" fmla="*/ 0 h 17"/>
                  <a:gd name="T2" fmla="*/ 1 w 47"/>
                  <a:gd name="T3" fmla="*/ 5 h 17"/>
                  <a:gd name="T4" fmla="*/ 2 w 47"/>
                  <a:gd name="T5" fmla="*/ 7 h 17"/>
                  <a:gd name="T6" fmla="*/ 4 w 47"/>
                  <a:gd name="T7" fmla="*/ 11 h 17"/>
                  <a:gd name="T8" fmla="*/ 7 w 47"/>
                  <a:gd name="T9" fmla="*/ 12 h 17"/>
                  <a:gd name="T10" fmla="*/ 11 w 47"/>
                  <a:gd name="T11" fmla="*/ 14 h 17"/>
                  <a:gd name="T12" fmla="*/ 16 w 47"/>
                  <a:gd name="T13" fmla="*/ 16 h 17"/>
                  <a:gd name="T14" fmla="*/ 23 w 47"/>
                  <a:gd name="T15" fmla="*/ 16 h 17"/>
                  <a:gd name="T16" fmla="*/ 36 w 47"/>
                  <a:gd name="T17" fmla="*/ 16 h 17"/>
                  <a:gd name="T18" fmla="*/ 39 w 47"/>
                  <a:gd name="T19" fmla="*/ 16 h 17"/>
                  <a:gd name="T20" fmla="*/ 42 w 47"/>
                  <a:gd name="T21" fmla="*/ 13 h 17"/>
                  <a:gd name="T22" fmla="*/ 46 w 47"/>
                  <a:gd name="T23" fmla="*/ 12 h 17"/>
                  <a:gd name="T24" fmla="*/ 46 w 47"/>
                  <a:gd name="T25" fmla="*/ 0 h 17"/>
                  <a:gd name="T26" fmla="*/ 0 w 47"/>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17">
                    <a:moveTo>
                      <a:pt x="0" y="0"/>
                    </a:moveTo>
                    <a:lnTo>
                      <a:pt x="1" y="5"/>
                    </a:lnTo>
                    <a:lnTo>
                      <a:pt x="2" y="7"/>
                    </a:lnTo>
                    <a:lnTo>
                      <a:pt x="4" y="11"/>
                    </a:lnTo>
                    <a:lnTo>
                      <a:pt x="7" y="12"/>
                    </a:lnTo>
                    <a:lnTo>
                      <a:pt x="11" y="14"/>
                    </a:lnTo>
                    <a:lnTo>
                      <a:pt x="16" y="16"/>
                    </a:lnTo>
                    <a:lnTo>
                      <a:pt x="23" y="16"/>
                    </a:lnTo>
                    <a:lnTo>
                      <a:pt x="36" y="16"/>
                    </a:lnTo>
                    <a:lnTo>
                      <a:pt x="39" y="16"/>
                    </a:lnTo>
                    <a:lnTo>
                      <a:pt x="42" y="13"/>
                    </a:lnTo>
                    <a:lnTo>
                      <a:pt x="46" y="12"/>
                    </a:lnTo>
                    <a:lnTo>
                      <a:pt x="46" y="0"/>
                    </a:lnTo>
                    <a:lnTo>
                      <a:pt x="0" y="0"/>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3" name="Freeform 51">
                <a:extLst>
                  <a:ext uri="{FF2B5EF4-FFF2-40B4-BE49-F238E27FC236}">
                    <a16:creationId xmlns:a16="http://schemas.microsoft.com/office/drawing/2014/main" id="{8F87CF96-D811-E585-B87F-F1AA94414DAC}"/>
                  </a:ext>
                </a:extLst>
              </p:cNvPr>
              <p:cNvSpPr>
                <a:spLocks/>
              </p:cNvSpPr>
              <p:nvPr/>
            </p:nvSpPr>
            <p:spPr bwMode="auto">
              <a:xfrm>
                <a:off x="3287" y="2810"/>
                <a:ext cx="17" cy="25"/>
              </a:xfrm>
              <a:custGeom>
                <a:avLst/>
                <a:gdLst>
                  <a:gd name="T0" fmla="*/ 16 w 17"/>
                  <a:gd name="T1" fmla="*/ 24 h 25"/>
                  <a:gd name="T2" fmla="*/ 16 w 17"/>
                  <a:gd name="T3" fmla="*/ 16 h 25"/>
                  <a:gd name="T4" fmla="*/ 12 w 17"/>
                  <a:gd name="T5" fmla="*/ 8 h 25"/>
                  <a:gd name="T6" fmla="*/ 0 w 17"/>
                  <a:gd name="T7" fmla="*/ 0 h 25"/>
                </a:gdLst>
                <a:ahLst/>
                <a:cxnLst>
                  <a:cxn ang="0">
                    <a:pos x="T0" y="T1"/>
                  </a:cxn>
                  <a:cxn ang="0">
                    <a:pos x="T2" y="T3"/>
                  </a:cxn>
                  <a:cxn ang="0">
                    <a:pos x="T4" y="T5"/>
                  </a:cxn>
                  <a:cxn ang="0">
                    <a:pos x="T6" y="T7"/>
                  </a:cxn>
                </a:cxnLst>
                <a:rect l="0" t="0" r="r" b="b"/>
                <a:pathLst>
                  <a:path w="17" h="25">
                    <a:moveTo>
                      <a:pt x="16" y="24"/>
                    </a:moveTo>
                    <a:lnTo>
                      <a:pt x="16" y="16"/>
                    </a:lnTo>
                    <a:lnTo>
                      <a:pt x="12" y="8"/>
                    </a:lnTo>
                    <a:lnTo>
                      <a:pt x="0"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4" name="Freeform 52">
                <a:extLst>
                  <a:ext uri="{FF2B5EF4-FFF2-40B4-BE49-F238E27FC236}">
                    <a16:creationId xmlns:a16="http://schemas.microsoft.com/office/drawing/2014/main" id="{26FD3531-5781-7AB0-EF6A-C7BBD1E17739}"/>
                  </a:ext>
                </a:extLst>
              </p:cNvPr>
              <p:cNvSpPr>
                <a:spLocks/>
              </p:cNvSpPr>
              <p:nvPr/>
            </p:nvSpPr>
            <p:spPr bwMode="auto">
              <a:xfrm>
                <a:off x="3197" y="2826"/>
                <a:ext cx="50" cy="37"/>
              </a:xfrm>
              <a:custGeom>
                <a:avLst/>
                <a:gdLst>
                  <a:gd name="T0" fmla="*/ 9 w 50"/>
                  <a:gd name="T1" fmla="*/ 34 h 37"/>
                  <a:gd name="T2" fmla="*/ 5 w 50"/>
                  <a:gd name="T3" fmla="*/ 29 h 37"/>
                  <a:gd name="T4" fmla="*/ 2 w 50"/>
                  <a:gd name="T5" fmla="*/ 24 h 37"/>
                  <a:gd name="T6" fmla="*/ 0 w 50"/>
                  <a:gd name="T7" fmla="*/ 18 h 37"/>
                  <a:gd name="T8" fmla="*/ 0 w 50"/>
                  <a:gd name="T9" fmla="*/ 16 h 37"/>
                  <a:gd name="T10" fmla="*/ 4 w 50"/>
                  <a:gd name="T11" fmla="*/ 11 h 37"/>
                  <a:gd name="T12" fmla="*/ 8 w 50"/>
                  <a:gd name="T13" fmla="*/ 7 h 37"/>
                  <a:gd name="T14" fmla="*/ 14 w 50"/>
                  <a:gd name="T15" fmla="*/ 4 h 37"/>
                  <a:gd name="T16" fmla="*/ 20 w 50"/>
                  <a:gd name="T17" fmla="*/ 1 h 37"/>
                  <a:gd name="T18" fmla="*/ 28 w 50"/>
                  <a:gd name="T19" fmla="*/ 0 h 37"/>
                  <a:gd name="T20" fmla="*/ 32 w 50"/>
                  <a:gd name="T21" fmla="*/ 0 h 37"/>
                  <a:gd name="T22" fmla="*/ 37 w 50"/>
                  <a:gd name="T23" fmla="*/ 1 h 37"/>
                  <a:gd name="T24" fmla="*/ 43 w 50"/>
                  <a:gd name="T25" fmla="*/ 7 h 37"/>
                  <a:gd name="T26" fmla="*/ 46 w 50"/>
                  <a:gd name="T27" fmla="*/ 12 h 37"/>
                  <a:gd name="T28" fmla="*/ 48 w 50"/>
                  <a:gd name="T29" fmla="*/ 19 h 37"/>
                  <a:gd name="T30" fmla="*/ 49 w 50"/>
                  <a:gd name="T31" fmla="*/ 24 h 37"/>
                  <a:gd name="T32" fmla="*/ 32 w 50"/>
                  <a:gd name="T33" fmla="*/ 30 h 37"/>
                  <a:gd name="T34" fmla="*/ 12 w 50"/>
                  <a:gd name="T35" fmla="*/ 36 h 37"/>
                  <a:gd name="T36" fmla="*/ 9 w 50"/>
                  <a:gd name="T37"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37">
                    <a:moveTo>
                      <a:pt x="9" y="34"/>
                    </a:moveTo>
                    <a:lnTo>
                      <a:pt x="5" y="29"/>
                    </a:lnTo>
                    <a:lnTo>
                      <a:pt x="2" y="24"/>
                    </a:lnTo>
                    <a:lnTo>
                      <a:pt x="0" y="18"/>
                    </a:lnTo>
                    <a:lnTo>
                      <a:pt x="0" y="16"/>
                    </a:lnTo>
                    <a:lnTo>
                      <a:pt x="4" y="11"/>
                    </a:lnTo>
                    <a:lnTo>
                      <a:pt x="8" y="7"/>
                    </a:lnTo>
                    <a:lnTo>
                      <a:pt x="14" y="4"/>
                    </a:lnTo>
                    <a:lnTo>
                      <a:pt x="20" y="1"/>
                    </a:lnTo>
                    <a:lnTo>
                      <a:pt x="28" y="0"/>
                    </a:lnTo>
                    <a:lnTo>
                      <a:pt x="32" y="0"/>
                    </a:lnTo>
                    <a:lnTo>
                      <a:pt x="37" y="1"/>
                    </a:lnTo>
                    <a:lnTo>
                      <a:pt x="43" y="7"/>
                    </a:lnTo>
                    <a:lnTo>
                      <a:pt x="46" y="12"/>
                    </a:lnTo>
                    <a:lnTo>
                      <a:pt x="48" y="19"/>
                    </a:lnTo>
                    <a:lnTo>
                      <a:pt x="49" y="24"/>
                    </a:lnTo>
                    <a:lnTo>
                      <a:pt x="32" y="30"/>
                    </a:lnTo>
                    <a:lnTo>
                      <a:pt x="12" y="36"/>
                    </a:lnTo>
                    <a:lnTo>
                      <a:pt x="9" y="34"/>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5" name="Freeform 53">
                <a:extLst>
                  <a:ext uri="{FF2B5EF4-FFF2-40B4-BE49-F238E27FC236}">
                    <a16:creationId xmlns:a16="http://schemas.microsoft.com/office/drawing/2014/main" id="{AF70DB2D-15A9-A48A-CD6D-97F8ADFD21F4}"/>
                  </a:ext>
                </a:extLst>
              </p:cNvPr>
              <p:cNvSpPr>
                <a:spLocks/>
              </p:cNvSpPr>
              <p:nvPr/>
            </p:nvSpPr>
            <p:spPr bwMode="auto">
              <a:xfrm>
                <a:off x="3282" y="2907"/>
                <a:ext cx="40" cy="39"/>
              </a:xfrm>
              <a:custGeom>
                <a:avLst/>
                <a:gdLst>
                  <a:gd name="T0" fmla="*/ 4 w 40"/>
                  <a:gd name="T1" fmla="*/ 38 h 39"/>
                  <a:gd name="T2" fmla="*/ 1 w 40"/>
                  <a:gd name="T3" fmla="*/ 33 h 39"/>
                  <a:gd name="T4" fmla="*/ 0 w 40"/>
                  <a:gd name="T5" fmla="*/ 28 h 39"/>
                  <a:gd name="T6" fmla="*/ 0 w 40"/>
                  <a:gd name="T7" fmla="*/ 25 h 39"/>
                  <a:gd name="T8" fmla="*/ 1 w 40"/>
                  <a:gd name="T9" fmla="*/ 22 h 39"/>
                  <a:gd name="T10" fmla="*/ 4 w 40"/>
                  <a:gd name="T11" fmla="*/ 17 h 39"/>
                  <a:gd name="T12" fmla="*/ 11 w 40"/>
                  <a:gd name="T13" fmla="*/ 10 h 39"/>
                  <a:gd name="T14" fmla="*/ 18 w 40"/>
                  <a:gd name="T15" fmla="*/ 5 h 39"/>
                  <a:gd name="T16" fmla="*/ 23 w 40"/>
                  <a:gd name="T17" fmla="*/ 2 h 39"/>
                  <a:gd name="T18" fmla="*/ 26 w 40"/>
                  <a:gd name="T19" fmla="*/ 0 h 39"/>
                  <a:gd name="T20" fmla="*/ 30 w 40"/>
                  <a:gd name="T21" fmla="*/ 2 h 39"/>
                  <a:gd name="T22" fmla="*/ 34 w 40"/>
                  <a:gd name="T23" fmla="*/ 7 h 39"/>
                  <a:gd name="T24" fmla="*/ 37 w 40"/>
                  <a:gd name="T25" fmla="*/ 12 h 39"/>
                  <a:gd name="T26" fmla="*/ 39 w 40"/>
                  <a:gd name="T27" fmla="*/ 19 h 39"/>
                  <a:gd name="T28" fmla="*/ 21 w 40"/>
                  <a:gd name="T29" fmla="*/ 30 h 39"/>
                  <a:gd name="T30" fmla="*/ 4 w 40"/>
                  <a:gd name="T31"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39">
                    <a:moveTo>
                      <a:pt x="4" y="38"/>
                    </a:moveTo>
                    <a:lnTo>
                      <a:pt x="1" y="33"/>
                    </a:lnTo>
                    <a:lnTo>
                      <a:pt x="0" y="28"/>
                    </a:lnTo>
                    <a:lnTo>
                      <a:pt x="0" y="25"/>
                    </a:lnTo>
                    <a:lnTo>
                      <a:pt x="1" y="22"/>
                    </a:lnTo>
                    <a:lnTo>
                      <a:pt x="4" y="17"/>
                    </a:lnTo>
                    <a:lnTo>
                      <a:pt x="11" y="10"/>
                    </a:lnTo>
                    <a:lnTo>
                      <a:pt x="18" y="5"/>
                    </a:lnTo>
                    <a:lnTo>
                      <a:pt x="23" y="2"/>
                    </a:lnTo>
                    <a:lnTo>
                      <a:pt x="26" y="0"/>
                    </a:lnTo>
                    <a:lnTo>
                      <a:pt x="30" y="2"/>
                    </a:lnTo>
                    <a:lnTo>
                      <a:pt x="34" y="7"/>
                    </a:lnTo>
                    <a:lnTo>
                      <a:pt x="37" y="12"/>
                    </a:lnTo>
                    <a:lnTo>
                      <a:pt x="39" y="19"/>
                    </a:lnTo>
                    <a:lnTo>
                      <a:pt x="21" y="30"/>
                    </a:lnTo>
                    <a:lnTo>
                      <a:pt x="4" y="38"/>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6" name="Freeform 54">
                <a:extLst>
                  <a:ext uri="{FF2B5EF4-FFF2-40B4-BE49-F238E27FC236}">
                    <a16:creationId xmlns:a16="http://schemas.microsoft.com/office/drawing/2014/main" id="{4C32F8B6-CF36-D726-E269-C531C7B0A079}"/>
                  </a:ext>
                </a:extLst>
              </p:cNvPr>
              <p:cNvSpPr>
                <a:spLocks/>
              </p:cNvSpPr>
              <p:nvPr/>
            </p:nvSpPr>
            <p:spPr bwMode="auto">
              <a:xfrm>
                <a:off x="3415" y="2929"/>
                <a:ext cx="29" cy="36"/>
              </a:xfrm>
              <a:custGeom>
                <a:avLst/>
                <a:gdLst>
                  <a:gd name="T0" fmla="*/ 28 w 29"/>
                  <a:gd name="T1" fmla="*/ 7 h 36"/>
                  <a:gd name="T2" fmla="*/ 24 w 29"/>
                  <a:gd name="T3" fmla="*/ 3 h 36"/>
                  <a:gd name="T4" fmla="*/ 19 w 29"/>
                  <a:gd name="T5" fmla="*/ 0 h 36"/>
                  <a:gd name="T6" fmla="*/ 12 w 29"/>
                  <a:gd name="T7" fmla="*/ 0 h 36"/>
                  <a:gd name="T8" fmla="*/ 6 w 29"/>
                  <a:gd name="T9" fmla="*/ 10 h 36"/>
                  <a:gd name="T10" fmla="*/ 2 w 29"/>
                  <a:gd name="T11" fmla="*/ 18 h 36"/>
                  <a:gd name="T12" fmla="*/ 0 w 29"/>
                  <a:gd name="T13" fmla="*/ 24 h 36"/>
                  <a:gd name="T14" fmla="*/ 0 w 29"/>
                  <a:gd name="T15" fmla="*/ 28 h 36"/>
                  <a:gd name="T16" fmla="*/ 3 w 29"/>
                  <a:gd name="T17" fmla="*/ 31 h 36"/>
                  <a:gd name="T18" fmla="*/ 6 w 29"/>
                  <a:gd name="T19" fmla="*/ 34 h 36"/>
                  <a:gd name="T20" fmla="*/ 11 w 29"/>
                  <a:gd name="T21" fmla="*/ 35 h 36"/>
                  <a:gd name="T22" fmla="*/ 28 w 29"/>
                  <a:gd name="T23"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36">
                    <a:moveTo>
                      <a:pt x="28" y="7"/>
                    </a:moveTo>
                    <a:lnTo>
                      <a:pt x="24" y="3"/>
                    </a:lnTo>
                    <a:lnTo>
                      <a:pt x="19" y="0"/>
                    </a:lnTo>
                    <a:lnTo>
                      <a:pt x="12" y="0"/>
                    </a:lnTo>
                    <a:lnTo>
                      <a:pt x="6" y="10"/>
                    </a:lnTo>
                    <a:lnTo>
                      <a:pt x="2" y="18"/>
                    </a:lnTo>
                    <a:lnTo>
                      <a:pt x="0" y="24"/>
                    </a:lnTo>
                    <a:lnTo>
                      <a:pt x="0" y="28"/>
                    </a:lnTo>
                    <a:lnTo>
                      <a:pt x="3" y="31"/>
                    </a:lnTo>
                    <a:lnTo>
                      <a:pt x="6" y="34"/>
                    </a:lnTo>
                    <a:lnTo>
                      <a:pt x="11" y="35"/>
                    </a:lnTo>
                    <a:lnTo>
                      <a:pt x="28" y="7"/>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7" name="Freeform 55">
                <a:extLst>
                  <a:ext uri="{FF2B5EF4-FFF2-40B4-BE49-F238E27FC236}">
                    <a16:creationId xmlns:a16="http://schemas.microsoft.com/office/drawing/2014/main" id="{40B75BAB-5B1C-247E-A480-0D13288F1A02}"/>
                  </a:ext>
                </a:extLst>
              </p:cNvPr>
              <p:cNvSpPr>
                <a:spLocks/>
              </p:cNvSpPr>
              <p:nvPr/>
            </p:nvSpPr>
            <p:spPr bwMode="auto">
              <a:xfrm>
                <a:off x="3356" y="2732"/>
                <a:ext cx="36" cy="45"/>
              </a:xfrm>
              <a:custGeom>
                <a:avLst/>
                <a:gdLst>
                  <a:gd name="T0" fmla="*/ 7 w 36"/>
                  <a:gd name="T1" fmla="*/ 3 h 45"/>
                  <a:gd name="T2" fmla="*/ 3 w 36"/>
                  <a:gd name="T3" fmla="*/ 13 h 45"/>
                  <a:gd name="T4" fmla="*/ 1 w 36"/>
                  <a:gd name="T5" fmla="*/ 22 h 45"/>
                  <a:gd name="T6" fmla="*/ 0 w 36"/>
                  <a:gd name="T7" fmla="*/ 31 h 45"/>
                  <a:gd name="T8" fmla="*/ 1 w 36"/>
                  <a:gd name="T9" fmla="*/ 36 h 45"/>
                  <a:gd name="T10" fmla="*/ 5 w 36"/>
                  <a:gd name="T11" fmla="*/ 41 h 45"/>
                  <a:gd name="T12" fmla="*/ 10 w 36"/>
                  <a:gd name="T13" fmla="*/ 44 h 45"/>
                  <a:gd name="T14" fmla="*/ 12 w 36"/>
                  <a:gd name="T15" fmla="*/ 44 h 45"/>
                  <a:gd name="T16" fmla="*/ 23 w 36"/>
                  <a:gd name="T17" fmla="*/ 33 h 45"/>
                  <a:gd name="T18" fmla="*/ 35 w 36"/>
                  <a:gd name="T19" fmla="*/ 16 h 45"/>
                  <a:gd name="T20" fmla="*/ 32 w 36"/>
                  <a:gd name="T21" fmla="*/ 9 h 45"/>
                  <a:gd name="T22" fmla="*/ 28 w 36"/>
                  <a:gd name="T23" fmla="*/ 6 h 45"/>
                  <a:gd name="T24" fmla="*/ 23 w 36"/>
                  <a:gd name="T25" fmla="*/ 3 h 45"/>
                  <a:gd name="T26" fmla="*/ 17 w 36"/>
                  <a:gd name="T27" fmla="*/ 0 h 45"/>
                  <a:gd name="T28" fmla="*/ 12 w 36"/>
                  <a:gd name="T29" fmla="*/ 0 h 45"/>
                  <a:gd name="T30" fmla="*/ 7 w 36"/>
                  <a:gd name="T31" fmla="*/ 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45">
                    <a:moveTo>
                      <a:pt x="7" y="3"/>
                    </a:moveTo>
                    <a:lnTo>
                      <a:pt x="3" y="13"/>
                    </a:lnTo>
                    <a:lnTo>
                      <a:pt x="1" y="22"/>
                    </a:lnTo>
                    <a:lnTo>
                      <a:pt x="0" y="31"/>
                    </a:lnTo>
                    <a:lnTo>
                      <a:pt x="1" y="36"/>
                    </a:lnTo>
                    <a:lnTo>
                      <a:pt x="5" y="41"/>
                    </a:lnTo>
                    <a:lnTo>
                      <a:pt x="10" y="44"/>
                    </a:lnTo>
                    <a:lnTo>
                      <a:pt x="12" y="44"/>
                    </a:lnTo>
                    <a:lnTo>
                      <a:pt x="23" y="33"/>
                    </a:lnTo>
                    <a:lnTo>
                      <a:pt x="35" y="16"/>
                    </a:lnTo>
                    <a:lnTo>
                      <a:pt x="32" y="9"/>
                    </a:lnTo>
                    <a:lnTo>
                      <a:pt x="28" y="6"/>
                    </a:lnTo>
                    <a:lnTo>
                      <a:pt x="23" y="3"/>
                    </a:lnTo>
                    <a:lnTo>
                      <a:pt x="17" y="0"/>
                    </a:lnTo>
                    <a:lnTo>
                      <a:pt x="12" y="0"/>
                    </a:lnTo>
                    <a:lnTo>
                      <a:pt x="7" y="3"/>
                    </a:lnTo>
                  </a:path>
                </a:pathLst>
              </a:custGeom>
              <a:solidFill>
                <a:srgbClr val="FFB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8" name="Freeform 56">
                <a:extLst>
                  <a:ext uri="{FF2B5EF4-FFF2-40B4-BE49-F238E27FC236}">
                    <a16:creationId xmlns:a16="http://schemas.microsoft.com/office/drawing/2014/main" id="{FAC86AD3-7FBE-C8CB-9C1E-7D251E373468}"/>
                  </a:ext>
                </a:extLst>
              </p:cNvPr>
              <p:cNvSpPr>
                <a:spLocks/>
              </p:cNvSpPr>
              <p:nvPr/>
            </p:nvSpPr>
            <p:spPr bwMode="auto">
              <a:xfrm>
                <a:off x="3398" y="2689"/>
                <a:ext cx="23" cy="17"/>
              </a:xfrm>
              <a:custGeom>
                <a:avLst/>
                <a:gdLst>
                  <a:gd name="T0" fmla="*/ 22 w 23"/>
                  <a:gd name="T1" fmla="*/ 16 h 17"/>
                  <a:gd name="T2" fmla="*/ 17 w 23"/>
                  <a:gd name="T3" fmla="*/ 10 h 17"/>
                  <a:gd name="T4" fmla="*/ 11 w 23"/>
                  <a:gd name="T5" fmla="*/ 5 h 17"/>
                  <a:gd name="T6" fmla="*/ 6 w 23"/>
                  <a:gd name="T7" fmla="*/ 2 h 17"/>
                  <a:gd name="T8" fmla="*/ 0 w 23"/>
                  <a:gd name="T9" fmla="*/ 0 h 17"/>
                </a:gdLst>
                <a:ahLst/>
                <a:cxnLst>
                  <a:cxn ang="0">
                    <a:pos x="T0" y="T1"/>
                  </a:cxn>
                  <a:cxn ang="0">
                    <a:pos x="T2" y="T3"/>
                  </a:cxn>
                  <a:cxn ang="0">
                    <a:pos x="T4" y="T5"/>
                  </a:cxn>
                  <a:cxn ang="0">
                    <a:pos x="T6" y="T7"/>
                  </a:cxn>
                  <a:cxn ang="0">
                    <a:pos x="T8" y="T9"/>
                  </a:cxn>
                </a:cxnLst>
                <a:rect l="0" t="0" r="r" b="b"/>
                <a:pathLst>
                  <a:path w="23" h="17">
                    <a:moveTo>
                      <a:pt x="22" y="16"/>
                    </a:moveTo>
                    <a:lnTo>
                      <a:pt x="17" y="10"/>
                    </a:lnTo>
                    <a:lnTo>
                      <a:pt x="11" y="5"/>
                    </a:lnTo>
                    <a:lnTo>
                      <a:pt x="6" y="2"/>
                    </a:lnTo>
                    <a:lnTo>
                      <a:pt x="0"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09" name="Freeform 57">
                <a:extLst>
                  <a:ext uri="{FF2B5EF4-FFF2-40B4-BE49-F238E27FC236}">
                    <a16:creationId xmlns:a16="http://schemas.microsoft.com/office/drawing/2014/main" id="{BC4B8D06-5B47-4F04-3AA5-2DCDAF3A4DEC}"/>
                  </a:ext>
                </a:extLst>
              </p:cNvPr>
              <p:cNvSpPr>
                <a:spLocks/>
              </p:cNvSpPr>
              <p:nvPr/>
            </p:nvSpPr>
            <p:spPr bwMode="auto">
              <a:xfrm>
                <a:off x="3429" y="2644"/>
                <a:ext cx="22" cy="17"/>
              </a:xfrm>
              <a:custGeom>
                <a:avLst/>
                <a:gdLst>
                  <a:gd name="T0" fmla="*/ 21 w 22"/>
                  <a:gd name="T1" fmla="*/ 16 h 17"/>
                  <a:gd name="T2" fmla="*/ 16 w 22"/>
                  <a:gd name="T3" fmla="*/ 9 h 17"/>
                  <a:gd name="T4" fmla="*/ 10 w 22"/>
                  <a:gd name="T5" fmla="*/ 4 h 17"/>
                  <a:gd name="T6" fmla="*/ 3 w 22"/>
                  <a:gd name="T7" fmla="*/ 1 h 17"/>
                  <a:gd name="T8" fmla="*/ 0 w 22"/>
                  <a:gd name="T9" fmla="*/ 0 h 17"/>
                </a:gdLst>
                <a:ahLst/>
                <a:cxnLst>
                  <a:cxn ang="0">
                    <a:pos x="T0" y="T1"/>
                  </a:cxn>
                  <a:cxn ang="0">
                    <a:pos x="T2" y="T3"/>
                  </a:cxn>
                  <a:cxn ang="0">
                    <a:pos x="T4" y="T5"/>
                  </a:cxn>
                  <a:cxn ang="0">
                    <a:pos x="T6" y="T7"/>
                  </a:cxn>
                  <a:cxn ang="0">
                    <a:pos x="T8" y="T9"/>
                  </a:cxn>
                </a:cxnLst>
                <a:rect l="0" t="0" r="r" b="b"/>
                <a:pathLst>
                  <a:path w="22" h="17">
                    <a:moveTo>
                      <a:pt x="21" y="16"/>
                    </a:moveTo>
                    <a:lnTo>
                      <a:pt x="16" y="9"/>
                    </a:lnTo>
                    <a:lnTo>
                      <a:pt x="10" y="4"/>
                    </a:lnTo>
                    <a:lnTo>
                      <a:pt x="3" y="1"/>
                    </a:lnTo>
                    <a:lnTo>
                      <a:pt x="0"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10" name="Freeform 58">
                <a:extLst>
                  <a:ext uri="{FF2B5EF4-FFF2-40B4-BE49-F238E27FC236}">
                    <a16:creationId xmlns:a16="http://schemas.microsoft.com/office/drawing/2014/main" id="{AA166095-549A-1BE8-CB08-4DB0E2D4EDF4}"/>
                  </a:ext>
                </a:extLst>
              </p:cNvPr>
              <p:cNvSpPr>
                <a:spLocks/>
              </p:cNvSpPr>
              <p:nvPr/>
            </p:nvSpPr>
            <p:spPr bwMode="auto">
              <a:xfrm>
                <a:off x="3440" y="2638"/>
                <a:ext cx="17" cy="19"/>
              </a:xfrm>
              <a:custGeom>
                <a:avLst/>
                <a:gdLst>
                  <a:gd name="T0" fmla="*/ 16 w 17"/>
                  <a:gd name="T1" fmla="*/ 18 h 19"/>
                  <a:gd name="T2" fmla="*/ 9 w 17"/>
                  <a:gd name="T3" fmla="*/ 9 h 19"/>
                  <a:gd name="T4" fmla="*/ 5 w 17"/>
                  <a:gd name="T5" fmla="*/ 4 h 19"/>
                  <a:gd name="T6" fmla="*/ 0 w 17"/>
                  <a:gd name="T7" fmla="*/ 0 h 19"/>
                </a:gdLst>
                <a:ahLst/>
                <a:cxnLst>
                  <a:cxn ang="0">
                    <a:pos x="T0" y="T1"/>
                  </a:cxn>
                  <a:cxn ang="0">
                    <a:pos x="T2" y="T3"/>
                  </a:cxn>
                  <a:cxn ang="0">
                    <a:pos x="T4" y="T5"/>
                  </a:cxn>
                  <a:cxn ang="0">
                    <a:pos x="T6" y="T7"/>
                  </a:cxn>
                </a:cxnLst>
                <a:rect l="0" t="0" r="r" b="b"/>
                <a:pathLst>
                  <a:path w="17" h="19">
                    <a:moveTo>
                      <a:pt x="16" y="18"/>
                    </a:moveTo>
                    <a:lnTo>
                      <a:pt x="9" y="9"/>
                    </a:lnTo>
                    <a:lnTo>
                      <a:pt x="5" y="4"/>
                    </a:lnTo>
                    <a:lnTo>
                      <a:pt x="0"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11" name="Freeform 59">
                <a:extLst>
                  <a:ext uri="{FF2B5EF4-FFF2-40B4-BE49-F238E27FC236}">
                    <a16:creationId xmlns:a16="http://schemas.microsoft.com/office/drawing/2014/main" id="{B7403015-4608-8724-3BEB-3D826BA30FDF}"/>
                  </a:ext>
                </a:extLst>
              </p:cNvPr>
              <p:cNvSpPr>
                <a:spLocks/>
              </p:cNvSpPr>
              <p:nvPr/>
            </p:nvSpPr>
            <p:spPr bwMode="auto">
              <a:xfrm>
                <a:off x="3592" y="2459"/>
                <a:ext cx="40" cy="36"/>
              </a:xfrm>
              <a:custGeom>
                <a:avLst/>
                <a:gdLst>
                  <a:gd name="T0" fmla="*/ 0 w 40"/>
                  <a:gd name="T1" fmla="*/ 35 h 36"/>
                  <a:gd name="T2" fmla="*/ 20 w 40"/>
                  <a:gd name="T3" fmla="*/ 10 h 36"/>
                  <a:gd name="T4" fmla="*/ 39 w 40"/>
                  <a:gd name="T5" fmla="*/ 0 h 36"/>
                </a:gdLst>
                <a:ahLst/>
                <a:cxnLst>
                  <a:cxn ang="0">
                    <a:pos x="T0" y="T1"/>
                  </a:cxn>
                  <a:cxn ang="0">
                    <a:pos x="T2" y="T3"/>
                  </a:cxn>
                  <a:cxn ang="0">
                    <a:pos x="T4" y="T5"/>
                  </a:cxn>
                </a:cxnLst>
                <a:rect l="0" t="0" r="r" b="b"/>
                <a:pathLst>
                  <a:path w="40" h="36">
                    <a:moveTo>
                      <a:pt x="0" y="35"/>
                    </a:moveTo>
                    <a:lnTo>
                      <a:pt x="20" y="10"/>
                    </a:lnTo>
                    <a:lnTo>
                      <a:pt x="39"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12" name="Freeform 60">
                <a:extLst>
                  <a:ext uri="{FF2B5EF4-FFF2-40B4-BE49-F238E27FC236}">
                    <a16:creationId xmlns:a16="http://schemas.microsoft.com/office/drawing/2014/main" id="{EE6244BF-DBA8-BC56-08C5-3935237D7047}"/>
                  </a:ext>
                </a:extLst>
              </p:cNvPr>
              <p:cNvSpPr>
                <a:spLocks/>
              </p:cNvSpPr>
              <p:nvPr/>
            </p:nvSpPr>
            <p:spPr bwMode="auto">
              <a:xfrm>
                <a:off x="3450" y="2888"/>
                <a:ext cx="17" cy="17"/>
              </a:xfrm>
              <a:custGeom>
                <a:avLst/>
                <a:gdLst>
                  <a:gd name="T0" fmla="*/ 16 w 17"/>
                  <a:gd name="T1" fmla="*/ 16 h 17"/>
                  <a:gd name="T2" fmla="*/ 8 w 17"/>
                  <a:gd name="T3" fmla="*/ 5 h 17"/>
                  <a:gd name="T4" fmla="*/ 0 w 17"/>
                  <a:gd name="T5" fmla="*/ 0 h 17"/>
                </a:gdLst>
                <a:ahLst/>
                <a:cxnLst>
                  <a:cxn ang="0">
                    <a:pos x="T0" y="T1"/>
                  </a:cxn>
                  <a:cxn ang="0">
                    <a:pos x="T2" y="T3"/>
                  </a:cxn>
                  <a:cxn ang="0">
                    <a:pos x="T4" y="T5"/>
                  </a:cxn>
                </a:cxnLst>
                <a:rect l="0" t="0" r="r" b="b"/>
                <a:pathLst>
                  <a:path w="17" h="17">
                    <a:moveTo>
                      <a:pt x="16" y="16"/>
                    </a:moveTo>
                    <a:lnTo>
                      <a:pt x="8" y="5"/>
                    </a:lnTo>
                    <a:lnTo>
                      <a:pt x="0"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13" name="Freeform 61">
                <a:extLst>
                  <a:ext uri="{FF2B5EF4-FFF2-40B4-BE49-F238E27FC236}">
                    <a16:creationId xmlns:a16="http://schemas.microsoft.com/office/drawing/2014/main" id="{D402F523-B502-0C38-0DD8-3CD34978010E}"/>
                  </a:ext>
                </a:extLst>
              </p:cNvPr>
              <p:cNvSpPr>
                <a:spLocks/>
              </p:cNvSpPr>
              <p:nvPr/>
            </p:nvSpPr>
            <p:spPr bwMode="auto">
              <a:xfrm>
                <a:off x="3431" y="2786"/>
                <a:ext cx="17" cy="19"/>
              </a:xfrm>
              <a:custGeom>
                <a:avLst/>
                <a:gdLst>
                  <a:gd name="T0" fmla="*/ 16 w 17"/>
                  <a:gd name="T1" fmla="*/ 18 h 19"/>
                  <a:gd name="T2" fmla="*/ 11 w 17"/>
                  <a:gd name="T3" fmla="*/ 11 h 19"/>
                  <a:gd name="T4" fmla="*/ 5 w 17"/>
                  <a:gd name="T5" fmla="*/ 4 h 19"/>
                  <a:gd name="T6" fmla="*/ 0 w 17"/>
                  <a:gd name="T7" fmla="*/ 0 h 19"/>
                </a:gdLst>
                <a:ahLst/>
                <a:cxnLst>
                  <a:cxn ang="0">
                    <a:pos x="T0" y="T1"/>
                  </a:cxn>
                  <a:cxn ang="0">
                    <a:pos x="T2" y="T3"/>
                  </a:cxn>
                  <a:cxn ang="0">
                    <a:pos x="T4" y="T5"/>
                  </a:cxn>
                  <a:cxn ang="0">
                    <a:pos x="T6" y="T7"/>
                  </a:cxn>
                </a:cxnLst>
                <a:rect l="0" t="0" r="r" b="b"/>
                <a:pathLst>
                  <a:path w="17" h="19">
                    <a:moveTo>
                      <a:pt x="16" y="18"/>
                    </a:moveTo>
                    <a:lnTo>
                      <a:pt x="11" y="11"/>
                    </a:lnTo>
                    <a:lnTo>
                      <a:pt x="5" y="4"/>
                    </a:lnTo>
                    <a:lnTo>
                      <a:pt x="0"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214" name="Freeform 62">
                <a:extLst>
                  <a:ext uri="{FF2B5EF4-FFF2-40B4-BE49-F238E27FC236}">
                    <a16:creationId xmlns:a16="http://schemas.microsoft.com/office/drawing/2014/main" id="{45FC3394-C51B-F6EB-A8BA-E34131F55FF7}"/>
                  </a:ext>
                </a:extLst>
              </p:cNvPr>
              <p:cNvSpPr>
                <a:spLocks/>
              </p:cNvSpPr>
              <p:nvPr/>
            </p:nvSpPr>
            <p:spPr bwMode="auto">
              <a:xfrm>
                <a:off x="3358" y="2877"/>
                <a:ext cx="17" cy="17"/>
              </a:xfrm>
              <a:custGeom>
                <a:avLst/>
                <a:gdLst>
                  <a:gd name="T0" fmla="*/ 16 w 17"/>
                  <a:gd name="T1" fmla="*/ 16 h 17"/>
                  <a:gd name="T2" fmla="*/ 8 w 17"/>
                  <a:gd name="T3" fmla="*/ 7 h 17"/>
                  <a:gd name="T4" fmla="*/ 0 w 17"/>
                  <a:gd name="T5" fmla="*/ 0 h 17"/>
                </a:gdLst>
                <a:ahLst/>
                <a:cxnLst>
                  <a:cxn ang="0">
                    <a:pos x="T0" y="T1"/>
                  </a:cxn>
                  <a:cxn ang="0">
                    <a:pos x="T2" y="T3"/>
                  </a:cxn>
                  <a:cxn ang="0">
                    <a:pos x="T4" y="T5"/>
                  </a:cxn>
                </a:cxnLst>
                <a:rect l="0" t="0" r="r" b="b"/>
                <a:pathLst>
                  <a:path w="17" h="17">
                    <a:moveTo>
                      <a:pt x="16" y="16"/>
                    </a:moveTo>
                    <a:lnTo>
                      <a:pt x="8" y="7"/>
                    </a:lnTo>
                    <a:lnTo>
                      <a:pt x="0"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49221" name="Group 69">
              <a:extLst>
                <a:ext uri="{FF2B5EF4-FFF2-40B4-BE49-F238E27FC236}">
                  <a16:creationId xmlns:a16="http://schemas.microsoft.com/office/drawing/2014/main" id="{6FD824E8-377E-DEC6-A1FB-204168BE7BD4}"/>
                </a:ext>
              </a:extLst>
            </p:cNvPr>
            <p:cNvGrpSpPr>
              <a:grpSpLocks/>
            </p:cNvGrpSpPr>
            <p:nvPr/>
          </p:nvGrpSpPr>
          <p:grpSpPr bwMode="auto">
            <a:xfrm>
              <a:off x="2469" y="2373"/>
              <a:ext cx="881" cy="353"/>
              <a:chOff x="2469" y="2373"/>
              <a:chExt cx="881" cy="353"/>
            </a:xfrm>
          </p:grpSpPr>
          <p:sp>
            <p:nvSpPr>
              <p:cNvPr id="49216" name="Rectangle 64">
                <a:extLst>
                  <a:ext uri="{FF2B5EF4-FFF2-40B4-BE49-F238E27FC236}">
                    <a16:creationId xmlns:a16="http://schemas.microsoft.com/office/drawing/2014/main" id="{694B007E-7511-E2D8-1D05-72D0D520671C}"/>
                  </a:ext>
                </a:extLst>
              </p:cNvPr>
              <p:cNvSpPr>
                <a:spLocks noChangeArrowheads="1"/>
              </p:cNvSpPr>
              <p:nvPr/>
            </p:nvSpPr>
            <p:spPr bwMode="auto">
              <a:xfrm>
                <a:off x="2487" y="2412"/>
                <a:ext cx="863" cy="269"/>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217" name="Rectangle 65">
                <a:extLst>
                  <a:ext uri="{FF2B5EF4-FFF2-40B4-BE49-F238E27FC236}">
                    <a16:creationId xmlns:a16="http://schemas.microsoft.com/office/drawing/2014/main" id="{A518D006-2F01-53AB-D47F-3B2DE34E8158}"/>
                  </a:ext>
                </a:extLst>
              </p:cNvPr>
              <p:cNvSpPr>
                <a:spLocks noChangeArrowheads="1"/>
              </p:cNvSpPr>
              <p:nvPr/>
            </p:nvSpPr>
            <p:spPr bwMode="auto">
              <a:xfrm>
                <a:off x="2469" y="2400"/>
                <a:ext cx="862" cy="269"/>
              </a:xfrm>
              <a:prstGeom prst="rect">
                <a:avLst/>
              </a:prstGeom>
              <a:solidFill>
                <a:srgbClr val="3300A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218" name="Oval 66">
                <a:extLst>
                  <a:ext uri="{FF2B5EF4-FFF2-40B4-BE49-F238E27FC236}">
                    <a16:creationId xmlns:a16="http://schemas.microsoft.com/office/drawing/2014/main" id="{EDC11A29-0E12-BD52-EADF-1788B2E3775E}"/>
                  </a:ext>
                </a:extLst>
              </p:cNvPr>
              <p:cNvSpPr>
                <a:spLocks noChangeArrowheads="1"/>
              </p:cNvSpPr>
              <p:nvPr/>
            </p:nvSpPr>
            <p:spPr bwMode="auto">
              <a:xfrm>
                <a:off x="2487" y="2655"/>
                <a:ext cx="863" cy="71"/>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219" name="Oval 67">
                <a:extLst>
                  <a:ext uri="{FF2B5EF4-FFF2-40B4-BE49-F238E27FC236}">
                    <a16:creationId xmlns:a16="http://schemas.microsoft.com/office/drawing/2014/main" id="{54C5A44B-A142-850A-C57C-2D4C9E22B5F4}"/>
                  </a:ext>
                </a:extLst>
              </p:cNvPr>
              <p:cNvSpPr>
                <a:spLocks noChangeArrowheads="1"/>
              </p:cNvSpPr>
              <p:nvPr/>
            </p:nvSpPr>
            <p:spPr bwMode="auto">
              <a:xfrm>
                <a:off x="2469" y="2643"/>
                <a:ext cx="862" cy="71"/>
              </a:xfrm>
              <a:prstGeom prst="ellipse">
                <a:avLst/>
              </a:prstGeom>
              <a:solidFill>
                <a:srgbClr val="3300AA"/>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220" name="Oval 68">
                <a:extLst>
                  <a:ext uri="{FF2B5EF4-FFF2-40B4-BE49-F238E27FC236}">
                    <a16:creationId xmlns:a16="http://schemas.microsoft.com/office/drawing/2014/main" id="{70FA2BE4-1642-46EF-3FEC-9C635C7353BE}"/>
                  </a:ext>
                </a:extLst>
              </p:cNvPr>
              <p:cNvSpPr>
                <a:spLocks noChangeArrowheads="1"/>
              </p:cNvSpPr>
              <p:nvPr/>
            </p:nvSpPr>
            <p:spPr bwMode="auto">
              <a:xfrm>
                <a:off x="2469" y="2373"/>
                <a:ext cx="862" cy="53"/>
              </a:xfrm>
              <a:prstGeom prst="ellipse">
                <a:avLst/>
              </a:prstGeom>
              <a:solidFill>
                <a:srgbClr val="8955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grpSp>
      </p:grpSp>
      <p:sp>
        <p:nvSpPr>
          <p:cNvPr id="49229" name="Rectangle 77">
            <a:extLst>
              <a:ext uri="{FF2B5EF4-FFF2-40B4-BE49-F238E27FC236}">
                <a16:creationId xmlns:a16="http://schemas.microsoft.com/office/drawing/2014/main" id="{7A70ABA4-445C-9DA9-6897-1F2CE8929C20}"/>
              </a:ext>
            </a:extLst>
          </p:cNvPr>
          <p:cNvSpPr>
            <a:spLocks noChangeArrowheads="1"/>
          </p:cNvSpPr>
          <p:nvPr/>
        </p:nvSpPr>
        <p:spPr bwMode="auto">
          <a:xfrm>
            <a:off x="1082279" y="971550"/>
            <a:ext cx="4023122" cy="777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lvl1pPr marL="350838" indent="-350838">
              <a:defRPr sz="2400">
                <a:solidFill>
                  <a:schemeClr val="tx1"/>
                </a:solidFill>
                <a:latin typeface="Times New Roman" panose="02020603050405020304" pitchFamily="18" charset="0"/>
              </a:defRPr>
            </a:lvl1pPr>
            <a:lvl2pPr marL="685800">
              <a:defRPr sz="2400">
                <a:solidFill>
                  <a:schemeClr val="tx1"/>
                </a:solidFill>
                <a:latin typeface="Times New Roman" panose="02020603050405020304" pitchFamily="18" charset="0"/>
              </a:defRPr>
            </a:lvl2pPr>
            <a:lvl3pPr marL="3478213" indent="-285750">
              <a:defRPr sz="2400">
                <a:solidFill>
                  <a:schemeClr val="tx1"/>
                </a:solidFill>
                <a:latin typeface="Times New Roman" panose="02020603050405020304" pitchFamily="18" charset="0"/>
              </a:defRPr>
            </a:lvl3pPr>
            <a:lvl4pPr marL="3878263" indent="-285750">
              <a:defRPr sz="2400">
                <a:solidFill>
                  <a:schemeClr val="tx1"/>
                </a:solidFill>
                <a:latin typeface="Times New Roman" panose="02020603050405020304" pitchFamily="18" charset="0"/>
              </a:defRPr>
            </a:lvl4pPr>
            <a:lvl5pPr marL="4278313" indent="-285750">
              <a:defRPr sz="2400">
                <a:solidFill>
                  <a:schemeClr val="tx1"/>
                </a:solidFill>
                <a:latin typeface="Times New Roman" panose="02020603050405020304" pitchFamily="18" charset="0"/>
              </a:defRPr>
            </a:lvl5pPr>
            <a:lvl6pPr marL="4735513" indent="-285750" eaLnBrk="0" fontAlgn="base" hangingPunct="0">
              <a:spcBef>
                <a:spcPct val="0"/>
              </a:spcBef>
              <a:spcAft>
                <a:spcPct val="0"/>
              </a:spcAft>
              <a:defRPr sz="2400">
                <a:solidFill>
                  <a:schemeClr val="tx1"/>
                </a:solidFill>
                <a:latin typeface="Times New Roman" panose="02020603050405020304" pitchFamily="18" charset="0"/>
              </a:defRPr>
            </a:lvl6pPr>
            <a:lvl7pPr marL="5192713" indent="-285750" eaLnBrk="0" fontAlgn="base" hangingPunct="0">
              <a:spcBef>
                <a:spcPct val="0"/>
              </a:spcBef>
              <a:spcAft>
                <a:spcPct val="0"/>
              </a:spcAft>
              <a:defRPr sz="2400">
                <a:solidFill>
                  <a:schemeClr val="tx1"/>
                </a:solidFill>
                <a:latin typeface="Times New Roman" panose="02020603050405020304" pitchFamily="18" charset="0"/>
              </a:defRPr>
            </a:lvl7pPr>
            <a:lvl8pPr marL="5649913" indent="-285750" eaLnBrk="0" fontAlgn="base" hangingPunct="0">
              <a:spcBef>
                <a:spcPct val="0"/>
              </a:spcBef>
              <a:spcAft>
                <a:spcPct val="0"/>
              </a:spcAft>
              <a:defRPr sz="2400">
                <a:solidFill>
                  <a:schemeClr val="tx1"/>
                </a:solidFill>
                <a:latin typeface="Times New Roman" panose="02020603050405020304" pitchFamily="18" charset="0"/>
              </a:defRPr>
            </a:lvl8pPr>
            <a:lvl9pPr marL="6107113" indent="-2857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20000"/>
              </a:spcBef>
            </a:pPr>
            <a:r>
              <a:rPr lang="en-US" altLang="en-US" sz="1500" dirty="0">
                <a:latin typeface="Arial" panose="020B0604020202020204" pitchFamily="34" charset="0"/>
              </a:rPr>
              <a:t>SELECT t1.col1,COUNT(*) ... GROUP BY 1</a:t>
            </a:r>
          </a:p>
        </p:txBody>
      </p:sp>
      <p:graphicFrame>
        <p:nvGraphicFramePr>
          <p:cNvPr id="49231" name="Object 79">
            <a:extLst>
              <a:ext uri="{FF2B5EF4-FFF2-40B4-BE49-F238E27FC236}">
                <a16:creationId xmlns:a16="http://schemas.microsoft.com/office/drawing/2014/main" id="{2C866552-384D-82E9-E456-DC38E73C1C13}"/>
              </a:ext>
            </a:extLst>
          </p:cNvPr>
          <p:cNvGraphicFramePr>
            <a:graphicFrameLocks/>
          </p:cNvGraphicFramePr>
          <p:nvPr/>
        </p:nvGraphicFramePr>
        <p:xfrm>
          <a:off x="3373042" y="3679032"/>
          <a:ext cx="1668065" cy="1327547"/>
        </p:xfrm>
        <a:graphic>
          <a:graphicData uri="http://schemas.openxmlformats.org/presentationml/2006/ole">
            <mc:AlternateContent xmlns:mc="http://schemas.openxmlformats.org/markup-compatibility/2006">
              <mc:Choice xmlns:v="urn:schemas-microsoft-com:vml" Requires="v">
                <p:oleObj name="ClipArt" r:id="rId3" imgW="2528640" imgH="3236760" progId="MS_ClipArt_Gallery.2">
                  <p:embed/>
                </p:oleObj>
              </mc:Choice>
              <mc:Fallback>
                <p:oleObj name="ClipArt" r:id="rId3" imgW="2528640" imgH="3236760" progId="MS_ClipArt_Gallery.2">
                  <p:embed/>
                  <p:pic>
                    <p:nvPicPr>
                      <p:cNvPr id="49231" name="Object 79">
                        <a:extLst>
                          <a:ext uri="{FF2B5EF4-FFF2-40B4-BE49-F238E27FC236}">
                            <a16:creationId xmlns:a16="http://schemas.microsoft.com/office/drawing/2014/main" id="{2C866552-384D-82E9-E456-DC38E73C1C1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042" y="3679032"/>
                        <a:ext cx="1668065" cy="132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9237" name="Group 85">
            <a:extLst>
              <a:ext uri="{FF2B5EF4-FFF2-40B4-BE49-F238E27FC236}">
                <a16:creationId xmlns:a16="http://schemas.microsoft.com/office/drawing/2014/main" id="{AEDB9F17-CBB9-382F-6F0C-A5885DA615F4}"/>
              </a:ext>
            </a:extLst>
          </p:cNvPr>
          <p:cNvGrpSpPr>
            <a:grpSpLocks/>
          </p:cNvGrpSpPr>
          <p:nvPr/>
        </p:nvGrpSpPr>
        <p:grpSpPr bwMode="auto">
          <a:xfrm>
            <a:off x="4123135" y="3292078"/>
            <a:ext cx="91678" cy="357188"/>
            <a:chOff x="2863" y="2765"/>
            <a:chExt cx="77" cy="300"/>
          </a:xfrm>
        </p:grpSpPr>
        <p:sp>
          <p:nvSpPr>
            <p:cNvPr id="49235" name="Line 83">
              <a:extLst>
                <a:ext uri="{FF2B5EF4-FFF2-40B4-BE49-F238E27FC236}">
                  <a16:creationId xmlns:a16="http://schemas.microsoft.com/office/drawing/2014/main" id="{F27BBFD6-0297-35B6-FE49-61013FAF5E4C}"/>
                </a:ext>
              </a:extLst>
            </p:cNvPr>
            <p:cNvSpPr>
              <a:spLocks noChangeShapeType="1"/>
            </p:cNvSpPr>
            <p:nvPr/>
          </p:nvSpPr>
          <p:spPr bwMode="auto">
            <a:xfrm>
              <a:off x="2904" y="2765"/>
              <a:ext cx="0" cy="277"/>
            </a:xfrm>
            <a:prstGeom prst="line">
              <a:avLst/>
            </a:prstGeom>
            <a:noFill/>
            <a:ln w="12700">
              <a:solidFill>
                <a:srgbClr val="FC0128"/>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49236" name="Line 84">
              <a:extLst>
                <a:ext uri="{FF2B5EF4-FFF2-40B4-BE49-F238E27FC236}">
                  <a16:creationId xmlns:a16="http://schemas.microsoft.com/office/drawing/2014/main" id="{4C2A3530-58D1-5065-5C55-093D16A0767F}"/>
                </a:ext>
              </a:extLst>
            </p:cNvPr>
            <p:cNvSpPr>
              <a:spLocks noChangeShapeType="1"/>
            </p:cNvSpPr>
            <p:nvPr/>
          </p:nvSpPr>
          <p:spPr bwMode="auto">
            <a:xfrm flipH="1">
              <a:off x="2863" y="3065"/>
              <a:ext cx="77" cy="0"/>
            </a:xfrm>
            <a:prstGeom prst="line">
              <a:avLst/>
            </a:prstGeom>
            <a:noFill/>
            <a:ln w="12700">
              <a:solidFill>
                <a:srgbClr val="FC012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grpSp>
      <p:sp>
        <p:nvSpPr>
          <p:cNvPr id="49238" name="Rectangle 86">
            <a:extLst>
              <a:ext uri="{FF2B5EF4-FFF2-40B4-BE49-F238E27FC236}">
                <a16:creationId xmlns:a16="http://schemas.microsoft.com/office/drawing/2014/main" id="{DFECBDE4-D8DD-1611-639B-A53A932A79DA}"/>
              </a:ext>
            </a:extLst>
          </p:cNvPr>
          <p:cNvSpPr>
            <a:spLocks noChangeArrowheads="1"/>
          </p:cNvSpPr>
          <p:nvPr/>
        </p:nvSpPr>
        <p:spPr bwMode="auto">
          <a:xfrm>
            <a:off x="3512344" y="3687367"/>
            <a:ext cx="1423467" cy="1039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r>
              <a:rPr lang="en-US" altLang="en-US" sz="1050" u="sng">
                <a:effectLst>
                  <a:outerShdw blurRad="38100" dist="38100" dir="2700000" algn="tl">
                    <a:srgbClr val="000000"/>
                  </a:outerShdw>
                </a:effectLst>
              </a:rPr>
              <a:t>P-Key	Count</a:t>
            </a:r>
            <a:endParaRPr lang="en-US" altLang="en-US" sz="1050">
              <a:effectLst>
                <a:outerShdw blurRad="38100" dist="38100" dir="2700000" algn="tl">
                  <a:srgbClr val="000000"/>
                </a:outerShdw>
              </a:effectLst>
            </a:endParaRPr>
          </a:p>
          <a:p>
            <a:r>
              <a:rPr lang="en-US" altLang="en-US" sz="1050">
                <a:effectLst>
                  <a:outerShdw blurRad="38100" dist="38100" dir="2700000" algn="tl">
                    <a:srgbClr val="000000"/>
                  </a:outerShdw>
                </a:effectLst>
              </a:rPr>
              <a:t>Key 1	32</a:t>
            </a:r>
          </a:p>
          <a:p>
            <a:r>
              <a:rPr lang="en-US" altLang="en-US" sz="1050">
                <a:effectLst>
                  <a:outerShdw blurRad="38100" dist="38100" dir="2700000" algn="tl">
                    <a:srgbClr val="000000"/>
                  </a:outerShdw>
                </a:effectLst>
              </a:rPr>
              <a:t>Key 2	111</a:t>
            </a:r>
          </a:p>
          <a:p>
            <a:r>
              <a:rPr lang="en-US" altLang="en-US" sz="1050">
                <a:effectLst>
                  <a:outerShdw blurRad="38100" dist="38100" dir="2700000" algn="tl">
                    <a:srgbClr val="000000"/>
                  </a:outerShdw>
                </a:effectLst>
              </a:rPr>
              <a:t>Key 3	9</a:t>
            </a:r>
          </a:p>
          <a:p>
            <a:r>
              <a:rPr lang="en-US" altLang="en-US" sz="1050">
                <a:effectLst>
                  <a:outerShdw blurRad="38100" dist="38100" dir="2700000" algn="tl">
                    <a:srgbClr val="000000"/>
                  </a:outerShdw>
                </a:effectLst>
              </a:rPr>
              <a:t>Key 4	3201</a:t>
            </a:r>
          </a:p>
          <a:p>
            <a:r>
              <a:rPr lang="en-US" altLang="en-US" sz="1050">
                <a:effectLst>
                  <a:outerShdw blurRad="38100" dist="38100" dir="2700000" algn="tl">
                    <a:srgbClr val="000000"/>
                  </a:outerShdw>
                </a:effectLst>
              </a:rPr>
              <a:t>   ...</a:t>
            </a:r>
          </a:p>
        </p:txBody>
      </p:sp>
      <p:sp>
        <p:nvSpPr>
          <p:cNvPr id="2" name="Oval 1">
            <a:extLst>
              <a:ext uri="{FF2B5EF4-FFF2-40B4-BE49-F238E27FC236}">
                <a16:creationId xmlns:a16="http://schemas.microsoft.com/office/drawing/2014/main" id="{3CE6EA81-5531-2DB8-3C06-DA4344D6D3D2}"/>
              </a:ext>
            </a:extLst>
          </p:cNvPr>
          <p:cNvSpPr/>
          <p:nvPr/>
        </p:nvSpPr>
        <p:spPr>
          <a:xfrm>
            <a:off x="1713633" y="1311852"/>
            <a:ext cx="454496" cy="454496"/>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t1</a:t>
            </a:r>
          </a:p>
        </p:txBody>
      </p:sp>
      <p:sp>
        <p:nvSpPr>
          <p:cNvPr id="4" name="Oval 3">
            <a:extLst>
              <a:ext uri="{FF2B5EF4-FFF2-40B4-BE49-F238E27FC236}">
                <a16:creationId xmlns:a16="http://schemas.microsoft.com/office/drawing/2014/main" id="{99DFBE8A-9F89-AD15-A367-682789B277D4}"/>
              </a:ext>
            </a:extLst>
          </p:cNvPr>
          <p:cNvSpPr/>
          <p:nvPr/>
        </p:nvSpPr>
        <p:spPr>
          <a:xfrm>
            <a:off x="3929845" y="2815829"/>
            <a:ext cx="454496" cy="454496"/>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t2</a:t>
            </a:r>
          </a:p>
        </p:txBody>
      </p:sp>
    </p:spTree>
  </p:cSld>
  <p:clrMapOvr>
    <a:masterClrMapping/>
  </p:clrMapOvr>
  <p:transition spd="med">
    <p:wipe/>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1969D5B-0529-8227-721F-F817070915B8}"/>
            </a:ext>
          </a:extLst>
        </p:cNvPr>
        <p:cNvGrpSpPr/>
        <p:nvPr/>
      </p:nvGrpSpPr>
      <p:grpSpPr>
        <a:xfrm>
          <a:off x="0" y="0"/>
          <a:ext cx="0" cy="0"/>
          <a:chOff x="0" y="0"/>
          <a:chExt cx="0" cy="0"/>
        </a:xfrm>
      </p:grpSpPr>
      <p:sp>
        <p:nvSpPr>
          <p:cNvPr id="223" name="Google Shape;242;p56">
            <a:extLst>
              <a:ext uri="{FF2B5EF4-FFF2-40B4-BE49-F238E27FC236}">
                <a16:creationId xmlns:a16="http://schemas.microsoft.com/office/drawing/2014/main" id="{EC5BB940-D6EF-7C73-47FF-D49E0FD071F3}"/>
              </a:ext>
            </a:extLst>
          </p:cNvPr>
          <p:cNvSpPr txBox="1">
            <a:spLocks/>
          </p:cNvSpPr>
          <p:nvPr/>
        </p:nvSpPr>
        <p:spPr>
          <a:xfrm>
            <a:off x="2650725" y="1180808"/>
            <a:ext cx="4591320"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600" dirty="0">
                <a:solidFill>
                  <a:schemeClr val="tx1"/>
                </a:solidFill>
                <a:latin typeface="Lato"/>
                <a:ea typeface="Lato"/>
                <a:cs typeface="Lato"/>
                <a:sym typeface="Lato"/>
              </a:rPr>
              <a:t>query plan table order, t1, t2, then t3</a:t>
            </a:r>
          </a:p>
          <a:p>
            <a:r>
              <a:rPr lang="en-US" sz="1600" dirty="0">
                <a:solidFill>
                  <a:schemeClr val="tx1"/>
                </a:solidFill>
                <a:latin typeface="Lato"/>
                <a:ea typeface="Lato"/>
                <a:cs typeface="Lato"/>
                <a:sym typeface="Lato"/>
              </a:rPr>
              <a:t>      SELECT * WHERE ...</a:t>
            </a:r>
          </a:p>
        </p:txBody>
      </p:sp>
      <p:pic>
        <p:nvPicPr>
          <p:cNvPr id="4" name="Picture 3">
            <a:extLst>
              <a:ext uri="{FF2B5EF4-FFF2-40B4-BE49-F238E27FC236}">
                <a16:creationId xmlns:a16="http://schemas.microsoft.com/office/drawing/2014/main" id="{5968063C-DB03-67F0-AA8D-8FE7BAA1301D}"/>
              </a:ext>
            </a:extLst>
          </p:cNvPr>
          <p:cNvPicPr>
            <a:picLocks noChangeAspect="1"/>
          </p:cNvPicPr>
          <p:nvPr/>
        </p:nvPicPr>
        <p:blipFill>
          <a:blip r:embed="rId3"/>
          <a:stretch>
            <a:fillRect/>
          </a:stretch>
        </p:blipFill>
        <p:spPr>
          <a:xfrm>
            <a:off x="432495" y="1240531"/>
            <a:ext cx="1521479" cy="1606672"/>
          </a:xfrm>
          <a:prstGeom prst="rect">
            <a:avLst/>
          </a:prstGeom>
        </p:spPr>
      </p:pic>
      <p:sp>
        <p:nvSpPr>
          <p:cNvPr id="6" name="Google Shape;242;p56">
            <a:extLst>
              <a:ext uri="{FF2B5EF4-FFF2-40B4-BE49-F238E27FC236}">
                <a16:creationId xmlns:a16="http://schemas.microsoft.com/office/drawing/2014/main" id="{5438DE40-CCF7-D0CD-2454-3211445DF5CF}"/>
              </a:ext>
            </a:extLst>
          </p:cNvPr>
          <p:cNvSpPr txBox="1">
            <a:spLocks/>
          </p:cNvSpPr>
          <p:nvPr/>
        </p:nvSpPr>
        <p:spPr>
          <a:xfrm>
            <a:off x="460849" y="1561512"/>
            <a:ext cx="1604461" cy="47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col2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Unique index </a:t>
            </a:r>
          </a:p>
          <a:p>
            <a:r>
              <a:rPr lang="en-US" sz="1400" dirty="0">
                <a:solidFill>
                  <a:schemeClr val="bg1"/>
                </a:solidFill>
                <a:latin typeface="Lato"/>
                <a:ea typeface="Lato"/>
                <a:cs typeface="Lato"/>
                <a:sym typeface="Lato"/>
              </a:rPr>
              <a:t>      (col1, col2)</a:t>
            </a:r>
          </a:p>
        </p:txBody>
      </p:sp>
      <p:pic>
        <p:nvPicPr>
          <p:cNvPr id="8" name="Picture 7">
            <a:extLst>
              <a:ext uri="{FF2B5EF4-FFF2-40B4-BE49-F238E27FC236}">
                <a16:creationId xmlns:a16="http://schemas.microsoft.com/office/drawing/2014/main" id="{A1E5DB6B-61E9-929D-A8AF-207CD2C422AE}"/>
              </a:ext>
            </a:extLst>
          </p:cNvPr>
          <p:cNvPicPr>
            <a:picLocks noChangeAspect="1"/>
          </p:cNvPicPr>
          <p:nvPr/>
        </p:nvPicPr>
        <p:blipFill>
          <a:blip r:embed="rId3"/>
          <a:stretch>
            <a:fillRect/>
          </a:stretch>
        </p:blipFill>
        <p:spPr>
          <a:xfrm>
            <a:off x="2988290" y="2180707"/>
            <a:ext cx="1628181" cy="1945531"/>
          </a:xfrm>
          <a:prstGeom prst="rect">
            <a:avLst/>
          </a:prstGeom>
        </p:spPr>
      </p:pic>
      <p:sp>
        <p:nvSpPr>
          <p:cNvPr id="10" name="Google Shape;242;p56">
            <a:extLst>
              <a:ext uri="{FF2B5EF4-FFF2-40B4-BE49-F238E27FC236}">
                <a16:creationId xmlns:a16="http://schemas.microsoft.com/office/drawing/2014/main" id="{309C78AC-391A-A452-8C7A-2CD151168D3F}"/>
              </a:ext>
            </a:extLst>
          </p:cNvPr>
          <p:cNvSpPr txBox="1">
            <a:spLocks/>
          </p:cNvSpPr>
          <p:nvPr/>
        </p:nvSpPr>
        <p:spPr>
          <a:xfrm>
            <a:off x="3016644" y="2501688"/>
            <a:ext cx="1899307" cy="6663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chemeClr val="bg1"/>
                </a:solidFill>
                <a:latin typeface="Lato"/>
                <a:ea typeface="Lato"/>
                <a:cs typeface="Lato"/>
                <a:sym typeface="Lato"/>
              </a:rPr>
              <a:t>col1   TEXT</a:t>
            </a:r>
          </a:p>
          <a:p>
            <a:r>
              <a:rPr lang="en-US" sz="1400" dirty="0">
                <a:solidFill>
                  <a:schemeClr val="bg1"/>
                </a:solidFill>
                <a:latin typeface="Lato"/>
                <a:ea typeface="Lato"/>
                <a:cs typeface="Lato"/>
                <a:sym typeface="Lato"/>
              </a:rPr>
              <a:t>col2   NUMERIC</a:t>
            </a:r>
          </a:p>
          <a:p>
            <a:r>
              <a:rPr lang="en-US" sz="1400" dirty="0">
                <a:solidFill>
                  <a:schemeClr val="bg1"/>
                </a:solidFill>
                <a:latin typeface="Lato"/>
                <a:ea typeface="Lato"/>
                <a:cs typeface="Lato"/>
                <a:sym typeface="Lato"/>
              </a:rPr>
              <a:t>col3   TEXT</a:t>
            </a:r>
          </a:p>
          <a:p>
            <a:r>
              <a:rPr lang="en-US" sz="1400" dirty="0">
                <a:solidFill>
                  <a:schemeClr val="bg1"/>
                </a:solidFill>
                <a:latin typeface="Lato"/>
                <a:ea typeface="Lato"/>
                <a:cs typeface="Lato"/>
                <a:sym typeface="Lato"/>
              </a:rPr>
              <a:t>      -------------</a:t>
            </a:r>
          </a:p>
          <a:p>
            <a:r>
              <a:rPr lang="en-US" sz="1400" dirty="0">
                <a:solidFill>
                  <a:schemeClr val="bg1"/>
                </a:solidFill>
                <a:latin typeface="Lato"/>
                <a:ea typeface="Lato"/>
                <a:cs typeface="Lato"/>
                <a:sym typeface="Lato"/>
              </a:rPr>
              <a:t>   Duplicate index </a:t>
            </a:r>
          </a:p>
          <a:p>
            <a:r>
              <a:rPr lang="en-US" sz="1400" dirty="0">
                <a:solidFill>
                  <a:schemeClr val="bg1"/>
                </a:solidFill>
                <a:latin typeface="Lato"/>
                <a:ea typeface="Lato"/>
                <a:cs typeface="Lato"/>
                <a:sym typeface="Lato"/>
              </a:rPr>
              <a:t>      (col1, col2, col3)</a:t>
            </a:r>
          </a:p>
        </p:txBody>
      </p:sp>
      <p:sp>
        <p:nvSpPr>
          <p:cNvPr id="22" name="Oval 21">
            <a:extLst>
              <a:ext uri="{FF2B5EF4-FFF2-40B4-BE49-F238E27FC236}">
                <a16:creationId xmlns:a16="http://schemas.microsoft.com/office/drawing/2014/main" id="{AABC837A-C3FB-0BFB-F8E4-8EC9843BF2E3}"/>
              </a:ext>
            </a:extLst>
          </p:cNvPr>
          <p:cNvSpPr/>
          <p:nvPr/>
        </p:nvSpPr>
        <p:spPr>
          <a:xfrm>
            <a:off x="4357745" y="3820835"/>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t2</a:t>
            </a:r>
          </a:p>
        </p:txBody>
      </p:sp>
      <p:sp>
        <p:nvSpPr>
          <p:cNvPr id="24" name="Oval 23">
            <a:extLst>
              <a:ext uri="{FF2B5EF4-FFF2-40B4-BE49-F238E27FC236}">
                <a16:creationId xmlns:a16="http://schemas.microsoft.com/office/drawing/2014/main" id="{67629982-24A4-2F22-4D53-97B0F1A4EAD1}"/>
              </a:ext>
            </a:extLst>
          </p:cNvPr>
          <p:cNvSpPr/>
          <p:nvPr/>
        </p:nvSpPr>
        <p:spPr>
          <a:xfrm>
            <a:off x="133015" y="2355893"/>
            <a:ext cx="517451" cy="521831"/>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t1</a:t>
            </a:r>
          </a:p>
        </p:txBody>
      </p:sp>
      <p:sp>
        <p:nvSpPr>
          <p:cNvPr id="34" name="Google Shape;242;p56">
            <a:extLst>
              <a:ext uri="{FF2B5EF4-FFF2-40B4-BE49-F238E27FC236}">
                <a16:creationId xmlns:a16="http://schemas.microsoft.com/office/drawing/2014/main" id="{ED679C9A-5AAC-777A-93CA-D3C49F1D14F3}"/>
              </a:ext>
            </a:extLst>
          </p:cNvPr>
          <p:cNvSpPr txBox="1">
            <a:spLocks/>
          </p:cNvSpPr>
          <p:nvPr/>
        </p:nvSpPr>
        <p:spPr>
          <a:xfrm>
            <a:off x="2016745" y="788348"/>
            <a:ext cx="2341000"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FILTER t1.col1 = LITERAL</a:t>
            </a:r>
          </a:p>
        </p:txBody>
      </p:sp>
      <p:cxnSp>
        <p:nvCxnSpPr>
          <p:cNvPr id="36" name="Straight Connector 35">
            <a:extLst>
              <a:ext uri="{FF2B5EF4-FFF2-40B4-BE49-F238E27FC236}">
                <a16:creationId xmlns:a16="http://schemas.microsoft.com/office/drawing/2014/main" id="{C5CB5DD7-0B86-5574-01E3-6D8683CED7A1}"/>
              </a:ext>
            </a:extLst>
          </p:cNvPr>
          <p:cNvCxnSpPr>
            <a:cxnSpLocks/>
            <a:endCxn id="37" idx="2"/>
          </p:cNvCxnSpPr>
          <p:nvPr/>
        </p:nvCxnSpPr>
        <p:spPr>
          <a:xfrm>
            <a:off x="2297483" y="1171155"/>
            <a:ext cx="7938" cy="368025"/>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7" name="Arc 36">
            <a:extLst>
              <a:ext uri="{FF2B5EF4-FFF2-40B4-BE49-F238E27FC236}">
                <a16:creationId xmlns:a16="http://schemas.microsoft.com/office/drawing/2014/main" id="{F1DBA393-D91B-9D8E-E2FD-8C2621F79DF5}"/>
              </a:ext>
            </a:extLst>
          </p:cNvPr>
          <p:cNvSpPr/>
          <p:nvPr/>
        </p:nvSpPr>
        <p:spPr>
          <a:xfrm rot="16200000">
            <a:off x="2065488" y="1536650"/>
            <a:ext cx="479865" cy="48492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4EA40B77-16AA-DD38-D60E-CFF5777148D4}"/>
              </a:ext>
            </a:extLst>
          </p:cNvPr>
          <p:cNvCxnSpPr>
            <a:cxnSpLocks/>
          </p:cNvCxnSpPr>
          <p:nvPr/>
        </p:nvCxnSpPr>
        <p:spPr>
          <a:xfrm flipH="1">
            <a:off x="1579528" y="1772512"/>
            <a:ext cx="485782" cy="0"/>
          </a:xfrm>
          <a:prstGeom prst="line">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1" name="Google Shape;242;p56">
            <a:extLst>
              <a:ext uri="{FF2B5EF4-FFF2-40B4-BE49-F238E27FC236}">
                <a16:creationId xmlns:a16="http://schemas.microsoft.com/office/drawing/2014/main" id="{0AE91CA5-3532-3030-A0E4-7C88919637C0}"/>
              </a:ext>
            </a:extLst>
          </p:cNvPr>
          <p:cNvSpPr txBox="1">
            <a:spLocks/>
          </p:cNvSpPr>
          <p:nvPr/>
        </p:nvSpPr>
        <p:spPr>
          <a:xfrm>
            <a:off x="883238" y="2892571"/>
            <a:ext cx="1897672"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JOIN t1.col2 = t2.col1</a:t>
            </a:r>
          </a:p>
        </p:txBody>
      </p:sp>
      <p:cxnSp>
        <p:nvCxnSpPr>
          <p:cNvPr id="42" name="Straight Connector 41">
            <a:extLst>
              <a:ext uri="{FF2B5EF4-FFF2-40B4-BE49-F238E27FC236}">
                <a16:creationId xmlns:a16="http://schemas.microsoft.com/office/drawing/2014/main" id="{167E5451-D622-03A8-88D7-591CF318035E}"/>
              </a:ext>
            </a:extLst>
          </p:cNvPr>
          <p:cNvCxnSpPr>
            <a:cxnSpLocks/>
          </p:cNvCxnSpPr>
          <p:nvPr/>
        </p:nvCxnSpPr>
        <p:spPr>
          <a:xfrm flipH="1" flipV="1">
            <a:off x="1736651" y="1998317"/>
            <a:ext cx="484497" cy="2765"/>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BCB963D-9EBC-5C01-E893-C51084299DF2}"/>
              </a:ext>
            </a:extLst>
          </p:cNvPr>
          <p:cNvSpPr/>
          <p:nvPr/>
        </p:nvSpPr>
        <p:spPr>
          <a:xfrm>
            <a:off x="2144026" y="1619026"/>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1</a:t>
            </a:r>
          </a:p>
        </p:txBody>
      </p:sp>
      <p:sp>
        <p:nvSpPr>
          <p:cNvPr id="52" name="Arc 51">
            <a:extLst>
              <a:ext uri="{FF2B5EF4-FFF2-40B4-BE49-F238E27FC236}">
                <a16:creationId xmlns:a16="http://schemas.microsoft.com/office/drawing/2014/main" id="{7BA00438-3CAA-09E6-59FD-6A435A0CD9FC}"/>
              </a:ext>
            </a:extLst>
          </p:cNvPr>
          <p:cNvSpPr/>
          <p:nvPr/>
        </p:nvSpPr>
        <p:spPr>
          <a:xfrm>
            <a:off x="2109091" y="1998317"/>
            <a:ext cx="223478" cy="22583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4AE77682-659F-D5EF-C520-22FDD902D12B}"/>
              </a:ext>
            </a:extLst>
          </p:cNvPr>
          <p:cNvCxnSpPr>
            <a:cxnSpLocks/>
            <a:endCxn id="61" idx="0"/>
          </p:cNvCxnSpPr>
          <p:nvPr/>
        </p:nvCxnSpPr>
        <p:spPr>
          <a:xfrm flipH="1">
            <a:off x="2333596" y="2109496"/>
            <a:ext cx="1579" cy="359117"/>
          </a:xfrm>
          <a:prstGeom prst="line">
            <a:avLst/>
          </a:prstGeom>
          <a:ln w="25400">
            <a:solidFill>
              <a:srgbClr val="FFC000"/>
            </a:solidFill>
            <a:tailEnd type="none"/>
          </a:ln>
        </p:spPr>
        <p:style>
          <a:lnRef idx="1">
            <a:schemeClr val="accent1"/>
          </a:lnRef>
          <a:fillRef idx="0">
            <a:schemeClr val="accent1"/>
          </a:fillRef>
          <a:effectRef idx="0">
            <a:schemeClr val="accent1"/>
          </a:effectRef>
          <a:fontRef idx="minor">
            <a:schemeClr val="tx1"/>
          </a:fontRef>
        </p:style>
      </p:cxnSp>
      <p:sp>
        <p:nvSpPr>
          <p:cNvPr id="61" name="Arc 60">
            <a:extLst>
              <a:ext uri="{FF2B5EF4-FFF2-40B4-BE49-F238E27FC236}">
                <a16:creationId xmlns:a16="http://schemas.microsoft.com/office/drawing/2014/main" id="{896685C3-A1A2-2863-BBC6-48F0C2E28E9C}"/>
              </a:ext>
            </a:extLst>
          </p:cNvPr>
          <p:cNvSpPr/>
          <p:nvPr/>
        </p:nvSpPr>
        <p:spPr>
          <a:xfrm>
            <a:off x="2093664" y="2468613"/>
            <a:ext cx="479865" cy="484924"/>
          </a:xfrm>
          <a:prstGeom prst="arc">
            <a:avLst/>
          </a:prstGeom>
          <a:ln w="254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195D036A-A0FC-C1EE-738A-CC44583F7CE7}"/>
              </a:ext>
            </a:extLst>
          </p:cNvPr>
          <p:cNvCxnSpPr>
            <a:cxnSpLocks/>
          </p:cNvCxnSpPr>
          <p:nvPr/>
        </p:nvCxnSpPr>
        <p:spPr>
          <a:xfrm flipH="1">
            <a:off x="2566335" y="2708817"/>
            <a:ext cx="544275" cy="0"/>
          </a:xfrm>
          <a:prstGeom prst="line">
            <a:avLst/>
          </a:prstGeom>
          <a:ln w="25400">
            <a:solidFill>
              <a:srgbClr val="FFC000"/>
            </a:solidFill>
            <a:headEnd type="triangle"/>
          </a:ln>
        </p:spPr>
        <p:style>
          <a:lnRef idx="1">
            <a:schemeClr val="accent1"/>
          </a:lnRef>
          <a:fillRef idx="0">
            <a:schemeClr val="accent1"/>
          </a:fillRef>
          <a:effectRef idx="0">
            <a:schemeClr val="accent1"/>
          </a:effectRef>
          <a:fontRef idx="minor">
            <a:schemeClr val="tx1"/>
          </a:fontRef>
        </p:style>
      </p:cxnSp>
      <p:sp>
        <p:nvSpPr>
          <p:cNvPr id="192" name="Oval 191">
            <a:extLst>
              <a:ext uri="{FF2B5EF4-FFF2-40B4-BE49-F238E27FC236}">
                <a16:creationId xmlns:a16="http://schemas.microsoft.com/office/drawing/2014/main" id="{A9D22A02-1072-FF8B-041D-AE74D49BAF3A}"/>
              </a:ext>
            </a:extLst>
          </p:cNvPr>
          <p:cNvSpPr/>
          <p:nvPr/>
        </p:nvSpPr>
        <p:spPr>
          <a:xfrm>
            <a:off x="2179144" y="2531914"/>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2</a:t>
            </a:r>
          </a:p>
        </p:txBody>
      </p:sp>
      <p:cxnSp>
        <p:nvCxnSpPr>
          <p:cNvPr id="196" name="Straight Connector 195">
            <a:extLst>
              <a:ext uri="{FF2B5EF4-FFF2-40B4-BE49-F238E27FC236}">
                <a16:creationId xmlns:a16="http://schemas.microsoft.com/office/drawing/2014/main" id="{E154F82C-6042-9331-4196-72BB35CCACE7}"/>
              </a:ext>
            </a:extLst>
          </p:cNvPr>
          <p:cNvCxnSpPr>
            <a:cxnSpLocks/>
          </p:cNvCxnSpPr>
          <p:nvPr/>
        </p:nvCxnSpPr>
        <p:spPr>
          <a:xfrm flipH="1">
            <a:off x="4505005" y="3168065"/>
            <a:ext cx="967218" cy="0"/>
          </a:xfrm>
          <a:prstGeom prst="line">
            <a:avLst/>
          </a:prstGeom>
          <a:ln w="25400">
            <a:solidFill>
              <a:srgbClr val="FFC000"/>
            </a:solidFill>
            <a:headEnd type="triangle"/>
          </a:ln>
        </p:spPr>
        <p:style>
          <a:lnRef idx="1">
            <a:schemeClr val="accent1"/>
          </a:lnRef>
          <a:fillRef idx="0">
            <a:schemeClr val="accent1"/>
          </a:fillRef>
          <a:effectRef idx="0">
            <a:schemeClr val="accent1"/>
          </a:effectRef>
          <a:fontRef idx="minor">
            <a:schemeClr val="tx1"/>
          </a:fontRef>
        </p:style>
      </p:cxnSp>
      <p:sp>
        <p:nvSpPr>
          <p:cNvPr id="199" name="Google Shape;242;p56">
            <a:extLst>
              <a:ext uri="{FF2B5EF4-FFF2-40B4-BE49-F238E27FC236}">
                <a16:creationId xmlns:a16="http://schemas.microsoft.com/office/drawing/2014/main" id="{A99C1DF5-5054-2916-484E-07A630A6352C}"/>
              </a:ext>
            </a:extLst>
          </p:cNvPr>
          <p:cNvSpPr txBox="1">
            <a:spLocks/>
          </p:cNvSpPr>
          <p:nvPr/>
        </p:nvSpPr>
        <p:spPr>
          <a:xfrm>
            <a:off x="5587918" y="2982178"/>
            <a:ext cx="2371020" cy="379076"/>
          </a:xfrm>
          <a:prstGeom prst="rect">
            <a:avLst/>
          </a:prstGeom>
          <a:noFill/>
          <a:ln w="25400">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Rubik"/>
              <a:buNone/>
              <a:defRPr sz="2000" b="0" i="0" u="none" strike="noStrike" cap="none">
                <a:solidFill>
                  <a:schemeClr val="dk1"/>
                </a:solidFill>
                <a:latin typeface="Rubik"/>
                <a:ea typeface="Rubik"/>
                <a:cs typeface="Rubik"/>
                <a:sym typeface="Rubi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400" dirty="0">
                <a:solidFill>
                  <a:srgbClr val="FFC000"/>
                </a:solidFill>
                <a:latin typeface="Lato"/>
                <a:ea typeface="Lato"/>
                <a:cs typeface="Lato"/>
                <a:sym typeface="Lato"/>
              </a:rPr>
              <a:t>FILTER t2.col3 = LITERAL</a:t>
            </a:r>
          </a:p>
        </p:txBody>
      </p:sp>
      <p:sp>
        <p:nvSpPr>
          <p:cNvPr id="203" name="Oval 202">
            <a:extLst>
              <a:ext uri="{FF2B5EF4-FFF2-40B4-BE49-F238E27FC236}">
                <a16:creationId xmlns:a16="http://schemas.microsoft.com/office/drawing/2014/main" id="{650B7CC2-3C5A-B8E1-8D64-7F50D9101130}"/>
              </a:ext>
            </a:extLst>
          </p:cNvPr>
          <p:cNvSpPr/>
          <p:nvPr/>
        </p:nvSpPr>
        <p:spPr>
          <a:xfrm>
            <a:off x="5485267" y="3419683"/>
            <a:ext cx="300419" cy="302962"/>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3</a:t>
            </a:r>
          </a:p>
        </p:txBody>
      </p:sp>
      <p:cxnSp>
        <p:nvCxnSpPr>
          <p:cNvPr id="204" name="Straight Connector 203">
            <a:extLst>
              <a:ext uri="{FF2B5EF4-FFF2-40B4-BE49-F238E27FC236}">
                <a16:creationId xmlns:a16="http://schemas.microsoft.com/office/drawing/2014/main" id="{68465DEF-3E83-409A-F27E-97081D32B0BB}"/>
              </a:ext>
            </a:extLst>
          </p:cNvPr>
          <p:cNvCxnSpPr>
            <a:cxnSpLocks/>
          </p:cNvCxnSpPr>
          <p:nvPr/>
        </p:nvCxnSpPr>
        <p:spPr>
          <a:xfrm>
            <a:off x="5485267" y="3068833"/>
            <a:ext cx="0" cy="205784"/>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B2B9E2BC-9E45-B334-978A-5147C2590943}"/>
              </a:ext>
            </a:extLst>
          </p:cNvPr>
          <p:cNvSpPr/>
          <p:nvPr/>
        </p:nvSpPr>
        <p:spPr>
          <a:xfrm>
            <a:off x="4791456" y="3026068"/>
            <a:ext cx="496982" cy="28945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298492947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6612B4C-E1F6-2DDC-303C-78CA450476DA}"/>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EBCE48CC-B665-7474-1926-0A3D559D0E8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235</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48" name="Line 157">
            <a:extLst>
              <a:ext uri="{FF2B5EF4-FFF2-40B4-BE49-F238E27FC236}">
                <a16:creationId xmlns:a16="http://schemas.microsoft.com/office/drawing/2014/main" id="{CA7C209D-4747-A530-2D1E-4FCB4BC2A866}"/>
              </a:ext>
            </a:extLst>
          </p:cNvPr>
          <p:cNvSpPr>
            <a:spLocks noChangeShapeType="1"/>
          </p:cNvSpPr>
          <p:nvPr/>
        </p:nvSpPr>
        <p:spPr bwMode="auto">
          <a:xfrm>
            <a:off x="5513646" y="640317"/>
            <a:ext cx="207963"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158">
            <a:extLst>
              <a:ext uri="{FF2B5EF4-FFF2-40B4-BE49-F238E27FC236}">
                <a16:creationId xmlns:a16="http://schemas.microsoft.com/office/drawing/2014/main" id="{FFF4B98C-0CE3-CCE0-F7B6-0C10CF28AE3C}"/>
              </a:ext>
            </a:extLst>
          </p:cNvPr>
          <p:cNvSpPr>
            <a:spLocks noChangeShapeType="1"/>
          </p:cNvSpPr>
          <p:nvPr/>
        </p:nvSpPr>
        <p:spPr bwMode="auto">
          <a:xfrm>
            <a:off x="5513646" y="1389617"/>
            <a:ext cx="203200"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Line 159">
            <a:extLst>
              <a:ext uri="{FF2B5EF4-FFF2-40B4-BE49-F238E27FC236}">
                <a16:creationId xmlns:a16="http://schemas.microsoft.com/office/drawing/2014/main" id="{DA5AFFD9-FD34-4D08-DC08-1D685AF7A496}"/>
              </a:ext>
            </a:extLst>
          </p:cNvPr>
          <p:cNvSpPr>
            <a:spLocks noChangeShapeType="1"/>
          </p:cNvSpPr>
          <p:nvPr/>
        </p:nvSpPr>
        <p:spPr bwMode="auto">
          <a:xfrm>
            <a:off x="5513646" y="2177017"/>
            <a:ext cx="203200"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Line 160">
            <a:extLst>
              <a:ext uri="{FF2B5EF4-FFF2-40B4-BE49-F238E27FC236}">
                <a16:creationId xmlns:a16="http://schemas.microsoft.com/office/drawing/2014/main" id="{F8E7449B-612D-BF26-A272-D3CB55241214}"/>
              </a:ext>
            </a:extLst>
          </p:cNvPr>
          <p:cNvSpPr>
            <a:spLocks noChangeShapeType="1"/>
          </p:cNvSpPr>
          <p:nvPr/>
        </p:nvSpPr>
        <p:spPr bwMode="auto">
          <a:xfrm>
            <a:off x="5513646" y="2913617"/>
            <a:ext cx="203200"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Line 161">
            <a:extLst>
              <a:ext uri="{FF2B5EF4-FFF2-40B4-BE49-F238E27FC236}">
                <a16:creationId xmlns:a16="http://schemas.microsoft.com/office/drawing/2014/main" id="{67E405BA-575F-CA27-7DF7-E49C58481D41}"/>
              </a:ext>
            </a:extLst>
          </p:cNvPr>
          <p:cNvSpPr>
            <a:spLocks noChangeShapeType="1"/>
          </p:cNvSpPr>
          <p:nvPr/>
        </p:nvSpPr>
        <p:spPr bwMode="auto">
          <a:xfrm>
            <a:off x="5513646" y="3688317"/>
            <a:ext cx="203200"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Line 162">
            <a:extLst>
              <a:ext uri="{FF2B5EF4-FFF2-40B4-BE49-F238E27FC236}">
                <a16:creationId xmlns:a16="http://schemas.microsoft.com/office/drawing/2014/main" id="{1A1D3626-32A7-04DC-799C-65622B73A9E9}"/>
              </a:ext>
            </a:extLst>
          </p:cNvPr>
          <p:cNvSpPr>
            <a:spLocks noChangeShapeType="1"/>
          </p:cNvSpPr>
          <p:nvPr/>
        </p:nvSpPr>
        <p:spPr bwMode="auto">
          <a:xfrm>
            <a:off x="5513646" y="4259817"/>
            <a:ext cx="203200"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Rectangle 113">
            <a:extLst>
              <a:ext uri="{FF2B5EF4-FFF2-40B4-BE49-F238E27FC236}">
                <a16:creationId xmlns:a16="http://schemas.microsoft.com/office/drawing/2014/main" id="{9D08F65B-093A-C922-55F2-3B160D2974DB}"/>
              </a:ext>
            </a:extLst>
          </p:cNvPr>
          <p:cNvSpPr>
            <a:spLocks noChangeArrowheads="1"/>
          </p:cNvSpPr>
          <p:nvPr/>
        </p:nvSpPr>
        <p:spPr bwMode="auto">
          <a:xfrm>
            <a:off x="4572000" y="921009"/>
            <a:ext cx="987425" cy="627063"/>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a:p>
        </p:txBody>
      </p:sp>
      <p:sp>
        <p:nvSpPr>
          <p:cNvPr id="59" name="Line 114">
            <a:extLst>
              <a:ext uri="{FF2B5EF4-FFF2-40B4-BE49-F238E27FC236}">
                <a16:creationId xmlns:a16="http://schemas.microsoft.com/office/drawing/2014/main" id="{24036F22-F15A-3750-276C-067B5FF68393}"/>
              </a:ext>
            </a:extLst>
          </p:cNvPr>
          <p:cNvSpPr>
            <a:spLocks noChangeShapeType="1"/>
          </p:cNvSpPr>
          <p:nvPr/>
        </p:nvSpPr>
        <p:spPr bwMode="auto">
          <a:xfrm>
            <a:off x="4576763" y="1065472"/>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115">
            <a:extLst>
              <a:ext uri="{FF2B5EF4-FFF2-40B4-BE49-F238E27FC236}">
                <a16:creationId xmlns:a16="http://schemas.microsoft.com/office/drawing/2014/main" id="{E035835E-69A9-0AE2-E0E6-1295406EF2A6}"/>
              </a:ext>
            </a:extLst>
          </p:cNvPr>
          <p:cNvSpPr>
            <a:spLocks noChangeShapeType="1"/>
          </p:cNvSpPr>
          <p:nvPr/>
        </p:nvSpPr>
        <p:spPr bwMode="auto">
          <a:xfrm>
            <a:off x="4576763" y="1235334"/>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 name="Line 116">
            <a:extLst>
              <a:ext uri="{FF2B5EF4-FFF2-40B4-BE49-F238E27FC236}">
                <a16:creationId xmlns:a16="http://schemas.microsoft.com/office/drawing/2014/main" id="{AF044717-4C9E-F1C3-386B-039CDA287C92}"/>
              </a:ext>
            </a:extLst>
          </p:cNvPr>
          <p:cNvSpPr>
            <a:spLocks noChangeShapeType="1"/>
          </p:cNvSpPr>
          <p:nvPr/>
        </p:nvSpPr>
        <p:spPr bwMode="auto">
          <a:xfrm>
            <a:off x="4576763" y="1424247"/>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 name="Line 117">
            <a:extLst>
              <a:ext uri="{FF2B5EF4-FFF2-40B4-BE49-F238E27FC236}">
                <a16:creationId xmlns:a16="http://schemas.microsoft.com/office/drawing/2014/main" id="{10CF5167-E1DE-8FF0-2650-B009CC06D049}"/>
              </a:ext>
            </a:extLst>
          </p:cNvPr>
          <p:cNvSpPr>
            <a:spLocks noChangeShapeType="1"/>
          </p:cNvSpPr>
          <p:nvPr/>
        </p:nvSpPr>
        <p:spPr bwMode="auto">
          <a:xfrm>
            <a:off x="5349875" y="924184"/>
            <a:ext cx="0" cy="638175"/>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9" name="Rectangle 119">
            <a:extLst>
              <a:ext uri="{FF2B5EF4-FFF2-40B4-BE49-F238E27FC236}">
                <a16:creationId xmlns:a16="http://schemas.microsoft.com/office/drawing/2014/main" id="{2BC12828-C561-D5C8-37E8-BC85FCC2A6F2}"/>
              </a:ext>
            </a:extLst>
          </p:cNvPr>
          <p:cNvSpPr>
            <a:spLocks noChangeArrowheads="1"/>
          </p:cNvSpPr>
          <p:nvPr/>
        </p:nvSpPr>
        <p:spPr bwMode="auto">
          <a:xfrm>
            <a:off x="4362896" y="946409"/>
            <a:ext cx="125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r"/>
            <a:r>
              <a:rPr lang="en-US" altLang="en-US" dirty="0">
                <a:solidFill>
                  <a:schemeClr val="tx1"/>
                </a:solidFill>
                <a:effectLst>
                  <a:outerShdw blurRad="38100" dist="38100" dir="2700000" algn="tl">
                    <a:srgbClr val="000000"/>
                  </a:outerShdw>
                </a:effectLst>
              </a:rPr>
              <a:t>Modify</a:t>
            </a:r>
          </a:p>
          <a:p>
            <a:pPr algn="r"/>
            <a:r>
              <a:rPr lang="en-US" altLang="en-US" dirty="0">
                <a:solidFill>
                  <a:schemeClr val="tx1"/>
                </a:solidFill>
                <a:effectLst>
                  <a:outerShdw blurRad="38100" dist="38100" dir="2700000" algn="tl">
                    <a:srgbClr val="000000"/>
                  </a:outerShdw>
                </a:effectLst>
              </a:rPr>
              <a:t>Customer</a:t>
            </a:r>
          </a:p>
        </p:txBody>
      </p:sp>
      <p:sp>
        <p:nvSpPr>
          <p:cNvPr id="261" name="Rectangle 120">
            <a:extLst>
              <a:ext uri="{FF2B5EF4-FFF2-40B4-BE49-F238E27FC236}">
                <a16:creationId xmlns:a16="http://schemas.microsoft.com/office/drawing/2014/main" id="{33854C15-8767-5E82-4274-CCB93D886B33}"/>
              </a:ext>
            </a:extLst>
          </p:cNvPr>
          <p:cNvSpPr>
            <a:spLocks noChangeArrowheads="1"/>
          </p:cNvSpPr>
          <p:nvPr/>
        </p:nvSpPr>
        <p:spPr bwMode="auto">
          <a:xfrm>
            <a:off x="4572000" y="159009"/>
            <a:ext cx="987425" cy="627063"/>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a:p>
        </p:txBody>
      </p:sp>
      <p:sp>
        <p:nvSpPr>
          <p:cNvPr id="263" name="Line 121">
            <a:extLst>
              <a:ext uri="{FF2B5EF4-FFF2-40B4-BE49-F238E27FC236}">
                <a16:creationId xmlns:a16="http://schemas.microsoft.com/office/drawing/2014/main" id="{215BB40E-6BE3-1840-6B29-DC290A59C0C9}"/>
              </a:ext>
            </a:extLst>
          </p:cNvPr>
          <p:cNvSpPr>
            <a:spLocks noChangeShapeType="1"/>
          </p:cNvSpPr>
          <p:nvPr/>
        </p:nvSpPr>
        <p:spPr bwMode="auto">
          <a:xfrm>
            <a:off x="4576763" y="303472"/>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5" name="Line 122">
            <a:extLst>
              <a:ext uri="{FF2B5EF4-FFF2-40B4-BE49-F238E27FC236}">
                <a16:creationId xmlns:a16="http://schemas.microsoft.com/office/drawing/2014/main" id="{6A75C7B9-8E6C-0FCE-0809-37305971A25A}"/>
              </a:ext>
            </a:extLst>
          </p:cNvPr>
          <p:cNvSpPr>
            <a:spLocks noChangeShapeType="1"/>
          </p:cNvSpPr>
          <p:nvPr/>
        </p:nvSpPr>
        <p:spPr bwMode="auto">
          <a:xfrm>
            <a:off x="4576763" y="473334"/>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7" name="Line 123">
            <a:extLst>
              <a:ext uri="{FF2B5EF4-FFF2-40B4-BE49-F238E27FC236}">
                <a16:creationId xmlns:a16="http://schemas.microsoft.com/office/drawing/2014/main" id="{8133C1B9-D130-502A-63B1-E832575858C1}"/>
              </a:ext>
            </a:extLst>
          </p:cNvPr>
          <p:cNvSpPr>
            <a:spLocks noChangeShapeType="1"/>
          </p:cNvSpPr>
          <p:nvPr/>
        </p:nvSpPr>
        <p:spPr bwMode="auto">
          <a:xfrm>
            <a:off x="4576763" y="662247"/>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 name="Line 124">
            <a:extLst>
              <a:ext uri="{FF2B5EF4-FFF2-40B4-BE49-F238E27FC236}">
                <a16:creationId xmlns:a16="http://schemas.microsoft.com/office/drawing/2014/main" id="{2D82DD81-C478-26A4-AACA-CA3775227046}"/>
              </a:ext>
            </a:extLst>
          </p:cNvPr>
          <p:cNvSpPr>
            <a:spLocks noChangeShapeType="1"/>
          </p:cNvSpPr>
          <p:nvPr/>
        </p:nvSpPr>
        <p:spPr bwMode="auto">
          <a:xfrm>
            <a:off x="5349875" y="162184"/>
            <a:ext cx="0" cy="638175"/>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1" name="Rectangle 126">
            <a:extLst>
              <a:ext uri="{FF2B5EF4-FFF2-40B4-BE49-F238E27FC236}">
                <a16:creationId xmlns:a16="http://schemas.microsoft.com/office/drawing/2014/main" id="{CB6C45BE-9CBA-AEEA-E9CF-6C9A10D9FA72}"/>
              </a:ext>
            </a:extLst>
          </p:cNvPr>
          <p:cNvSpPr>
            <a:spLocks noChangeArrowheads="1"/>
          </p:cNvSpPr>
          <p:nvPr/>
        </p:nvSpPr>
        <p:spPr bwMode="auto">
          <a:xfrm>
            <a:off x="4362896" y="184409"/>
            <a:ext cx="125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r"/>
            <a:r>
              <a:rPr lang="en-US" altLang="en-US" dirty="0">
                <a:solidFill>
                  <a:schemeClr val="tx1"/>
                </a:solidFill>
                <a:effectLst>
                  <a:outerShdw blurRad="38100" dist="38100" dir="2700000" algn="tl">
                    <a:srgbClr val="000000"/>
                  </a:outerShdw>
                </a:effectLst>
              </a:rPr>
              <a:t>Create</a:t>
            </a:r>
          </a:p>
          <a:p>
            <a:pPr algn="r"/>
            <a:r>
              <a:rPr lang="en-US" altLang="en-US" dirty="0">
                <a:solidFill>
                  <a:schemeClr val="tx1"/>
                </a:solidFill>
                <a:effectLst>
                  <a:outerShdw blurRad="38100" dist="38100" dir="2700000" algn="tl">
                    <a:srgbClr val="000000"/>
                  </a:outerShdw>
                </a:effectLst>
              </a:rPr>
              <a:t>Customer</a:t>
            </a:r>
          </a:p>
        </p:txBody>
      </p:sp>
      <p:sp>
        <p:nvSpPr>
          <p:cNvPr id="273" name="Rectangle 127">
            <a:extLst>
              <a:ext uri="{FF2B5EF4-FFF2-40B4-BE49-F238E27FC236}">
                <a16:creationId xmlns:a16="http://schemas.microsoft.com/office/drawing/2014/main" id="{31B1E066-3AB4-FAEC-D7B5-78D07E7487FB}"/>
              </a:ext>
            </a:extLst>
          </p:cNvPr>
          <p:cNvSpPr>
            <a:spLocks noChangeArrowheads="1"/>
          </p:cNvSpPr>
          <p:nvPr/>
        </p:nvSpPr>
        <p:spPr bwMode="auto">
          <a:xfrm>
            <a:off x="4572000" y="1683009"/>
            <a:ext cx="987425" cy="627063"/>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a:p>
        </p:txBody>
      </p:sp>
      <p:sp>
        <p:nvSpPr>
          <p:cNvPr id="276" name="Line 128">
            <a:extLst>
              <a:ext uri="{FF2B5EF4-FFF2-40B4-BE49-F238E27FC236}">
                <a16:creationId xmlns:a16="http://schemas.microsoft.com/office/drawing/2014/main" id="{9B0C1B71-9979-F5F5-D32B-29CBA28C5827}"/>
              </a:ext>
            </a:extLst>
          </p:cNvPr>
          <p:cNvSpPr>
            <a:spLocks noChangeShapeType="1"/>
          </p:cNvSpPr>
          <p:nvPr/>
        </p:nvSpPr>
        <p:spPr bwMode="auto">
          <a:xfrm>
            <a:off x="4576763" y="1827472"/>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 name="Line 129">
            <a:extLst>
              <a:ext uri="{FF2B5EF4-FFF2-40B4-BE49-F238E27FC236}">
                <a16:creationId xmlns:a16="http://schemas.microsoft.com/office/drawing/2014/main" id="{22322A64-C4D5-E550-7DED-34B039B5E0FE}"/>
              </a:ext>
            </a:extLst>
          </p:cNvPr>
          <p:cNvSpPr>
            <a:spLocks noChangeShapeType="1"/>
          </p:cNvSpPr>
          <p:nvPr/>
        </p:nvSpPr>
        <p:spPr bwMode="auto">
          <a:xfrm>
            <a:off x="4576763" y="1997334"/>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 name="Line 130">
            <a:extLst>
              <a:ext uri="{FF2B5EF4-FFF2-40B4-BE49-F238E27FC236}">
                <a16:creationId xmlns:a16="http://schemas.microsoft.com/office/drawing/2014/main" id="{4D8DE158-7E57-6F4E-D878-0738738FAC13}"/>
              </a:ext>
            </a:extLst>
          </p:cNvPr>
          <p:cNvSpPr>
            <a:spLocks noChangeShapeType="1"/>
          </p:cNvSpPr>
          <p:nvPr/>
        </p:nvSpPr>
        <p:spPr bwMode="auto">
          <a:xfrm>
            <a:off x="4576763" y="2186247"/>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2" name="Line 131">
            <a:extLst>
              <a:ext uri="{FF2B5EF4-FFF2-40B4-BE49-F238E27FC236}">
                <a16:creationId xmlns:a16="http://schemas.microsoft.com/office/drawing/2014/main" id="{2873A450-1DEC-BD4B-6C9E-0CDA348CB8AD}"/>
              </a:ext>
            </a:extLst>
          </p:cNvPr>
          <p:cNvSpPr>
            <a:spLocks noChangeShapeType="1"/>
          </p:cNvSpPr>
          <p:nvPr/>
        </p:nvSpPr>
        <p:spPr bwMode="auto">
          <a:xfrm>
            <a:off x="5349875" y="1686184"/>
            <a:ext cx="0" cy="638175"/>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 name="Rectangle 133">
            <a:extLst>
              <a:ext uri="{FF2B5EF4-FFF2-40B4-BE49-F238E27FC236}">
                <a16:creationId xmlns:a16="http://schemas.microsoft.com/office/drawing/2014/main" id="{68B71110-73FF-FB36-EF92-3965EAA69427}"/>
              </a:ext>
            </a:extLst>
          </p:cNvPr>
          <p:cNvSpPr>
            <a:spLocks noChangeArrowheads="1"/>
          </p:cNvSpPr>
          <p:nvPr/>
        </p:nvSpPr>
        <p:spPr bwMode="auto">
          <a:xfrm>
            <a:off x="4807396" y="1708409"/>
            <a:ext cx="806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r"/>
            <a:r>
              <a:rPr lang="en-US" altLang="en-US">
                <a:solidFill>
                  <a:schemeClr val="tx1"/>
                </a:solidFill>
                <a:effectLst>
                  <a:outerShdw blurRad="38100" dist="38100" dir="2700000" algn="tl">
                    <a:srgbClr val="000000"/>
                  </a:outerShdw>
                </a:effectLst>
              </a:rPr>
              <a:t>Ship</a:t>
            </a:r>
          </a:p>
          <a:p>
            <a:pPr algn="r"/>
            <a:r>
              <a:rPr lang="en-US" altLang="en-US">
                <a:solidFill>
                  <a:schemeClr val="tx1"/>
                </a:solidFill>
                <a:effectLst>
                  <a:outerShdw blurRad="38100" dist="38100" dir="2700000" algn="tl">
                    <a:srgbClr val="000000"/>
                  </a:outerShdw>
                </a:effectLst>
              </a:rPr>
              <a:t>Order</a:t>
            </a:r>
          </a:p>
        </p:txBody>
      </p:sp>
      <p:sp>
        <p:nvSpPr>
          <p:cNvPr id="286" name="Rectangle 134">
            <a:extLst>
              <a:ext uri="{FF2B5EF4-FFF2-40B4-BE49-F238E27FC236}">
                <a16:creationId xmlns:a16="http://schemas.microsoft.com/office/drawing/2014/main" id="{988F8263-5907-22DB-343B-8FE2C305399C}"/>
              </a:ext>
            </a:extLst>
          </p:cNvPr>
          <p:cNvSpPr>
            <a:spLocks noChangeArrowheads="1"/>
          </p:cNvSpPr>
          <p:nvPr/>
        </p:nvSpPr>
        <p:spPr bwMode="auto">
          <a:xfrm>
            <a:off x="4572000" y="2445009"/>
            <a:ext cx="987425" cy="627063"/>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a:p>
        </p:txBody>
      </p:sp>
      <p:sp>
        <p:nvSpPr>
          <p:cNvPr id="288" name="Line 135">
            <a:extLst>
              <a:ext uri="{FF2B5EF4-FFF2-40B4-BE49-F238E27FC236}">
                <a16:creationId xmlns:a16="http://schemas.microsoft.com/office/drawing/2014/main" id="{40CFD173-518F-213C-1D59-C069B6BF63C2}"/>
              </a:ext>
            </a:extLst>
          </p:cNvPr>
          <p:cNvSpPr>
            <a:spLocks noChangeShapeType="1"/>
          </p:cNvSpPr>
          <p:nvPr/>
        </p:nvSpPr>
        <p:spPr bwMode="auto">
          <a:xfrm>
            <a:off x="4576763" y="2589472"/>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 name="Line 136">
            <a:extLst>
              <a:ext uri="{FF2B5EF4-FFF2-40B4-BE49-F238E27FC236}">
                <a16:creationId xmlns:a16="http://schemas.microsoft.com/office/drawing/2014/main" id="{15FF2366-6795-51DD-5B10-387A12B09D71}"/>
              </a:ext>
            </a:extLst>
          </p:cNvPr>
          <p:cNvSpPr>
            <a:spLocks noChangeShapeType="1"/>
          </p:cNvSpPr>
          <p:nvPr/>
        </p:nvSpPr>
        <p:spPr bwMode="auto">
          <a:xfrm>
            <a:off x="4576763" y="2759334"/>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2" name="Line 137">
            <a:extLst>
              <a:ext uri="{FF2B5EF4-FFF2-40B4-BE49-F238E27FC236}">
                <a16:creationId xmlns:a16="http://schemas.microsoft.com/office/drawing/2014/main" id="{061F3A61-1EA8-0F90-C5A5-C1005C551402}"/>
              </a:ext>
            </a:extLst>
          </p:cNvPr>
          <p:cNvSpPr>
            <a:spLocks noChangeShapeType="1"/>
          </p:cNvSpPr>
          <p:nvPr/>
        </p:nvSpPr>
        <p:spPr bwMode="auto">
          <a:xfrm>
            <a:off x="4576763" y="2948247"/>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 name="Line 138">
            <a:extLst>
              <a:ext uri="{FF2B5EF4-FFF2-40B4-BE49-F238E27FC236}">
                <a16:creationId xmlns:a16="http://schemas.microsoft.com/office/drawing/2014/main" id="{ED3F7F64-FEDC-83DE-1576-CA896AD2F72B}"/>
              </a:ext>
            </a:extLst>
          </p:cNvPr>
          <p:cNvSpPr>
            <a:spLocks noChangeShapeType="1"/>
          </p:cNvSpPr>
          <p:nvPr/>
        </p:nvSpPr>
        <p:spPr bwMode="auto">
          <a:xfrm>
            <a:off x="5349875" y="2448184"/>
            <a:ext cx="0" cy="638175"/>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6" name="Rectangle 140">
            <a:extLst>
              <a:ext uri="{FF2B5EF4-FFF2-40B4-BE49-F238E27FC236}">
                <a16:creationId xmlns:a16="http://schemas.microsoft.com/office/drawing/2014/main" id="{0623E911-2B9F-FD82-C8C1-1E32D09EC773}"/>
              </a:ext>
            </a:extLst>
          </p:cNvPr>
          <p:cNvSpPr>
            <a:spLocks noChangeArrowheads="1"/>
          </p:cNvSpPr>
          <p:nvPr/>
        </p:nvSpPr>
        <p:spPr bwMode="auto">
          <a:xfrm>
            <a:off x="3981896" y="2470409"/>
            <a:ext cx="1633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r"/>
            <a:r>
              <a:rPr lang="en-US" altLang="en-US">
                <a:solidFill>
                  <a:schemeClr val="tx1"/>
                </a:solidFill>
                <a:effectLst>
                  <a:outerShdw blurRad="38100" dist="38100" dir="2700000" algn="tl">
                    <a:srgbClr val="000000"/>
                  </a:outerShdw>
                </a:effectLst>
              </a:rPr>
              <a:t>Report</a:t>
            </a:r>
          </a:p>
          <a:p>
            <a:pPr algn="r"/>
            <a:r>
              <a:rPr lang="en-US" altLang="en-US">
                <a:solidFill>
                  <a:schemeClr val="tx1"/>
                </a:solidFill>
                <a:effectLst>
                  <a:outerShdw blurRad="38100" dist="38100" dir="2700000" algn="tl">
                    <a:srgbClr val="000000"/>
                  </a:outerShdw>
                </a:effectLst>
              </a:rPr>
              <a:t>Weekly Sales</a:t>
            </a:r>
          </a:p>
        </p:txBody>
      </p:sp>
      <p:sp>
        <p:nvSpPr>
          <p:cNvPr id="298" name="Rectangle 141">
            <a:extLst>
              <a:ext uri="{FF2B5EF4-FFF2-40B4-BE49-F238E27FC236}">
                <a16:creationId xmlns:a16="http://schemas.microsoft.com/office/drawing/2014/main" id="{C99AFF22-3275-9C47-EA68-99003F9C5770}"/>
              </a:ext>
            </a:extLst>
          </p:cNvPr>
          <p:cNvSpPr>
            <a:spLocks noChangeArrowheads="1"/>
          </p:cNvSpPr>
          <p:nvPr/>
        </p:nvSpPr>
        <p:spPr bwMode="auto">
          <a:xfrm>
            <a:off x="4572000" y="3194309"/>
            <a:ext cx="987425" cy="627063"/>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a:p>
        </p:txBody>
      </p:sp>
      <p:sp>
        <p:nvSpPr>
          <p:cNvPr id="300" name="Line 142">
            <a:extLst>
              <a:ext uri="{FF2B5EF4-FFF2-40B4-BE49-F238E27FC236}">
                <a16:creationId xmlns:a16="http://schemas.microsoft.com/office/drawing/2014/main" id="{5ED1AE36-BE0A-4B0E-291F-FE64DEDA51B4}"/>
              </a:ext>
            </a:extLst>
          </p:cNvPr>
          <p:cNvSpPr>
            <a:spLocks noChangeShapeType="1"/>
          </p:cNvSpPr>
          <p:nvPr/>
        </p:nvSpPr>
        <p:spPr bwMode="auto">
          <a:xfrm>
            <a:off x="4576763" y="3338772"/>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 name="Line 143">
            <a:extLst>
              <a:ext uri="{FF2B5EF4-FFF2-40B4-BE49-F238E27FC236}">
                <a16:creationId xmlns:a16="http://schemas.microsoft.com/office/drawing/2014/main" id="{D9AADF36-28FA-767C-DEF1-6DFE0E27C492}"/>
              </a:ext>
            </a:extLst>
          </p:cNvPr>
          <p:cNvSpPr>
            <a:spLocks noChangeShapeType="1"/>
          </p:cNvSpPr>
          <p:nvPr/>
        </p:nvSpPr>
        <p:spPr bwMode="auto">
          <a:xfrm>
            <a:off x="4576763" y="3508634"/>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4" name="Line 144">
            <a:extLst>
              <a:ext uri="{FF2B5EF4-FFF2-40B4-BE49-F238E27FC236}">
                <a16:creationId xmlns:a16="http://schemas.microsoft.com/office/drawing/2014/main" id="{AB7AA924-3572-98CF-91E3-A4D9D99BCF00}"/>
              </a:ext>
            </a:extLst>
          </p:cNvPr>
          <p:cNvSpPr>
            <a:spLocks noChangeShapeType="1"/>
          </p:cNvSpPr>
          <p:nvPr/>
        </p:nvSpPr>
        <p:spPr bwMode="auto">
          <a:xfrm>
            <a:off x="4576763" y="3697547"/>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6" name="Line 145">
            <a:extLst>
              <a:ext uri="{FF2B5EF4-FFF2-40B4-BE49-F238E27FC236}">
                <a16:creationId xmlns:a16="http://schemas.microsoft.com/office/drawing/2014/main" id="{8D01219D-9045-F570-BD09-79DC453162D2}"/>
              </a:ext>
            </a:extLst>
          </p:cNvPr>
          <p:cNvSpPr>
            <a:spLocks noChangeShapeType="1"/>
          </p:cNvSpPr>
          <p:nvPr/>
        </p:nvSpPr>
        <p:spPr bwMode="auto">
          <a:xfrm>
            <a:off x="5349875" y="3197484"/>
            <a:ext cx="0" cy="638175"/>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 name="Rectangle 147">
            <a:extLst>
              <a:ext uri="{FF2B5EF4-FFF2-40B4-BE49-F238E27FC236}">
                <a16:creationId xmlns:a16="http://schemas.microsoft.com/office/drawing/2014/main" id="{9388CB69-2D9B-AC90-DAA8-928222480237}"/>
              </a:ext>
            </a:extLst>
          </p:cNvPr>
          <p:cNvSpPr>
            <a:spLocks noChangeArrowheads="1"/>
          </p:cNvSpPr>
          <p:nvPr/>
        </p:nvSpPr>
        <p:spPr bwMode="auto">
          <a:xfrm>
            <a:off x="4478784" y="3219709"/>
            <a:ext cx="1136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r"/>
            <a:r>
              <a:rPr lang="en-US" altLang="en-US">
                <a:solidFill>
                  <a:schemeClr val="tx1"/>
                </a:solidFill>
                <a:effectLst>
                  <a:outerShdw blurRad="38100" dist="38100" dir="2700000" algn="tl">
                    <a:srgbClr val="000000"/>
                  </a:outerShdw>
                </a:effectLst>
              </a:rPr>
              <a:t>Create</a:t>
            </a:r>
          </a:p>
          <a:p>
            <a:pPr algn="r"/>
            <a:r>
              <a:rPr lang="en-US" altLang="en-US">
                <a:solidFill>
                  <a:schemeClr val="tx1"/>
                </a:solidFill>
                <a:effectLst>
                  <a:outerShdw blurRad="38100" dist="38100" dir="2700000" algn="tl">
                    <a:srgbClr val="000000"/>
                  </a:outerShdw>
                </a:effectLst>
              </a:rPr>
              <a:t>New Site</a:t>
            </a:r>
          </a:p>
        </p:txBody>
      </p:sp>
      <p:sp>
        <p:nvSpPr>
          <p:cNvPr id="310" name="Rectangle 148">
            <a:extLst>
              <a:ext uri="{FF2B5EF4-FFF2-40B4-BE49-F238E27FC236}">
                <a16:creationId xmlns:a16="http://schemas.microsoft.com/office/drawing/2014/main" id="{FE0C659F-69E0-A125-537F-0A6C9F3CAAAD}"/>
              </a:ext>
            </a:extLst>
          </p:cNvPr>
          <p:cNvSpPr>
            <a:spLocks noChangeArrowheads="1"/>
          </p:cNvSpPr>
          <p:nvPr/>
        </p:nvSpPr>
        <p:spPr bwMode="auto">
          <a:xfrm>
            <a:off x="4597401" y="3969009"/>
            <a:ext cx="987425" cy="627063"/>
          </a:xfrm>
          <a:prstGeom prst="rect">
            <a:avLst/>
          </a:prstGeom>
          <a:solidFill>
            <a:srgbClr val="00B0F0"/>
          </a:solidFill>
          <a:ln>
            <a:noFill/>
          </a:ln>
          <a:effectLst>
            <a:outerShdw dist="71842" dir="2700000" algn="ctr" rotWithShape="0">
              <a:schemeClr val="bg2"/>
            </a:outerShdw>
          </a:effectLst>
        </p:spPr>
        <p:txBody>
          <a:bodyPr wrap="none" anchor="ctr"/>
          <a:lstStyle/>
          <a:p>
            <a:endParaRPr lang="en-US"/>
          </a:p>
        </p:txBody>
      </p:sp>
      <p:sp>
        <p:nvSpPr>
          <p:cNvPr id="312" name="Line 149">
            <a:extLst>
              <a:ext uri="{FF2B5EF4-FFF2-40B4-BE49-F238E27FC236}">
                <a16:creationId xmlns:a16="http://schemas.microsoft.com/office/drawing/2014/main" id="{195985B5-CFBA-8686-B264-4C914B7BA3F8}"/>
              </a:ext>
            </a:extLst>
          </p:cNvPr>
          <p:cNvSpPr>
            <a:spLocks noChangeShapeType="1"/>
          </p:cNvSpPr>
          <p:nvPr/>
        </p:nvSpPr>
        <p:spPr bwMode="auto">
          <a:xfrm>
            <a:off x="4602164" y="4113472"/>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 name="Line 150">
            <a:extLst>
              <a:ext uri="{FF2B5EF4-FFF2-40B4-BE49-F238E27FC236}">
                <a16:creationId xmlns:a16="http://schemas.microsoft.com/office/drawing/2014/main" id="{3D433D5C-EB64-A6F3-2EF0-4E068386CD5C}"/>
              </a:ext>
            </a:extLst>
          </p:cNvPr>
          <p:cNvSpPr>
            <a:spLocks noChangeShapeType="1"/>
          </p:cNvSpPr>
          <p:nvPr/>
        </p:nvSpPr>
        <p:spPr bwMode="auto">
          <a:xfrm>
            <a:off x="4602164" y="4283334"/>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6" name="Line 151">
            <a:extLst>
              <a:ext uri="{FF2B5EF4-FFF2-40B4-BE49-F238E27FC236}">
                <a16:creationId xmlns:a16="http://schemas.microsoft.com/office/drawing/2014/main" id="{A39800C6-3287-0DEC-FFF2-A60E151A50EF}"/>
              </a:ext>
            </a:extLst>
          </p:cNvPr>
          <p:cNvSpPr>
            <a:spLocks noChangeShapeType="1"/>
          </p:cNvSpPr>
          <p:nvPr/>
        </p:nvSpPr>
        <p:spPr bwMode="auto">
          <a:xfrm>
            <a:off x="4602164" y="4472247"/>
            <a:ext cx="985838" cy="0"/>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 name="Line 152">
            <a:extLst>
              <a:ext uri="{FF2B5EF4-FFF2-40B4-BE49-F238E27FC236}">
                <a16:creationId xmlns:a16="http://schemas.microsoft.com/office/drawing/2014/main" id="{D43743F9-0DCF-D86D-8EE2-7CC6D6493A81}"/>
              </a:ext>
            </a:extLst>
          </p:cNvPr>
          <p:cNvSpPr>
            <a:spLocks noChangeShapeType="1"/>
          </p:cNvSpPr>
          <p:nvPr/>
        </p:nvSpPr>
        <p:spPr bwMode="auto">
          <a:xfrm>
            <a:off x="5375276" y="3972184"/>
            <a:ext cx="0" cy="638175"/>
          </a:xfrm>
          <a:prstGeom prst="line">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 name="Rectangle 154">
            <a:extLst>
              <a:ext uri="{FF2B5EF4-FFF2-40B4-BE49-F238E27FC236}">
                <a16:creationId xmlns:a16="http://schemas.microsoft.com/office/drawing/2014/main" id="{0D16E2EB-A81F-CBF7-F7E5-FC412973BF8E}"/>
              </a:ext>
            </a:extLst>
          </p:cNvPr>
          <p:cNvSpPr>
            <a:spLocks noChangeArrowheads="1"/>
          </p:cNvSpPr>
          <p:nvPr/>
        </p:nvSpPr>
        <p:spPr bwMode="auto">
          <a:xfrm>
            <a:off x="4535488" y="3994409"/>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r"/>
            <a:r>
              <a:rPr lang="en-US" altLang="en-US">
                <a:solidFill>
                  <a:schemeClr val="tx1"/>
                </a:solidFill>
                <a:effectLst>
                  <a:outerShdw blurRad="38100" dist="38100" dir="2700000" algn="tl">
                    <a:srgbClr val="000000"/>
                  </a:outerShdw>
                </a:effectLst>
              </a:rPr>
              <a:t>   ...</a:t>
            </a:r>
          </a:p>
        </p:txBody>
      </p:sp>
    </p:spTree>
    <p:extLst>
      <p:ext uri="{BB962C8B-B14F-4D97-AF65-F5344CB8AC3E}">
        <p14:creationId xmlns:p14="http://schemas.microsoft.com/office/powerpoint/2010/main" val="330475125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C8A5277-2325-15C7-BF5B-9487E66C1954}"/>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8022FA3D-BF10-F4D7-FE08-6D7C097A7E3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236</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
        <p:nvSpPr>
          <p:cNvPr id="13" name="Rectangle 12">
            <a:extLst>
              <a:ext uri="{FF2B5EF4-FFF2-40B4-BE49-F238E27FC236}">
                <a16:creationId xmlns:a16="http://schemas.microsoft.com/office/drawing/2014/main" id="{3B43B05B-545E-B009-7C0C-AEEB62B16E7F}"/>
              </a:ext>
            </a:extLst>
          </p:cNvPr>
          <p:cNvSpPr/>
          <p:nvPr/>
        </p:nvSpPr>
        <p:spPr>
          <a:xfrm>
            <a:off x="375684" y="2665228"/>
            <a:ext cx="6953693" cy="531628"/>
          </a:xfrm>
          <a:prstGeom prst="rect">
            <a:avLst/>
          </a:prstGeom>
          <a:gradFill flip="none" rotWithShape="1">
            <a:gsLst>
              <a:gs pos="100000">
                <a:schemeClr val="bg1"/>
              </a:gs>
              <a:gs pos="0">
                <a:srgbClr val="FFC000"/>
              </a:gs>
              <a:gs pos="100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7D67F904-B4F4-CDBC-BDE3-248EE65DBF74}"/>
              </a:ext>
            </a:extLst>
          </p:cNvPr>
          <p:cNvSpPr/>
          <p:nvPr/>
        </p:nvSpPr>
        <p:spPr>
          <a:xfrm>
            <a:off x="7329377" y="2401937"/>
            <a:ext cx="595423" cy="1062123"/>
          </a:xfrm>
          <a:prstGeom prst="rightArrow">
            <a:avLst>
              <a:gd name="adj1" fmla="val 50000"/>
              <a:gd name="adj2" fmla="val 55182"/>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583C261B-65DA-6630-D8B7-3222C6B07038}"/>
              </a:ext>
            </a:extLst>
          </p:cNvPr>
          <p:cNvCxnSpPr/>
          <p:nvPr/>
        </p:nvCxnSpPr>
        <p:spPr>
          <a:xfrm>
            <a:off x="1956390" y="2571750"/>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557908B-2D39-880F-3CEB-54A45C56E65D}"/>
              </a:ext>
            </a:extLst>
          </p:cNvPr>
          <p:cNvCxnSpPr/>
          <p:nvPr/>
        </p:nvCxnSpPr>
        <p:spPr>
          <a:xfrm>
            <a:off x="3377608" y="247605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7E672C6-2614-E089-2D40-802FCDDB1443}"/>
              </a:ext>
            </a:extLst>
          </p:cNvPr>
          <p:cNvCxnSpPr/>
          <p:nvPr/>
        </p:nvCxnSpPr>
        <p:spPr>
          <a:xfrm>
            <a:off x="4685413"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45D8E3A-731F-A995-7A80-C36354B90389}"/>
              </a:ext>
            </a:extLst>
          </p:cNvPr>
          <p:cNvCxnSpPr/>
          <p:nvPr/>
        </p:nvCxnSpPr>
        <p:spPr>
          <a:xfrm>
            <a:off x="6099544" y="2401937"/>
            <a:ext cx="0" cy="89231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Google Shape;248;p56">
            <a:extLst>
              <a:ext uri="{FF2B5EF4-FFF2-40B4-BE49-F238E27FC236}">
                <a16:creationId xmlns:a16="http://schemas.microsoft.com/office/drawing/2014/main" id="{C5E33BA5-DABC-3E7E-AD65-AC98C53B0133}"/>
              </a:ext>
            </a:extLst>
          </p:cNvPr>
          <p:cNvSpPr txBox="1"/>
          <p:nvPr/>
        </p:nvSpPr>
        <p:spPr>
          <a:xfrm>
            <a:off x="504823" y="2582014"/>
            <a:ext cx="1322429" cy="68015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end user discovery</a:t>
            </a:r>
          </a:p>
        </p:txBody>
      </p:sp>
      <p:sp>
        <p:nvSpPr>
          <p:cNvPr id="23" name="Google Shape;248;p56">
            <a:extLst>
              <a:ext uri="{FF2B5EF4-FFF2-40B4-BE49-F238E27FC236}">
                <a16:creationId xmlns:a16="http://schemas.microsoft.com/office/drawing/2014/main" id="{2EC14B0D-D39F-63F5-54C9-4C670DAB4DC6}"/>
              </a:ext>
            </a:extLst>
          </p:cNvPr>
          <p:cNvSpPr txBox="1"/>
          <p:nvPr/>
        </p:nvSpPr>
        <p:spPr>
          <a:xfrm>
            <a:off x="1964320"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data model</a:t>
            </a:r>
          </a:p>
        </p:txBody>
      </p:sp>
      <p:sp>
        <p:nvSpPr>
          <p:cNvPr id="25" name="Google Shape;248;p56">
            <a:extLst>
              <a:ext uri="{FF2B5EF4-FFF2-40B4-BE49-F238E27FC236}">
                <a16:creationId xmlns:a16="http://schemas.microsoft.com/office/drawing/2014/main" id="{DF7223FA-C4B4-390E-DAC8-3F6F7ADAE634}"/>
              </a:ext>
            </a:extLst>
          </p:cNvPr>
          <p:cNvSpPr txBox="1"/>
          <p:nvPr/>
        </p:nvSpPr>
        <p:spPr>
          <a:xfrm>
            <a:off x="3362984" y="2582014"/>
            <a:ext cx="1322429" cy="68015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coding and debugging</a:t>
            </a:r>
          </a:p>
        </p:txBody>
      </p:sp>
      <p:sp>
        <p:nvSpPr>
          <p:cNvPr id="27" name="Google Shape;248;p56">
            <a:extLst>
              <a:ext uri="{FF2B5EF4-FFF2-40B4-BE49-F238E27FC236}">
                <a16:creationId xmlns:a16="http://schemas.microsoft.com/office/drawing/2014/main" id="{3F32A0FD-4C3E-CA3D-8667-03BA3BEAAF21}"/>
              </a:ext>
            </a:extLst>
          </p:cNvPr>
          <p:cNvSpPr txBox="1"/>
          <p:nvPr/>
        </p:nvSpPr>
        <p:spPr>
          <a:xfrm>
            <a:off x="4692278"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system test</a:t>
            </a:r>
          </a:p>
        </p:txBody>
      </p:sp>
      <p:sp>
        <p:nvSpPr>
          <p:cNvPr id="29" name="Google Shape;248;p56">
            <a:extLst>
              <a:ext uri="{FF2B5EF4-FFF2-40B4-BE49-F238E27FC236}">
                <a16:creationId xmlns:a16="http://schemas.microsoft.com/office/drawing/2014/main" id="{885B9071-6F39-A4B9-A836-F973E796C675}"/>
              </a:ext>
            </a:extLst>
          </p:cNvPr>
          <p:cNvSpPr txBox="1"/>
          <p:nvPr/>
        </p:nvSpPr>
        <p:spPr>
          <a:xfrm>
            <a:off x="6106630" y="2582014"/>
            <a:ext cx="1322429" cy="43239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b="1" i="0" u="none" strike="noStrike" kern="0" cap="none" spc="0" normalizeH="0" baseline="0" noProof="0" dirty="0">
                <a:ln>
                  <a:noFill/>
                </a:ln>
                <a:solidFill>
                  <a:schemeClr val="tx1"/>
                </a:solidFill>
                <a:effectLst/>
                <a:uLnTx/>
                <a:uFillTx/>
                <a:latin typeface="Lato"/>
                <a:ea typeface="Lato"/>
                <a:cs typeface="Lato"/>
                <a:sym typeface="Lato"/>
              </a:rPr>
              <a:t>cutover</a:t>
            </a:r>
          </a:p>
        </p:txBody>
      </p:sp>
    </p:spTree>
    <p:extLst>
      <p:ext uri="{BB962C8B-B14F-4D97-AF65-F5344CB8AC3E}">
        <p14:creationId xmlns:p14="http://schemas.microsoft.com/office/powerpoint/2010/main" val="85732440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DB088A-A206-CCF7-BABE-A2EFDEC0D4D3}"/>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23243D0C-A2EA-34B0-3813-0F93DCF42FF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237</a:t>
            </a:fld>
            <a:endParaRPr kumimoji="0" sz="1200" b="0" i="0" u="none" strike="noStrike" kern="0" cap="none" spc="0" normalizeH="0" baseline="0" noProof="0" dirty="0">
              <a:ln>
                <a:noFill/>
              </a:ln>
              <a:solidFill>
                <a:srgbClr val="FF6E42"/>
              </a:solidFill>
              <a:effectLst/>
              <a:uLnTx/>
              <a:uFillTx/>
              <a:latin typeface="Arial"/>
              <a:cs typeface="Arial"/>
              <a:sym typeface="Arial"/>
            </a:endParaRPr>
          </a:p>
        </p:txBody>
      </p:sp>
    </p:spTree>
    <p:extLst>
      <p:ext uri="{BB962C8B-B14F-4D97-AF65-F5344CB8AC3E}">
        <p14:creationId xmlns:p14="http://schemas.microsoft.com/office/powerpoint/2010/main" val="378167720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121017"/>
      </a:dk1>
      <a:lt1>
        <a:srgbClr val="FFFFFF"/>
      </a:lt1>
      <a:dk2>
        <a:srgbClr val="494655"/>
      </a:dk2>
      <a:lt2>
        <a:srgbClr val="F5F5F7"/>
      </a:lt2>
      <a:accent1>
        <a:srgbClr val="FF5F3B"/>
      </a:accent1>
      <a:accent2>
        <a:srgbClr val="1E154B"/>
      </a:accent2>
      <a:accent3>
        <a:srgbClr val="735AF5"/>
      </a:accent3>
      <a:accent4>
        <a:srgbClr val="FF3A46"/>
      </a:accent4>
      <a:accent5>
        <a:srgbClr val="2273C3"/>
      </a:accent5>
      <a:accent6>
        <a:srgbClr val="50D976"/>
      </a:accent6>
      <a:hlink>
        <a:srgbClr val="50D97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16258</TotalTime>
  <Words>24209</Words>
  <Application>Microsoft Office PowerPoint</Application>
  <PresentationFormat>On-screen Show (16:9)</PresentationFormat>
  <Paragraphs>3400</Paragraphs>
  <Slides>237</Slides>
  <Notes>237</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237</vt:i4>
      </vt:variant>
    </vt:vector>
  </HeadingPairs>
  <TitlesOfParts>
    <vt:vector size="254" baseType="lpstr">
      <vt:lpstr>Inter Medium</vt:lpstr>
      <vt:lpstr>Inter</vt:lpstr>
      <vt:lpstr>Lato</vt:lpstr>
      <vt:lpstr>Rubik</vt:lpstr>
      <vt:lpstr>Arial</vt:lpstr>
      <vt:lpstr>Roboto</vt:lpstr>
      <vt:lpstr>Courier New</vt:lpstr>
      <vt:lpstr>Merriweather</vt:lpstr>
      <vt:lpstr>Comfortaa Medium</vt:lpstr>
      <vt:lpstr>Helvetica Neue</vt:lpstr>
      <vt:lpstr>Wingdings</vt:lpstr>
      <vt:lpstr>Roboto Condensed Light</vt:lpstr>
      <vt:lpstr>Comfortaa</vt:lpstr>
      <vt:lpstr>Simple Light</vt:lpstr>
      <vt:lpstr>Paradigm</vt:lpstr>
      <vt:lpstr>Simple Light</vt:lpstr>
      <vt:lpstr>ClipArt</vt:lpstr>
      <vt:lpstr>PowerPoint Presentation</vt:lpstr>
      <vt:lpstr>PowerPoint Presentation</vt:lpstr>
      <vt:lpstr>where this fits in performance tuning</vt:lpstr>
      <vt:lpstr>sargability – Search ARGument availABLE</vt:lpstr>
      <vt:lpstr>which of these-</vt:lpstr>
      <vt:lpstr>the 4 stage backend</vt:lpstr>
      <vt:lpstr>seeing parsing overhead</vt:lpstr>
      <vt:lpstr>query optimizer; what constitutes a query (execution) plan</vt:lpstr>
      <vt:lpstr>file access methods, (traditionally, all databases)</vt:lpstr>
      <vt:lpstr>join method,  table order</vt:lpstr>
      <vt:lpstr>rules based optimizer (rbo), cost based optimizer (cbo)</vt:lpstr>
      <vt:lpstr>PowerPoint Presentation</vt:lpstr>
      <vt:lpstr>example 01:</vt:lpstr>
      <vt:lpstr>but first, 7'th grade algebra; the associative property</vt:lpstr>
      <vt:lpstr>also first; the "psuedo order by clause" (a query rewrite)</vt:lpstr>
      <vt:lpstr>PowerPoint Presentation</vt:lpstr>
      <vt:lpstr>example 01: determing the query plan, applying the rules </vt:lpstr>
      <vt:lpstr>example 01: which query predicate (filter)</vt:lpstr>
      <vt:lpstr>example 01: how, why</vt:lpstr>
      <vt:lpstr>example 01: the actual code behind this</vt:lpstr>
      <vt:lpstr>example 01: the actual code behind this</vt:lpstr>
      <vt:lpstr>example 01: the actual code behind this</vt:lpstr>
      <vt:lpstr>example 01: running the original query</vt:lpstr>
      <vt:lpstr>example 01: output from ANALYZE</vt:lpstr>
      <vt:lpstr>example 01b: a different version, that needs to sort</vt:lpstr>
      <vt:lpstr>yugabyteDB doc page: Ask AI capability</vt:lpstr>
      <vt:lpstr>more on sort pipelining</vt:lpstr>
      <vt:lpstr>PowerPoint Presentation</vt:lpstr>
      <vt:lpstr>PowerPoint Presentation</vt:lpstr>
      <vt:lpstr>PowerPoint Presentation</vt:lpstr>
      <vt:lpstr>example 02:</vt:lpstr>
      <vt:lpstr>the OR-topped query, the physics</vt:lpstr>
      <vt:lpstr>index negation; non-anchored composite key</vt:lpstr>
      <vt:lpstr>composite key, index negation chart</vt:lpstr>
      <vt:lpstr>OR-topped query    OR-union transfer (a query rewrite)</vt:lpstr>
      <vt:lpstr>PowerPoint Presentation</vt:lpstr>
      <vt:lpstr>example 02: determing the query plan, applying the rules </vt:lpstr>
      <vt:lpstr>example 02: the actual code behind this</vt:lpstr>
      <vt:lpstr>example 02: running the query</vt:lpstr>
      <vt:lpstr>example 02: output from ANALYZE</vt:lpstr>
      <vt:lpstr>example 02: additional topics</vt:lpstr>
      <vt:lpstr>example 02'ish: a different query, seeing work_mem and sorts</vt:lpstr>
      <vt:lpstr>example 02'ish: a different query, seeing work_mem and sorts</vt:lpstr>
      <vt:lpstr>example 02'ish: a different query, sort time jitter on small sized data</vt:lpstr>
      <vt:lpstr>example 02: optional examination during exercise</vt:lpstr>
      <vt:lpstr>PowerPoint Presentation</vt:lpstr>
      <vt:lpstr>PowerPoint Presentation</vt:lpstr>
      <vt:lpstr>PowerPoint Presentation</vt:lpstr>
      <vt:lpstr>index types</vt:lpstr>
      <vt:lpstr>PostgreSQL/other compatible; B-tree+, hash   create index (rewrites)</vt:lpstr>
      <vt:lpstr>index types, focus on LSM</vt:lpstr>
      <vt:lpstr>examples used previously-</vt:lpstr>
      <vt:lpstr>what about datetime/timestamp data, the core tension-</vt:lpstr>
      <vt:lpstr>datetime/timestamp data: the fix (1)</vt:lpstr>
      <vt:lpstr>datetime/timestamp data: if you do not have a natural key, the fix (2)</vt:lpstr>
      <vt:lpstr>datetime/timestamp data: if you can not do either, the fix (3)</vt:lpstr>
      <vt:lpstr>similar, but different: permitting NULLs in indexes, the fix</vt:lpstr>
      <vt:lpstr>PowerPoint Presentation</vt:lpstr>
      <vt:lpstr>example 03:</vt:lpstr>
      <vt:lpstr>index negation; non-initial substring</vt:lpstr>
      <vt:lpstr>non-initial substring (non-initial anything), solutions</vt:lpstr>
      <vt:lpstr>reverse index, syntax and use</vt:lpstr>
      <vt:lpstr>reverse index, syntax and use</vt:lpstr>
      <vt:lpstr>reverse index, syntax and use</vt:lpstr>
      <vt:lpstr>GIN index, generalized inverted index</vt:lpstr>
      <vt:lpstr>GIN index, generalized inverted index</vt:lpstr>
      <vt:lpstr>PowerPoint Presentation</vt:lpstr>
      <vt:lpstr>example 03: creating a GIN index</vt:lpstr>
      <vt:lpstr>example 03: the query plan</vt:lpstr>
      <vt:lpstr>a different data set; seeing quality of query predicates, and index rechecks </vt:lpstr>
      <vt:lpstr>a different data set; seeing quality of query predicates, and index rechecks </vt:lpstr>
      <vt:lpstr>a different data set; seeing quality of query predicates, and index rechecks </vt:lpstr>
      <vt:lpstr>what about full text search (FTS), a different use case</vt:lpstr>
      <vt:lpstr>full text search, query plan</vt:lpstr>
      <vt:lpstr>PowerPoint Presentation</vt:lpstr>
      <vt:lpstr>PowerPoint Presentation</vt:lpstr>
      <vt:lpstr>PowerPoint Presentation</vt:lpstr>
      <vt:lpstr>index count, write path</vt:lpstr>
      <vt:lpstr>index count, write path</vt:lpstr>
      <vt:lpstr>index count, write path, with indexes</vt:lpstr>
      <vt:lpstr>(reads ?) collocated indexes, key-only retrieval, covering indexes, index ordered tables</vt:lpstr>
      <vt:lpstr>(reads ?) collocated indexes, key-only retrieval, covering indexes, index ordered tables</vt:lpstr>
      <vt:lpstr>example: key only retrieval, index negation exception</vt:lpstr>
      <vt:lpstr>(reads ?) collocated indexes, key-only retrieval, covering indexes, index ordered tables</vt:lpstr>
      <vt:lpstr>example: covering index</vt:lpstr>
      <vt:lpstr>PowerPoint Presentation</vt:lpstr>
      <vt:lpstr>example 04:</vt:lpstr>
      <vt:lpstr>outer join, what is it</vt:lpstr>
      <vt:lpstr>example 04: historically (and without exception)</vt:lpstr>
      <vt:lpstr>PowerPoint Presentation</vt:lpstr>
      <vt:lpstr>example 04: the actual code behind this</vt:lpstr>
      <vt:lpstr>example 04: the actual code behind this</vt:lpstr>
      <vt:lpstr>example 04: the actual code behind this</vt:lpstr>
      <vt:lpstr>outer joins</vt:lpstr>
      <vt:lpstr>example 04: what if we disable hash join</vt:lpstr>
      <vt:lpstr>example 04: what if we disable hash join</vt:lpstr>
      <vt:lpstr>example 04: what if there were filters</vt:lpstr>
      <vt:lpstr>example 04: what if there were filters (a different query)</vt:lpstr>
      <vt:lpstr>PowerPoint Presentation</vt:lpstr>
      <vt:lpstr>PowerPoint Presentation</vt:lpstr>
      <vt:lpstr>PowerPoint Presentation</vt:lpstr>
      <vt:lpstr>example 05</vt:lpstr>
      <vt:lpstr>an aside: counting, and knowing what is going on- </vt:lpstr>
      <vt:lpstr>logically,  how SELECT DISTINCT gets processed</vt:lpstr>
      <vt:lpstr>example 05: the actual code behind this</vt:lpstr>
      <vt:lpstr>example 05: the actual code behind this</vt:lpstr>
      <vt:lpstr>example 05: the actual code behind this</vt:lpstr>
      <vt:lpstr>example 05: the actual code behind this</vt:lpstr>
      <vt:lpstr>PowerPoint Presentation</vt:lpstr>
      <vt:lpstr>SELECT DISTINCT, why are we doing this</vt:lpstr>
      <vt:lpstr>SELECT DISTINCT, how to find/avoid/repair-</vt:lpstr>
      <vt:lpstr>PowerPoint Presentation</vt:lpstr>
      <vt:lpstr>PowerPoint Presentation</vt:lpstr>
      <vt:lpstr>PowerPoint Presentation</vt:lpstr>
      <vt:lpstr>common table expressions (CTEs)</vt:lpstr>
      <vt:lpstr>common table expressions (CTEs), why-</vt:lpstr>
      <vt:lpstr>common table expressions (CTEs), example</vt:lpstr>
      <vt:lpstr>common table expressions (CTEs), why-</vt:lpstr>
      <vt:lpstr>using CTEs to actually make a query faster, problem 1</vt:lpstr>
      <vt:lpstr>using CTEs to actually make a query faster, problem 1</vt:lpstr>
      <vt:lpstr>using CTEs to actually make a query faster, solution 1</vt:lpstr>
      <vt:lpstr>common table expressions (CTEs), solution 1, verifying</vt:lpstr>
      <vt:lpstr>common table expressions (CTEs),  other repetitive execution patterns</vt:lpstr>
      <vt:lpstr>CTEs, same non-correlated subquery pasted in multiple places, problem </vt:lpstr>
      <vt:lpstr>CTEs, same non-correlated subquery pasted in multiple places, solution </vt:lpstr>
      <vt:lpstr>CTEs, multiple UNION branches each re-filtering the same expensive base, problem </vt:lpstr>
      <vt:lpstr>CTEs, multiple UNION branches each re-filtering the same expensive base, solution </vt:lpstr>
      <vt:lpstr>CTEs, repeated self-joins to the same huge table for period comparisons, problem  </vt:lpstr>
      <vt:lpstr>CTEs, repeated self-joins to the same huge table for period comparisons, solution  </vt:lpstr>
      <vt:lpstr>CTEs, repeated complex expression case, problem (vector search example) </vt:lpstr>
      <vt:lpstr>CTEs, repeated complex expression case, solution </vt:lpstr>
      <vt:lpstr>example 06: the actual code behind this</vt:lpstr>
      <vt:lpstr>example 06: the actual code behind this</vt:lpstr>
      <vt:lpstr>example 06: the actual code behind this</vt:lpstr>
      <vt:lpstr>example 06:</vt:lpstr>
      <vt:lpstr>example 06: how does this query execute</vt:lpstr>
      <vt:lpstr>PowerPoint Presentation</vt:lpstr>
      <vt:lpstr>example 06:</vt:lpstr>
      <vt:lpstr>example 06b: manual rewrite</vt:lpstr>
      <vt:lpstr>example 06b: manual rewrite</vt:lpstr>
      <vt:lpstr>example 06: what else can be done</vt:lpstr>
      <vt:lpstr>example 06c: what else can be done</vt:lpstr>
      <vt:lpstr>PowerPoint Presentation</vt:lpstr>
      <vt:lpstr>PowerPoint Presentation</vt:lpstr>
      <vt:lpstr>PowerPoint Presentation</vt:lpstr>
      <vt:lpstr>rules based optimizers: the last two rules</vt:lpstr>
      <vt:lpstr>the cost based optimizer (CBO) pipeline</vt:lpstr>
      <vt:lpstr>what actually gets compared</vt:lpstr>
      <vt:lpstr>what statistics actually contain (table and column level)</vt:lpstr>
      <vt:lpstr>what statistics actually contain (beyond single columns)</vt:lpstr>
      <vt:lpstr>atop distributed</vt:lpstr>
      <vt:lpstr>query optimizer hints</vt:lpstr>
      <vt:lpstr>what optimizer hints typically control</vt:lpstr>
      <vt:lpstr>two ways to hint in PostgreSQL/yugabyteDB</vt:lpstr>
      <vt:lpstr>query optimizer hints: good use, bad use</vt:lpstr>
      <vt:lpstr>query optimizer hints example</vt:lpstr>
      <vt:lpstr>PowerPoint Presentation</vt:lpstr>
      <vt:lpstr>example 07: graduation, the "upside down filter problem"</vt:lpstr>
      <vt:lpstr>example 07: the code behind this </vt:lpstr>
      <vt:lpstr>example 07: the code behind this </vt:lpstr>
      <vt:lpstr>example 07: the code behind this </vt:lpstr>
      <vt:lpstr>example 07:</vt:lpstr>
      <vt:lpstr>example 07: gather information</vt:lpstr>
      <vt:lpstr>example 07: information, explain</vt:lpstr>
      <vt:lpstr>example 07: discussion</vt:lpstr>
      <vt:lpstr>example 07: simplify the test case </vt:lpstr>
      <vt:lpstr>example 07: examine just tables t1 and t2</vt:lpstr>
      <vt:lpstr>example 07: measure selectivity of filters</vt:lpstr>
      <vt:lpstr>about unique constraints</vt:lpstr>
      <vt:lpstr>legacy systems: index versus sequential access method  (B-tree+ shown)</vt:lpstr>
      <vt:lpstr>about unique constraints</vt:lpstr>
      <vt:lpstr>example 07: measure join relations, cardinality</vt:lpstr>
      <vt:lpstr>example 07: more filter measurement</vt:lpstr>
      <vt:lpstr>PowerPoint Presentation</vt:lpstr>
      <vt:lpstr>example 07: solution</vt:lpstr>
      <vt:lpstr>example 07: running the really bad query</vt:lpstr>
      <vt:lpstr>example 07: query plan for the really bad query</vt:lpstr>
      <vt:lpstr>example 07: query plan for the really bad query</vt:lpstr>
      <vt:lpstr>example 07b: remove the hints, allow full (modern) cbo</vt:lpstr>
      <vt:lpstr>example 07b: remove the hints, allow full (modern) cbo</vt:lpstr>
      <vt:lpstr>example 07c: but an even faster plan   (flip the indexes over)</vt:lpstr>
      <vt:lpstr>example 07c: uses the original/unchanged query</vt:lpstr>
      <vt:lpstr>example 07c: cbo, and reversed indexes </vt:lpstr>
      <vt:lpstr>PowerPoint Presentation</vt:lpstr>
      <vt:lpstr>PowerPoint Presentation</vt:lpstr>
      <vt:lpstr>is schema synonymous with data model ?</vt:lpstr>
      <vt:lpstr>steps to create a data model</vt:lpstr>
      <vt:lpstr>does the data model tell you</vt:lpstr>
      <vt:lpstr>common database project time line</vt:lpstr>
      <vt:lpstr>common sources of error</vt:lpstr>
      <vt:lpstr>modified time line: early cut over</vt:lpstr>
      <vt:lpstr>modified time line: process model</vt:lpstr>
      <vt:lpstr>steps to create a process model</vt:lpstr>
      <vt:lpstr>does the data process model tell you</vt:lpstr>
      <vt:lpstr>modified time line: performance testing</vt:lpstr>
      <vt:lpstr>modified time line: SQL optimization</vt:lpstr>
      <vt:lpstr>modified project time line: final</vt:lpstr>
      <vt:lpstr>sources of error, revisited</vt:lpstr>
      <vt:lpstr>PowerPoint Presentation</vt:lpstr>
      <vt:lpstr>history of, before qpm-</vt:lpstr>
      <vt:lpstr>pg_stat_statements, example execution</vt:lpstr>
      <vt:lpstr>pg_stat_statements, example output</vt:lpstr>
      <vt:lpstr>application performance monitoring (APM)</vt:lpstr>
      <vt:lpstr>APM, sample output</vt:lpstr>
      <vt:lpstr>active session history (ASH)</vt:lpstr>
      <vt:lpstr>ASH, sample output</vt:lpstr>
      <vt:lpstr>ASH, sample output</vt:lpstr>
      <vt:lpstr>ASH, sample output</vt:lpstr>
      <vt:lpstr>ASH, what can you do with this data-</vt:lpstr>
      <vt:lpstr>query plan management (qpm): why-</vt:lpstr>
      <vt:lpstr>qpm, configuring</vt:lpstr>
      <vt:lpstr>qpm, accessing</vt:lpstr>
      <vt:lpstr>qpm, in use</vt:lpstr>
      <vt:lpstr>example 07, 07b specifically</vt:lpstr>
      <vt:lpstr>data output from that last query</vt:lpstr>
      <vt:lpstr>query plan management demonstration:</vt:lpstr>
      <vt:lpstr>zipfian data distributions, query plans, the driver</vt:lpstr>
      <vt:lpstr>zipfian data distributions, query plans, the driver</vt:lpstr>
      <vt:lpstr>query plan management demonstration:</vt:lpstr>
      <vt:lpstr>PowerPoint Presentation</vt:lpstr>
      <vt:lpstr>Next step ..</vt:lpstr>
      <vt:lpstr>PowerPoint Presentation</vt:lpstr>
      <vt:lpstr>query optimizer; what constitutes a query (execution) plan</vt:lpstr>
      <vt:lpstr>query optimizer; what constitutes a query (execution) plan</vt:lpstr>
      <vt:lpstr>aaa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default</dc:creator>
  <cp:lastModifiedBy>Daniel Farrell</cp:lastModifiedBy>
  <cp:revision>217</cp:revision>
  <cp:lastPrinted>2026-08-21T16:57:48Z</cp:lastPrinted>
  <dcterms:modified xsi:type="dcterms:W3CDTF">2026-09-16T19:45:16Z</dcterms:modified>
</cp:coreProperties>
</file>