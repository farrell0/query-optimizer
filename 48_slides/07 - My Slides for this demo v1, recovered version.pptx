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9" r:id="rId1"/>
    <p:sldMasterId id="2147483700" r:id="rId2"/>
    <p:sldMasterId id="2147483701" r:id="rId3"/>
  </p:sldMasterIdLst>
  <p:notesMasterIdLst>
    <p:notesMasterId r:id="rId65"/>
  </p:notesMasterIdLst>
  <p:sldIdLst>
    <p:sldId id="256" r:id="rId4"/>
    <p:sldId id="284" r:id="rId5"/>
    <p:sldId id="307" r:id="rId6"/>
    <p:sldId id="338" r:id="rId7"/>
    <p:sldId id="343" r:id="rId8"/>
    <p:sldId id="339" r:id="rId9"/>
    <p:sldId id="341" r:id="rId10"/>
    <p:sldId id="340" r:id="rId11"/>
    <p:sldId id="345" r:id="rId12"/>
    <p:sldId id="360" r:id="rId13"/>
    <p:sldId id="342" r:id="rId14"/>
    <p:sldId id="356" r:id="rId15"/>
    <p:sldId id="344" r:id="rId16"/>
    <p:sldId id="346" r:id="rId17"/>
    <p:sldId id="347" r:id="rId18"/>
    <p:sldId id="362" r:id="rId19"/>
    <p:sldId id="357" r:id="rId20"/>
    <p:sldId id="361" r:id="rId21"/>
    <p:sldId id="358" r:id="rId22"/>
    <p:sldId id="359" r:id="rId23"/>
    <p:sldId id="375" r:id="rId24"/>
    <p:sldId id="371" r:id="rId25"/>
    <p:sldId id="372" r:id="rId26"/>
    <p:sldId id="373" r:id="rId27"/>
    <p:sldId id="374" r:id="rId28"/>
    <p:sldId id="363" r:id="rId29"/>
    <p:sldId id="376" r:id="rId30"/>
    <p:sldId id="392" r:id="rId31"/>
    <p:sldId id="377" r:id="rId32"/>
    <p:sldId id="378" r:id="rId33"/>
    <p:sldId id="364" r:id="rId34"/>
    <p:sldId id="365" r:id="rId35"/>
    <p:sldId id="366" r:id="rId36"/>
    <p:sldId id="383" r:id="rId37"/>
    <p:sldId id="384" r:id="rId38"/>
    <p:sldId id="386" r:id="rId39"/>
    <p:sldId id="387" r:id="rId40"/>
    <p:sldId id="389" r:id="rId41"/>
    <p:sldId id="388" r:id="rId42"/>
    <p:sldId id="390" r:id="rId43"/>
    <p:sldId id="391" r:id="rId44"/>
    <p:sldId id="395" r:id="rId45"/>
    <p:sldId id="397" r:id="rId46"/>
    <p:sldId id="394" r:id="rId47"/>
    <p:sldId id="393" r:id="rId48"/>
    <p:sldId id="396" r:id="rId49"/>
    <p:sldId id="379" r:id="rId50"/>
    <p:sldId id="380" r:id="rId51"/>
    <p:sldId id="381" r:id="rId52"/>
    <p:sldId id="382" r:id="rId53"/>
    <p:sldId id="337" r:id="rId54"/>
    <p:sldId id="308" r:id="rId55"/>
    <p:sldId id="285" r:id="rId56"/>
    <p:sldId id="355" r:id="rId57"/>
    <p:sldId id="354" r:id="rId58"/>
    <p:sldId id="348" r:id="rId59"/>
    <p:sldId id="349" r:id="rId60"/>
    <p:sldId id="350" r:id="rId61"/>
    <p:sldId id="351" r:id="rId62"/>
    <p:sldId id="352" r:id="rId63"/>
    <p:sldId id="353" r:id="rId64"/>
  </p:sldIdLst>
  <p:sldSz cx="9144000" cy="5143500" type="screen16x9"/>
  <p:notesSz cx="6858000" cy="9144000"/>
  <p:embeddedFontLst>
    <p:embeddedFont>
      <p:font typeface="Comfortaa" panose="020B0604020202020204" charset="0"/>
      <p:regular r:id="rId66"/>
      <p:bold r:id="rId67"/>
    </p:embeddedFont>
    <p:embeddedFont>
      <p:font typeface="Comfortaa Medium" panose="020B0604020202020204" charset="0"/>
      <p:regular r:id="rId68"/>
      <p:bold r:id="rId69"/>
    </p:embeddedFont>
    <p:embeddedFont>
      <p:font typeface="Helvetica Neue" panose="020B0604020202020204" charset="0"/>
      <p:regular r:id="rId70"/>
      <p:bold r:id="rId71"/>
      <p:italic r:id="rId72"/>
      <p:boldItalic r:id="rId73"/>
    </p:embeddedFont>
    <p:embeddedFont>
      <p:font typeface="Inter" panose="020B0604020202020204" charset="0"/>
      <p:regular r:id="rId74"/>
      <p:bold r:id="rId75"/>
      <p:italic r:id="rId76"/>
      <p:boldItalic r:id="rId77"/>
    </p:embeddedFont>
    <p:embeddedFont>
      <p:font typeface="Inter Medium" panose="020B0604020202020204" charset="0"/>
      <p:regular r:id="rId78"/>
      <p:bold r:id="rId79"/>
      <p:italic r:id="rId80"/>
      <p:boldItalic r:id="rId81"/>
    </p:embeddedFont>
    <p:embeddedFont>
      <p:font typeface="Lato" panose="020B0604020202020204" charset="0"/>
      <p:regular r:id="rId82"/>
      <p:bold r:id="rId83"/>
      <p:italic r:id="rId84"/>
      <p:boldItalic r:id="rId85"/>
    </p:embeddedFont>
    <p:embeddedFont>
      <p:font typeface="Merriweather" panose="020B0604020202020204" charset="0"/>
      <p:regular r:id="rId86"/>
      <p:bold r:id="rId87"/>
      <p:italic r:id="rId88"/>
      <p:boldItalic r:id="rId89"/>
    </p:embeddedFont>
    <p:embeddedFont>
      <p:font typeface="Roboto" panose="020B0604020202020204" charset="0"/>
      <p:regular r:id="rId90"/>
      <p:bold r:id="rId91"/>
      <p:italic r:id="rId92"/>
      <p:boldItalic r:id="rId93"/>
    </p:embeddedFont>
    <p:embeddedFont>
      <p:font typeface="Roboto Condensed Light" panose="020B0604020202020204" charset="0"/>
      <p:regular r:id="rId94"/>
      <p:bold r:id="rId95"/>
      <p:italic r:id="rId96"/>
      <p:boldItalic r:id="rId97"/>
    </p:embeddedFont>
    <p:embeddedFont>
      <p:font typeface="Rubik" panose="020B0604020202020204" charset="-79"/>
      <p:regular r:id="rId98"/>
      <p:bold r:id="rId99"/>
      <p:italic r:id="rId100"/>
      <p:boldItalic r:id="rId10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088FF"/>
    <a:srgbClr val="FF5F3B"/>
    <a:srgbClr val="272532"/>
    <a:srgbClr val="1210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385125C-2D90-44BB-9572-9AD770A94C52}">
  <a:tblStyle styleId="{3385125C-2D90-44BB-9572-9AD770A94C52}" styleName="Table_0">
    <a:wholeTbl>
      <a:tcTxStyle b="off" i="off">
        <a:font>
          <a:latin typeface="Helvetica Light"/>
          <a:ea typeface="Helvetica Light"/>
          <a:cs typeface="Helvetica Light"/>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solidFill>
        </a:fill>
      </a:tcStyle>
    </a:wholeTbl>
    <a:band1H>
      <a:tcTxStyle/>
      <a:tcStyle>
        <a:tcBdr/>
      </a:tcStyle>
    </a:band1H>
    <a:band2H>
      <a:tcTxStyle b="off" i="off"/>
      <a:tcStyle>
        <a:tcBdr/>
        <a:fill>
          <a:solidFill>
            <a:srgbClr val="E3E5E8"/>
          </a:solidFill>
        </a:fill>
      </a:tcStyle>
    </a:band2H>
    <a:band1V>
      <a:tcTxStyle/>
      <a:tcStyle>
        <a:tcBdr/>
      </a:tcStyle>
    </a:band1V>
    <a:band2V>
      <a:tcTxStyle/>
      <a:tcStyle>
        <a:tcBdr/>
      </a:tcStyle>
    </a:band2V>
    <a:lastCol>
      <a:tcTxStyle/>
      <a:tcStyle>
        <a:tcBdr/>
      </a:tcStyle>
    </a:lastCol>
    <a:firstCol>
      <a:tcTxStyle b="on" i="off">
        <a:font>
          <a:latin typeface="Helvetica"/>
          <a:ea typeface="Helvetica"/>
          <a:cs typeface="Helvetica"/>
        </a:font>
        <a:srgbClr val="FFFFFF"/>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398CCE"/>
          </a:solidFill>
        </a:fill>
      </a:tcStyle>
    </a:firstCol>
    <a:lastRow>
      <a:tcTxStyle b="off" i="off">
        <a:font>
          <a:latin typeface="Helvetica Light"/>
          <a:ea typeface="Helvetica Light"/>
          <a:cs typeface="Helvetica Light"/>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3797C6"/>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solidFill>
        </a:fill>
      </a:tcStyle>
    </a:lastRow>
    <a:seCell>
      <a:tcTxStyle/>
      <a:tcStyle>
        <a:tcBdr/>
      </a:tcStyle>
    </a:seCell>
    <a:swCell>
      <a:tcTxStyle/>
      <a:tcStyle>
        <a:tcBdr/>
      </a:tcStyle>
    </a:swCell>
    <a:firstRow>
      <a:tcTxStyle b="on" i="off">
        <a:font>
          <a:latin typeface="Helvetica"/>
          <a:ea typeface="Helvetica"/>
          <a:cs typeface="Helvetica"/>
        </a:font>
        <a:srgbClr val="FFFFFF"/>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1"/>
          </a:solidFill>
        </a:fill>
      </a:tcStyle>
    </a:firstRow>
    <a:neCell>
      <a:tcTxStyle/>
      <a:tcStyle>
        <a:tcBdr/>
      </a:tcStyle>
    </a:neCell>
    <a:nwCell>
      <a:tcTxStyle/>
      <a:tcStyle>
        <a:tcBdr/>
      </a:tcStyle>
    </a:nwCell>
  </a:tblStyle>
  <a:tblStyle styleId="{089503BA-411C-4511-BEE9-534013F5078C}"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919C834-B7B1-4ECF-AE0E-9BD6425C956E}" styleName="Table_2">
    <a:wholeTbl>
      <a:tcTxStyle b="off" i="off">
        <a:font>
          <a:latin typeface="Helvetica Light"/>
          <a:ea typeface="Helvetica Light"/>
          <a:cs typeface="Helvetica Light"/>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solidFill>
        </a:fill>
      </a:tcStyle>
    </a:wholeTbl>
    <a:band1H>
      <a:tcTxStyle/>
      <a:tcStyle>
        <a:tcBdr/>
      </a:tcStyle>
    </a:band1H>
    <a:band2H>
      <a:tcTxStyle b="off" i="off"/>
      <a:tcStyle>
        <a:tcBdr/>
        <a:fill>
          <a:solidFill>
            <a:srgbClr val="E3E5E8"/>
          </a:solidFill>
        </a:fill>
      </a:tcStyle>
    </a:band2H>
    <a:band1V>
      <a:tcTxStyle/>
      <a:tcStyle>
        <a:tcBdr/>
      </a:tcStyle>
    </a:band1V>
    <a:band2V>
      <a:tcTxStyle/>
      <a:tcStyle>
        <a:tcBdr/>
      </a:tcStyle>
    </a:band2V>
    <a:lastCol>
      <a:tcTxStyle/>
      <a:tcStyle>
        <a:tcBdr/>
      </a:tcStyle>
    </a:lastCol>
    <a:firstCol>
      <a:tcTxStyle b="on" i="off">
        <a:font>
          <a:latin typeface="Helvetica"/>
          <a:ea typeface="Helvetica"/>
          <a:cs typeface="Helvetica"/>
        </a:font>
        <a:srgbClr val="FFFFFF"/>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398CCE"/>
          </a:solidFill>
        </a:fill>
      </a:tcStyle>
    </a:firstCol>
    <a:lastRow>
      <a:tcTxStyle b="off" i="off">
        <a:font>
          <a:latin typeface="Helvetica Light"/>
          <a:ea typeface="Helvetica Light"/>
          <a:cs typeface="Helvetica Light"/>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3797C6"/>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solidFill>
        </a:fill>
      </a:tcStyle>
    </a:lastRow>
    <a:seCell>
      <a:tcTxStyle/>
      <a:tcStyle>
        <a:tcBdr/>
      </a:tcStyle>
    </a:seCell>
    <a:swCell>
      <a:tcTxStyle/>
      <a:tcStyle>
        <a:tcBdr/>
      </a:tcStyle>
    </a:swCell>
    <a:firstRow>
      <a:tcTxStyle b="on" i="off">
        <a:font>
          <a:latin typeface="Helvetica"/>
          <a:ea typeface="Helvetica"/>
          <a:cs typeface="Helvetica"/>
        </a:font>
        <a:srgbClr val="FFFFFF"/>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5F3B"/>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6" autoAdjust="0"/>
    <p:restoredTop sz="94660"/>
  </p:normalViewPr>
  <p:slideViewPr>
    <p:cSldViewPr snapToGrid="0">
      <p:cViewPr varScale="1">
        <p:scale>
          <a:sx n="117" d="100"/>
          <a:sy n="117" d="100"/>
        </p:scale>
        <p:origin x="1038" y="102"/>
      </p:cViewPr>
      <p:guideLst>
        <p:guide orient="horz" pos="1620"/>
        <p:guide pos="2880"/>
      </p:guideLst>
    </p:cSldViewPr>
  </p:slideViewPr>
  <p:notesTextViewPr>
    <p:cViewPr>
      <p:scale>
        <a:sx n="1" d="1"/>
        <a:sy n="1" d="1"/>
      </p:scale>
      <p:origin x="0" y="0"/>
    </p:cViewPr>
  </p:notesTextViewPr>
  <p:sorterViewPr>
    <p:cViewPr>
      <p:scale>
        <a:sx n="200" d="100"/>
        <a:sy n="200" d="100"/>
      </p:scale>
      <p:origin x="0" y="-1426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font" Target="fonts/font3.fntdata"/><Relationship Id="rId84" Type="http://schemas.openxmlformats.org/officeDocument/2006/relationships/font" Target="fonts/font19.fntdata"/><Relationship Id="rId89" Type="http://schemas.openxmlformats.org/officeDocument/2006/relationships/font" Target="fonts/font24.fntdata"/><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font" Target="fonts/font9.fntdata"/><Relationship Id="rId79" Type="http://schemas.openxmlformats.org/officeDocument/2006/relationships/font" Target="fonts/font14.fntdata"/><Relationship Id="rId102" Type="http://schemas.openxmlformats.org/officeDocument/2006/relationships/presProps" Target="presProps.xml"/><Relationship Id="rId5" Type="http://schemas.openxmlformats.org/officeDocument/2006/relationships/slide" Target="slides/slide2.xml"/><Relationship Id="rId90" Type="http://schemas.openxmlformats.org/officeDocument/2006/relationships/font" Target="fonts/font25.fntdata"/><Relationship Id="rId95" Type="http://schemas.openxmlformats.org/officeDocument/2006/relationships/font" Target="fonts/font30.fntdata"/><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font" Target="fonts/font4.fntdata"/><Relationship Id="rId80" Type="http://schemas.openxmlformats.org/officeDocument/2006/relationships/font" Target="fonts/font15.fntdata"/><Relationship Id="rId85" Type="http://schemas.openxmlformats.org/officeDocument/2006/relationships/font" Target="fonts/font20.fntdata"/><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font" Target="fonts/font5.fntdata"/><Relationship Id="rId75" Type="http://schemas.openxmlformats.org/officeDocument/2006/relationships/font" Target="fonts/font10.fntdata"/><Relationship Id="rId83" Type="http://schemas.openxmlformats.org/officeDocument/2006/relationships/font" Target="fonts/font18.fntdata"/><Relationship Id="rId88" Type="http://schemas.openxmlformats.org/officeDocument/2006/relationships/font" Target="fonts/font23.fntdata"/><Relationship Id="rId91" Type="http://schemas.openxmlformats.org/officeDocument/2006/relationships/font" Target="fonts/font26.fntdata"/><Relationship Id="rId96" Type="http://schemas.openxmlformats.org/officeDocument/2006/relationships/font" Target="fonts/font31.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notesMaster" Target="notesMasters/notesMaster1.xml"/><Relationship Id="rId73" Type="http://schemas.openxmlformats.org/officeDocument/2006/relationships/font" Target="fonts/font8.fntdata"/><Relationship Id="rId78" Type="http://schemas.openxmlformats.org/officeDocument/2006/relationships/font" Target="fonts/font13.fntdata"/><Relationship Id="rId81" Type="http://schemas.openxmlformats.org/officeDocument/2006/relationships/font" Target="fonts/font16.fntdata"/><Relationship Id="rId86" Type="http://schemas.openxmlformats.org/officeDocument/2006/relationships/font" Target="fonts/font21.fntdata"/><Relationship Id="rId94" Type="http://schemas.openxmlformats.org/officeDocument/2006/relationships/font" Target="fonts/font29.fntdata"/><Relationship Id="rId99" Type="http://schemas.openxmlformats.org/officeDocument/2006/relationships/font" Target="fonts/font34.fntdata"/><Relationship Id="rId101" Type="http://schemas.openxmlformats.org/officeDocument/2006/relationships/font" Target="fonts/font36.fntdata"/><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font" Target="fonts/font11.fntdata"/><Relationship Id="rId97" Type="http://schemas.openxmlformats.org/officeDocument/2006/relationships/font" Target="fonts/font32.fntdata"/><Relationship Id="rId104"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font" Target="fonts/font6.fntdata"/><Relationship Id="rId92" Type="http://schemas.openxmlformats.org/officeDocument/2006/relationships/font" Target="fonts/font27.fntdata"/><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font" Target="fonts/font1.fntdata"/><Relationship Id="rId87" Type="http://schemas.openxmlformats.org/officeDocument/2006/relationships/font" Target="fonts/font22.fntdata"/><Relationship Id="rId61" Type="http://schemas.openxmlformats.org/officeDocument/2006/relationships/slide" Target="slides/slide58.xml"/><Relationship Id="rId82" Type="http://schemas.openxmlformats.org/officeDocument/2006/relationships/font" Target="fonts/font17.fntdata"/><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font" Target="fonts/font12.fntdata"/><Relationship Id="rId100" Type="http://schemas.openxmlformats.org/officeDocument/2006/relationships/font" Target="fonts/font35.fntdata"/><Relationship Id="rId105"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font" Target="fonts/font7.fntdata"/><Relationship Id="rId93" Type="http://schemas.openxmlformats.org/officeDocument/2006/relationships/font" Target="fonts/font28.fntdata"/><Relationship Id="rId98" Type="http://schemas.openxmlformats.org/officeDocument/2006/relationships/font" Target="fonts/font33.fntdata"/><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3816d269fb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3816d269fb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8E3B18F8-F5B3-16B4-8312-9493A5A025E6}"/>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87D80834-28F0-43A0-572D-B355AAA824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3816d269fb_0_209:notes">
            <a:extLst>
              <a:ext uri="{FF2B5EF4-FFF2-40B4-BE49-F238E27FC236}">
                <a16:creationId xmlns:a16="http://schemas.microsoft.com/office/drawing/2014/main" id="{B2648CF4-CE3F-9F97-DD15-EA71B8094A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88594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6F4D3AD2-8AD8-B14B-BC37-5B7A103E9B5D}"/>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66DF9698-4CBE-3BED-79B3-D5C457FF43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8C521154-5CAE-AB5E-5A68-3ACFD6F9B4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354462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BD08302-2943-E636-3495-509B94BCF5D8}"/>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FEAAF11C-395F-F176-258E-1F8F9A583A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8AEDF046-2D8F-B539-AD05-8F1481E1B5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7617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3E79F1CF-4712-B0D3-20F4-BE1475EA349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4BE2CF8C-F9EF-3D64-CCD6-D28C806DBE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C9C29DC1-6CBE-C05F-DB2F-90A7E940EA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6553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0A1D0121-7578-3267-025A-BC1E78243041}"/>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180A8F2-5AB0-D3CA-D846-2E81E373BE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B6846E3B-2DAA-8F86-2FC9-F1CFF4A51E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8040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1E65670B-9C29-CE00-D24D-0817106B5C8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26F4528C-7D2A-D2FD-24E5-55F936B2F1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F4CBD71E-6658-7F54-1E0E-3371041414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15863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91911814-BF2A-E30F-DB96-0CEB41774E7F}"/>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0A6CE844-53C3-DB89-6ED5-9AD8AD87D6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851452BE-64F1-07F8-420E-C69B2583B3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66576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78FAC7D8-B6FD-BAF8-5C22-1DA60DF11D6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ABBFF3AC-D8EF-956A-B34F-7272B3C0F8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75E2BA84-E9AC-3954-9259-99B5B92DF3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3763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9CF5BE57-151B-A638-E9C3-A49A9007DB38}"/>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AC15CBB5-FEFC-EE3A-B6CC-0A42A824E9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F81271B4-D61E-BE5E-7CAA-344B0FA51F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761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75FDD4B-0807-94AC-07CF-C19DDA48F420}"/>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11096F14-6780-032F-6153-9CFA6FC707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E22D40F2-0C1A-7127-763A-5B0D894941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9402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53DB33F6-4866-70FA-0A68-C25DFB61E821}"/>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751AB69D-74FA-DE26-31EE-3011F068DF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3816d269fb_0_209:notes">
            <a:extLst>
              <a:ext uri="{FF2B5EF4-FFF2-40B4-BE49-F238E27FC236}">
                <a16:creationId xmlns:a16="http://schemas.microsoft.com/office/drawing/2014/main" id="{BA49427B-DFC4-944E-0615-D3DC95A112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318134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70087009-F920-390F-83FB-05D9EB6BBE0E}"/>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72DACAD8-96BA-40CF-EBC7-0C7EC16187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E03C8284-69E8-7054-479C-D737B925F1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89016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A5AD2A29-A215-24DB-FFB5-2DDF4F7E74C6}"/>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068363F-3356-9C06-BDE1-04BF9FACC3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2B9567CC-BCED-E925-A1DC-66C29615D1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14429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1D8C948-2058-9E6E-B364-D560CC4F8A36}"/>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C8DBCC08-1406-B4C9-A2D5-9CFC7B25B2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DB840D80-455A-EBAE-75D9-8D7B8DC447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20039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5D39947F-145A-8A15-B1D3-4CFFEBB38B19}"/>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7D8D3432-571C-9B46-C3DF-E51F541896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3816d269fb_0_209:notes">
            <a:extLst>
              <a:ext uri="{FF2B5EF4-FFF2-40B4-BE49-F238E27FC236}">
                <a16:creationId xmlns:a16="http://schemas.microsoft.com/office/drawing/2014/main" id="{B90CF0D0-E5C9-4891-90E7-ACE5D79717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190556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055E6CAB-4BDA-A715-227F-325BF77B19F2}"/>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203DB63A-2CAA-CBEC-993C-B9989C1EF3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31E7428F-C01E-3E2E-382A-98F075DD0B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38684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52CCC80F-FF57-4E6E-3730-C39204F01610}"/>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58E90301-D19C-543B-8B43-F0856A17B0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A644D527-E43D-AD6F-F596-276C6AAF48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91781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568D7829-5C28-1CB9-81F1-FC9A9A6BF2FE}"/>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46B3548C-BAD6-6CF5-56B1-CF9DA26C65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2603E2FA-2CB9-B74D-C5E0-FD37CF269F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66971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746F5873-991B-B482-230A-F3021B1FFFAA}"/>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9C75A862-FBF0-53C7-CE12-AA23691034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18397905-3CCD-2DD9-97B6-7718A89393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38247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C102F826-E067-79F7-01DC-208FCE54E60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A84A120-2997-B23F-7E44-2366A398B4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2C01CB53-A972-3A7D-15E0-338D6F5E67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70268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9E27A10-6520-E332-67BC-7320AF6AE1FB}"/>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40581B90-88D2-6C45-6D29-716E7C55A2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6F47016A-A83A-2FBA-35DA-69BC30F660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50707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3735C3E1-F7BA-B564-4897-A9CC74CBF34C}"/>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356FE29C-B8EC-43D3-439F-3B8D9D3A39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676DFA31-9ABA-2650-5DDE-F57886B45D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43443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566C8818-90A4-2655-F2EA-AD3FDD62DE1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00C3E938-CC1A-8792-850C-962667E1E8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D2F4BDC4-7B18-CF0E-FBBE-0C03390DD7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36212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598F667-4C3D-9B45-52C4-84FFAFF58705}"/>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04B4D1A4-878E-2882-EC2C-95222A3E8D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B8F52C69-363C-DAC1-061C-5310232990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127099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367131EF-FA10-39E7-DF81-C22D80124F02}"/>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8D51EAF-740F-399F-DDEC-C12998CD18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F54B1E4B-7699-1D98-A656-F92A624405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1817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30B66A16-837A-352D-19B4-E3FF7D7B0C44}"/>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5963F8B6-01FF-0215-E19A-80F249BB06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3816d269fb_0_209:notes">
            <a:extLst>
              <a:ext uri="{FF2B5EF4-FFF2-40B4-BE49-F238E27FC236}">
                <a16:creationId xmlns:a16="http://schemas.microsoft.com/office/drawing/2014/main" id="{C52546E4-2D35-24EB-BF68-AD533E4CD2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761110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5FC9F9EF-2668-CF5E-0CD8-C07E6D0BCC7F}"/>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4077BD62-B4A7-8CD6-6A9B-4411CA5DC6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3816d269fb_0_209:notes">
            <a:extLst>
              <a:ext uri="{FF2B5EF4-FFF2-40B4-BE49-F238E27FC236}">
                <a16:creationId xmlns:a16="http://schemas.microsoft.com/office/drawing/2014/main" id="{53E3BF1A-1F71-504F-2DCE-50AAF384B9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060321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E4E93A4E-C8DC-D7EB-B2E2-FB7A17B1C760}"/>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98C05F6B-8F34-29FF-830B-BA6FA6470A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3816d269fb_0_209:notes">
            <a:extLst>
              <a:ext uri="{FF2B5EF4-FFF2-40B4-BE49-F238E27FC236}">
                <a16:creationId xmlns:a16="http://schemas.microsoft.com/office/drawing/2014/main" id="{682EC68E-F45B-C1AE-2E7F-A558C997EB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787714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A405E65-3FB6-08CA-7F6E-B7220D0DB1C9}"/>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116403A2-7F69-59CA-04E2-2BEFBBFF93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6852D636-43E5-3E9F-E609-1A95761681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55909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DA6CB0E-F27C-B244-7CD0-290751D55F8B}"/>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11C33969-90F4-F1ED-67CA-0A7B58642E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6DBA26CC-2183-656E-E088-C1947D8CC8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44955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8752CC7E-1126-32F7-E144-EF96DB917453}"/>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0A753D68-69B8-D8CE-C8D8-3333DF6818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EA0FDDAC-B07A-7034-A039-AF12FFFE25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29386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171D2C1-8DAE-E7C0-172E-D19B6F6381C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BEFD1EF8-5A55-6040-FE8A-47E28D7A70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37E43D70-34F9-73ED-1AAB-BF55BDB91C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3087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F7F11539-00BE-B73E-49FF-015F016C76DB}"/>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DB4ECD5C-BD0B-E075-A9FA-E65642C4B4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3816d269fb_0_209:notes">
            <a:extLst>
              <a:ext uri="{FF2B5EF4-FFF2-40B4-BE49-F238E27FC236}">
                <a16:creationId xmlns:a16="http://schemas.microsoft.com/office/drawing/2014/main" id="{99138B07-A39B-8482-EB0E-E6A837EE6E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811160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01F58BF3-CF81-B868-9E97-3189F88B7428}"/>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D5FB3B31-6520-F9F1-BFFC-74D2C6DC63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5F45DF40-CCB1-DF42-22D6-403FE41438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96375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B39B313-5136-A062-0856-5C76F94594B8}"/>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1CF1B878-C0DF-6897-F01E-925C43D249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B52BD744-2CF1-0110-A219-E6F8A02C2F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91327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49EE620-0A93-CCA0-1AE1-6530A5127764}"/>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B9C2CE51-201F-7741-9A94-A5CB7911CD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A827CAC5-4145-F531-D4D4-212AB42A08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32711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43D52CB-7A9D-BF10-4E23-63873389C868}"/>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A3EF7D5E-3BA1-710D-9199-B61A33598B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35AA776F-4DF4-4F52-8839-2E345D8D1B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29691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C24FF386-E688-6429-6F36-C43A309F0A3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76955E76-56E9-333B-3267-B9CB3FE51B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88D94653-906E-5B70-07B4-71333DAF2A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96196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ABA28894-9407-FBC8-8FCB-52AF963EF302}"/>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F4D9615-BF1B-2ADA-4F5E-F17CDD7E3C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FA8F9FBF-C736-6050-6D18-1726DE553C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99669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C9C312B0-AAF4-8A4A-3F8E-C471379C38C4}"/>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D3EF77AE-396E-552D-810B-845D601630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6716E607-FE0B-B131-0EB8-15477BCD7A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59649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43664D5E-F673-F3D5-ECF9-569D5C54BF86}"/>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ED5F94D8-53DB-D3AB-284C-9FE36D20EB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78DE3006-501E-F267-9217-BAF0F62636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202474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1AD6DE4C-948B-2E0A-3008-8351C8B10028}"/>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7A62805F-B4E6-9A98-852D-CF9D4D8A0D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DCCFD013-87ED-78E7-B3E4-B2B7739E80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38427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F0BC530D-B586-34CC-CAC3-5CF253221FC2}"/>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4CD5B4D3-D4DB-C375-CB0C-30389C1973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3816d269fb_0_209:notes">
            <a:extLst>
              <a:ext uri="{FF2B5EF4-FFF2-40B4-BE49-F238E27FC236}">
                <a16:creationId xmlns:a16="http://schemas.microsoft.com/office/drawing/2014/main" id="{1F1240DE-92FD-FB3A-D88D-92717B4DCE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462520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B4C666E5-809B-3481-489B-C3EDEAAAE8C5}"/>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58666460-29D3-0E36-5065-9F3F8E2A19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3816d269fb_0_209:notes">
            <a:extLst>
              <a:ext uri="{FF2B5EF4-FFF2-40B4-BE49-F238E27FC236}">
                <a16:creationId xmlns:a16="http://schemas.microsoft.com/office/drawing/2014/main" id="{D68350E6-1F14-8F12-86D4-A67D48EB9D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0533630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CBD8304E-F057-1DF5-89FD-AA9976C6DA17}"/>
            </a:ext>
          </a:extLst>
        </p:cNvPr>
        <p:cNvGrpSpPr/>
        <p:nvPr/>
      </p:nvGrpSpPr>
      <p:grpSpPr>
        <a:xfrm>
          <a:off x="0" y="0"/>
          <a:ext cx="0" cy="0"/>
          <a:chOff x="0" y="0"/>
          <a:chExt cx="0" cy="0"/>
        </a:xfrm>
      </p:grpSpPr>
      <p:sp>
        <p:nvSpPr>
          <p:cNvPr id="229" name="Google Shape;229;g33816d269fb_0_209:notes">
            <a:extLst>
              <a:ext uri="{FF2B5EF4-FFF2-40B4-BE49-F238E27FC236}">
                <a16:creationId xmlns:a16="http://schemas.microsoft.com/office/drawing/2014/main" id="{8880C7E4-1588-22A7-07D0-7BF203CECF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3816d269fb_0_209:notes">
            <a:extLst>
              <a:ext uri="{FF2B5EF4-FFF2-40B4-BE49-F238E27FC236}">
                <a16:creationId xmlns:a16="http://schemas.microsoft.com/office/drawing/2014/main" id="{3ED86380-109E-C4EA-CBE5-D088C481D9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191988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C5234B1-9970-9F51-9EC1-22D0321D5001}"/>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C7DCF0D4-95B0-4C3E-FBF6-B62DBF076E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FEB3241C-69DC-3F98-F97D-B63CEAC673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711813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768F4E5B-6760-FBE2-3A1A-C2D1E611F241}"/>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6B87436A-19E7-7AF2-F768-51153CB5D1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92089F26-29D3-19D0-9EF2-5B4D448A50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04903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984DF99-4548-24AA-9C87-9DC5EE8FA89B}"/>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5B1B7671-59C2-86D1-5B94-A14434E909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4DD330CB-9844-1EEB-693A-902EEE1C02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760639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E99535E1-1662-B952-020A-81E465B6B200}"/>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D48C3224-ACCA-9039-831B-1E8DACED78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BC4EEAEF-E6F4-8BBF-7013-F4181C0786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47748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16A6118-8612-3CF4-B4BD-722B3D3C2151}"/>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F5A35308-B705-9100-D1FC-4712DF5107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5DB9A6BC-03D3-383A-FC62-132E46A3BE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394445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DD480A6E-5877-1A27-8484-31AF89A16BAC}"/>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5A353AB6-2F59-4F96-1B25-9C8B094695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EE12BE1D-A524-C870-D9F9-FF4FD6356B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8160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EEFB0F83-8BF1-20B4-8D4E-DDF7C45606BC}"/>
            </a:ext>
          </a:extLst>
        </p:cNvPr>
        <p:cNvGrpSpPr/>
        <p:nvPr/>
      </p:nvGrpSpPr>
      <p:grpSpPr>
        <a:xfrm>
          <a:off x="0" y="0"/>
          <a:ext cx="0" cy="0"/>
          <a:chOff x="0" y="0"/>
          <a:chExt cx="0" cy="0"/>
        </a:xfrm>
      </p:grpSpPr>
      <p:sp>
        <p:nvSpPr>
          <p:cNvPr id="369" name="Google Shape;369;g332ce345db5_0_168:notes">
            <a:extLst>
              <a:ext uri="{FF2B5EF4-FFF2-40B4-BE49-F238E27FC236}">
                <a16:creationId xmlns:a16="http://schemas.microsoft.com/office/drawing/2014/main" id="{195B6E9D-732D-05FC-8CE2-E22F7C7F7B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332ce345db5_0_168:notes">
            <a:extLst>
              <a:ext uri="{FF2B5EF4-FFF2-40B4-BE49-F238E27FC236}">
                <a16:creationId xmlns:a16="http://schemas.microsoft.com/office/drawing/2014/main" id="{68E723A4-D0F1-B213-D398-0887A301C7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000">
                <a:solidFill>
                  <a:schemeClr val="dk1"/>
                </a:solidFill>
                <a:latin typeface="Helvetica Neue"/>
                <a:ea typeface="Helvetica Neue"/>
                <a:cs typeface="Helvetica Neue"/>
                <a:sym typeface="Helvetica Neue"/>
              </a:rPr>
              <a:t>Yugabyte was founded on the belief that the next decade will see a major change in the systems of record that enterprises use to run their businesses and offer digital services. We are the company behind YugabyteDB, a distributed SQL database built first and foremost for transactional applications and to support enterprises as they move into a cloud-native, digital-led world. The database is 100% open source and designed to run on any cloud: private, public, hybrid, multi-cloud — flexibility and openness are essential to our customers and position us uniquely in the distributed SQL market. YugabyteDB is used by both small companies and by the Fortune 500 alike  - by retailers, advertisers, financial services companies, telecom and others.</a:t>
            </a:r>
            <a:endParaRPr sz="1000">
              <a:solidFill>
                <a:schemeClr val="dk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58123471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3F7053A4-C48C-589F-4DAA-DEFFE565A155}"/>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66A9E73A-A091-C813-7E22-126B50D880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E4549140-CEF7-7A2D-1579-7FAEA24C0C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153787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749D444A-C94B-3421-D90B-D43BBC43C8AE}"/>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1F838A33-17BF-2AA0-AC41-BF7D2D3210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D1144DF3-E432-6260-7E1F-12DCFE52BA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001628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452BED5C-24D3-57B7-4086-1CA8E4D62C5E}"/>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029053E2-C034-767D-D6C2-7F860F8068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3B664690-6B95-7D89-CFF3-08D9129794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837601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ED7A1D42-3713-C8E3-853F-9723255726DA}"/>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6EACB3A4-4223-EC69-2D55-8583DF9185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ED743ED4-461A-DB5D-F5BE-3048A2E148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842514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CBBF6FD4-9B25-740D-530D-11C685EF18F4}"/>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C137667F-D634-0440-2838-3BA1DA686C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7645AE52-E41B-628E-5D2C-EAD01827AA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121201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529A5CF2-5F6A-6B2F-A905-3E4D80D644F1}"/>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8D57A756-9BE8-C130-74B6-E64A5C2D91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30D2EF66-495A-6B16-B2F1-DE0E63741E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721583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E127585F-A7B0-E495-F3F1-1ACF35ECB527}"/>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0B59B3AE-A307-1A7D-D052-7ECA5ED622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ABA5E1DC-894C-F263-E1F9-4FD144A82F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80039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D42E32D6-B149-8379-F78C-5E40EDC06570}"/>
            </a:ext>
          </a:extLst>
        </p:cNvPr>
        <p:cNvGrpSpPr/>
        <p:nvPr/>
      </p:nvGrpSpPr>
      <p:grpSpPr>
        <a:xfrm>
          <a:off x="0" y="0"/>
          <a:ext cx="0" cy="0"/>
          <a:chOff x="0" y="0"/>
          <a:chExt cx="0" cy="0"/>
        </a:xfrm>
      </p:grpSpPr>
      <p:sp>
        <p:nvSpPr>
          <p:cNvPr id="238" name="Google Shape;238;g332ce345db5_0_96:notes">
            <a:extLst>
              <a:ext uri="{FF2B5EF4-FFF2-40B4-BE49-F238E27FC236}">
                <a16:creationId xmlns:a16="http://schemas.microsoft.com/office/drawing/2014/main" id="{B60A1A35-7DA4-89F6-D64E-A9E99C04EF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2ce345db5_0_96:notes">
            <a:extLst>
              <a:ext uri="{FF2B5EF4-FFF2-40B4-BE49-F238E27FC236}">
                <a16:creationId xmlns:a16="http://schemas.microsoft.com/office/drawing/2014/main" id="{C9E1386A-0173-D4D6-4762-3E470542A9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3799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sz="800"/>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sz="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54"/>
        <p:cNvGrpSpPr/>
        <p:nvPr/>
      </p:nvGrpSpPr>
      <p:grpSpPr>
        <a:xfrm>
          <a:off x="0" y="0"/>
          <a:ext cx="0" cy="0"/>
          <a:chOff x="0" y="0"/>
          <a:chExt cx="0" cy="0"/>
        </a:xfrm>
      </p:grpSpPr>
      <p:sp>
        <p:nvSpPr>
          <p:cNvPr id="55" name="Google Shape;55;p14"/>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56" name="Google Shape;56;p14"/>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57" name="Google Shape;57;p14"/>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58" name="Google Shape;58;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59"/>
        <p:cNvGrpSpPr/>
        <p:nvPr/>
      </p:nvGrpSpPr>
      <p:grpSpPr>
        <a:xfrm>
          <a:off x="0" y="0"/>
          <a:ext cx="0" cy="0"/>
          <a:chOff x="0" y="0"/>
          <a:chExt cx="0" cy="0"/>
        </a:xfrm>
      </p:grpSpPr>
      <p:sp>
        <p:nvSpPr>
          <p:cNvPr id="60" name="Google Shape;60;p15"/>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61" name="Google Shape;61;p15"/>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62" name="Google Shape;62;p15"/>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63" name="Google Shape;6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4"/>
        <p:cNvGrpSpPr/>
        <p:nvPr/>
      </p:nvGrpSpPr>
      <p:grpSpPr>
        <a:xfrm>
          <a:off x="0" y="0"/>
          <a:ext cx="0" cy="0"/>
          <a:chOff x="0" y="0"/>
          <a:chExt cx="0" cy="0"/>
        </a:xfrm>
      </p:grpSpPr>
      <p:sp>
        <p:nvSpPr>
          <p:cNvPr id="65" name="Google Shape;65;p16"/>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6"/>
          <p:cNvSpPr/>
          <p:nvPr/>
        </p:nvSpPr>
        <p:spPr>
          <a:xfrm>
            <a:off x="0" y="44125"/>
            <a:ext cx="4313625" cy="4399375"/>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67" name="Google Shape;67;p16"/>
          <p:cNvSpPr/>
          <p:nvPr/>
        </p:nvSpPr>
        <p:spPr>
          <a:xfrm>
            <a:off x="-125" y="0"/>
            <a:ext cx="4316900" cy="4395600"/>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68" name="Google Shape;68;p16"/>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69" name="Google Shape;69;p16"/>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0" name="Google Shape;70;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1"/>
        <p:cNvGrpSpPr/>
        <p:nvPr/>
      </p:nvGrpSpPr>
      <p:grpSpPr>
        <a:xfrm>
          <a:off x="0" y="0"/>
          <a:ext cx="0" cy="0"/>
          <a:chOff x="0" y="0"/>
          <a:chExt cx="0" cy="0"/>
        </a:xfrm>
      </p:grpSpPr>
      <p:sp>
        <p:nvSpPr>
          <p:cNvPr id="72" name="Google Shape;72;p17"/>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74" name="Google Shape;74;p17"/>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5" name="Google Shape;75;p17"/>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6" name="Google Shape;76;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7"/>
        <p:cNvGrpSpPr/>
        <p:nvPr/>
      </p:nvGrpSpPr>
      <p:grpSpPr>
        <a:xfrm>
          <a:off x="0" y="0"/>
          <a:ext cx="0" cy="0"/>
          <a:chOff x="0" y="0"/>
          <a:chExt cx="0" cy="0"/>
        </a:xfrm>
      </p:grpSpPr>
      <p:sp>
        <p:nvSpPr>
          <p:cNvPr id="78" name="Google Shape;78;p18"/>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80" name="Google Shape;80;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1"/>
        <p:cNvGrpSpPr/>
        <p:nvPr/>
      </p:nvGrpSpPr>
      <p:grpSpPr>
        <a:xfrm>
          <a:off x="0" y="0"/>
          <a:ext cx="0" cy="0"/>
          <a:chOff x="0" y="0"/>
          <a:chExt cx="0" cy="0"/>
        </a:xfrm>
      </p:grpSpPr>
      <p:sp>
        <p:nvSpPr>
          <p:cNvPr id="82" name="Google Shape;82;p19"/>
          <p:cNvSpPr/>
          <p:nvPr/>
        </p:nvSpPr>
        <p:spPr>
          <a:xfrm>
            <a:off x="0" y="0"/>
            <a:ext cx="3764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9"/>
          <p:cNvSpPr txBox="1">
            <a:spLocks noGrp="1"/>
          </p:cNvSpPr>
          <p:nvPr>
            <p:ph type="title"/>
          </p:nvPr>
        </p:nvSpPr>
        <p:spPr>
          <a:xfrm>
            <a:off x="311725" y="500925"/>
            <a:ext cx="3127500" cy="18291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84" name="Google Shape;84;p19"/>
          <p:cNvSpPr txBox="1">
            <a:spLocks noGrp="1"/>
          </p:cNvSpPr>
          <p:nvPr>
            <p:ph type="body" idx="1"/>
          </p:nvPr>
        </p:nvSpPr>
        <p:spPr>
          <a:xfrm>
            <a:off x="311700" y="2390650"/>
            <a:ext cx="3127500" cy="229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85" name="Google Shape;85;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86"/>
        <p:cNvGrpSpPr/>
        <p:nvPr/>
      </p:nvGrpSpPr>
      <p:grpSpPr>
        <a:xfrm>
          <a:off x="0" y="0"/>
          <a:ext cx="0" cy="0"/>
          <a:chOff x="0" y="0"/>
          <a:chExt cx="0" cy="0"/>
        </a:xfrm>
      </p:grpSpPr>
      <p:sp>
        <p:nvSpPr>
          <p:cNvPr id="87" name="Google Shape;87;p20"/>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88" name="Google Shape;88;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9"/>
        <p:cNvGrpSpPr/>
        <p:nvPr/>
      </p:nvGrpSpPr>
      <p:grpSpPr>
        <a:xfrm>
          <a:off x="0" y="0"/>
          <a:ext cx="0" cy="0"/>
          <a:chOff x="0" y="0"/>
          <a:chExt cx="0" cy="0"/>
        </a:xfrm>
      </p:grpSpPr>
      <p:sp>
        <p:nvSpPr>
          <p:cNvPr id="90" name="Google Shape;90;p21"/>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1"/>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92" name="Google Shape;92;p21"/>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93" name="Google Shape;93;p21"/>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4" name="Google Shape;9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5"/>
        <p:cNvGrpSpPr/>
        <p:nvPr/>
      </p:nvGrpSpPr>
      <p:grpSpPr>
        <a:xfrm>
          <a:off x="0" y="0"/>
          <a:ext cx="0" cy="0"/>
          <a:chOff x="0" y="0"/>
          <a:chExt cx="0" cy="0"/>
        </a:xfrm>
      </p:grpSpPr>
      <p:sp>
        <p:nvSpPr>
          <p:cNvPr id="96" name="Google Shape;96;p22"/>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2"/>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98" name="Google Shape;98;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99"/>
        <p:cNvGrpSpPr/>
        <p:nvPr/>
      </p:nvGrpSpPr>
      <p:grpSpPr>
        <a:xfrm>
          <a:off x="0" y="0"/>
          <a:ext cx="0" cy="0"/>
          <a:chOff x="0" y="0"/>
          <a:chExt cx="0" cy="0"/>
        </a:xfrm>
      </p:grpSpPr>
      <p:sp>
        <p:nvSpPr>
          <p:cNvPr id="100" name="Google Shape;100;p23"/>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101" name="Google Shape;101;p23"/>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102" name="Google Shape;102;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3"/>
        <p:cNvGrpSpPr/>
        <p:nvPr/>
      </p:nvGrpSpPr>
      <p:grpSpPr>
        <a:xfrm>
          <a:off x="0" y="0"/>
          <a:ext cx="0" cy="0"/>
          <a:chOff x="0" y="0"/>
          <a:chExt cx="0" cy="0"/>
        </a:xfrm>
      </p:grpSpPr>
      <p:sp>
        <p:nvSpPr>
          <p:cNvPr id="104" name="Google Shape;104;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Blank Slide">
  <p:cSld name="TITLE_AND_BODY_1">
    <p:bg>
      <p:bgPr>
        <a:solidFill>
          <a:srgbClr val="F6F9FA"/>
        </a:solidFill>
        <a:effectLst/>
      </p:bgPr>
    </p:bg>
    <p:spTree>
      <p:nvGrpSpPr>
        <p:cNvPr id="1" name="Shape 105"/>
        <p:cNvGrpSpPr/>
        <p:nvPr/>
      </p:nvGrpSpPr>
      <p:grpSpPr>
        <a:xfrm>
          <a:off x="0" y="0"/>
          <a:ext cx="0" cy="0"/>
          <a:chOff x="0" y="0"/>
          <a:chExt cx="0" cy="0"/>
        </a:xfrm>
      </p:grpSpPr>
      <p:sp>
        <p:nvSpPr>
          <p:cNvPr id="106" name="Google Shape;106;p25"/>
          <p:cNvSpPr txBox="1">
            <a:spLocks noGrp="1"/>
          </p:cNvSpPr>
          <p:nvPr>
            <p:ph type="sldNum" idx="12"/>
          </p:nvPr>
        </p:nvSpPr>
        <p:spPr>
          <a:xfrm>
            <a:off x="6553200" y="4580573"/>
            <a:ext cx="364200" cy="373200"/>
          </a:xfrm>
          <a:prstGeom prst="rect">
            <a:avLst/>
          </a:prstGeom>
          <a:noFill/>
          <a:ln>
            <a:noFill/>
          </a:ln>
        </p:spPr>
        <p:txBody>
          <a:bodyPr spcFirstLastPara="1" wrap="square" lIns="34275" tIns="34275" rIns="34275" bIns="34275" anchor="ctr" anchorCtr="0">
            <a:normAutofit fontScale="92500"/>
          </a:bodyPr>
          <a:lstStyle>
            <a:lvl1pPr marL="0" lvl="0" indent="0" algn="l">
              <a:lnSpc>
                <a:spcPct val="130000"/>
              </a:lnSpc>
              <a:spcBef>
                <a:spcPts val="0"/>
              </a:spcBef>
              <a:buNone/>
              <a:defRPr sz="2000" b="1">
                <a:solidFill>
                  <a:schemeClr val="accent3"/>
                </a:solidFill>
                <a:latin typeface="Roboto Condensed Light"/>
                <a:ea typeface="Roboto Condensed Light"/>
                <a:cs typeface="Roboto Condensed Light"/>
                <a:sym typeface="Roboto Condensed Light"/>
              </a:defRPr>
            </a:lvl1pPr>
            <a:lvl2pPr marL="0" lvl="1" indent="0" algn="l">
              <a:lnSpc>
                <a:spcPct val="130000"/>
              </a:lnSpc>
              <a:spcBef>
                <a:spcPts val="0"/>
              </a:spcBef>
              <a:buNone/>
              <a:defRPr sz="2000" b="1">
                <a:solidFill>
                  <a:schemeClr val="accent3"/>
                </a:solidFill>
                <a:latin typeface="Roboto Condensed Light"/>
                <a:ea typeface="Roboto Condensed Light"/>
                <a:cs typeface="Roboto Condensed Light"/>
                <a:sym typeface="Roboto Condensed Light"/>
              </a:defRPr>
            </a:lvl2pPr>
            <a:lvl3pPr marL="0" lvl="2" indent="0" algn="l">
              <a:lnSpc>
                <a:spcPct val="130000"/>
              </a:lnSpc>
              <a:spcBef>
                <a:spcPts val="0"/>
              </a:spcBef>
              <a:buNone/>
              <a:defRPr sz="2000" b="1">
                <a:solidFill>
                  <a:schemeClr val="accent3"/>
                </a:solidFill>
                <a:latin typeface="Roboto Condensed Light"/>
                <a:ea typeface="Roboto Condensed Light"/>
                <a:cs typeface="Roboto Condensed Light"/>
                <a:sym typeface="Roboto Condensed Light"/>
              </a:defRPr>
            </a:lvl3pPr>
            <a:lvl4pPr marL="0" lvl="3" indent="0" algn="l">
              <a:lnSpc>
                <a:spcPct val="130000"/>
              </a:lnSpc>
              <a:spcBef>
                <a:spcPts val="0"/>
              </a:spcBef>
              <a:buNone/>
              <a:defRPr sz="2000" b="1">
                <a:solidFill>
                  <a:schemeClr val="accent3"/>
                </a:solidFill>
                <a:latin typeface="Roboto Condensed Light"/>
                <a:ea typeface="Roboto Condensed Light"/>
                <a:cs typeface="Roboto Condensed Light"/>
                <a:sym typeface="Roboto Condensed Light"/>
              </a:defRPr>
            </a:lvl4pPr>
            <a:lvl5pPr marL="0" lvl="4" indent="0" algn="l">
              <a:lnSpc>
                <a:spcPct val="130000"/>
              </a:lnSpc>
              <a:spcBef>
                <a:spcPts val="0"/>
              </a:spcBef>
              <a:buNone/>
              <a:defRPr sz="2000" b="1">
                <a:solidFill>
                  <a:schemeClr val="accent3"/>
                </a:solidFill>
                <a:latin typeface="Roboto Condensed Light"/>
                <a:ea typeface="Roboto Condensed Light"/>
                <a:cs typeface="Roboto Condensed Light"/>
                <a:sym typeface="Roboto Condensed Light"/>
              </a:defRPr>
            </a:lvl5pPr>
            <a:lvl6pPr marL="0" lvl="5" indent="0" algn="l">
              <a:lnSpc>
                <a:spcPct val="130000"/>
              </a:lnSpc>
              <a:spcBef>
                <a:spcPts val="0"/>
              </a:spcBef>
              <a:buNone/>
              <a:defRPr sz="2000" b="1">
                <a:solidFill>
                  <a:schemeClr val="accent3"/>
                </a:solidFill>
                <a:latin typeface="Roboto Condensed Light"/>
                <a:ea typeface="Roboto Condensed Light"/>
                <a:cs typeface="Roboto Condensed Light"/>
                <a:sym typeface="Roboto Condensed Light"/>
              </a:defRPr>
            </a:lvl6pPr>
            <a:lvl7pPr marL="0" lvl="6" indent="0" algn="l">
              <a:lnSpc>
                <a:spcPct val="130000"/>
              </a:lnSpc>
              <a:spcBef>
                <a:spcPts val="0"/>
              </a:spcBef>
              <a:buNone/>
              <a:defRPr sz="2000" b="1">
                <a:solidFill>
                  <a:schemeClr val="accent3"/>
                </a:solidFill>
                <a:latin typeface="Roboto Condensed Light"/>
                <a:ea typeface="Roboto Condensed Light"/>
                <a:cs typeface="Roboto Condensed Light"/>
                <a:sym typeface="Roboto Condensed Light"/>
              </a:defRPr>
            </a:lvl7pPr>
            <a:lvl8pPr marL="0" lvl="7" indent="0" algn="l">
              <a:lnSpc>
                <a:spcPct val="130000"/>
              </a:lnSpc>
              <a:spcBef>
                <a:spcPts val="0"/>
              </a:spcBef>
              <a:buNone/>
              <a:defRPr sz="2000" b="1">
                <a:solidFill>
                  <a:schemeClr val="accent3"/>
                </a:solidFill>
                <a:latin typeface="Roboto Condensed Light"/>
                <a:ea typeface="Roboto Condensed Light"/>
                <a:cs typeface="Roboto Condensed Light"/>
                <a:sym typeface="Roboto Condensed Light"/>
              </a:defRPr>
            </a:lvl8pPr>
            <a:lvl9pPr marL="0" lvl="8" indent="0" algn="l">
              <a:lnSpc>
                <a:spcPct val="130000"/>
              </a:lnSpc>
              <a:spcBef>
                <a:spcPts val="0"/>
              </a:spcBef>
              <a:buNone/>
              <a:defRPr sz="2000" b="1">
                <a:solidFill>
                  <a:schemeClr val="accent3"/>
                </a:solidFill>
                <a:latin typeface="Roboto Condensed Light"/>
                <a:ea typeface="Roboto Condensed Light"/>
                <a:cs typeface="Roboto Condensed Light"/>
                <a:sym typeface="Roboto Condensed Light"/>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1">
  <p:cSld name="TITLE_AND_BODY_2">
    <p:spTree>
      <p:nvGrpSpPr>
        <p:cNvPr id="1" name="Shape 107"/>
        <p:cNvGrpSpPr/>
        <p:nvPr/>
      </p:nvGrpSpPr>
      <p:grpSpPr>
        <a:xfrm>
          <a:off x="0" y="0"/>
          <a:ext cx="0" cy="0"/>
          <a:chOff x="0" y="0"/>
          <a:chExt cx="0" cy="0"/>
        </a:xfrm>
      </p:grpSpPr>
      <p:sp>
        <p:nvSpPr>
          <p:cNvPr id="108" name="Google Shape;108;p26"/>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rmAutofit/>
          </a:bodyPr>
          <a:lstStyle>
            <a:lvl1pPr lvl="0">
              <a:spcBef>
                <a:spcPts val="0"/>
              </a:spcBef>
              <a:spcAft>
                <a:spcPts val="0"/>
              </a:spcAft>
              <a:buSzPts val="2000"/>
              <a:buNone/>
              <a:defRPr sz="2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cxnSp>
        <p:nvCxnSpPr>
          <p:cNvPr id="109" name="Google Shape;109;p26"/>
          <p:cNvCxnSpPr/>
          <p:nvPr/>
        </p:nvCxnSpPr>
        <p:spPr>
          <a:xfrm>
            <a:off x="366450" y="716450"/>
            <a:ext cx="8411100" cy="8700"/>
          </a:xfrm>
          <a:prstGeom prst="straightConnector1">
            <a:avLst/>
          </a:prstGeom>
          <a:noFill/>
          <a:ln w="9525" cap="flat" cmpd="sng">
            <a:solidFill>
              <a:schemeClr val="dk2"/>
            </a:solidFill>
            <a:prstDash val="solid"/>
            <a:round/>
            <a:headEnd type="none" w="med" len="med"/>
            <a:tailEnd type="none" w="med" len="med"/>
          </a:ln>
        </p:spPr>
      </p:cxnSp>
      <p:sp>
        <p:nvSpPr>
          <p:cNvPr id="110" name="Google Shape;110;p26"/>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rm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2">
  <p:cSld name="TITLE_AND_BODY_3">
    <p:spTree>
      <p:nvGrpSpPr>
        <p:cNvPr id="1" name="Shape 111"/>
        <p:cNvGrpSpPr/>
        <p:nvPr/>
      </p:nvGrpSpPr>
      <p:grpSpPr>
        <a:xfrm>
          <a:off x="0" y="0"/>
          <a:ext cx="0" cy="0"/>
          <a:chOff x="0" y="0"/>
          <a:chExt cx="0" cy="0"/>
        </a:xfrm>
      </p:grpSpPr>
      <p:sp>
        <p:nvSpPr>
          <p:cNvPr id="112" name="Google Shape;112;p27"/>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rmAutofit/>
          </a:bodyPr>
          <a:lstStyle>
            <a:lvl1pPr lvl="0">
              <a:spcBef>
                <a:spcPts val="0"/>
              </a:spcBef>
              <a:spcAft>
                <a:spcPts val="0"/>
              </a:spcAft>
              <a:buSzPts val="2000"/>
              <a:buNone/>
              <a:defRPr sz="2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cxnSp>
        <p:nvCxnSpPr>
          <p:cNvPr id="113" name="Google Shape;113;p27"/>
          <p:cNvCxnSpPr/>
          <p:nvPr/>
        </p:nvCxnSpPr>
        <p:spPr>
          <a:xfrm>
            <a:off x="366450" y="716450"/>
            <a:ext cx="8411100" cy="8700"/>
          </a:xfrm>
          <a:prstGeom prst="straightConnector1">
            <a:avLst/>
          </a:prstGeom>
          <a:noFill/>
          <a:ln w="9525" cap="flat" cmpd="sng">
            <a:solidFill>
              <a:schemeClr val="dk2"/>
            </a:solidFill>
            <a:prstDash val="solid"/>
            <a:round/>
            <a:headEnd type="none" w="med" len="med"/>
            <a:tailEnd type="none" w="med" len="med"/>
          </a:ln>
        </p:spPr>
      </p:cxnSp>
      <p:sp>
        <p:nvSpPr>
          <p:cNvPr id="114" name="Google Shape;114;p27"/>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rm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7"/>
        <p:cNvGrpSpPr/>
        <p:nvPr/>
      </p:nvGrpSpPr>
      <p:grpSpPr>
        <a:xfrm>
          <a:off x="0" y="0"/>
          <a:ext cx="0" cy="0"/>
          <a:chOff x="0" y="0"/>
          <a:chExt cx="0" cy="0"/>
        </a:xfrm>
      </p:grpSpPr>
      <p:sp>
        <p:nvSpPr>
          <p:cNvPr id="128" name="Google Shape;128;p3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29" name="Google Shape;129;p30"/>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34"/>
        <p:cNvGrpSpPr/>
        <p:nvPr/>
      </p:nvGrpSpPr>
      <p:grpSpPr>
        <a:xfrm>
          <a:off x="0" y="0"/>
          <a:ext cx="0" cy="0"/>
          <a:chOff x="0" y="0"/>
          <a:chExt cx="0" cy="0"/>
        </a:xfrm>
      </p:grpSpPr>
      <p:sp>
        <p:nvSpPr>
          <p:cNvPr id="135" name="Google Shape;135;p32"/>
          <p:cNvSpPr txBox="1">
            <a:spLocks noGrp="1"/>
          </p:cNvSpPr>
          <p:nvPr>
            <p:ph type="title"/>
          </p:nvPr>
        </p:nvSpPr>
        <p:spPr>
          <a:xfrm>
            <a:off x="311700" y="186100"/>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6" name="Google Shape;136;p32"/>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137" name="Google Shape;137;p32"/>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138" name="Google Shape;138;p32"/>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9"/>
        <p:cNvGrpSpPr/>
        <p:nvPr/>
      </p:nvGrpSpPr>
      <p:grpSpPr>
        <a:xfrm>
          <a:off x="0" y="0"/>
          <a:ext cx="0" cy="0"/>
          <a:chOff x="0" y="0"/>
          <a:chExt cx="0" cy="0"/>
        </a:xfrm>
      </p:grpSpPr>
      <p:sp>
        <p:nvSpPr>
          <p:cNvPr id="140" name="Google Shape;140;p33"/>
          <p:cNvSpPr txBox="1">
            <a:spLocks noGrp="1"/>
          </p:cNvSpPr>
          <p:nvPr>
            <p:ph type="title"/>
          </p:nvPr>
        </p:nvSpPr>
        <p:spPr>
          <a:xfrm>
            <a:off x="311700" y="186100"/>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41" name="Google Shape;141;p33"/>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latin typeface="Comfortaa Medium"/>
                <a:ea typeface="Comfortaa Medium"/>
                <a:cs typeface="Comfortaa Medium"/>
                <a:sym typeface="Comfortaa Medium"/>
              </a:defRPr>
            </a:lvl1pPr>
            <a:lvl2pPr lvl="1" algn="r">
              <a:buNone/>
              <a:defRPr sz="1200">
                <a:solidFill>
                  <a:srgbClr val="FF6E42"/>
                </a:solidFill>
                <a:latin typeface="Comfortaa Medium"/>
                <a:ea typeface="Comfortaa Medium"/>
                <a:cs typeface="Comfortaa Medium"/>
                <a:sym typeface="Comfortaa Medium"/>
              </a:defRPr>
            </a:lvl2pPr>
            <a:lvl3pPr lvl="2" algn="r">
              <a:buNone/>
              <a:defRPr sz="1200">
                <a:solidFill>
                  <a:srgbClr val="FF6E42"/>
                </a:solidFill>
                <a:latin typeface="Comfortaa Medium"/>
                <a:ea typeface="Comfortaa Medium"/>
                <a:cs typeface="Comfortaa Medium"/>
                <a:sym typeface="Comfortaa Medium"/>
              </a:defRPr>
            </a:lvl3pPr>
            <a:lvl4pPr lvl="3" algn="r">
              <a:buNone/>
              <a:defRPr sz="1200">
                <a:solidFill>
                  <a:srgbClr val="FF6E42"/>
                </a:solidFill>
                <a:latin typeface="Comfortaa Medium"/>
                <a:ea typeface="Comfortaa Medium"/>
                <a:cs typeface="Comfortaa Medium"/>
                <a:sym typeface="Comfortaa Medium"/>
              </a:defRPr>
            </a:lvl4pPr>
            <a:lvl5pPr lvl="4" algn="r">
              <a:buNone/>
              <a:defRPr sz="1200">
                <a:solidFill>
                  <a:srgbClr val="FF6E42"/>
                </a:solidFill>
                <a:latin typeface="Comfortaa Medium"/>
                <a:ea typeface="Comfortaa Medium"/>
                <a:cs typeface="Comfortaa Medium"/>
                <a:sym typeface="Comfortaa Medium"/>
              </a:defRPr>
            </a:lvl5pPr>
            <a:lvl6pPr lvl="5" algn="r">
              <a:buNone/>
              <a:defRPr sz="1200">
                <a:solidFill>
                  <a:srgbClr val="FF6E42"/>
                </a:solidFill>
                <a:latin typeface="Comfortaa Medium"/>
                <a:ea typeface="Comfortaa Medium"/>
                <a:cs typeface="Comfortaa Medium"/>
                <a:sym typeface="Comfortaa Medium"/>
              </a:defRPr>
            </a:lvl6pPr>
            <a:lvl7pPr lvl="6" algn="r">
              <a:buNone/>
              <a:defRPr sz="1200">
                <a:solidFill>
                  <a:srgbClr val="FF6E42"/>
                </a:solidFill>
                <a:latin typeface="Comfortaa Medium"/>
                <a:ea typeface="Comfortaa Medium"/>
                <a:cs typeface="Comfortaa Medium"/>
                <a:sym typeface="Comfortaa Medium"/>
              </a:defRPr>
            </a:lvl7pPr>
            <a:lvl8pPr lvl="7" algn="r">
              <a:buNone/>
              <a:defRPr sz="1200">
                <a:solidFill>
                  <a:srgbClr val="FF6E42"/>
                </a:solidFill>
                <a:latin typeface="Comfortaa Medium"/>
                <a:ea typeface="Comfortaa Medium"/>
                <a:cs typeface="Comfortaa Medium"/>
                <a:sym typeface="Comfortaa Medium"/>
              </a:defRPr>
            </a:lvl8pPr>
            <a:lvl9pPr lvl="8" algn="r">
              <a:buNone/>
              <a:defRPr sz="1200">
                <a:solidFill>
                  <a:srgbClr val="FF6E42"/>
                </a:solidFill>
                <a:latin typeface="Comfortaa Medium"/>
                <a:ea typeface="Comfortaa Medium"/>
                <a:cs typeface="Comfortaa Medium"/>
                <a:sym typeface="Comfortaa Medium"/>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42"/>
        <p:cNvGrpSpPr/>
        <p:nvPr/>
      </p:nvGrpSpPr>
      <p:grpSpPr>
        <a:xfrm>
          <a:off x="0" y="0"/>
          <a:ext cx="0" cy="0"/>
          <a:chOff x="0" y="0"/>
          <a:chExt cx="0" cy="0"/>
        </a:xfrm>
      </p:grpSpPr>
      <p:sp>
        <p:nvSpPr>
          <p:cNvPr id="143" name="Google Shape;143;p34"/>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44" name="Google Shape;144;p34"/>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145" name="Google Shape;145;p34"/>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latin typeface="Comfortaa Medium"/>
                <a:ea typeface="Comfortaa Medium"/>
                <a:cs typeface="Comfortaa Medium"/>
                <a:sym typeface="Comfortaa Medium"/>
              </a:defRPr>
            </a:lvl1pPr>
            <a:lvl2pPr lvl="1" algn="r">
              <a:buNone/>
              <a:defRPr sz="1200">
                <a:solidFill>
                  <a:srgbClr val="FF6E42"/>
                </a:solidFill>
                <a:latin typeface="Comfortaa Medium"/>
                <a:ea typeface="Comfortaa Medium"/>
                <a:cs typeface="Comfortaa Medium"/>
                <a:sym typeface="Comfortaa Medium"/>
              </a:defRPr>
            </a:lvl2pPr>
            <a:lvl3pPr lvl="2" algn="r">
              <a:buNone/>
              <a:defRPr sz="1200">
                <a:solidFill>
                  <a:srgbClr val="FF6E42"/>
                </a:solidFill>
                <a:latin typeface="Comfortaa Medium"/>
                <a:ea typeface="Comfortaa Medium"/>
                <a:cs typeface="Comfortaa Medium"/>
                <a:sym typeface="Comfortaa Medium"/>
              </a:defRPr>
            </a:lvl3pPr>
            <a:lvl4pPr lvl="3" algn="r">
              <a:buNone/>
              <a:defRPr sz="1200">
                <a:solidFill>
                  <a:srgbClr val="FF6E42"/>
                </a:solidFill>
                <a:latin typeface="Comfortaa Medium"/>
                <a:ea typeface="Comfortaa Medium"/>
                <a:cs typeface="Comfortaa Medium"/>
                <a:sym typeface="Comfortaa Medium"/>
              </a:defRPr>
            </a:lvl4pPr>
            <a:lvl5pPr lvl="4" algn="r">
              <a:buNone/>
              <a:defRPr sz="1200">
                <a:solidFill>
                  <a:srgbClr val="FF6E42"/>
                </a:solidFill>
                <a:latin typeface="Comfortaa Medium"/>
                <a:ea typeface="Comfortaa Medium"/>
                <a:cs typeface="Comfortaa Medium"/>
                <a:sym typeface="Comfortaa Medium"/>
              </a:defRPr>
            </a:lvl5pPr>
            <a:lvl6pPr lvl="5" algn="r">
              <a:buNone/>
              <a:defRPr sz="1200">
                <a:solidFill>
                  <a:srgbClr val="FF6E42"/>
                </a:solidFill>
                <a:latin typeface="Comfortaa Medium"/>
                <a:ea typeface="Comfortaa Medium"/>
                <a:cs typeface="Comfortaa Medium"/>
                <a:sym typeface="Comfortaa Medium"/>
              </a:defRPr>
            </a:lvl6pPr>
            <a:lvl7pPr lvl="6" algn="r">
              <a:buNone/>
              <a:defRPr sz="1200">
                <a:solidFill>
                  <a:srgbClr val="FF6E42"/>
                </a:solidFill>
                <a:latin typeface="Comfortaa Medium"/>
                <a:ea typeface="Comfortaa Medium"/>
                <a:cs typeface="Comfortaa Medium"/>
                <a:sym typeface="Comfortaa Medium"/>
              </a:defRPr>
            </a:lvl7pPr>
            <a:lvl8pPr lvl="7" algn="r">
              <a:buNone/>
              <a:defRPr sz="1200">
                <a:solidFill>
                  <a:srgbClr val="FF6E42"/>
                </a:solidFill>
                <a:latin typeface="Comfortaa Medium"/>
                <a:ea typeface="Comfortaa Medium"/>
                <a:cs typeface="Comfortaa Medium"/>
                <a:sym typeface="Comfortaa Medium"/>
              </a:defRPr>
            </a:lvl8pPr>
            <a:lvl9pPr lvl="8" algn="r">
              <a:buNone/>
              <a:defRPr sz="1200">
                <a:solidFill>
                  <a:srgbClr val="FF6E42"/>
                </a:solidFill>
                <a:latin typeface="Comfortaa Medium"/>
                <a:ea typeface="Comfortaa Medium"/>
                <a:cs typeface="Comfortaa Medium"/>
                <a:sym typeface="Comfortaa Medium"/>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46"/>
        <p:cNvGrpSpPr/>
        <p:nvPr/>
      </p:nvGrpSpPr>
      <p:grpSpPr>
        <a:xfrm>
          <a:off x="0" y="0"/>
          <a:ext cx="0" cy="0"/>
          <a:chOff x="0" y="0"/>
          <a:chExt cx="0" cy="0"/>
        </a:xfrm>
      </p:grpSpPr>
      <p:sp>
        <p:nvSpPr>
          <p:cNvPr id="147" name="Google Shape;147;p35"/>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48" name="Google Shape;148;p35"/>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49"/>
        <p:cNvGrpSpPr/>
        <p:nvPr/>
      </p:nvGrpSpPr>
      <p:grpSpPr>
        <a:xfrm>
          <a:off x="0" y="0"/>
          <a:ext cx="0" cy="0"/>
          <a:chOff x="0" y="0"/>
          <a:chExt cx="0" cy="0"/>
        </a:xfrm>
      </p:grpSpPr>
      <p:sp>
        <p:nvSpPr>
          <p:cNvPr id="150" name="Google Shape;150;p36"/>
          <p:cNvSpPr/>
          <p:nvPr/>
        </p:nvSpPr>
        <p:spPr>
          <a:xfrm>
            <a:off x="4572000" y="-125"/>
            <a:ext cx="4572000" cy="4773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36"/>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52" name="Google Shape;152;p36"/>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53" name="Google Shape;153;p36"/>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54" name="Google Shape;154;p36"/>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55"/>
        <p:cNvGrpSpPr/>
        <p:nvPr/>
      </p:nvGrpSpPr>
      <p:grpSpPr>
        <a:xfrm>
          <a:off x="0" y="0"/>
          <a:ext cx="0" cy="0"/>
          <a:chOff x="0" y="0"/>
          <a:chExt cx="0" cy="0"/>
        </a:xfrm>
      </p:grpSpPr>
      <p:sp>
        <p:nvSpPr>
          <p:cNvPr id="156" name="Google Shape;156;p37"/>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57"/>
        <p:cNvGrpSpPr/>
        <p:nvPr/>
      </p:nvGrpSpPr>
      <p:grpSpPr>
        <a:xfrm>
          <a:off x="0" y="0"/>
          <a:ext cx="0" cy="0"/>
          <a:chOff x="0" y="0"/>
          <a:chExt cx="0" cy="0"/>
        </a:xfrm>
      </p:grpSpPr>
      <p:sp>
        <p:nvSpPr>
          <p:cNvPr id="158" name="Google Shape;158;p38"/>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59" name="Google Shape;159;p38"/>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160" name="Google Shape;160;p38"/>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body 3 1">
  <p:cSld name="TITLE_AND_BODY_4_1">
    <p:spTree>
      <p:nvGrpSpPr>
        <p:cNvPr id="1" name="Shape 163"/>
        <p:cNvGrpSpPr/>
        <p:nvPr/>
      </p:nvGrpSpPr>
      <p:grpSpPr>
        <a:xfrm>
          <a:off x="0" y="0"/>
          <a:ext cx="0" cy="0"/>
          <a:chOff x="0" y="0"/>
          <a:chExt cx="0" cy="0"/>
        </a:xfrm>
      </p:grpSpPr>
      <p:sp>
        <p:nvSpPr>
          <p:cNvPr id="164" name="Google Shape;164;p40"/>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cxnSp>
        <p:nvCxnSpPr>
          <p:cNvPr id="165" name="Google Shape;165;p40"/>
          <p:cNvCxnSpPr/>
          <p:nvPr/>
        </p:nvCxnSpPr>
        <p:spPr>
          <a:xfrm>
            <a:off x="366450" y="716450"/>
            <a:ext cx="8411100" cy="8700"/>
          </a:xfrm>
          <a:prstGeom prst="straightConnector1">
            <a:avLst/>
          </a:prstGeom>
          <a:noFill/>
          <a:ln w="9525" cap="flat" cmpd="sng">
            <a:solidFill>
              <a:schemeClr val="dk2"/>
            </a:solidFill>
            <a:prstDash val="solid"/>
            <a:round/>
            <a:headEnd type="none" w="med" len="med"/>
            <a:tailEnd type="none" w="med" len="med"/>
          </a:ln>
        </p:spPr>
      </p:cxnSp>
      <p:sp>
        <p:nvSpPr>
          <p:cNvPr id="166" name="Google Shape;166;p40"/>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Header Dark">
  <p:cSld name="SECTION_HEADER_1_1">
    <p:bg>
      <p:bgPr>
        <a:solidFill>
          <a:schemeClr val="dk1"/>
        </a:solidFill>
        <a:effectLst/>
      </p:bgPr>
    </p:bg>
    <p:spTree>
      <p:nvGrpSpPr>
        <p:cNvPr id="1" name="Shape 172"/>
        <p:cNvGrpSpPr/>
        <p:nvPr/>
      </p:nvGrpSpPr>
      <p:grpSpPr>
        <a:xfrm>
          <a:off x="0" y="0"/>
          <a:ext cx="0" cy="0"/>
          <a:chOff x="0" y="0"/>
          <a:chExt cx="0" cy="0"/>
        </a:xfrm>
      </p:grpSpPr>
      <p:sp>
        <p:nvSpPr>
          <p:cNvPr id="173" name="Google Shape;173;p42"/>
          <p:cNvSpPr txBox="1">
            <a:spLocks noGrp="1"/>
          </p:cNvSpPr>
          <p:nvPr>
            <p:ph type="subTitle" idx="1"/>
          </p:nvPr>
        </p:nvSpPr>
        <p:spPr>
          <a:xfrm>
            <a:off x="914400" y="2834640"/>
            <a:ext cx="7315200" cy="91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rgbClr val="DB5028"/>
              </a:buClr>
              <a:buSzPts val="2300"/>
              <a:buFont typeface="Inter Medium"/>
              <a:buNone/>
              <a:defRPr sz="2300">
                <a:solidFill>
                  <a:srgbClr val="DB5028"/>
                </a:solidFill>
                <a:latin typeface="Inter Medium"/>
                <a:ea typeface="Inter Medium"/>
                <a:cs typeface="Inter Medium"/>
                <a:sym typeface="Inter Medium"/>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174" name="Google Shape;174;p42"/>
          <p:cNvSpPr txBox="1">
            <a:spLocks noGrp="1"/>
          </p:cNvSpPr>
          <p:nvPr>
            <p:ph type="title"/>
          </p:nvPr>
        </p:nvSpPr>
        <p:spPr>
          <a:xfrm>
            <a:off x="914400" y="838200"/>
            <a:ext cx="7315200" cy="18288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3500"/>
              <a:buNone/>
              <a:defRPr sz="3500">
                <a:solidFill>
                  <a:schemeClr val="lt1"/>
                </a:solidFill>
              </a:defRPr>
            </a:lvl1pPr>
            <a:lvl2pPr lvl="1">
              <a:spcBef>
                <a:spcPts val="0"/>
              </a:spcBef>
              <a:spcAft>
                <a:spcPts val="0"/>
              </a:spcAft>
              <a:buClr>
                <a:schemeClr val="lt1"/>
              </a:buClr>
              <a:buSzPts val="3500"/>
              <a:buNone/>
              <a:defRPr sz="3500">
                <a:solidFill>
                  <a:schemeClr val="lt1"/>
                </a:solidFill>
              </a:defRPr>
            </a:lvl2pPr>
            <a:lvl3pPr lvl="2">
              <a:spcBef>
                <a:spcPts val="0"/>
              </a:spcBef>
              <a:spcAft>
                <a:spcPts val="0"/>
              </a:spcAft>
              <a:buClr>
                <a:schemeClr val="lt1"/>
              </a:buClr>
              <a:buSzPts val="3500"/>
              <a:buNone/>
              <a:defRPr sz="3500">
                <a:solidFill>
                  <a:schemeClr val="lt1"/>
                </a:solidFill>
              </a:defRPr>
            </a:lvl3pPr>
            <a:lvl4pPr lvl="3">
              <a:spcBef>
                <a:spcPts val="0"/>
              </a:spcBef>
              <a:spcAft>
                <a:spcPts val="0"/>
              </a:spcAft>
              <a:buClr>
                <a:schemeClr val="lt1"/>
              </a:buClr>
              <a:buSzPts val="3500"/>
              <a:buNone/>
              <a:defRPr sz="3500">
                <a:solidFill>
                  <a:schemeClr val="lt1"/>
                </a:solidFill>
              </a:defRPr>
            </a:lvl4pPr>
            <a:lvl5pPr lvl="4">
              <a:spcBef>
                <a:spcPts val="0"/>
              </a:spcBef>
              <a:spcAft>
                <a:spcPts val="0"/>
              </a:spcAft>
              <a:buClr>
                <a:schemeClr val="lt1"/>
              </a:buClr>
              <a:buSzPts val="3500"/>
              <a:buNone/>
              <a:defRPr sz="3500">
                <a:solidFill>
                  <a:schemeClr val="lt1"/>
                </a:solidFill>
              </a:defRPr>
            </a:lvl5pPr>
            <a:lvl6pPr lvl="5">
              <a:spcBef>
                <a:spcPts val="0"/>
              </a:spcBef>
              <a:spcAft>
                <a:spcPts val="0"/>
              </a:spcAft>
              <a:buClr>
                <a:schemeClr val="lt1"/>
              </a:buClr>
              <a:buSzPts val="3500"/>
              <a:buNone/>
              <a:defRPr sz="3500">
                <a:solidFill>
                  <a:schemeClr val="lt1"/>
                </a:solidFill>
              </a:defRPr>
            </a:lvl6pPr>
            <a:lvl7pPr lvl="6">
              <a:spcBef>
                <a:spcPts val="0"/>
              </a:spcBef>
              <a:spcAft>
                <a:spcPts val="0"/>
              </a:spcAft>
              <a:buClr>
                <a:schemeClr val="lt1"/>
              </a:buClr>
              <a:buSzPts val="3500"/>
              <a:buNone/>
              <a:defRPr sz="3500">
                <a:solidFill>
                  <a:schemeClr val="lt1"/>
                </a:solidFill>
              </a:defRPr>
            </a:lvl7pPr>
            <a:lvl8pPr lvl="7">
              <a:spcBef>
                <a:spcPts val="0"/>
              </a:spcBef>
              <a:spcAft>
                <a:spcPts val="0"/>
              </a:spcAft>
              <a:buClr>
                <a:schemeClr val="lt1"/>
              </a:buClr>
              <a:buSzPts val="3500"/>
              <a:buNone/>
              <a:defRPr sz="3500">
                <a:solidFill>
                  <a:schemeClr val="lt1"/>
                </a:solidFill>
              </a:defRPr>
            </a:lvl8pPr>
            <a:lvl9pPr lvl="8">
              <a:spcBef>
                <a:spcPts val="0"/>
              </a:spcBef>
              <a:spcAft>
                <a:spcPts val="0"/>
              </a:spcAft>
              <a:buClr>
                <a:schemeClr val="lt1"/>
              </a:buClr>
              <a:buSzPts val="3500"/>
              <a:buNone/>
              <a:defRPr sz="3500">
                <a:solidFill>
                  <a:schemeClr val="lt1"/>
                </a:solidFill>
              </a:defRPr>
            </a:lvl9pPr>
          </a:lstStyle>
          <a:p>
            <a:endParaRPr/>
          </a:p>
        </p:txBody>
      </p:sp>
      <p:sp>
        <p:nvSpPr>
          <p:cNvPr id="175" name="Google Shape;175;p42"/>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b="1">
                <a:solidFill>
                  <a:srgbClr val="B7B7B7"/>
                </a:solidFill>
                <a:latin typeface="Comfortaa"/>
                <a:ea typeface="Comfortaa"/>
                <a:cs typeface="Comfortaa"/>
                <a:sym typeface="Comfortaa"/>
              </a:defRPr>
            </a:lvl1pPr>
            <a:lvl2pPr lvl="1" algn="r">
              <a:buNone/>
              <a:defRPr sz="1200" b="1">
                <a:solidFill>
                  <a:srgbClr val="B7B7B7"/>
                </a:solidFill>
                <a:latin typeface="Comfortaa"/>
                <a:ea typeface="Comfortaa"/>
                <a:cs typeface="Comfortaa"/>
                <a:sym typeface="Comfortaa"/>
              </a:defRPr>
            </a:lvl2pPr>
            <a:lvl3pPr lvl="2" algn="r">
              <a:buNone/>
              <a:defRPr sz="1200" b="1">
                <a:solidFill>
                  <a:srgbClr val="B7B7B7"/>
                </a:solidFill>
                <a:latin typeface="Comfortaa"/>
                <a:ea typeface="Comfortaa"/>
                <a:cs typeface="Comfortaa"/>
                <a:sym typeface="Comfortaa"/>
              </a:defRPr>
            </a:lvl3pPr>
            <a:lvl4pPr lvl="3" algn="r">
              <a:buNone/>
              <a:defRPr sz="1200" b="1">
                <a:solidFill>
                  <a:srgbClr val="B7B7B7"/>
                </a:solidFill>
                <a:latin typeface="Comfortaa"/>
                <a:ea typeface="Comfortaa"/>
                <a:cs typeface="Comfortaa"/>
                <a:sym typeface="Comfortaa"/>
              </a:defRPr>
            </a:lvl4pPr>
            <a:lvl5pPr lvl="4" algn="r">
              <a:buNone/>
              <a:defRPr sz="1200" b="1">
                <a:solidFill>
                  <a:srgbClr val="B7B7B7"/>
                </a:solidFill>
                <a:latin typeface="Comfortaa"/>
                <a:ea typeface="Comfortaa"/>
                <a:cs typeface="Comfortaa"/>
                <a:sym typeface="Comfortaa"/>
              </a:defRPr>
            </a:lvl5pPr>
            <a:lvl6pPr lvl="5" algn="r">
              <a:buNone/>
              <a:defRPr sz="1200" b="1">
                <a:solidFill>
                  <a:srgbClr val="B7B7B7"/>
                </a:solidFill>
                <a:latin typeface="Comfortaa"/>
                <a:ea typeface="Comfortaa"/>
                <a:cs typeface="Comfortaa"/>
                <a:sym typeface="Comfortaa"/>
              </a:defRPr>
            </a:lvl6pPr>
            <a:lvl7pPr lvl="6" algn="r">
              <a:buNone/>
              <a:defRPr sz="1200" b="1">
                <a:solidFill>
                  <a:srgbClr val="B7B7B7"/>
                </a:solidFill>
                <a:latin typeface="Comfortaa"/>
                <a:ea typeface="Comfortaa"/>
                <a:cs typeface="Comfortaa"/>
                <a:sym typeface="Comfortaa"/>
              </a:defRPr>
            </a:lvl7pPr>
            <a:lvl8pPr lvl="7" algn="r">
              <a:buNone/>
              <a:defRPr sz="1200" b="1">
                <a:solidFill>
                  <a:srgbClr val="B7B7B7"/>
                </a:solidFill>
                <a:latin typeface="Comfortaa"/>
                <a:ea typeface="Comfortaa"/>
                <a:cs typeface="Comfortaa"/>
                <a:sym typeface="Comfortaa"/>
              </a:defRPr>
            </a:lvl8pPr>
            <a:lvl9pPr lvl="8" algn="r">
              <a:buNone/>
              <a:defRPr sz="1200" b="1">
                <a:solidFill>
                  <a:srgbClr val="B7B7B7"/>
                </a:solidFill>
                <a:latin typeface="Comfortaa"/>
                <a:ea typeface="Comfortaa"/>
                <a:cs typeface="Comfortaa"/>
                <a:sym typeface="Comforta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Logos 1">
  <p:cSld name="TITLE_AND_TWO_COLUMNS_2_2">
    <p:spTree>
      <p:nvGrpSpPr>
        <p:cNvPr id="1" name="Shape 180"/>
        <p:cNvGrpSpPr/>
        <p:nvPr/>
      </p:nvGrpSpPr>
      <p:grpSpPr>
        <a:xfrm>
          <a:off x="0" y="0"/>
          <a:ext cx="0" cy="0"/>
          <a:chOff x="0" y="0"/>
          <a:chExt cx="0" cy="0"/>
        </a:xfrm>
      </p:grpSpPr>
      <p:sp>
        <p:nvSpPr>
          <p:cNvPr id="181" name="Google Shape;181;p44"/>
          <p:cNvSpPr txBox="1">
            <a:spLocks noGrp="1"/>
          </p:cNvSpPr>
          <p:nvPr>
            <p:ph type="title"/>
          </p:nvPr>
        </p:nvSpPr>
        <p:spPr>
          <a:xfrm>
            <a:off x="311700" y="182880"/>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200"/>
              <a:buNone/>
              <a:defRPr sz="2200"/>
            </a:lvl1pPr>
            <a:lvl2pPr lvl="1">
              <a:spcBef>
                <a:spcPts val="0"/>
              </a:spcBef>
              <a:spcAft>
                <a:spcPts val="0"/>
              </a:spcAft>
              <a:buClr>
                <a:srgbClr val="27496A"/>
              </a:buClr>
              <a:buSzPts val="2800"/>
              <a:buNone/>
              <a:defRPr>
                <a:solidFill>
                  <a:srgbClr val="27496A"/>
                </a:solidFill>
              </a:defRPr>
            </a:lvl2pPr>
            <a:lvl3pPr lvl="2">
              <a:spcBef>
                <a:spcPts val="0"/>
              </a:spcBef>
              <a:spcAft>
                <a:spcPts val="0"/>
              </a:spcAft>
              <a:buClr>
                <a:srgbClr val="27496A"/>
              </a:buClr>
              <a:buSzPts val="2800"/>
              <a:buNone/>
              <a:defRPr>
                <a:solidFill>
                  <a:srgbClr val="27496A"/>
                </a:solidFill>
              </a:defRPr>
            </a:lvl3pPr>
            <a:lvl4pPr lvl="3">
              <a:spcBef>
                <a:spcPts val="0"/>
              </a:spcBef>
              <a:spcAft>
                <a:spcPts val="0"/>
              </a:spcAft>
              <a:buClr>
                <a:srgbClr val="27496A"/>
              </a:buClr>
              <a:buSzPts val="2800"/>
              <a:buNone/>
              <a:defRPr>
                <a:solidFill>
                  <a:srgbClr val="27496A"/>
                </a:solidFill>
              </a:defRPr>
            </a:lvl4pPr>
            <a:lvl5pPr lvl="4">
              <a:spcBef>
                <a:spcPts val="0"/>
              </a:spcBef>
              <a:spcAft>
                <a:spcPts val="0"/>
              </a:spcAft>
              <a:buClr>
                <a:srgbClr val="27496A"/>
              </a:buClr>
              <a:buSzPts val="2800"/>
              <a:buNone/>
              <a:defRPr>
                <a:solidFill>
                  <a:srgbClr val="27496A"/>
                </a:solidFill>
              </a:defRPr>
            </a:lvl5pPr>
            <a:lvl6pPr lvl="5">
              <a:spcBef>
                <a:spcPts val="0"/>
              </a:spcBef>
              <a:spcAft>
                <a:spcPts val="0"/>
              </a:spcAft>
              <a:buClr>
                <a:srgbClr val="27496A"/>
              </a:buClr>
              <a:buSzPts val="2800"/>
              <a:buNone/>
              <a:defRPr>
                <a:solidFill>
                  <a:srgbClr val="27496A"/>
                </a:solidFill>
              </a:defRPr>
            </a:lvl6pPr>
            <a:lvl7pPr lvl="6">
              <a:spcBef>
                <a:spcPts val="0"/>
              </a:spcBef>
              <a:spcAft>
                <a:spcPts val="0"/>
              </a:spcAft>
              <a:buClr>
                <a:srgbClr val="27496A"/>
              </a:buClr>
              <a:buSzPts val="2800"/>
              <a:buNone/>
              <a:defRPr>
                <a:solidFill>
                  <a:srgbClr val="27496A"/>
                </a:solidFill>
              </a:defRPr>
            </a:lvl7pPr>
            <a:lvl8pPr lvl="7">
              <a:spcBef>
                <a:spcPts val="0"/>
              </a:spcBef>
              <a:spcAft>
                <a:spcPts val="0"/>
              </a:spcAft>
              <a:buClr>
                <a:srgbClr val="27496A"/>
              </a:buClr>
              <a:buSzPts val="2800"/>
              <a:buNone/>
              <a:defRPr>
                <a:solidFill>
                  <a:srgbClr val="27496A"/>
                </a:solidFill>
              </a:defRPr>
            </a:lvl8pPr>
            <a:lvl9pPr lvl="8">
              <a:spcBef>
                <a:spcPts val="0"/>
              </a:spcBef>
              <a:spcAft>
                <a:spcPts val="0"/>
              </a:spcAft>
              <a:buClr>
                <a:srgbClr val="27496A"/>
              </a:buClr>
              <a:buSzPts val="2800"/>
              <a:buNone/>
              <a:defRPr>
                <a:solidFill>
                  <a:srgbClr val="27496A"/>
                </a:solidFill>
              </a:defRPr>
            </a:lvl9pPr>
          </a:lstStyle>
          <a:p>
            <a:endParaRPr/>
          </a:p>
        </p:txBody>
      </p:sp>
      <p:sp>
        <p:nvSpPr>
          <p:cNvPr id="182" name="Google Shape;182;p44"/>
          <p:cNvSpPr txBox="1">
            <a:spLocks noGrp="1"/>
          </p:cNvSpPr>
          <p:nvPr>
            <p:ph type="sldNum" idx="12"/>
          </p:nvPr>
        </p:nvSpPr>
        <p:spPr>
          <a:xfrm>
            <a:off x="8472458" y="4773017"/>
            <a:ext cx="548700" cy="393600"/>
          </a:xfrm>
          <a:prstGeom prst="rect">
            <a:avLst/>
          </a:prstGeom>
        </p:spPr>
        <p:txBody>
          <a:bodyPr spcFirstLastPara="1" wrap="square" lIns="91425" tIns="91425" rIns="91425" bIns="91425" anchor="ctr" anchorCtr="0">
            <a:noAutofit/>
          </a:bodyPr>
          <a:lstStyle>
            <a:lvl1pPr lvl="0" algn="r">
              <a:buNone/>
              <a:defRPr sz="1200" b="1">
                <a:solidFill>
                  <a:srgbClr val="735AF5"/>
                </a:solidFill>
                <a:latin typeface="Lato"/>
                <a:ea typeface="Lato"/>
                <a:cs typeface="Lato"/>
                <a:sym typeface="Lato"/>
              </a:defRPr>
            </a:lvl1pPr>
            <a:lvl2pPr lvl="1" algn="r">
              <a:buNone/>
              <a:defRPr sz="1200" b="1">
                <a:solidFill>
                  <a:srgbClr val="735AF5"/>
                </a:solidFill>
                <a:latin typeface="Lato"/>
                <a:ea typeface="Lato"/>
                <a:cs typeface="Lato"/>
                <a:sym typeface="Lato"/>
              </a:defRPr>
            </a:lvl2pPr>
            <a:lvl3pPr lvl="2" algn="r">
              <a:buNone/>
              <a:defRPr sz="1200" b="1">
                <a:solidFill>
                  <a:srgbClr val="735AF5"/>
                </a:solidFill>
                <a:latin typeface="Lato"/>
                <a:ea typeface="Lato"/>
                <a:cs typeface="Lato"/>
                <a:sym typeface="Lato"/>
              </a:defRPr>
            </a:lvl3pPr>
            <a:lvl4pPr lvl="3" algn="r">
              <a:buNone/>
              <a:defRPr sz="1200" b="1">
                <a:solidFill>
                  <a:srgbClr val="735AF5"/>
                </a:solidFill>
                <a:latin typeface="Lato"/>
                <a:ea typeface="Lato"/>
                <a:cs typeface="Lato"/>
                <a:sym typeface="Lato"/>
              </a:defRPr>
            </a:lvl4pPr>
            <a:lvl5pPr lvl="4" algn="r">
              <a:buNone/>
              <a:defRPr sz="1200" b="1">
                <a:solidFill>
                  <a:srgbClr val="735AF5"/>
                </a:solidFill>
                <a:latin typeface="Lato"/>
                <a:ea typeface="Lato"/>
                <a:cs typeface="Lato"/>
                <a:sym typeface="Lato"/>
              </a:defRPr>
            </a:lvl5pPr>
            <a:lvl6pPr lvl="5" algn="r">
              <a:buNone/>
              <a:defRPr sz="1200" b="1">
                <a:solidFill>
                  <a:srgbClr val="735AF5"/>
                </a:solidFill>
                <a:latin typeface="Lato"/>
                <a:ea typeface="Lato"/>
                <a:cs typeface="Lato"/>
                <a:sym typeface="Lato"/>
              </a:defRPr>
            </a:lvl6pPr>
            <a:lvl7pPr lvl="6" algn="r">
              <a:buNone/>
              <a:defRPr sz="1200" b="1">
                <a:solidFill>
                  <a:srgbClr val="735AF5"/>
                </a:solidFill>
                <a:latin typeface="Lato"/>
                <a:ea typeface="Lato"/>
                <a:cs typeface="Lato"/>
                <a:sym typeface="Lato"/>
              </a:defRPr>
            </a:lvl7pPr>
            <a:lvl8pPr lvl="7" algn="r">
              <a:buNone/>
              <a:defRPr sz="1200" b="1">
                <a:solidFill>
                  <a:srgbClr val="735AF5"/>
                </a:solidFill>
                <a:latin typeface="Lato"/>
                <a:ea typeface="Lato"/>
                <a:cs typeface="Lato"/>
                <a:sym typeface="Lato"/>
              </a:defRPr>
            </a:lvl8pPr>
            <a:lvl9pPr lvl="8" algn="r">
              <a:buNone/>
              <a:defRPr sz="1200" b="1">
                <a:solidFill>
                  <a:srgbClr val="735AF5"/>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lank 1">
  <p:cSld name="TITLE_AND_BODY_23_1">
    <p:spTree>
      <p:nvGrpSpPr>
        <p:cNvPr id="1" name="Shape 192"/>
        <p:cNvGrpSpPr/>
        <p:nvPr/>
      </p:nvGrpSpPr>
      <p:grpSpPr>
        <a:xfrm>
          <a:off x="0" y="0"/>
          <a:ext cx="0" cy="0"/>
          <a:chOff x="0" y="0"/>
          <a:chExt cx="0" cy="0"/>
        </a:xfrm>
      </p:grpSpPr>
      <p:sp>
        <p:nvSpPr>
          <p:cNvPr id="193" name="Google Shape;193;p47"/>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b="1">
                <a:solidFill>
                  <a:srgbClr val="B7B7B7"/>
                </a:solidFill>
                <a:latin typeface="Comfortaa"/>
                <a:ea typeface="Comfortaa"/>
                <a:cs typeface="Comfortaa"/>
                <a:sym typeface="Comfortaa"/>
              </a:defRPr>
            </a:lvl1pPr>
            <a:lvl2pPr lvl="1" algn="r">
              <a:buNone/>
              <a:defRPr sz="1200" b="1">
                <a:solidFill>
                  <a:srgbClr val="B7B7B7"/>
                </a:solidFill>
                <a:latin typeface="Comfortaa"/>
                <a:ea typeface="Comfortaa"/>
                <a:cs typeface="Comfortaa"/>
                <a:sym typeface="Comfortaa"/>
              </a:defRPr>
            </a:lvl2pPr>
            <a:lvl3pPr lvl="2" algn="r">
              <a:buNone/>
              <a:defRPr sz="1200" b="1">
                <a:solidFill>
                  <a:srgbClr val="B7B7B7"/>
                </a:solidFill>
                <a:latin typeface="Comfortaa"/>
                <a:ea typeface="Comfortaa"/>
                <a:cs typeface="Comfortaa"/>
                <a:sym typeface="Comfortaa"/>
              </a:defRPr>
            </a:lvl3pPr>
            <a:lvl4pPr lvl="3" algn="r">
              <a:buNone/>
              <a:defRPr sz="1200" b="1">
                <a:solidFill>
                  <a:srgbClr val="B7B7B7"/>
                </a:solidFill>
                <a:latin typeface="Comfortaa"/>
                <a:ea typeface="Comfortaa"/>
                <a:cs typeface="Comfortaa"/>
                <a:sym typeface="Comfortaa"/>
              </a:defRPr>
            </a:lvl4pPr>
            <a:lvl5pPr lvl="4" algn="r">
              <a:buNone/>
              <a:defRPr sz="1200" b="1">
                <a:solidFill>
                  <a:srgbClr val="B7B7B7"/>
                </a:solidFill>
                <a:latin typeface="Comfortaa"/>
                <a:ea typeface="Comfortaa"/>
                <a:cs typeface="Comfortaa"/>
                <a:sym typeface="Comfortaa"/>
              </a:defRPr>
            </a:lvl5pPr>
            <a:lvl6pPr lvl="5" algn="r">
              <a:buNone/>
              <a:defRPr sz="1200" b="1">
                <a:solidFill>
                  <a:srgbClr val="B7B7B7"/>
                </a:solidFill>
                <a:latin typeface="Comfortaa"/>
                <a:ea typeface="Comfortaa"/>
                <a:cs typeface="Comfortaa"/>
                <a:sym typeface="Comfortaa"/>
              </a:defRPr>
            </a:lvl6pPr>
            <a:lvl7pPr lvl="6" algn="r">
              <a:buNone/>
              <a:defRPr sz="1200" b="1">
                <a:solidFill>
                  <a:srgbClr val="B7B7B7"/>
                </a:solidFill>
                <a:latin typeface="Comfortaa"/>
                <a:ea typeface="Comfortaa"/>
                <a:cs typeface="Comfortaa"/>
                <a:sym typeface="Comfortaa"/>
              </a:defRPr>
            </a:lvl7pPr>
            <a:lvl8pPr lvl="7" algn="r">
              <a:buNone/>
              <a:defRPr sz="1200" b="1">
                <a:solidFill>
                  <a:srgbClr val="B7B7B7"/>
                </a:solidFill>
                <a:latin typeface="Comfortaa"/>
                <a:ea typeface="Comfortaa"/>
                <a:cs typeface="Comfortaa"/>
                <a:sym typeface="Comfortaa"/>
              </a:defRPr>
            </a:lvl8pPr>
            <a:lvl9pPr lvl="8" algn="r">
              <a:buNone/>
              <a:defRPr sz="1200" b="1">
                <a:solidFill>
                  <a:srgbClr val="B7B7B7"/>
                </a:solidFill>
                <a:latin typeface="Comfortaa"/>
                <a:ea typeface="Comfortaa"/>
                <a:cs typeface="Comfortaa"/>
                <a:sym typeface="Comforta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sz="800"/>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sz="800"/>
          </a:p>
        </p:txBody>
      </p:sp>
    </p:spTree>
    <p:extLst>
      <p:ext uri="{BB962C8B-B14F-4D97-AF65-F5344CB8AC3E}">
        <p14:creationId xmlns:p14="http://schemas.microsoft.com/office/powerpoint/2010/main" val="2592535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image" Target="../media/image1.png"/><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15"/>
        <p:cNvGrpSpPr/>
        <p:nvPr/>
      </p:nvGrpSpPr>
      <p:grpSpPr>
        <a:xfrm>
          <a:off x="0" y="0"/>
          <a:ext cx="0" cy="0"/>
          <a:chOff x="0" y="0"/>
          <a:chExt cx="0" cy="0"/>
        </a:xfrm>
      </p:grpSpPr>
      <p:sp>
        <p:nvSpPr>
          <p:cNvPr id="116" name="Google Shape;116;p28"/>
          <p:cNvSpPr txBox="1">
            <a:spLocks noGrp="1"/>
          </p:cNvSpPr>
          <p:nvPr>
            <p:ph type="title"/>
          </p:nvPr>
        </p:nvSpPr>
        <p:spPr>
          <a:xfrm>
            <a:off x="311700" y="186100"/>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400"/>
              <a:buFont typeface="Rubik"/>
              <a:buNone/>
              <a:defRPr sz="2400">
                <a:solidFill>
                  <a:schemeClr val="dk1"/>
                </a:solidFill>
                <a:latin typeface="Rubik"/>
                <a:ea typeface="Rubik"/>
                <a:cs typeface="Rubik"/>
                <a:sym typeface="Rubik"/>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17" name="Google Shape;11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Inter"/>
              <a:buChar char="●"/>
              <a:defRPr sz="1800">
                <a:solidFill>
                  <a:schemeClr val="dk2"/>
                </a:solidFill>
                <a:latin typeface="Inter"/>
                <a:ea typeface="Inter"/>
                <a:cs typeface="Inter"/>
                <a:sym typeface="Inter"/>
              </a:defRPr>
            </a:lvl1pPr>
            <a:lvl2pPr marL="914400" lvl="1" indent="-317500">
              <a:lnSpc>
                <a:spcPct val="115000"/>
              </a:lnSpc>
              <a:spcBef>
                <a:spcPts val="1600"/>
              </a:spcBef>
              <a:spcAft>
                <a:spcPts val="0"/>
              </a:spcAft>
              <a:buClr>
                <a:schemeClr val="dk2"/>
              </a:buClr>
              <a:buSzPts val="1400"/>
              <a:buFont typeface="Inter"/>
              <a:buChar char="○"/>
              <a:defRPr>
                <a:solidFill>
                  <a:schemeClr val="dk2"/>
                </a:solidFill>
                <a:latin typeface="Inter"/>
                <a:ea typeface="Inter"/>
                <a:cs typeface="Inter"/>
                <a:sym typeface="Inter"/>
              </a:defRPr>
            </a:lvl2pPr>
            <a:lvl3pPr marL="1371600" lvl="2" indent="-317500">
              <a:lnSpc>
                <a:spcPct val="115000"/>
              </a:lnSpc>
              <a:spcBef>
                <a:spcPts val="1600"/>
              </a:spcBef>
              <a:spcAft>
                <a:spcPts val="0"/>
              </a:spcAft>
              <a:buClr>
                <a:schemeClr val="dk2"/>
              </a:buClr>
              <a:buSzPts val="1400"/>
              <a:buFont typeface="Inter"/>
              <a:buChar char="■"/>
              <a:defRPr>
                <a:solidFill>
                  <a:schemeClr val="dk2"/>
                </a:solidFill>
                <a:latin typeface="Inter"/>
                <a:ea typeface="Inter"/>
                <a:cs typeface="Inter"/>
                <a:sym typeface="Inter"/>
              </a:defRPr>
            </a:lvl3pPr>
            <a:lvl4pPr marL="1828800" lvl="3" indent="-317500">
              <a:lnSpc>
                <a:spcPct val="115000"/>
              </a:lnSpc>
              <a:spcBef>
                <a:spcPts val="1600"/>
              </a:spcBef>
              <a:spcAft>
                <a:spcPts val="0"/>
              </a:spcAft>
              <a:buClr>
                <a:schemeClr val="dk2"/>
              </a:buClr>
              <a:buSzPts val="1400"/>
              <a:buFont typeface="Inter"/>
              <a:buChar char="●"/>
              <a:defRPr>
                <a:solidFill>
                  <a:schemeClr val="dk2"/>
                </a:solidFill>
                <a:latin typeface="Inter"/>
                <a:ea typeface="Inter"/>
                <a:cs typeface="Inter"/>
                <a:sym typeface="Inter"/>
              </a:defRPr>
            </a:lvl4pPr>
            <a:lvl5pPr marL="2286000" lvl="4" indent="-317500">
              <a:lnSpc>
                <a:spcPct val="115000"/>
              </a:lnSpc>
              <a:spcBef>
                <a:spcPts val="1600"/>
              </a:spcBef>
              <a:spcAft>
                <a:spcPts val="0"/>
              </a:spcAft>
              <a:buClr>
                <a:schemeClr val="dk2"/>
              </a:buClr>
              <a:buSzPts val="1400"/>
              <a:buFont typeface="Inter"/>
              <a:buChar char="○"/>
              <a:defRPr>
                <a:solidFill>
                  <a:schemeClr val="dk2"/>
                </a:solidFill>
                <a:latin typeface="Inter"/>
                <a:ea typeface="Inter"/>
                <a:cs typeface="Inter"/>
                <a:sym typeface="Inter"/>
              </a:defRPr>
            </a:lvl5pPr>
            <a:lvl6pPr marL="2743200" lvl="5" indent="-317500">
              <a:lnSpc>
                <a:spcPct val="115000"/>
              </a:lnSpc>
              <a:spcBef>
                <a:spcPts val="1600"/>
              </a:spcBef>
              <a:spcAft>
                <a:spcPts val="0"/>
              </a:spcAft>
              <a:buClr>
                <a:schemeClr val="dk2"/>
              </a:buClr>
              <a:buSzPts val="1400"/>
              <a:buFont typeface="Inter"/>
              <a:buChar char="■"/>
              <a:defRPr>
                <a:solidFill>
                  <a:schemeClr val="dk2"/>
                </a:solidFill>
                <a:latin typeface="Inter"/>
                <a:ea typeface="Inter"/>
                <a:cs typeface="Inter"/>
                <a:sym typeface="Inter"/>
              </a:defRPr>
            </a:lvl6pPr>
            <a:lvl7pPr marL="3200400" lvl="6" indent="-317500">
              <a:lnSpc>
                <a:spcPct val="115000"/>
              </a:lnSpc>
              <a:spcBef>
                <a:spcPts val="1600"/>
              </a:spcBef>
              <a:spcAft>
                <a:spcPts val="0"/>
              </a:spcAft>
              <a:buClr>
                <a:schemeClr val="dk2"/>
              </a:buClr>
              <a:buSzPts val="1400"/>
              <a:buFont typeface="Inter"/>
              <a:buChar char="●"/>
              <a:defRPr>
                <a:solidFill>
                  <a:schemeClr val="dk2"/>
                </a:solidFill>
                <a:latin typeface="Inter"/>
                <a:ea typeface="Inter"/>
                <a:cs typeface="Inter"/>
                <a:sym typeface="Inter"/>
              </a:defRPr>
            </a:lvl7pPr>
            <a:lvl8pPr marL="3657600" lvl="7" indent="-317500">
              <a:lnSpc>
                <a:spcPct val="115000"/>
              </a:lnSpc>
              <a:spcBef>
                <a:spcPts val="1600"/>
              </a:spcBef>
              <a:spcAft>
                <a:spcPts val="0"/>
              </a:spcAft>
              <a:buClr>
                <a:schemeClr val="dk2"/>
              </a:buClr>
              <a:buSzPts val="1400"/>
              <a:buFont typeface="Inter"/>
              <a:buChar char="○"/>
              <a:defRPr>
                <a:solidFill>
                  <a:schemeClr val="dk2"/>
                </a:solidFill>
                <a:latin typeface="Inter"/>
                <a:ea typeface="Inter"/>
                <a:cs typeface="Inter"/>
                <a:sym typeface="Inter"/>
              </a:defRPr>
            </a:lvl8pPr>
            <a:lvl9pPr marL="4114800" lvl="8" indent="-317500">
              <a:lnSpc>
                <a:spcPct val="115000"/>
              </a:lnSpc>
              <a:spcBef>
                <a:spcPts val="1600"/>
              </a:spcBef>
              <a:spcAft>
                <a:spcPts val="1600"/>
              </a:spcAft>
              <a:buClr>
                <a:schemeClr val="dk2"/>
              </a:buClr>
              <a:buSzPts val="1400"/>
              <a:buFont typeface="Inter"/>
              <a:buChar char="■"/>
              <a:defRPr>
                <a:solidFill>
                  <a:schemeClr val="dk2"/>
                </a:solidFill>
                <a:latin typeface="Inter"/>
                <a:ea typeface="Inter"/>
                <a:cs typeface="Inter"/>
                <a:sym typeface="Inter"/>
              </a:defRPr>
            </a:lvl9pPr>
          </a:lstStyle>
          <a:p>
            <a:endParaRPr dirty="0"/>
          </a:p>
        </p:txBody>
      </p:sp>
      <p:sp>
        <p:nvSpPr>
          <p:cNvPr id="118" name="Google Shape;118;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19" name="Google Shape;119;p28"/>
          <p:cNvSpPr/>
          <p:nvPr/>
        </p:nvSpPr>
        <p:spPr>
          <a:xfrm>
            <a:off x="-5094" y="4773850"/>
            <a:ext cx="9154200" cy="393600"/>
          </a:xfrm>
          <a:prstGeom prst="rect">
            <a:avLst/>
          </a:prstGeom>
          <a:solidFill>
            <a:srgbClr val="1210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8"/>
          <p:cNvSpPr txBox="1">
            <a:spLocks noGrp="1"/>
          </p:cNvSpPr>
          <p:nvPr>
            <p:ph type="sldNum" idx="2"/>
          </p:nvPr>
        </p:nvSpPr>
        <p:spPr>
          <a:xfrm>
            <a:off x="8472450" y="4773850"/>
            <a:ext cx="548700" cy="393600"/>
          </a:xfrm>
          <a:prstGeom prst="rect">
            <a:avLst/>
          </a:prstGeom>
          <a:noFill/>
          <a:ln>
            <a:noFill/>
          </a:ln>
        </p:spPr>
        <p:txBody>
          <a:bodyPr spcFirstLastPara="1" wrap="square" lIns="91425" tIns="91425" rIns="91425" bIns="91425" anchor="ctr" anchorCtr="0">
            <a:noAutofit/>
          </a:bodyPr>
          <a:lstStyle>
            <a:lvl1pPr lvl="0" algn="r">
              <a:buNone/>
              <a:defRPr sz="1200">
                <a:solidFill>
                  <a:srgbClr val="FF6E42"/>
                </a:solidFill>
                <a:latin typeface="Inter Medium"/>
                <a:ea typeface="Inter Medium"/>
                <a:cs typeface="Inter Medium"/>
                <a:sym typeface="Inter Medium"/>
              </a:defRPr>
            </a:lvl1pPr>
            <a:lvl2pPr lvl="1" algn="r">
              <a:buNone/>
              <a:defRPr sz="1200">
                <a:solidFill>
                  <a:srgbClr val="FF6E42"/>
                </a:solidFill>
                <a:latin typeface="Inter Medium"/>
                <a:ea typeface="Inter Medium"/>
                <a:cs typeface="Inter Medium"/>
                <a:sym typeface="Inter Medium"/>
              </a:defRPr>
            </a:lvl2pPr>
            <a:lvl3pPr lvl="2" algn="r">
              <a:buNone/>
              <a:defRPr sz="1200">
                <a:solidFill>
                  <a:srgbClr val="FF6E42"/>
                </a:solidFill>
                <a:latin typeface="Inter Medium"/>
                <a:ea typeface="Inter Medium"/>
                <a:cs typeface="Inter Medium"/>
                <a:sym typeface="Inter Medium"/>
              </a:defRPr>
            </a:lvl3pPr>
            <a:lvl4pPr lvl="3" algn="r">
              <a:buNone/>
              <a:defRPr sz="1200">
                <a:solidFill>
                  <a:srgbClr val="FF6E42"/>
                </a:solidFill>
                <a:latin typeface="Inter Medium"/>
                <a:ea typeface="Inter Medium"/>
                <a:cs typeface="Inter Medium"/>
                <a:sym typeface="Inter Medium"/>
              </a:defRPr>
            </a:lvl4pPr>
            <a:lvl5pPr lvl="4" algn="r">
              <a:buNone/>
              <a:defRPr sz="1200">
                <a:solidFill>
                  <a:srgbClr val="FF6E42"/>
                </a:solidFill>
                <a:latin typeface="Inter Medium"/>
                <a:ea typeface="Inter Medium"/>
                <a:cs typeface="Inter Medium"/>
                <a:sym typeface="Inter Medium"/>
              </a:defRPr>
            </a:lvl5pPr>
            <a:lvl6pPr lvl="5" algn="r">
              <a:buNone/>
              <a:defRPr sz="1200">
                <a:solidFill>
                  <a:srgbClr val="FF6E42"/>
                </a:solidFill>
                <a:latin typeface="Inter Medium"/>
                <a:ea typeface="Inter Medium"/>
                <a:cs typeface="Inter Medium"/>
                <a:sym typeface="Inter Medium"/>
              </a:defRPr>
            </a:lvl6pPr>
            <a:lvl7pPr lvl="6" algn="r">
              <a:buNone/>
              <a:defRPr sz="1200">
                <a:solidFill>
                  <a:srgbClr val="FF6E42"/>
                </a:solidFill>
                <a:latin typeface="Inter Medium"/>
                <a:ea typeface="Inter Medium"/>
                <a:cs typeface="Inter Medium"/>
                <a:sym typeface="Inter Medium"/>
              </a:defRPr>
            </a:lvl7pPr>
            <a:lvl8pPr lvl="7" algn="r">
              <a:buNone/>
              <a:defRPr sz="1200">
                <a:solidFill>
                  <a:srgbClr val="FF6E42"/>
                </a:solidFill>
                <a:latin typeface="Inter Medium"/>
                <a:ea typeface="Inter Medium"/>
                <a:cs typeface="Inter Medium"/>
                <a:sym typeface="Inter Medium"/>
              </a:defRPr>
            </a:lvl8pPr>
            <a:lvl9pPr lvl="8" algn="r">
              <a:buNone/>
              <a:defRPr sz="1200">
                <a:solidFill>
                  <a:srgbClr val="FF6E42"/>
                </a:solidFill>
                <a:latin typeface="Inter Medium"/>
                <a:ea typeface="Inter Medium"/>
                <a:cs typeface="Inter Medium"/>
                <a:sym typeface="Inter Medium"/>
              </a:defRPr>
            </a:lvl9pPr>
          </a:lstStyle>
          <a:p>
            <a:pPr marL="0" lvl="0" indent="0" algn="r" rtl="0">
              <a:spcBef>
                <a:spcPts val="0"/>
              </a:spcBef>
              <a:spcAft>
                <a:spcPts val="0"/>
              </a:spcAft>
              <a:buNone/>
            </a:pPr>
            <a:fld id="{00000000-1234-1234-1234-123412341234}" type="slidenum">
              <a:rPr lang="en"/>
              <a:t>‹#›</a:t>
            </a:fld>
            <a:endParaRPr/>
          </a:p>
        </p:txBody>
      </p:sp>
      <p:sp>
        <p:nvSpPr>
          <p:cNvPr id="121" name="Google Shape;121;p28"/>
          <p:cNvSpPr txBox="1"/>
          <p:nvPr/>
        </p:nvSpPr>
        <p:spPr>
          <a:xfrm>
            <a:off x="6923600" y="4775650"/>
            <a:ext cx="1899900" cy="39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dirty="0">
                <a:solidFill>
                  <a:schemeClr val="lt1"/>
                </a:solidFill>
                <a:latin typeface="Inter Medium"/>
                <a:ea typeface="Inter Medium"/>
                <a:cs typeface="Inter Medium"/>
                <a:sym typeface="Inter Medium"/>
              </a:rPr>
              <a:t>© 2026 All Rights Reserved</a:t>
            </a:r>
            <a:endParaRPr sz="800" dirty="0">
              <a:solidFill>
                <a:schemeClr val="lt1"/>
              </a:solidFill>
              <a:latin typeface="Inter Medium"/>
              <a:ea typeface="Inter Medium"/>
              <a:cs typeface="Inter Medium"/>
              <a:sym typeface="Inter Medium"/>
            </a:endParaRPr>
          </a:p>
        </p:txBody>
      </p:sp>
      <p:pic>
        <p:nvPicPr>
          <p:cNvPr id="122" name="Google Shape;122;p28"/>
          <p:cNvPicPr preferRelativeResize="0"/>
          <p:nvPr/>
        </p:nvPicPr>
        <p:blipFill>
          <a:blip r:embed="rId15">
            <a:alphaModFix/>
          </a:blip>
          <a:stretch>
            <a:fillRect/>
          </a:stretch>
        </p:blipFill>
        <p:spPr>
          <a:xfrm>
            <a:off x="248800" y="4751713"/>
            <a:ext cx="875750" cy="4378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4" r:id="rId1"/>
    <p:sldLayoutId id="2147483676" r:id="rId2"/>
    <p:sldLayoutId id="2147483677" r:id="rId3"/>
    <p:sldLayoutId id="2147483678" r:id="rId4"/>
    <p:sldLayoutId id="2147483679" r:id="rId5"/>
    <p:sldLayoutId id="2147483680" r:id="rId6"/>
    <p:sldLayoutId id="2147483681" r:id="rId7"/>
    <p:sldLayoutId id="2147483682" r:id="rId8"/>
    <p:sldLayoutId id="2147483684" r:id="rId9"/>
    <p:sldLayoutId id="2147483686" r:id="rId10"/>
    <p:sldLayoutId id="2147483688" r:id="rId11"/>
    <p:sldLayoutId id="2147483691" r:id="rId12"/>
    <p:sldLayoutId id="214748370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hyperlink" Target="mailto:dan.farrell@yugabyte.com"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4.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4.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4.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4.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3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4.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38.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38.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3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4.xml"/></Relationships>
</file>

<file path=ppt/slides/_rels/slide5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3.xml"/><Relationship Id="rId1" Type="http://schemas.openxmlformats.org/officeDocument/2006/relationships/slideLayout" Target="../slideLayouts/slideLayout3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4.xml"/></Relationships>
</file>

<file path=ppt/slides/_rels/slide5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7.xml"/><Relationship Id="rId1" Type="http://schemas.openxmlformats.org/officeDocument/2006/relationships/slideLayout" Target="../slideLayouts/slideLayout34.xml"/><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55"/>
          <p:cNvSpPr/>
          <p:nvPr/>
        </p:nvSpPr>
        <p:spPr>
          <a:xfrm>
            <a:off x="-25" y="0"/>
            <a:ext cx="9144000" cy="51756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Inter"/>
                <a:ea typeface="Inter"/>
                <a:cs typeface="Inter"/>
                <a:sym typeface="Inter"/>
              </a:rPr>
              <a:t>   </a:t>
            </a:r>
            <a:endParaRPr>
              <a:solidFill>
                <a:schemeClr val="dk1"/>
              </a:solidFill>
              <a:latin typeface="Inter"/>
              <a:ea typeface="Inter"/>
              <a:cs typeface="Inter"/>
              <a:sym typeface="Inter"/>
            </a:endParaRPr>
          </a:p>
        </p:txBody>
      </p:sp>
      <p:sp>
        <p:nvSpPr>
          <p:cNvPr id="233" name="Google Shape;233;p55"/>
          <p:cNvSpPr txBox="1"/>
          <p:nvPr/>
        </p:nvSpPr>
        <p:spPr>
          <a:xfrm>
            <a:off x="260239" y="613012"/>
            <a:ext cx="4540361" cy="2214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US" sz="2800" dirty="0" err="1">
                <a:solidFill>
                  <a:schemeClr val="lt1"/>
                </a:solidFill>
                <a:latin typeface="Rubik"/>
                <a:ea typeface="Rubik"/>
                <a:cs typeface="Rubik"/>
                <a:sym typeface="Rubik"/>
              </a:rPr>
              <a:t>yugabyteDB</a:t>
            </a:r>
            <a:r>
              <a:rPr lang="en-US" sz="2800" dirty="0">
                <a:solidFill>
                  <a:schemeClr val="lt1"/>
                </a:solidFill>
                <a:latin typeface="Rubik"/>
                <a:ea typeface="Rubik"/>
                <a:cs typeface="Rubik"/>
                <a:sym typeface="Rubik"/>
              </a:rPr>
              <a:t> query plan management (</a:t>
            </a:r>
            <a:r>
              <a:rPr lang="en-US" sz="2800" dirty="0" err="1">
                <a:solidFill>
                  <a:schemeClr val="lt1"/>
                </a:solidFill>
                <a:latin typeface="Rubik"/>
                <a:ea typeface="Rubik"/>
                <a:cs typeface="Rubik"/>
                <a:sym typeface="Rubik"/>
              </a:rPr>
              <a:t>qpm</a:t>
            </a:r>
            <a:r>
              <a:rPr lang="en-US" sz="2800" dirty="0">
                <a:solidFill>
                  <a:schemeClr val="lt1"/>
                </a:solidFill>
                <a:latin typeface="Rubik"/>
                <a:ea typeface="Rubik"/>
                <a:cs typeface="Rubik"/>
                <a:sym typeface="Rubik"/>
              </a:rPr>
              <a:t>)</a:t>
            </a:r>
            <a:endParaRPr sz="2800" dirty="0">
              <a:solidFill>
                <a:schemeClr val="lt1"/>
              </a:solidFill>
              <a:latin typeface="Rubik"/>
              <a:ea typeface="Rubik"/>
              <a:cs typeface="Rubik"/>
              <a:sym typeface="Rubik"/>
            </a:endParaRPr>
          </a:p>
          <a:p>
            <a:pPr marL="0" lvl="0" indent="0" algn="l" rtl="0">
              <a:lnSpc>
                <a:spcPct val="100000"/>
              </a:lnSpc>
              <a:spcBef>
                <a:spcPts val="0"/>
              </a:spcBef>
              <a:spcAft>
                <a:spcPts val="0"/>
              </a:spcAft>
              <a:buNone/>
            </a:pPr>
            <a:endParaRPr sz="2800" dirty="0">
              <a:solidFill>
                <a:schemeClr val="lt1"/>
              </a:solidFill>
              <a:latin typeface="Rubik"/>
              <a:ea typeface="Rubik"/>
              <a:cs typeface="Rubik"/>
              <a:sym typeface="Rubik"/>
            </a:endParaRPr>
          </a:p>
        </p:txBody>
      </p:sp>
      <p:pic>
        <p:nvPicPr>
          <p:cNvPr id="234" name="Google Shape;234;p55"/>
          <p:cNvPicPr preferRelativeResize="0"/>
          <p:nvPr/>
        </p:nvPicPr>
        <p:blipFill>
          <a:blip r:embed="rId3">
            <a:alphaModFix/>
          </a:blip>
          <a:stretch>
            <a:fillRect/>
          </a:stretch>
        </p:blipFill>
        <p:spPr>
          <a:xfrm>
            <a:off x="381000" y="4306251"/>
            <a:ext cx="1547225" cy="773625"/>
          </a:xfrm>
          <a:prstGeom prst="rect">
            <a:avLst/>
          </a:prstGeom>
          <a:noFill/>
          <a:ln>
            <a:noFill/>
          </a:ln>
        </p:spPr>
      </p:pic>
      <p:pic>
        <p:nvPicPr>
          <p:cNvPr id="235" name="Google Shape;235;p55"/>
          <p:cNvPicPr preferRelativeResize="0"/>
          <p:nvPr/>
        </p:nvPicPr>
        <p:blipFill rotWithShape="1">
          <a:blip r:embed="rId4">
            <a:alphaModFix/>
          </a:blip>
          <a:srcRect l="-9169" r="25585"/>
          <a:stretch/>
        </p:blipFill>
        <p:spPr>
          <a:xfrm>
            <a:off x="4388627" y="0"/>
            <a:ext cx="4755300" cy="5175600"/>
          </a:xfrm>
          <a:prstGeom prst="rect">
            <a:avLst/>
          </a:prstGeom>
          <a:noFill/>
          <a:ln>
            <a:noFill/>
          </a:ln>
        </p:spPr>
      </p:pic>
      <p:sp>
        <p:nvSpPr>
          <p:cNvPr id="2" name="Google Shape;233;p55">
            <a:extLst>
              <a:ext uri="{FF2B5EF4-FFF2-40B4-BE49-F238E27FC236}">
                <a16:creationId xmlns:a16="http://schemas.microsoft.com/office/drawing/2014/main" id="{9B63FAD4-0860-5233-B4B3-7A2072687D53}"/>
              </a:ext>
            </a:extLst>
          </p:cNvPr>
          <p:cNvSpPr txBox="1"/>
          <p:nvPr/>
        </p:nvSpPr>
        <p:spPr>
          <a:xfrm>
            <a:off x="314668" y="3564472"/>
            <a:ext cx="5929378" cy="93562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US" sz="1800" dirty="0">
                <a:solidFill>
                  <a:srgbClr val="FF5F3B"/>
                </a:solidFill>
                <a:latin typeface="Rubik"/>
                <a:ea typeface="Rubik"/>
                <a:cs typeface="Rubik"/>
                <a:sym typeface="Rubik"/>
                <a:hlinkClick r:id="rId5">
                  <a:extLst>
                    <a:ext uri="{A12FA001-AC4F-418D-AE19-62706E023703}">
                      <ahyp:hlinkClr xmlns:ahyp="http://schemas.microsoft.com/office/drawing/2018/hyperlinkcolor" val="tx"/>
                    </a:ext>
                  </a:extLst>
                </a:hlinkClick>
              </a:rPr>
              <a:t>sales.person@yugabyte.com</a:t>
            </a:r>
          </a:p>
          <a:p>
            <a:pPr marL="0" lvl="0" indent="0" algn="l" rtl="0">
              <a:lnSpc>
                <a:spcPct val="100000"/>
              </a:lnSpc>
              <a:spcBef>
                <a:spcPts val="0"/>
              </a:spcBef>
              <a:spcAft>
                <a:spcPts val="0"/>
              </a:spcAft>
              <a:buNone/>
            </a:pPr>
            <a:r>
              <a:rPr lang="en-US" sz="1800" dirty="0">
                <a:solidFill>
                  <a:srgbClr val="FF5F3B"/>
                </a:solidFill>
                <a:latin typeface="Rubik"/>
                <a:ea typeface="Rubik"/>
                <a:cs typeface="Rubik"/>
                <a:sym typeface="Rubik"/>
                <a:hlinkClick r:id="rId5">
                  <a:extLst>
                    <a:ext uri="{A12FA001-AC4F-418D-AE19-62706E023703}">
                      <ahyp:hlinkClr xmlns:ahyp="http://schemas.microsoft.com/office/drawing/2018/hyperlinkcolor" val="tx"/>
                    </a:ext>
                  </a:extLst>
                </a:hlinkClick>
              </a:rPr>
              <a:t>dan.farrell@yugabyte.com</a:t>
            </a:r>
            <a:r>
              <a:rPr lang="en-US" sz="1800" dirty="0">
                <a:solidFill>
                  <a:srgbClr val="FF5F3B"/>
                </a:solidFill>
                <a:latin typeface="Rubik"/>
                <a:ea typeface="Rubik"/>
                <a:cs typeface="Rubik"/>
                <a:sym typeface="Rubik"/>
              </a:rPr>
              <a:t> </a:t>
            </a:r>
            <a:endParaRPr sz="1800" dirty="0">
              <a:solidFill>
                <a:srgbClr val="FF5F3B"/>
              </a:solidFill>
              <a:latin typeface="Rubik"/>
              <a:ea typeface="Rubik"/>
              <a:cs typeface="Rubik"/>
              <a:sym typeface="Rubi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9BC7A6AC-B096-8102-15D3-7991076D460F}"/>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3296C798-A403-7FA6-D2FA-3D51B593ED72}"/>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5922E9FE-C717-FAD9-9D73-769F074F5711}"/>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Objectives for today; query plan </a:t>
            </a:r>
            <a:r>
              <a:rPr kumimoji="0" lang="en-US" sz="2800" b="0" i="0" u="none" strike="noStrike" kern="0" cap="none" spc="0" normalizeH="0" baseline="0" noProof="0" dirty="0" err="1">
                <a:ln>
                  <a:noFill/>
                </a:ln>
                <a:solidFill>
                  <a:srgbClr val="FFFFFF"/>
                </a:solidFill>
                <a:effectLst/>
                <a:uLnTx/>
                <a:uFillTx/>
                <a:latin typeface="Rubik"/>
                <a:ea typeface="Rubik"/>
                <a:cs typeface="Rubik"/>
                <a:sym typeface="Rubik"/>
              </a:rPr>
              <a:t>mgmt</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28B49EBA-F77B-5D40-0602-6C43BE9A78BF}"/>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45B252F8-BA65-296F-70CA-133BF59D186E}"/>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68EAB520-FBB0-96F6-AC09-B21E40B3836C}"/>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2" name="Google Shape;248;p56">
            <a:extLst>
              <a:ext uri="{FF2B5EF4-FFF2-40B4-BE49-F238E27FC236}">
                <a16:creationId xmlns:a16="http://schemas.microsoft.com/office/drawing/2014/main" id="{D20BE8CD-6369-59E9-98E6-DC9617FC2CC1}"/>
              </a:ext>
            </a:extLst>
          </p:cNvPr>
          <p:cNvSpPr txBox="1"/>
          <p:nvPr/>
        </p:nvSpPr>
        <p:spPr>
          <a:xfrm>
            <a:off x="3737857" y="268552"/>
            <a:ext cx="4810720" cy="821733"/>
          </a:xfrm>
          <a:prstGeom prst="rect">
            <a:avLst/>
          </a:prstGeom>
          <a:noFill/>
          <a:ln>
            <a:noFill/>
          </a:ln>
        </p:spPr>
        <p:txBody>
          <a:bodyPr spcFirstLastPara="1" wrap="square" lIns="91425" tIns="91425" rIns="91425" bIns="91425" anchor="t" anchorCtr="0">
            <a:spAutoFit/>
          </a:bodyPr>
          <a:lstStyle/>
          <a:p>
            <a:pPr marL="228600" lvl="0" indent="-228600">
              <a:lnSpc>
                <a:spcPct val="115000"/>
              </a:lnSpc>
              <a:buFont typeface="Arial" panose="020B0604020202020204" pitchFamily="34" charset="0"/>
              <a:buChar char="•"/>
              <a:defRPr/>
            </a:pPr>
            <a:r>
              <a:rPr lang="en-US" sz="1200" dirty="0"/>
              <a:t>the dark arts, secret sauce, voodoo magic of relational databases</a:t>
            </a:r>
          </a:p>
          <a:p>
            <a:pPr marL="228600" lvl="0" indent="-228600">
              <a:lnSpc>
                <a:spcPct val="115000"/>
              </a:lnSpc>
              <a:buFont typeface="Arial" panose="020B0604020202020204" pitchFamily="34" charset="0"/>
              <a:buChar char="•"/>
              <a:defRPr/>
            </a:pPr>
            <a:r>
              <a:rPr lang="en-US" sz="1200" dirty="0">
                <a:latin typeface="Lato"/>
                <a:ea typeface="Lato"/>
                <a:cs typeface="Lato"/>
                <a:sym typeface="Lato"/>
              </a:rPr>
              <a:t>regularly move queries from 5 minutes to sub-second</a:t>
            </a:r>
          </a:p>
          <a:p>
            <a:pPr marL="228600" lvl="0" indent="-228600">
              <a:lnSpc>
                <a:spcPct val="115000"/>
              </a:lnSpc>
              <a:buFont typeface="Arial" panose="020B0604020202020204" pitchFamily="34" charset="0"/>
              <a:buChar char="•"/>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big (and distributed) systems  ..  </a:t>
            </a:r>
            <a:r>
              <a:rPr lang="en-US" sz="1200" dirty="0">
                <a:latin typeface="Lato"/>
                <a:ea typeface="Lato"/>
                <a:cs typeface="Lato"/>
                <a:sym typeface="Lato"/>
              </a:rPr>
              <a:t>issues </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get hidden</a:t>
            </a:r>
          </a:p>
        </p:txBody>
      </p:sp>
      <p:sp>
        <p:nvSpPr>
          <p:cNvPr id="6" name="Google Shape;248;p56">
            <a:extLst>
              <a:ext uri="{FF2B5EF4-FFF2-40B4-BE49-F238E27FC236}">
                <a16:creationId xmlns:a16="http://schemas.microsoft.com/office/drawing/2014/main" id="{CB0AA0D4-95D8-9919-BC97-6051C23BF193}"/>
              </a:ext>
            </a:extLst>
          </p:cNvPr>
          <p:cNvSpPr txBox="1"/>
          <p:nvPr/>
        </p:nvSpPr>
        <p:spPr>
          <a:xfrm>
            <a:off x="2570497" y="334045"/>
            <a:ext cx="979815" cy="432396"/>
          </a:xfrm>
          <a:prstGeom prst="rect">
            <a:avLst/>
          </a:prstGeom>
          <a:noFill/>
          <a:ln>
            <a:noFill/>
          </a:ln>
        </p:spPr>
        <p:txBody>
          <a:bodyPr spcFirstLastPara="1" wrap="square" lIns="91425" tIns="91425" rIns="91425" bIns="91425" anchor="t" anchorCtr="0">
            <a:spAutoFit/>
          </a:bodyPr>
          <a:lstStyle/>
          <a:p>
            <a:pPr lvl="0" algn="r">
              <a:lnSpc>
                <a:spcPct val="115000"/>
              </a:lnSpc>
              <a:defRPr/>
            </a:pPr>
            <a:r>
              <a:rPr lang="en-US" dirty="0"/>
              <a:t>why:</a:t>
            </a:r>
            <a:endParaRPr kumimoji="0" lang="en-US" sz="18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8" name="Google Shape;248;p56">
            <a:extLst>
              <a:ext uri="{FF2B5EF4-FFF2-40B4-BE49-F238E27FC236}">
                <a16:creationId xmlns:a16="http://schemas.microsoft.com/office/drawing/2014/main" id="{BF1C6CAC-59D7-19A0-9E32-D73C15F432DB}"/>
              </a:ext>
            </a:extLst>
          </p:cNvPr>
          <p:cNvSpPr txBox="1"/>
          <p:nvPr/>
        </p:nvSpPr>
        <p:spPr>
          <a:xfrm>
            <a:off x="2158304" y="3293949"/>
            <a:ext cx="1392008" cy="432396"/>
          </a:xfrm>
          <a:prstGeom prst="rect">
            <a:avLst/>
          </a:prstGeom>
          <a:noFill/>
          <a:ln>
            <a:noFill/>
          </a:ln>
        </p:spPr>
        <p:txBody>
          <a:bodyPr spcFirstLastPara="1" wrap="square" lIns="91425" tIns="91425" rIns="91425" bIns="91425" anchor="t" anchorCtr="0">
            <a:spAutoFit/>
          </a:bodyPr>
          <a:lstStyle/>
          <a:p>
            <a:pPr lvl="0" algn="r">
              <a:lnSpc>
                <a:spcPct val="115000"/>
              </a:lnSpc>
              <a:defRPr/>
            </a:pPr>
            <a:r>
              <a:rPr lang="en-US" dirty="0"/>
              <a:t>demonstration:</a:t>
            </a:r>
            <a:endParaRPr kumimoji="0" lang="en-US" sz="18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10" name="Google Shape;248;p56">
            <a:extLst>
              <a:ext uri="{FF2B5EF4-FFF2-40B4-BE49-F238E27FC236}">
                <a16:creationId xmlns:a16="http://schemas.microsoft.com/office/drawing/2014/main" id="{F82E9E99-6140-D480-4AE1-23C336FB247D}"/>
              </a:ext>
            </a:extLst>
          </p:cNvPr>
          <p:cNvSpPr txBox="1"/>
          <p:nvPr/>
        </p:nvSpPr>
        <p:spPr>
          <a:xfrm>
            <a:off x="2570497" y="1391137"/>
            <a:ext cx="979815" cy="432396"/>
          </a:xfrm>
          <a:prstGeom prst="rect">
            <a:avLst/>
          </a:prstGeom>
          <a:noFill/>
          <a:ln>
            <a:noFill/>
          </a:ln>
        </p:spPr>
        <p:txBody>
          <a:bodyPr spcFirstLastPara="1" wrap="square" lIns="91425" tIns="91425" rIns="91425" bIns="91425" anchor="t" anchorCtr="0">
            <a:spAutoFit/>
          </a:bodyPr>
          <a:lstStyle/>
          <a:p>
            <a:pPr lvl="0" algn="r">
              <a:lnSpc>
                <a:spcPct val="115000"/>
              </a:lnSpc>
              <a:defRPr/>
            </a:pPr>
            <a:r>
              <a:rPr lang="en-US" dirty="0"/>
              <a:t>what:</a:t>
            </a:r>
            <a:endParaRPr kumimoji="0" lang="en-US" sz="18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12" name="Google Shape;248;p56">
            <a:extLst>
              <a:ext uri="{FF2B5EF4-FFF2-40B4-BE49-F238E27FC236}">
                <a16:creationId xmlns:a16="http://schemas.microsoft.com/office/drawing/2014/main" id="{38B061F1-9F51-A4AD-53D2-EB0309A4ECD7}"/>
              </a:ext>
            </a:extLst>
          </p:cNvPr>
          <p:cNvSpPr txBox="1"/>
          <p:nvPr/>
        </p:nvSpPr>
        <p:spPr>
          <a:xfrm>
            <a:off x="3728484" y="1302651"/>
            <a:ext cx="5063303" cy="1671196"/>
          </a:xfrm>
          <a:prstGeom prst="rect">
            <a:avLst/>
          </a:prstGeom>
          <a:noFill/>
          <a:ln>
            <a:noFill/>
          </a:ln>
        </p:spPr>
        <p:txBody>
          <a:bodyPr spcFirstLastPara="1" wrap="square" lIns="91425" tIns="91425" rIns="91425" bIns="91425" anchor="t" anchorCtr="0">
            <a:spAutoFit/>
          </a:bodyPr>
          <a:lstStyle/>
          <a:p>
            <a:pPr marL="228600" lvl="0" indent="-228600">
              <a:lnSpc>
                <a:spcPct val="115000"/>
              </a:lnSpc>
              <a:buFont typeface="Arial" panose="020B0604020202020204" pitchFamily="34" charset="0"/>
              <a:buChar char="•"/>
              <a:defRPr/>
            </a:pPr>
            <a:r>
              <a:rPr lang="en-US" sz="1200" dirty="0"/>
              <a:t>where this fits in performance tuning</a:t>
            </a:r>
          </a:p>
          <a:p>
            <a:pPr marL="228600" lvl="0" indent="-228600">
              <a:lnSpc>
                <a:spcPct val="115000"/>
              </a:lnSpc>
              <a:buFont typeface="Arial" panose="020B0604020202020204" pitchFamily="34" charset="0"/>
              <a:buChar char="•"/>
              <a:defRPr/>
            </a:pPr>
            <a:r>
              <a:rPr lang="en-US" sz="1200" b="1" dirty="0"/>
              <a:t>a full query optimizer primer; no pre-requisites, [ any database ]</a:t>
            </a:r>
          </a:p>
          <a:p>
            <a:pPr marL="460375" lvl="0" indent="-230188">
              <a:lnSpc>
                <a:spcPct val="115000"/>
              </a:lnSpc>
              <a:buFont typeface="Arial" panose="020B0604020202020204" pitchFamily="34" charset="0"/>
              <a:buChar char="•"/>
              <a:defRPr/>
            </a:pPr>
            <a:r>
              <a:rPr lang="en-US" sz="1200" dirty="0"/>
              <a:t>the 4 stage backend</a:t>
            </a:r>
          </a:p>
          <a:p>
            <a:pPr marL="460375" lvl="0" indent="-230188">
              <a:lnSpc>
                <a:spcPct val="115000"/>
              </a:lnSpc>
              <a:buFont typeface="Arial" panose="020B0604020202020204" pitchFamily="34" charset="0"/>
              <a:buChar char="•"/>
              <a:defRPr/>
            </a:pPr>
            <a:r>
              <a:rPr lang="en-US" sz="1200" dirty="0"/>
              <a:t>rules based optimizers, cost based</a:t>
            </a:r>
          </a:p>
          <a:p>
            <a:pPr marL="460375" lvl="0" indent="-230188">
              <a:lnSpc>
                <a:spcPct val="115000"/>
              </a:lnSpc>
              <a:buFont typeface="Arial" panose="020B0604020202020204" pitchFamily="34" charset="0"/>
              <a:buChar char="•"/>
              <a:defRPr/>
            </a:pPr>
            <a:r>
              <a:rPr lang="en-US" sz="1200" dirty="0"/>
              <a:t>examples</a:t>
            </a:r>
          </a:p>
          <a:p>
            <a:pPr lvl="0">
              <a:lnSpc>
                <a:spcPct val="115000"/>
              </a:lnSpc>
              <a:defRPr/>
            </a:pPr>
            <a:endParaRPr lang="en-US" sz="1200" dirty="0"/>
          </a:p>
          <a:p>
            <a:pPr marL="228600" lvl="0" indent="-228600">
              <a:lnSpc>
                <a:spcPct val="115000"/>
              </a:lnSpc>
              <a:buFont typeface="Arial" panose="020B0604020202020204" pitchFamily="34" charset="0"/>
              <a:buChar char="•"/>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finally, query plan management</a:t>
            </a:r>
          </a:p>
        </p:txBody>
      </p:sp>
      <p:sp>
        <p:nvSpPr>
          <p:cNvPr id="14" name="Google Shape;248;p56">
            <a:extLst>
              <a:ext uri="{FF2B5EF4-FFF2-40B4-BE49-F238E27FC236}">
                <a16:creationId xmlns:a16="http://schemas.microsoft.com/office/drawing/2014/main" id="{84CED7C0-41AF-9A88-913A-7BD84469506A}"/>
              </a:ext>
            </a:extLst>
          </p:cNvPr>
          <p:cNvSpPr txBox="1"/>
          <p:nvPr/>
        </p:nvSpPr>
        <p:spPr>
          <a:xfrm>
            <a:off x="3728484" y="3329344"/>
            <a:ext cx="5063303" cy="397001"/>
          </a:xfrm>
          <a:prstGeom prst="rect">
            <a:avLst/>
          </a:prstGeom>
          <a:noFill/>
          <a:ln>
            <a:noFill/>
          </a:ln>
        </p:spPr>
        <p:txBody>
          <a:bodyPr spcFirstLastPara="1" wrap="square" lIns="91425" tIns="91425" rIns="91425" bIns="91425" anchor="t" anchorCtr="0">
            <a:spAutoFit/>
          </a:bodyPr>
          <a:lstStyle/>
          <a:p>
            <a:pPr marL="228600" lvl="0" indent="-228600">
              <a:lnSpc>
                <a:spcPct val="115000"/>
              </a:lnSpc>
              <a:buFont typeface="Arial" panose="020B0604020202020204" pitchFamily="34" charset="0"/>
              <a:buChar char="•"/>
              <a:defRPr/>
            </a:pPr>
            <a:r>
              <a:rPr lang="en-US" sz="1200" dirty="0"/>
              <a:t>alerting on regressions</a:t>
            </a: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3531287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E39D1EF-172E-2EED-74B3-D67AB143DEF3}"/>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02DF088D-8A3F-41EF-A845-AE2D4EAB0626}"/>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where this fits in performance tuning</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CE05D9A5-6EC2-A4F8-0939-BF2174BB8A69}"/>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BB1E437B-7F98-6F66-33A2-626500DB58B6}"/>
              </a:ext>
            </a:extLst>
          </p:cNvPr>
          <p:cNvSpPr txBox="1"/>
          <p:nvPr/>
        </p:nvSpPr>
        <p:spPr>
          <a:xfrm>
            <a:off x="4491599" y="810276"/>
            <a:ext cx="4526816" cy="963310"/>
          </a:xfrm>
          <a:prstGeom prst="rect">
            <a:avLst/>
          </a:prstGeom>
          <a:noFill/>
          <a:ln>
            <a:noFill/>
          </a:ln>
        </p:spPr>
        <p:txBody>
          <a:bodyPr spcFirstLastPara="1" wrap="square" lIns="91425" tIns="91425" rIns="91425" bIns="91425" anchor="t" anchorCtr="0">
            <a:spAutoFit/>
          </a:bodyPr>
          <a:lstStyle/>
          <a:p>
            <a:pPr lvl="0">
              <a:lnSpc>
                <a:spcPct val="115000"/>
              </a:lnSpc>
              <a:defRPr/>
            </a:pPr>
            <a:r>
              <a:rPr lang="en-US" sz="1000" dirty="0">
                <a:latin typeface="Lato"/>
                <a:ea typeface="Lato"/>
                <a:cs typeface="Lato"/>
                <a:sym typeface="Lato"/>
              </a:rPr>
              <a:t>bad predicates, missing WHERE-clause </a:t>
            </a:r>
            <a:r>
              <a:rPr lang="en-US" b="1" dirty="0" err="1">
                <a:latin typeface="Lato"/>
                <a:ea typeface="Lato"/>
                <a:cs typeface="Lato"/>
                <a:sym typeface="Lato"/>
              </a:rPr>
              <a:t>sargability</a:t>
            </a:r>
            <a:r>
              <a:rPr lang="en-US" sz="1000" dirty="0">
                <a:latin typeface="Lato"/>
                <a:ea typeface="Lato"/>
                <a:cs typeface="Lato"/>
                <a:sym typeface="Lato"/>
              </a:rPr>
              <a:t>, unnecessary subqueries, wrong join strategy. consistently the single biggest lever, a single bad query can dominate total load regardless of how well everything else is tuned</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6" name="Picture 5">
            <a:extLst>
              <a:ext uri="{FF2B5EF4-FFF2-40B4-BE49-F238E27FC236}">
                <a16:creationId xmlns:a16="http://schemas.microsoft.com/office/drawing/2014/main" id="{2241130D-A733-9716-3FC2-29756BA07B17}"/>
              </a:ext>
            </a:extLst>
          </p:cNvPr>
          <p:cNvPicPr>
            <a:picLocks noChangeAspect="1"/>
          </p:cNvPicPr>
          <p:nvPr/>
        </p:nvPicPr>
        <p:blipFill>
          <a:blip r:embed="rId3"/>
          <a:stretch>
            <a:fillRect/>
          </a:stretch>
        </p:blipFill>
        <p:spPr>
          <a:xfrm>
            <a:off x="867111" y="1332481"/>
            <a:ext cx="2745804" cy="2616372"/>
          </a:xfrm>
          <a:prstGeom prst="rect">
            <a:avLst/>
          </a:prstGeom>
        </p:spPr>
      </p:pic>
      <p:sp>
        <p:nvSpPr>
          <p:cNvPr id="7" name="Rectangle 6">
            <a:extLst>
              <a:ext uri="{FF2B5EF4-FFF2-40B4-BE49-F238E27FC236}">
                <a16:creationId xmlns:a16="http://schemas.microsoft.com/office/drawing/2014/main" id="{973261AD-7EB3-62CF-E237-FDAACDC7835E}"/>
              </a:ext>
            </a:extLst>
          </p:cNvPr>
          <p:cNvSpPr/>
          <p:nvPr/>
        </p:nvSpPr>
        <p:spPr>
          <a:xfrm>
            <a:off x="4177770" y="1030298"/>
            <a:ext cx="169333" cy="169333"/>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4BBF3FF-C11B-683E-48BC-E37D6F9E70C7}"/>
              </a:ext>
            </a:extLst>
          </p:cNvPr>
          <p:cNvSpPr/>
          <p:nvPr/>
        </p:nvSpPr>
        <p:spPr>
          <a:xfrm>
            <a:off x="4177770" y="1896953"/>
            <a:ext cx="169333" cy="16933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46727F2-B21C-4410-4100-0AC09D99A69C}"/>
              </a:ext>
            </a:extLst>
          </p:cNvPr>
          <p:cNvSpPr/>
          <p:nvPr/>
        </p:nvSpPr>
        <p:spPr>
          <a:xfrm>
            <a:off x="4177770" y="3182013"/>
            <a:ext cx="169333" cy="169333"/>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67B0924-29F2-F5B2-3569-27055965C6F3}"/>
              </a:ext>
            </a:extLst>
          </p:cNvPr>
          <p:cNvSpPr/>
          <p:nvPr/>
        </p:nvSpPr>
        <p:spPr>
          <a:xfrm>
            <a:off x="4177770" y="3645290"/>
            <a:ext cx="169333" cy="169333"/>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2FB4531-380A-F839-816F-8885168CD55E}"/>
              </a:ext>
            </a:extLst>
          </p:cNvPr>
          <p:cNvSpPr/>
          <p:nvPr/>
        </p:nvSpPr>
        <p:spPr>
          <a:xfrm>
            <a:off x="4175829" y="4027399"/>
            <a:ext cx="169333" cy="169333"/>
          </a:xfrm>
          <a:prstGeom prst="rect">
            <a:avLst/>
          </a:prstGeom>
          <a:solidFill>
            <a:srgbClr val="B08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Google Shape;248;p56">
            <a:extLst>
              <a:ext uri="{FF2B5EF4-FFF2-40B4-BE49-F238E27FC236}">
                <a16:creationId xmlns:a16="http://schemas.microsoft.com/office/drawing/2014/main" id="{5AA53A40-E42A-C017-34C4-DF7C429E390E}"/>
              </a:ext>
            </a:extLst>
          </p:cNvPr>
          <p:cNvSpPr txBox="1"/>
          <p:nvPr/>
        </p:nvSpPr>
        <p:spPr>
          <a:xfrm>
            <a:off x="2357518" y="1927884"/>
            <a:ext cx="1186672" cy="538579"/>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000" b="0" i="0" u="none" strike="noStrike" kern="0" cap="none" spc="0" normalizeH="0" baseline="0" noProof="0" dirty="0">
                <a:ln>
                  <a:noFill/>
                </a:ln>
                <a:solidFill>
                  <a:srgbClr val="000000"/>
                </a:solidFill>
                <a:effectLst/>
                <a:uLnTx/>
                <a:uFillTx/>
                <a:latin typeface="Lato"/>
                <a:ea typeface="Lato"/>
                <a:cs typeface="Lato"/>
                <a:sym typeface="Lato"/>
              </a:rPr>
              <a:t>45% SQL statement tuning</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19" name="Google Shape;248;p56">
            <a:extLst>
              <a:ext uri="{FF2B5EF4-FFF2-40B4-BE49-F238E27FC236}">
                <a16:creationId xmlns:a16="http://schemas.microsoft.com/office/drawing/2014/main" id="{8803FB23-35FA-03A5-5849-AD9C6EFC6598}"/>
              </a:ext>
            </a:extLst>
          </p:cNvPr>
          <p:cNvSpPr txBox="1"/>
          <p:nvPr/>
        </p:nvSpPr>
        <p:spPr>
          <a:xfrm>
            <a:off x="1170846" y="3018908"/>
            <a:ext cx="1186672" cy="538579"/>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000" b="0" i="0" u="none" strike="noStrike" kern="0" cap="none" spc="0" normalizeH="0" baseline="0" noProof="0" dirty="0">
                <a:ln>
                  <a:noFill/>
                </a:ln>
                <a:solidFill>
                  <a:srgbClr val="000000"/>
                </a:solidFill>
                <a:effectLst/>
                <a:uLnTx/>
                <a:uFillTx/>
                <a:latin typeface="Lato"/>
                <a:ea typeface="Lato"/>
                <a:cs typeface="Lato"/>
                <a:sym typeface="Lato"/>
              </a:rPr>
              <a:t>25% schema, index design</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21" name="Google Shape;248;p56">
            <a:extLst>
              <a:ext uri="{FF2B5EF4-FFF2-40B4-BE49-F238E27FC236}">
                <a16:creationId xmlns:a16="http://schemas.microsoft.com/office/drawing/2014/main" id="{80E520D9-42F6-4D97-C5C9-5B868FE59D8F}"/>
              </a:ext>
            </a:extLst>
          </p:cNvPr>
          <p:cNvSpPr txBox="1"/>
          <p:nvPr/>
        </p:nvSpPr>
        <p:spPr>
          <a:xfrm>
            <a:off x="765864" y="2254110"/>
            <a:ext cx="1186672" cy="71555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000" b="0" i="0" u="none" strike="noStrike" kern="0" cap="none" spc="0" normalizeH="0" baseline="0" noProof="0" dirty="0">
                <a:ln>
                  <a:noFill/>
                </a:ln>
                <a:solidFill>
                  <a:srgbClr val="000000"/>
                </a:solidFill>
                <a:effectLst/>
                <a:uLnTx/>
                <a:uFillTx/>
                <a:latin typeface="Lato"/>
                <a:ea typeface="Lato"/>
                <a:cs typeface="Lato"/>
                <a:sym typeface="Lato"/>
              </a:rPr>
              <a:t>15% application data-access patterns</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23" name="Google Shape;248;p56">
            <a:extLst>
              <a:ext uri="{FF2B5EF4-FFF2-40B4-BE49-F238E27FC236}">
                <a16:creationId xmlns:a16="http://schemas.microsoft.com/office/drawing/2014/main" id="{01F6183C-D940-95CD-E49F-8088E2D24EF3}"/>
              </a:ext>
            </a:extLst>
          </p:cNvPr>
          <p:cNvSpPr txBox="1"/>
          <p:nvPr/>
        </p:nvSpPr>
        <p:spPr>
          <a:xfrm>
            <a:off x="-112820" y="1433509"/>
            <a:ext cx="1186672" cy="538579"/>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000" b="0" i="0" u="none" strike="noStrike" kern="0" cap="none" spc="0" normalizeH="0" baseline="0" noProof="0" dirty="0">
                <a:ln>
                  <a:noFill/>
                </a:ln>
                <a:solidFill>
                  <a:srgbClr val="000000"/>
                </a:solidFill>
                <a:effectLst/>
                <a:uLnTx/>
                <a:uFillTx/>
                <a:latin typeface="Lato"/>
                <a:ea typeface="Lato"/>
                <a:cs typeface="Lato"/>
                <a:sym typeface="Lato"/>
              </a:rPr>
              <a:t>10% DB server instance tuning</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25" name="Google Shape;248;p56">
            <a:extLst>
              <a:ext uri="{FF2B5EF4-FFF2-40B4-BE49-F238E27FC236}">
                <a16:creationId xmlns:a16="http://schemas.microsoft.com/office/drawing/2014/main" id="{755963FE-F39D-2468-12DB-95931BE0CA40}"/>
              </a:ext>
            </a:extLst>
          </p:cNvPr>
          <p:cNvSpPr txBox="1"/>
          <p:nvPr/>
        </p:nvSpPr>
        <p:spPr>
          <a:xfrm>
            <a:off x="125585" y="803539"/>
            <a:ext cx="1896534" cy="538579"/>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000" b="0" i="0" u="none" strike="noStrike" kern="0" cap="none" spc="0" normalizeH="0" baseline="0" noProof="0" dirty="0">
                <a:ln>
                  <a:noFill/>
                </a:ln>
                <a:solidFill>
                  <a:srgbClr val="000000"/>
                </a:solidFill>
                <a:effectLst/>
                <a:uLnTx/>
                <a:uFillTx/>
                <a:latin typeface="Lato"/>
                <a:ea typeface="Lato"/>
                <a:cs typeface="Lato"/>
                <a:sym typeface="Lato"/>
              </a:rPr>
              <a:t>5% HW, OS, infrastructure tuning </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cxnSp>
        <p:nvCxnSpPr>
          <p:cNvPr id="27" name="Straight Connector 26">
            <a:extLst>
              <a:ext uri="{FF2B5EF4-FFF2-40B4-BE49-F238E27FC236}">
                <a16:creationId xmlns:a16="http://schemas.microsoft.com/office/drawing/2014/main" id="{45B14F85-02F9-3113-7DFE-974F7329AE1A}"/>
              </a:ext>
            </a:extLst>
          </p:cNvPr>
          <p:cNvCxnSpPr/>
          <p:nvPr/>
        </p:nvCxnSpPr>
        <p:spPr>
          <a:xfrm flipV="1">
            <a:off x="1952536" y="1244428"/>
            <a:ext cx="0" cy="279572"/>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38C041C-8BFF-2E82-2C6D-AB4B5397F270}"/>
              </a:ext>
            </a:extLst>
          </p:cNvPr>
          <p:cNvCxnSpPr>
            <a:cxnSpLocks/>
          </p:cNvCxnSpPr>
          <p:nvPr/>
        </p:nvCxnSpPr>
        <p:spPr>
          <a:xfrm>
            <a:off x="1566612" y="1175127"/>
            <a:ext cx="385924" cy="76389"/>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701B04E-D8C8-7363-5C5E-273A7F8C9BD0}"/>
              </a:ext>
            </a:extLst>
          </p:cNvPr>
          <p:cNvCxnSpPr>
            <a:cxnSpLocks/>
          </p:cNvCxnSpPr>
          <p:nvPr/>
        </p:nvCxnSpPr>
        <p:spPr>
          <a:xfrm>
            <a:off x="999464" y="1677962"/>
            <a:ext cx="233916"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1F4A141-D8BD-7ED2-75FF-BD9BDB2AF8CA}"/>
              </a:ext>
            </a:extLst>
          </p:cNvPr>
          <p:cNvCxnSpPr>
            <a:cxnSpLocks/>
          </p:cNvCxnSpPr>
          <p:nvPr/>
        </p:nvCxnSpPr>
        <p:spPr>
          <a:xfrm flipH="1" flipV="1">
            <a:off x="1226292" y="1676400"/>
            <a:ext cx="160947" cy="127172"/>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6" name="Google Shape;248;p56">
            <a:extLst>
              <a:ext uri="{FF2B5EF4-FFF2-40B4-BE49-F238E27FC236}">
                <a16:creationId xmlns:a16="http://schemas.microsoft.com/office/drawing/2014/main" id="{9932CEA0-A426-57E5-4F3C-542931ED84D3}"/>
              </a:ext>
            </a:extLst>
          </p:cNvPr>
          <p:cNvSpPr txBox="1"/>
          <p:nvPr/>
        </p:nvSpPr>
        <p:spPr>
          <a:xfrm>
            <a:off x="4491599" y="3940058"/>
            <a:ext cx="4526816" cy="361607"/>
          </a:xfrm>
          <a:prstGeom prst="rect">
            <a:avLst/>
          </a:prstGeom>
          <a:noFill/>
          <a:ln>
            <a:noFill/>
          </a:ln>
        </p:spPr>
        <p:txBody>
          <a:bodyPr spcFirstLastPara="1" wrap="square" lIns="91425" tIns="91425" rIns="91425" bIns="91425" anchor="t" anchorCtr="0">
            <a:spAutoFit/>
          </a:bodyPr>
          <a:lstStyle/>
          <a:p>
            <a:pPr lvl="0">
              <a:lnSpc>
                <a:spcPct val="115000"/>
              </a:lnSpc>
              <a:defRPr/>
            </a:pPr>
            <a:r>
              <a:rPr lang="en-US" sz="1000" b="1" dirty="0">
                <a:latin typeface="Lato"/>
                <a:ea typeface="Lato"/>
                <a:cs typeface="Lato"/>
                <a:sym typeface="Lato"/>
              </a:rPr>
              <a:t>storage IOPs, network latency, CPU/RAM sizing</a:t>
            </a:r>
            <a:r>
              <a:rPr lang="en-US" sz="1000" dirty="0">
                <a:latin typeface="Lato"/>
                <a:ea typeface="Lato"/>
                <a:cs typeface="Lato"/>
                <a:sym typeface="Lato"/>
              </a:rPr>
              <a:t>, OS-level tuning</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38" name="Google Shape;248;p56">
            <a:extLst>
              <a:ext uri="{FF2B5EF4-FFF2-40B4-BE49-F238E27FC236}">
                <a16:creationId xmlns:a16="http://schemas.microsoft.com/office/drawing/2014/main" id="{567BC842-7176-F90F-A667-7C9DDAB62F64}"/>
              </a:ext>
            </a:extLst>
          </p:cNvPr>
          <p:cNvSpPr txBox="1"/>
          <p:nvPr/>
        </p:nvSpPr>
        <p:spPr>
          <a:xfrm>
            <a:off x="4491599" y="1659046"/>
            <a:ext cx="4526816" cy="715550"/>
          </a:xfrm>
          <a:prstGeom prst="rect">
            <a:avLst/>
          </a:prstGeom>
          <a:noFill/>
          <a:ln>
            <a:noFill/>
          </a:ln>
        </p:spPr>
        <p:txBody>
          <a:bodyPr spcFirstLastPara="1" wrap="square" lIns="91425" tIns="91425" rIns="91425" bIns="91425" anchor="t" anchorCtr="0">
            <a:spAutoFit/>
          </a:bodyPr>
          <a:lstStyle/>
          <a:p>
            <a:pPr lvl="0">
              <a:lnSpc>
                <a:spcPct val="115000"/>
              </a:lnSpc>
              <a:defRPr/>
            </a:pPr>
            <a:r>
              <a:rPr lang="en-US" sz="1000" dirty="0">
                <a:latin typeface="Lato"/>
                <a:ea typeface="Lato"/>
                <a:cs typeface="Lato"/>
                <a:sym typeface="Lato"/>
              </a:rPr>
              <a:t>normalization level, missing/redundant indexes, partitioning strategy, data types sized appropriately. you can't fix a full table scan with a better-written query if the index simply doesn't exist</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0" name="Google Shape;248;p56">
            <a:extLst>
              <a:ext uri="{FF2B5EF4-FFF2-40B4-BE49-F238E27FC236}">
                <a16:creationId xmlns:a16="http://schemas.microsoft.com/office/drawing/2014/main" id="{74F64971-FCB1-C866-4A10-A96D11FCEAD9}"/>
              </a:ext>
            </a:extLst>
          </p:cNvPr>
          <p:cNvSpPr txBox="1"/>
          <p:nvPr/>
        </p:nvSpPr>
        <p:spPr>
          <a:xfrm>
            <a:off x="4491599" y="3018010"/>
            <a:ext cx="4526816" cy="538579"/>
          </a:xfrm>
          <a:prstGeom prst="rect">
            <a:avLst/>
          </a:prstGeom>
          <a:noFill/>
          <a:ln>
            <a:noFill/>
          </a:ln>
        </p:spPr>
        <p:txBody>
          <a:bodyPr spcFirstLastPara="1" wrap="square" lIns="91425" tIns="91425" rIns="91425" bIns="91425" anchor="t" anchorCtr="0">
            <a:spAutoFit/>
          </a:bodyPr>
          <a:lstStyle/>
          <a:p>
            <a:pPr lvl="0">
              <a:lnSpc>
                <a:spcPct val="115000"/>
              </a:lnSpc>
              <a:defRPr/>
            </a:pPr>
            <a:r>
              <a:rPr lang="en-US" sz="1000" dirty="0">
                <a:latin typeface="Lato"/>
                <a:ea typeface="Lato"/>
                <a:cs typeface="Lato"/>
                <a:sym typeface="Lato"/>
              </a:rPr>
              <a:t>N+1 query patterns from ORMs, missing connection pooling, chatty round-trips, lack of batching/caching, wrong isolation level for the workload</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2" name="Google Shape;248;p56">
            <a:extLst>
              <a:ext uri="{FF2B5EF4-FFF2-40B4-BE49-F238E27FC236}">
                <a16:creationId xmlns:a16="http://schemas.microsoft.com/office/drawing/2014/main" id="{EC7EC22A-CA09-8BEF-E9FA-B36FDED9D566}"/>
              </a:ext>
            </a:extLst>
          </p:cNvPr>
          <p:cNvSpPr txBox="1"/>
          <p:nvPr/>
        </p:nvSpPr>
        <p:spPr>
          <a:xfrm>
            <a:off x="4491599" y="3460668"/>
            <a:ext cx="4526816" cy="538579"/>
          </a:xfrm>
          <a:prstGeom prst="rect">
            <a:avLst/>
          </a:prstGeom>
          <a:noFill/>
          <a:ln>
            <a:noFill/>
          </a:ln>
        </p:spPr>
        <p:txBody>
          <a:bodyPr spcFirstLastPara="1" wrap="square" lIns="91425" tIns="91425" rIns="91425" bIns="91425" anchor="t" anchorCtr="0">
            <a:spAutoFit/>
          </a:bodyPr>
          <a:lstStyle/>
          <a:p>
            <a:pPr lvl="0">
              <a:lnSpc>
                <a:spcPct val="115000"/>
              </a:lnSpc>
              <a:defRPr/>
            </a:pPr>
            <a:r>
              <a:rPr lang="en-US" sz="1000" dirty="0">
                <a:latin typeface="Lato"/>
                <a:ea typeface="Lato"/>
                <a:cs typeface="Lato"/>
                <a:sym typeface="Lato"/>
              </a:rPr>
              <a:t>memory allocation, buffer/cache sizing, background process config, checkpoint/vacuum tuning, cost-based optimizer settings</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cxnSp>
        <p:nvCxnSpPr>
          <p:cNvPr id="46" name="Straight Connector 45">
            <a:extLst>
              <a:ext uri="{FF2B5EF4-FFF2-40B4-BE49-F238E27FC236}">
                <a16:creationId xmlns:a16="http://schemas.microsoft.com/office/drawing/2014/main" id="{C18B4D31-76DC-4DB8-4D4B-3BC382A43ED4}"/>
              </a:ext>
            </a:extLst>
          </p:cNvPr>
          <p:cNvCxnSpPr/>
          <p:nvPr/>
        </p:nvCxnSpPr>
        <p:spPr>
          <a:xfrm>
            <a:off x="4911958" y="2969660"/>
            <a:ext cx="3168786"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8" name="Google Shape;248;p56">
            <a:extLst>
              <a:ext uri="{FF2B5EF4-FFF2-40B4-BE49-F238E27FC236}">
                <a16:creationId xmlns:a16="http://schemas.microsoft.com/office/drawing/2014/main" id="{198FB447-F255-877D-786E-9B43BD00C28C}"/>
              </a:ext>
            </a:extLst>
          </p:cNvPr>
          <p:cNvSpPr txBox="1"/>
          <p:nvPr/>
        </p:nvSpPr>
        <p:spPr>
          <a:xfrm>
            <a:off x="4491599" y="2307028"/>
            <a:ext cx="1896534" cy="361607"/>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000" b="0" i="0" u="none" strike="noStrike" kern="0" cap="none" spc="0" normalizeH="0" baseline="0" noProof="0" dirty="0">
                <a:ln>
                  <a:noFill/>
                </a:ln>
                <a:solidFill>
                  <a:srgbClr val="000000"/>
                </a:solidFill>
                <a:effectLst/>
                <a:uLnTx/>
                <a:uFillTx/>
                <a:latin typeface="Lato"/>
                <a:ea typeface="Lato"/>
                <a:cs typeface="Lato"/>
                <a:sym typeface="Lato"/>
              </a:rPr>
              <a:t>45% + 25% = 70%</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2611270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6B7C243-4995-2109-FB3A-871EED81C283}"/>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7BD5C194-15EC-8C62-7771-7C83BCFD06AB}"/>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sargability – Search ARGument availABLE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4B7E6740-C7B8-9929-154F-7112E0990ECB}"/>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626B45C8-499B-B3D6-AE3D-9A390A4419C8}"/>
              </a:ext>
            </a:extLst>
          </p:cNvPr>
          <p:cNvSpPr txBox="1"/>
          <p:nvPr/>
        </p:nvSpPr>
        <p:spPr>
          <a:xfrm>
            <a:off x="315981" y="982159"/>
            <a:ext cx="8272606" cy="273302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600" b="0" i="0" u="none" strike="noStrike" kern="0" cap="none" spc="0" normalizeH="0" baseline="0" noProof="0" dirty="0">
                <a:ln>
                  <a:noFill/>
                </a:ln>
                <a:solidFill>
                  <a:srgbClr val="000000"/>
                </a:solidFill>
                <a:effectLst/>
                <a:uLnTx/>
                <a:uFillTx/>
                <a:latin typeface="Lato"/>
                <a:ea typeface="Lato"/>
                <a:cs typeface="Lato"/>
                <a:sym typeface="Lato"/>
              </a:rPr>
              <a:t>Examples;</a:t>
            </a:r>
            <a:br>
              <a:rPr kumimoji="0" lang="en" sz="1600" b="0" i="0" u="none" strike="noStrike" kern="0" cap="none" spc="0" normalizeH="0" baseline="0" noProof="0" dirty="0">
                <a:ln>
                  <a:noFill/>
                </a:ln>
                <a:solidFill>
                  <a:srgbClr val="000000"/>
                </a:solidFill>
                <a:effectLst/>
                <a:uLnTx/>
                <a:uFillTx/>
                <a:latin typeface="Lato"/>
                <a:ea typeface="Lato"/>
                <a:cs typeface="Lato"/>
                <a:sym typeface="Lato"/>
              </a:rPr>
            </a:br>
            <a:endParaRPr kumimoji="0" lang="en" sz="1600" b="0" i="0" u="none" strike="noStrike" kern="0" cap="none" spc="0" normalizeH="0" baseline="0" noProof="0" dirty="0">
              <a:ln>
                <a:noFill/>
              </a:ln>
              <a:solidFill>
                <a:srgbClr val="000000"/>
              </a:solidFill>
              <a:effectLst/>
              <a:uLnTx/>
              <a:uFillTx/>
              <a:latin typeface="Lato"/>
              <a:ea typeface="Lato"/>
              <a:cs typeface="Lato"/>
              <a:sym typeface="Lato"/>
            </a:endParaRP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FF0000"/>
                </a:solidFill>
                <a:latin typeface="Lato"/>
                <a:ea typeface="Lato"/>
                <a:cs typeface="Lato"/>
                <a:sym typeface="Lato"/>
              </a:rPr>
              <a:t>.. WHERE YEAR(order_date) = 2026</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B0F0"/>
                </a:solidFill>
                <a:effectLst/>
                <a:uLnTx/>
                <a:uFillTx/>
                <a:latin typeface="Lato"/>
                <a:ea typeface="Lato"/>
                <a:cs typeface="Lato"/>
                <a:sym typeface="Lato"/>
              </a:rPr>
              <a:t>.. WHERE order_date &gt;= '2026-01-01' AND order_date &lt; '2027-01-01'</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endParaRPr lang="en" dirty="0">
              <a:latin typeface="Lato"/>
              <a:ea typeface="Lato"/>
              <a:cs typeface="Lato"/>
              <a:sym typeface="Lato"/>
            </a:endParaRP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FF0000"/>
                </a:solidFill>
                <a:effectLst/>
                <a:uLnTx/>
                <a:uFillTx/>
                <a:latin typeface="Lato"/>
                <a:ea typeface="Lato"/>
                <a:cs typeface="Lato"/>
                <a:sym typeface="Lato"/>
              </a:rPr>
              <a:t>.. WHERE price * 1.08 &gt; 100</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00B0F0"/>
                </a:solidFill>
                <a:latin typeface="Lato"/>
                <a:ea typeface="Lato"/>
                <a:cs typeface="Lato"/>
                <a:sym typeface="Lato"/>
              </a:rPr>
              <a:t>.. WHERE price &gt; 100 / 1.08</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 b="0" i="0" u="none" strike="noStrike" kern="0" cap="none" spc="0" normalizeH="0" baseline="0" noProof="0" dirty="0">
              <a:ln>
                <a:noFill/>
              </a:ln>
              <a:solidFill>
                <a:srgbClr val="000000"/>
              </a:solidFill>
              <a:effectLst/>
              <a:uLnTx/>
              <a:uFillTx/>
              <a:latin typeface="Lato"/>
              <a:ea typeface="Lato"/>
              <a:cs typeface="Lato"/>
              <a:sym typeface="Lato"/>
            </a:endParaRP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FF0000"/>
                </a:solidFill>
                <a:latin typeface="Lato"/>
                <a:ea typeface="Lato"/>
                <a:cs typeface="Lato"/>
                <a:sym typeface="Lato"/>
              </a:rPr>
              <a:t>..  WHERE cust_id = '1234'         </a:t>
            </a:r>
            <a:r>
              <a:rPr lang="en" dirty="0">
                <a:solidFill>
                  <a:schemeClr val="tx1"/>
                </a:solidFill>
                <a:latin typeface="Lato"/>
                <a:ea typeface="Lato"/>
                <a:cs typeface="Lato"/>
                <a:sym typeface="Lato"/>
              </a:rPr>
              <a:t>-- implicit type cast conversion</a:t>
            </a:r>
          </a:p>
          <a:p>
            <a:pPr marL="227013" marR="0" lvl="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B0F0"/>
                </a:solidFill>
                <a:effectLst/>
                <a:uLnTx/>
                <a:uFillTx/>
                <a:latin typeface="Lato"/>
                <a:ea typeface="Lato"/>
                <a:cs typeface="Lato"/>
                <a:sym typeface="Lato"/>
              </a:rPr>
              <a:t>..  WHERE cust_id =  1234</a:t>
            </a:r>
            <a:endParaRPr kumimoji="0" b="0" i="0" u="none" strike="noStrike" kern="0" cap="none" spc="0" normalizeH="0" baseline="0" noProof="0" dirty="0">
              <a:ln>
                <a:noFill/>
              </a:ln>
              <a:solidFill>
                <a:srgbClr val="00B0F0"/>
              </a:solidFill>
              <a:effectLst/>
              <a:uLnTx/>
              <a:uFillTx/>
              <a:latin typeface="Lato"/>
              <a:ea typeface="Lato"/>
              <a:cs typeface="Lato"/>
              <a:sym typeface="Lato"/>
            </a:endParaRPr>
          </a:p>
        </p:txBody>
      </p:sp>
      <p:pic>
        <p:nvPicPr>
          <p:cNvPr id="6" name="Picture 5">
            <a:extLst>
              <a:ext uri="{FF2B5EF4-FFF2-40B4-BE49-F238E27FC236}">
                <a16:creationId xmlns:a16="http://schemas.microsoft.com/office/drawing/2014/main" id="{2B325048-6D5B-01A8-FBCB-B64046EAA777}"/>
              </a:ext>
            </a:extLst>
          </p:cNvPr>
          <p:cNvPicPr>
            <a:picLocks noChangeAspect="1"/>
          </p:cNvPicPr>
          <p:nvPr/>
        </p:nvPicPr>
        <p:blipFill>
          <a:blip r:embed="rId3"/>
          <a:stretch>
            <a:fillRect/>
          </a:stretch>
        </p:blipFill>
        <p:spPr>
          <a:xfrm>
            <a:off x="6237619" y="465110"/>
            <a:ext cx="2772173" cy="3696231"/>
          </a:xfrm>
          <a:prstGeom prst="rect">
            <a:avLst/>
          </a:prstGeom>
        </p:spPr>
      </p:pic>
      <p:sp>
        <p:nvSpPr>
          <p:cNvPr id="4" name="Google Shape;248;p56">
            <a:extLst>
              <a:ext uri="{FF2B5EF4-FFF2-40B4-BE49-F238E27FC236}">
                <a16:creationId xmlns:a16="http://schemas.microsoft.com/office/drawing/2014/main" id="{405A6056-8802-5332-66C5-A6A58FEC1AD7}"/>
              </a:ext>
            </a:extLst>
          </p:cNvPr>
          <p:cNvSpPr txBox="1"/>
          <p:nvPr/>
        </p:nvSpPr>
        <p:spPr>
          <a:xfrm rot="424681">
            <a:off x="6646545" y="1602484"/>
            <a:ext cx="1776286" cy="1883562"/>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600" b="1" i="0" u="none" strike="noStrike" kern="0" cap="none" spc="0" normalizeH="0" baseline="0" noProof="0" dirty="0">
                <a:ln>
                  <a:noFill/>
                </a:ln>
                <a:solidFill>
                  <a:srgbClr val="FFC000"/>
                </a:solidFill>
                <a:effectLst/>
                <a:uLnTx/>
                <a:uFillTx/>
                <a:latin typeface="Lato"/>
                <a:ea typeface="Lato"/>
                <a:cs typeface="Lato"/>
                <a:sym typeface="Lato"/>
              </a:rPr>
              <a:t>All </a:t>
            </a:r>
            <a:r>
              <a:rPr kumimoji="0" lang="en" sz="1600" b="1" i="1" u="none" strike="noStrike" kern="0" cap="none" spc="0" normalizeH="0" baseline="0" noProof="0" dirty="0">
                <a:ln>
                  <a:noFill/>
                </a:ln>
                <a:solidFill>
                  <a:srgbClr val="FFC000"/>
                </a:solidFill>
                <a:effectLst/>
                <a:uLnTx/>
                <a:uFillTx/>
                <a:latin typeface="Lato"/>
                <a:ea typeface="Lato"/>
                <a:cs typeface="Lato"/>
                <a:sym typeface="Lato"/>
              </a:rPr>
              <a:t>potential</a:t>
            </a:r>
            <a:r>
              <a:rPr kumimoji="0" lang="en" sz="1600" b="1" i="0" u="none" strike="noStrike" kern="0" cap="none" spc="0" normalizeH="0" baseline="0" noProof="0" dirty="0">
                <a:ln>
                  <a:noFill/>
                </a:ln>
                <a:solidFill>
                  <a:srgbClr val="FFC000"/>
                </a:solidFill>
                <a:effectLst/>
                <a:uLnTx/>
                <a:uFillTx/>
                <a:latin typeface="Lato"/>
                <a:ea typeface="Lato"/>
                <a:cs typeface="Lato"/>
                <a:sym typeface="Lato"/>
              </a:rPr>
              <a:t> forms of "index negation", an abstraction (topic) </a:t>
            </a:r>
            <a:r>
              <a:rPr kumimoji="0" lang="en" sz="1600" b="1" i="0" u="sng" strike="noStrike" kern="0" cap="none" spc="0" normalizeH="0" baseline="0" noProof="0" dirty="0">
                <a:ln>
                  <a:noFill/>
                </a:ln>
                <a:solidFill>
                  <a:srgbClr val="FFC000"/>
                </a:solidFill>
                <a:effectLst/>
                <a:uLnTx/>
                <a:uFillTx/>
                <a:latin typeface="Lato"/>
                <a:ea typeface="Lato"/>
                <a:cs typeface="Lato"/>
                <a:sym typeface="Lato"/>
              </a:rPr>
              <a:t>we will revisit later</a:t>
            </a:r>
            <a:endParaRPr kumimoji="0" sz="1600" b="1" i="0" u="sng" strike="noStrike" kern="0" cap="none" spc="0" normalizeH="0" baseline="0" noProof="0" dirty="0">
              <a:ln>
                <a:noFill/>
              </a:ln>
              <a:solidFill>
                <a:srgbClr val="FFC000"/>
              </a:solidFill>
              <a:effectLst/>
              <a:uLnTx/>
              <a:uFillTx/>
              <a:latin typeface="Lato"/>
              <a:ea typeface="Lato"/>
              <a:cs typeface="Lato"/>
              <a:sym typeface="Lato"/>
            </a:endParaRPr>
          </a:p>
        </p:txBody>
      </p:sp>
      <p:sp>
        <p:nvSpPr>
          <p:cNvPr id="8" name="Google Shape;248;p56">
            <a:extLst>
              <a:ext uri="{FF2B5EF4-FFF2-40B4-BE49-F238E27FC236}">
                <a16:creationId xmlns:a16="http://schemas.microsoft.com/office/drawing/2014/main" id="{555B6A0A-CA22-67EC-7305-4BA71008C075}"/>
              </a:ext>
            </a:extLst>
          </p:cNvPr>
          <p:cNvSpPr txBox="1"/>
          <p:nvPr/>
        </p:nvSpPr>
        <p:spPr>
          <a:xfrm>
            <a:off x="1394889" y="4161341"/>
            <a:ext cx="5863604" cy="397001"/>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sz="1200" dirty="0">
                <a:solidFill>
                  <a:schemeClr val="tx1"/>
                </a:solidFill>
                <a:latin typeface="Lato"/>
                <a:ea typeface="Lato"/>
                <a:cs typeface="Lato"/>
                <a:sym typeface="Lato"/>
              </a:rPr>
              <a:t>index negation</a:t>
            </a:r>
            <a:r>
              <a:rPr kumimoji="0" lang="en" sz="1200" i="0" u="none" strike="noStrike" kern="0" cap="none" spc="0" normalizeH="0" baseline="0" noProof="0" dirty="0">
                <a:ln>
                  <a:noFill/>
                </a:ln>
                <a:solidFill>
                  <a:schemeClr val="tx1"/>
                </a:solidFill>
                <a:effectLst/>
                <a:uLnTx/>
                <a:uFillTx/>
                <a:latin typeface="Lato"/>
                <a:ea typeface="Lato"/>
                <a:cs typeface="Lato"/>
                <a:sym typeface="Lato"/>
              </a:rPr>
              <a:t>: an existing, perfectably good index can not, or should not be used</a:t>
            </a:r>
            <a:endParaRPr kumimoji="0" sz="1200" i="0" u="none" strike="noStrike" kern="0" cap="none" spc="0" normalizeH="0" baseline="0" noProof="0" dirty="0">
              <a:ln>
                <a:noFill/>
              </a:ln>
              <a:solidFill>
                <a:schemeClr val="tx1"/>
              </a:solidFill>
              <a:effectLst/>
              <a:uLnTx/>
              <a:uFillTx/>
              <a:latin typeface="Lato"/>
              <a:ea typeface="Lato"/>
              <a:cs typeface="Lato"/>
              <a:sym typeface="Lato"/>
            </a:endParaRPr>
          </a:p>
        </p:txBody>
      </p:sp>
    </p:spTree>
    <p:extLst>
      <p:ext uri="{BB962C8B-B14F-4D97-AF65-F5344CB8AC3E}">
        <p14:creationId xmlns:p14="http://schemas.microsoft.com/office/powerpoint/2010/main" val="1345289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43DAAF0-29FF-8798-6088-1B6E62FB12C1}"/>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1EBFD55F-82DA-C5F7-D37B-F381FDAA171D}"/>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which of these-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2267F0D6-D706-C70A-B112-C0726F07C439}"/>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6" name="Rectangle: Rounded Corners 5">
            <a:extLst>
              <a:ext uri="{FF2B5EF4-FFF2-40B4-BE49-F238E27FC236}">
                <a16:creationId xmlns:a16="http://schemas.microsoft.com/office/drawing/2014/main" id="{EF90D3E7-5059-EFB7-DBF4-FEC8C8166368}"/>
              </a:ext>
            </a:extLst>
          </p:cNvPr>
          <p:cNvSpPr/>
          <p:nvPr/>
        </p:nvSpPr>
        <p:spPr>
          <a:xfrm>
            <a:off x="747928" y="1552776"/>
            <a:ext cx="1966918" cy="351331"/>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BBC9A4F4-6335-CE99-4B74-5CF70DBAC357}"/>
              </a:ext>
            </a:extLst>
          </p:cNvPr>
          <p:cNvSpPr/>
          <p:nvPr/>
        </p:nvSpPr>
        <p:spPr>
          <a:xfrm>
            <a:off x="747928" y="1997872"/>
            <a:ext cx="1966918" cy="351331"/>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8A7DC696-3AF8-7B9A-4F8A-A903E123606A}"/>
              </a:ext>
            </a:extLst>
          </p:cNvPr>
          <p:cNvSpPr/>
          <p:nvPr/>
        </p:nvSpPr>
        <p:spPr>
          <a:xfrm>
            <a:off x="747928" y="2442968"/>
            <a:ext cx="1966918" cy="351331"/>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C7CE756E-F965-EBDC-18DE-672594D1573B}"/>
              </a:ext>
            </a:extLst>
          </p:cNvPr>
          <p:cNvSpPr/>
          <p:nvPr/>
        </p:nvSpPr>
        <p:spPr>
          <a:xfrm>
            <a:off x="747928" y="2888063"/>
            <a:ext cx="1966918" cy="351331"/>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248;p56">
            <a:extLst>
              <a:ext uri="{FF2B5EF4-FFF2-40B4-BE49-F238E27FC236}">
                <a16:creationId xmlns:a16="http://schemas.microsoft.com/office/drawing/2014/main" id="{D0F478A2-9EB5-720A-209C-CF03B9F4491D}"/>
              </a:ext>
            </a:extLst>
          </p:cNvPr>
          <p:cNvSpPr txBox="1"/>
          <p:nvPr/>
        </p:nvSpPr>
        <p:spPr>
          <a:xfrm>
            <a:off x="840076" y="1518594"/>
            <a:ext cx="1768447"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1" i="0" u="none" strike="noStrike" kern="0" cap="none" spc="0" normalizeH="0" baseline="0" noProof="0" dirty="0">
                <a:ln>
                  <a:noFill/>
                </a:ln>
                <a:solidFill>
                  <a:schemeClr val="bg1"/>
                </a:solidFill>
                <a:effectLst/>
                <a:uLnTx/>
                <a:uFillTx/>
                <a:latin typeface="Lato"/>
                <a:ea typeface="Lato"/>
                <a:cs typeface="Lato"/>
                <a:sym typeface="Lato"/>
              </a:rPr>
              <a:t>SELECT</a:t>
            </a:r>
            <a:endParaRPr kumimoji="0" b="1" i="0" u="none" strike="noStrike" kern="0" cap="none" spc="0" normalizeH="0" baseline="0" noProof="0" dirty="0">
              <a:ln>
                <a:noFill/>
              </a:ln>
              <a:solidFill>
                <a:schemeClr val="bg1"/>
              </a:solidFill>
              <a:effectLst/>
              <a:uLnTx/>
              <a:uFillTx/>
              <a:latin typeface="Lato"/>
              <a:ea typeface="Lato"/>
              <a:cs typeface="Lato"/>
              <a:sym typeface="Lato"/>
            </a:endParaRPr>
          </a:p>
        </p:txBody>
      </p:sp>
      <p:sp>
        <p:nvSpPr>
          <p:cNvPr id="14" name="Google Shape;248;p56">
            <a:extLst>
              <a:ext uri="{FF2B5EF4-FFF2-40B4-BE49-F238E27FC236}">
                <a16:creationId xmlns:a16="http://schemas.microsoft.com/office/drawing/2014/main" id="{54B59AC7-E342-D622-D167-4365F739AB51}"/>
              </a:ext>
            </a:extLst>
          </p:cNvPr>
          <p:cNvSpPr txBox="1"/>
          <p:nvPr/>
        </p:nvSpPr>
        <p:spPr>
          <a:xfrm>
            <a:off x="840074" y="1930725"/>
            <a:ext cx="1768447"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1" i="0" u="none" strike="noStrike" kern="0" cap="none" spc="0" normalizeH="0" baseline="0" noProof="0" dirty="0">
                <a:ln>
                  <a:noFill/>
                </a:ln>
                <a:solidFill>
                  <a:schemeClr val="bg1"/>
                </a:solidFill>
                <a:effectLst/>
                <a:uLnTx/>
                <a:uFillTx/>
                <a:latin typeface="Lato"/>
                <a:ea typeface="Lato"/>
                <a:cs typeface="Lato"/>
                <a:sym typeface="Lato"/>
              </a:rPr>
              <a:t>INSERT</a:t>
            </a:r>
            <a:endParaRPr kumimoji="0" b="1" i="0" u="none" strike="noStrike" kern="0" cap="none" spc="0" normalizeH="0" baseline="0" noProof="0" dirty="0">
              <a:ln>
                <a:noFill/>
              </a:ln>
              <a:solidFill>
                <a:schemeClr val="bg1"/>
              </a:solidFill>
              <a:effectLst/>
              <a:uLnTx/>
              <a:uFillTx/>
              <a:latin typeface="Lato"/>
              <a:ea typeface="Lato"/>
              <a:cs typeface="Lato"/>
              <a:sym typeface="Lato"/>
            </a:endParaRPr>
          </a:p>
        </p:txBody>
      </p:sp>
      <p:sp>
        <p:nvSpPr>
          <p:cNvPr id="16" name="Google Shape;248;p56">
            <a:extLst>
              <a:ext uri="{FF2B5EF4-FFF2-40B4-BE49-F238E27FC236}">
                <a16:creationId xmlns:a16="http://schemas.microsoft.com/office/drawing/2014/main" id="{8A904313-FC96-42C9-08F6-8A8ED1F366CE}"/>
              </a:ext>
            </a:extLst>
          </p:cNvPr>
          <p:cNvSpPr txBox="1"/>
          <p:nvPr/>
        </p:nvSpPr>
        <p:spPr>
          <a:xfrm>
            <a:off x="840074" y="2389736"/>
            <a:ext cx="1768447"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1" i="0" u="none" strike="noStrike" kern="0" cap="none" spc="0" normalizeH="0" baseline="0" noProof="0" dirty="0">
                <a:ln>
                  <a:noFill/>
                </a:ln>
                <a:solidFill>
                  <a:schemeClr val="bg1"/>
                </a:solidFill>
                <a:effectLst/>
                <a:uLnTx/>
                <a:uFillTx/>
                <a:latin typeface="Lato"/>
                <a:ea typeface="Lato"/>
                <a:cs typeface="Lato"/>
                <a:sym typeface="Lato"/>
              </a:rPr>
              <a:t>UPDATE</a:t>
            </a:r>
            <a:endParaRPr kumimoji="0" b="1" i="0" u="none" strike="noStrike" kern="0" cap="none" spc="0" normalizeH="0" baseline="0" noProof="0" dirty="0">
              <a:ln>
                <a:noFill/>
              </a:ln>
              <a:solidFill>
                <a:schemeClr val="bg1"/>
              </a:solidFill>
              <a:effectLst/>
              <a:uLnTx/>
              <a:uFillTx/>
              <a:latin typeface="Lato"/>
              <a:ea typeface="Lato"/>
              <a:cs typeface="Lato"/>
              <a:sym typeface="Lato"/>
            </a:endParaRPr>
          </a:p>
        </p:txBody>
      </p:sp>
      <p:sp>
        <p:nvSpPr>
          <p:cNvPr id="18" name="Google Shape;248;p56">
            <a:extLst>
              <a:ext uri="{FF2B5EF4-FFF2-40B4-BE49-F238E27FC236}">
                <a16:creationId xmlns:a16="http://schemas.microsoft.com/office/drawing/2014/main" id="{7779F04C-A25D-AED5-2A76-04EAAFC4E36E}"/>
              </a:ext>
            </a:extLst>
          </p:cNvPr>
          <p:cNvSpPr txBox="1"/>
          <p:nvPr/>
        </p:nvSpPr>
        <p:spPr>
          <a:xfrm>
            <a:off x="840075" y="2847530"/>
            <a:ext cx="1768447"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1" i="0" u="none" strike="noStrike" kern="0" cap="none" spc="0" normalizeH="0" baseline="0" noProof="0" dirty="0">
                <a:ln>
                  <a:noFill/>
                </a:ln>
                <a:solidFill>
                  <a:schemeClr val="bg1"/>
                </a:solidFill>
                <a:effectLst/>
                <a:uLnTx/>
                <a:uFillTx/>
                <a:latin typeface="Lato"/>
                <a:ea typeface="Lato"/>
                <a:cs typeface="Lato"/>
                <a:sym typeface="Lato"/>
              </a:rPr>
              <a:t>DELETE</a:t>
            </a:r>
            <a:endParaRPr kumimoji="0" b="1" i="0" u="none" strike="noStrike" kern="0" cap="none" spc="0" normalizeH="0" baseline="0" noProof="0" dirty="0">
              <a:ln>
                <a:noFill/>
              </a:ln>
              <a:solidFill>
                <a:schemeClr val="bg1"/>
              </a:solidFill>
              <a:effectLst/>
              <a:uLnTx/>
              <a:uFillTx/>
              <a:latin typeface="Lato"/>
              <a:ea typeface="Lato"/>
              <a:cs typeface="Lato"/>
              <a:sym typeface="Lato"/>
            </a:endParaRPr>
          </a:p>
        </p:txBody>
      </p:sp>
      <p:sp>
        <p:nvSpPr>
          <p:cNvPr id="20" name="Rectangle: Rounded Corners 19">
            <a:extLst>
              <a:ext uri="{FF2B5EF4-FFF2-40B4-BE49-F238E27FC236}">
                <a16:creationId xmlns:a16="http://schemas.microsoft.com/office/drawing/2014/main" id="{7955D447-8165-E480-8242-7F1FF20085FE}"/>
              </a:ext>
            </a:extLst>
          </p:cNvPr>
          <p:cNvSpPr/>
          <p:nvPr/>
        </p:nvSpPr>
        <p:spPr>
          <a:xfrm>
            <a:off x="3154430" y="1552776"/>
            <a:ext cx="1966918" cy="351331"/>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135586BC-E702-8A0D-7278-EB74552A77DA}"/>
              </a:ext>
            </a:extLst>
          </p:cNvPr>
          <p:cNvSpPr/>
          <p:nvPr/>
        </p:nvSpPr>
        <p:spPr>
          <a:xfrm>
            <a:off x="3154430" y="1997872"/>
            <a:ext cx="1966918" cy="351331"/>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937F1B05-C46B-7D5A-800B-007526550ADD}"/>
              </a:ext>
            </a:extLst>
          </p:cNvPr>
          <p:cNvSpPr/>
          <p:nvPr/>
        </p:nvSpPr>
        <p:spPr>
          <a:xfrm>
            <a:off x="3154430" y="2442968"/>
            <a:ext cx="1966918" cy="351331"/>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4ED8FABF-9CD5-C3D9-F922-C5F7B102E9FF}"/>
              </a:ext>
            </a:extLst>
          </p:cNvPr>
          <p:cNvSpPr/>
          <p:nvPr/>
        </p:nvSpPr>
        <p:spPr>
          <a:xfrm>
            <a:off x="3154430" y="2888063"/>
            <a:ext cx="1966918" cy="351331"/>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2DBBD0A0-0DF1-6FBE-EBE2-7D2E1DF64BCD}"/>
              </a:ext>
            </a:extLst>
          </p:cNvPr>
          <p:cNvSpPr/>
          <p:nvPr/>
        </p:nvSpPr>
        <p:spPr>
          <a:xfrm>
            <a:off x="5249044" y="1552776"/>
            <a:ext cx="1966918" cy="351331"/>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C2269661-DCF0-DEF3-DC05-2C010E11A719}"/>
              </a:ext>
            </a:extLst>
          </p:cNvPr>
          <p:cNvSpPr/>
          <p:nvPr/>
        </p:nvSpPr>
        <p:spPr>
          <a:xfrm>
            <a:off x="5249044" y="1997872"/>
            <a:ext cx="1966918" cy="351331"/>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C61264C7-028F-C5BE-CB6D-33875927681A}"/>
              </a:ext>
            </a:extLst>
          </p:cNvPr>
          <p:cNvSpPr/>
          <p:nvPr/>
        </p:nvSpPr>
        <p:spPr>
          <a:xfrm>
            <a:off x="5249044" y="2442968"/>
            <a:ext cx="1966918" cy="351331"/>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57821012-5A48-B41B-42D9-83340C8A64DC}"/>
              </a:ext>
            </a:extLst>
          </p:cNvPr>
          <p:cNvSpPr/>
          <p:nvPr/>
        </p:nvSpPr>
        <p:spPr>
          <a:xfrm>
            <a:off x="5249044" y="2888063"/>
            <a:ext cx="1966918" cy="351331"/>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Google Shape;248;p56">
            <a:extLst>
              <a:ext uri="{FF2B5EF4-FFF2-40B4-BE49-F238E27FC236}">
                <a16:creationId xmlns:a16="http://schemas.microsoft.com/office/drawing/2014/main" id="{0B7278DD-2AF3-B26C-9C9F-2A15EC13B49A}"/>
              </a:ext>
            </a:extLst>
          </p:cNvPr>
          <p:cNvSpPr txBox="1"/>
          <p:nvPr/>
        </p:nvSpPr>
        <p:spPr>
          <a:xfrm>
            <a:off x="3200502" y="1151922"/>
            <a:ext cx="1768447" cy="467790"/>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sz="1600" b="1" dirty="0">
                <a:solidFill>
                  <a:schemeClr val="tx1"/>
                </a:solidFill>
                <a:latin typeface="Lato"/>
                <a:ea typeface="Lato"/>
                <a:cs typeface="Lato"/>
                <a:sym typeface="Lato"/>
              </a:rPr>
              <a:t>r</a:t>
            </a:r>
            <a:r>
              <a:rPr kumimoji="0" lang="en" sz="1600" b="1" i="0" u="none" strike="noStrike" kern="0" cap="none" spc="0" normalizeH="0" baseline="0" noProof="0" dirty="0">
                <a:ln>
                  <a:noFill/>
                </a:ln>
                <a:solidFill>
                  <a:schemeClr val="tx1"/>
                </a:solidFill>
                <a:effectLst/>
                <a:uLnTx/>
                <a:uFillTx/>
                <a:latin typeface="Lato"/>
                <a:ea typeface="Lato"/>
                <a:cs typeface="Lato"/>
                <a:sym typeface="Lato"/>
              </a:rPr>
              <a:t>eads ?</a:t>
            </a:r>
            <a:endParaRPr kumimoji="0" sz="1600" b="1" i="0" u="none" strike="noStrike" kern="0" cap="none" spc="0" normalizeH="0" baseline="0" noProof="0" dirty="0">
              <a:ln>
                <a:noFill/>
              </a:ln>
              <a:solidFill>
                <a:schemeClr val="tx1"/>
              </a:solidFill>
              <a:effectLst/>
              <a:uLnTx/>
              <a:uFillTx/>
              <a:latin typeface="Lato"/>
              <a:ea typeface="Lato"/>
              <a:cs typeface="Lato"/>
              <a:sym typeface="Lato"/>
            </a:endParaRPr>
          </a:p>
        </p:txBody>
      </p:sp>
      <p:sp>
        <p:nvSpPr>
          <p:cNvPr id="38" name="Google Shape;248;p56">
            <a:extLst>
              <a:ext uri="{FF2B5EF4-FFF2-40B4-BE49-F238E27FC236}">
                <a16:creationId xmlns:a16="http://schemas.microsoft.com/office/drawing/2014/main" id="{4AF57FF8-3BC3-3822-9E14-A93B401B5EF9}"/>
              </a:ext>
            </a:extLst>
          </p:cNvPr>
          <p:cNvSpPr txBox="1"/>
          <p:nvPr/>
        </p:nvSpPr>
        <p:spPr>
          <a:xfrm>
            <a:off x="5249044" y="1151922"/>
            <a:ext cx="1768447" cy="467790"/>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sz="1600" b="1" dirty="0">
                <a:solidFill>
                  <a:schemeClr val="tx1"/>
                </a:solidFill>
                <a:latin typeface="Lato"/>
                <a:ea typeface="Lato"/>
                <a:cs typeface="Lato"/>
                <a:sym typeface="Lato"/>
              </a:rPr>
              <a:t>writes ?</a:t>
            </a:r>
            <a:endParaRPr kumimoji="0" sz="1600" b="1" i="0" u="none" strike="noStrike" kern="0" cap="none" spc="0" normalizeH="0" baseline="0" noProof="0" dirty="0">
              <a:ln>
                <a:noFill/>
              </a:ln>
              <a:solidFill>
                <a:schemeClr val="tx1"/>
              </a:solidFill>
              <a:effectLst/>
              <a:uLnTx/>
              <a:uFillTx/>
              <a:latin typeface="Lato"/>
              <a:ea typeface="Lato"/>
              <a:cs typeface="Lato"/>
              <a:sym typeface="Lato"/>
            </a:endParaRPr>
          </a:p>
        </p:txBody>
      </p:sp>
      <p:sp>
        <p:nvSpPr>
          <p:cNvPr id="40" name="Google Shape;248;p56">
            <a:extLst>
              <a:ext uri="{FF2B5EF4-FFF2-40B4-BE49-F238E27FC236}">
                <a16:creationId xmlns:a16="http://schemas.microsoft.com/office/drawing/2014/main" id="{0B87691F-0908-A873-8D7D-A7CD62D21F45}"/>
              </a:ext>
            </a:extLst>
          </p:cNvPr>
          <p:cNvSpPr txBox="1"/>
          <p:nvPr/>
        </p:nvSpPr>
        <p:spPr>
          <a:xfrm>
            <a:off x="1533014" y="3523789"/>
            <a:ext cx="4699489" cy="397001"/>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sz="1200" dirty="0">
                <a:solidFill>
                  <a:schemeClr val="tx1"/>
                </a:solidFill>
                <a:latin typeface="Lato"/>
                <a:ea typeface="Lato"/>
                <a:cs typeface="Lato"/>
                <a:sym typeface="Lato"/>
              </a:rPr>
              <a:t>r</a:t>
            </a:r>
            <a:r>
              <a:rPr kumimoji="0" lang="en" sz="1200" i="0" u="none" strike="noStrike" kern="0" cap="none" spc="0" normalizeH="0" baseline="0" noProof="0" dirty="0">
                <a:ln>
                  <a:noFill/>
                </a:ln>
                <a:solidFill>
                  <a:schemeClr val="tx1"/>
                </a:solidFill>
                <a:effectLst/>
                <a:uLnTx/>
                <a:uFillTx/>
                <a:latin typeface="Lato"/>
                <a:ea typeface="Lato"/>
                <a:cs typeface="Lato"/>
                <a:sym typeface="Lato"/>
              </a:rPr>
              <a:t>eads: processing, identifying data that is already present</a:t>
            </a:r>
            <a:endParaRPr kumimoji="0" sz="1200" i="0" u="none" strike="noStrike" kern="0" cap="none" spc="0" normalizeH="0" baseline="0" noProof="0" dirty="0">
              <a:ln>
                <a:noFill/>
              </a:ln>
              <a:solidFill>
                <a:schemeClr val="tx1"/>
              </a:solidFill>
              <a:effectLst/>
              <a:uLnTx/>
              <a:uFillTx/>
              <a:latin typeface="Lato"/>
              <a:ea typeface="Lato"/>
              <a:cs typeface="Lato"/>
              <a:sym typeface="Lato"/>
            </a:endParaRPr>
          </a:p>
        </p:txBody>
      </p:sp>
    </p:spTree>
    <p:extLst>
      <p:ext uri="{BB962C8B-B14F-4D97-AF65-F5344CB8AC3E}">
        <p14:creationId xmlns:p14="http://schemas.microsoft.com/office/powerpoint/2010/main" val="629321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4ED5A5C3-77DC-CF6D-3584-11B37AE3CABE}"/>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178B95AE-2605-1786-D742-ECAA8AFCED57}"/>
              </a:ext>
            </a:extLst>
          </p:cNvPr>
          <p:cNvSpPr/>
          <p:nvPr/>
        </p:nvSpPr>
        <p:spPr>
          <a:xfrm>
            <a:off x="3143798" y="3020069"/>
            <a:ext cx="1966918" cy="35133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Google Shape;248;p56">
            <a:extLst>
              <a:ext uri="{FF2B5EF4-FFF2-40B4-BE49-F238E27FC236}">
                <a16:creationId xmlns:a16="http://schemas.microsoft.com/office/drawing/2014/main" id="{16F5A1DB-4BDC-5371-1D2F-351369E86955}"/>
              </a:ext>
            </a:extLst>
          </p:cNvPr>
          <p:cNvSpPr txBox="1"/>
          <p:nvPr/>
        </p:nvSpPr>
        <p:spPr>
          <a:xfrm>
            <a:off x="3166561" y="2948763"/>
            <a:ext cx="2071744"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chemeClr val="bg1"/>
                </a:solidFill>
                <a:effectLst/>
                <a:uLnTx/>
                <a:uFillTx/>
                <a:latin typeface="Lato"/>
                <a:ea typeface="Lato"/>
                <a:cs typeface="Lato"/>
                <a:sym typeface="Lato"/>
              </a:rPr>
              <a:t>4.)  [ run time libraries ]</a:t>
            </a:r>
            <a:endParaRPr kumimoji="0" b="0" i="0" u="none" strike="noStrike" kern="0" cap="none" spc="0" normalizeH="0" baseline="0" noProof="0" dirty="0">
              <a:ln>
                <a:noFill/>
              </a:ln>
              <a:solidFill>
                <a:schemeClr val="bg1"/>
              </a:solidFill>
              <a:effectLst/>
              <a:uLnTx/>
              <a:uFillTx/>
              <a:latin typeface="Lato"/>
              <a:ea typeface="Lato"/>
              <a:cs typeface="Lato"/>
              <a:sym typeface="Lato"/>
            </a:endParaRPr>
          </a:p>
        </p:txBody>
      </p:sp>
      <p:cxnSp>
        <p:nvCxnSpPr>
          <p:cNvPr id="5" name="Straight Connector 4">
            <a:extLst>
              <a:ext uri="{FF2B5EF4-FFF2-40B4-BE49-F238E27FC236}">
                <a16:creationId xmlns:a16="http://schemas.microsoft.com/office/drawing/2014/main" id="{1882AE5E-E227-8317-AD8D-0A77DCE75466}"/>
              </a:ext>
            </a:extLst>
          </p:cNvPr>
          <p:cNvCxnSpPr>
            <a:cxnSpLocks/>
          </p:cNvCxnSpPr>
          <p:nvPr/>
        </p:nvCxnSpPr>
        <p:spPr>
          <a:xfrm>
            <a:off x="2456871" y="1342154"/>
            <a:ext cx="0" cy="2343799"/>
          </a:xfrm>
          <a:prstGeom prst="line">
            <a:avLst/>
          </a:prstGeom>
          <a:ln>
            <a:solidFill>
              <a:srgbClr val="FFC000"/>
            </a:solidFill>
            <a:prstDash val="dash"/>
          </a:ln>
        </p:spPr>
        <p:style>
          <a:lnRef idx="1">
            <a:schemeClr val="accent1"/>
          </a:lnRef>
          <a:fillRef idx="0">
            <a:schemeClr val="accent1"/>
          </a:fillRef>
          <a:effectRef idx="0">
            <a:schemeClr val="accent1"/>
          </a:effectRef>
          <a:fontRef idx="minor">
            <a:schemeClr val="tx1"/>
          </a:fontRef>
        </p:style>
      </p:cxnSp>
      <p:pic>
        <p:nvPicPr>
          <p:cNvPr id="34" name="Picture 33">
            <a:extLst>
              <a:ext uri="{FF2B5EF4-FFF2-40B4-BE49-F238E27FC236}">
                <a16:creationId xmlns:a16="http://schemas.microsoft.com/office/drawing/2014/main" id="{3FAF8087-5B57-CB51-29DB-74396690CF40}"/>
              </a:ext>
            </a:extLst>
          </p:cNvPr>
          <p:cNvPicPr>
            <a:picLocks noChangeAspect="1"/>
          </p:cNvPicPr>
          <p:nvPr/>
        </p:nvPicPr>
        <p:blipFill>
          <a:blip r:embed="rId3"/>
          <a:stretch>
            <a:fillRect/>
          </a:stretch>
        </p:blipFill>
        <p:spPr>
          <a:xfrm rot="10800000">
            <a:off x="2005389" y="1864988"/>
            <a:ext cx="1070343" cy="293424"/>
          </a:xfrm>
          <a:prstGeom prst="rect">
            <a:avLst/>
          </a:prstGeom>
        </p:spPr>
      </p:pic>
      <p:sp>
        <p:nvSpPr>
          <p:cNvPr id="14" name="Rectangle: Rounded Corners 13">
            <a:extLst>
              <a:ext uri="{FF2B5EF4-FFF2-40B4-BE49-F238E27FC236}">
                <a16:creationId xmlns:a16="http://schemas.microsoft.com/office/drawing/2014/main" id="{25F96784-1F8C-8F15-93F5-72AA533550AA}"/>
              </a:ext>
            </a:extLst>
          </p:cNvPr>
          <p:cNvSpPr/>
          <p:nvPr/>
        </p:nvSpPr>
        <p:spPr>
          <a:xfrm>
            <a:off x="3143798" y="1752158"/>
            <a:ext cx="1966918" cy="35133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Google Shape;248;p56">
            <a:extLst>
              <a:ext uri="{FF2B5EF4-FFF2-40B4-BE49-F238E27FC236}">
                <a16:creationId xmlns:a16="http://schemas.microsoft.com/office/drawing/2014/main" id="{D838FC28-15DF-5624-1A95-025BC56E1EBF}"/>
              </a:ext>
            </a:extLst>
          </p:cNvPr>
          <p:cNvSpPr txBox="1"/>
          <p:nvPr/>
        </p:nvSpPr>
        <p:spPr>
          <a:xfrm>
            <a:off x="3166561" y="1706746"/>
            <a:ext cx="2071746"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chemeClr val="bg1"/>
                </a:solidFill>
                <a:effectLst/>
                <a:uLnTx/>
                <a:uFillTx/>
                <a:latin typeface="Lato"/>
                <a:ea typeface="Lato"/>
                <a:cs typeface="Lato"/>
                <a:sym typeface="Lato"/>
              </a:rPr>
              <a:t>1.) parser</a:t>
            </a:r>
            <a:endParaRPr kumimoji="0" b="0" i="0" u="none" strike="noStrike" kern="0" cap="none" spc="0" normalizeH="0" baseline="0" noProof="0" dirty="0">
              <a:ln>
                <a:noFill/>
              </a:ln>
              <a:solidFill>
                <a:schemeClr val="bg1"/>
              </a:solidFill>
              <a:effectLst/>
              <a:uLnTx/>
              <a:uFillTx/>
              <a:latin typeface="Lato"/>
              <a:ea typeface="Lato"/>
              <a:cs typeface="Lato"/>
              <a:sym typeface="Lato"/>
            </a:endParaRPr>
          </a:p>
        </p:txBody>
      </p:sp>
      <p:sp>
        <p:nvSpPr>
          <p:cNvPr id="242" name="Google Shape;242;p56">
            <a:extLst>
              <a:ext uri="{FF2B5EF4-FFF2-40B4-BE49-F238E27FC236}">
                <a16:creationId xmlns:a16="http://schemas.microsoft.com/office/drawing/2014/main" id="{B112C290-EC26-FFC9-4C40-2328C9555C57}"/>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the 4 stage backend</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A94332B8-2BBC-8FB0-58AB-B05C54A6AA8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pic>
        <p:nvPicPr>
          <p:cNvPr id="4" name="Picture 3">
            <a:extLst>
              <a:ext uri="{FF2B5EF4-FFF2-40B4-BE49-F238E27FC236}">
                <a16:creationId xmlns:a16="http://schemas.microsoft.com/office/drawing/2014/main" id="{3B2EF883-4CBE-AAE5-17BD-215F3FE157F0}"/>
              </a:ext>
            </a:extLst>
          </p:cNvPr>
          <p:cNvPicPr>
            <a:picLocks noChangeAspect="1"/>
          </p:cNvPicPr>
          <p:nvPr/>
        </p:nvPicPr>
        <p:blipFill>
          <a:blip r:embed="rId4"/>
          <a:stretch>
            <a:fillRect/>
          </a:stretch>
        </p:blipFill>
        <p:spPr>
          <a:xfrm>
            <a:off x="9674" y="1696441"/>
            <a:ext cx="1705106" cy="1144316"/>
          </a:xfrm>
          <a:prstGeom prst="rect">
            <a:avLst/>
          </a:prstGeom>
        </p:spPr>
      </p:pic>
      <p:sp>
        <p:nvSpPr>
          <p:cNvPr id="13" name="Google Shape;248;p56">
            <a:extLst>
              <a:ext uri="{FF2B5EF4-FFF2-40B4-BE49-F238E27FC236}">
                <a16:creationId xmlns:a16="http://schemas.microsoft.com/office/drawing/2014/main" id="{2561C5E8-C24F-22C2-53C7-145121972634}"/>
              </a:ext>
            </a:extLst>
          </p:cNvPr>
          <p:cNvSpPr txBox="1"/>
          <p:nvPr/>
        </p:nvSpPr>
        <p:spPr>
          <a:xfrm>
            <a:off x="615580" y="2823487"/>
            <a:ext cx="1562438"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client app</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16" name="Rectangle: Rounded Corners 15">
            <a:extLst>
              <a:ext uri="{FF2B5EF4-FFF2-40B4-BE49-F238E27FC236}">
                <a16:creationId xmlns:a16="http://schemas.microsoft.com/office/drawing/2014/main" id="{BE61A234-4A95-CB27-33CB-A7CA1FA02C27}"/>
              </a:ext>
            </a:extLst>
          </p:cNvPr>
          <p:cNvSpPr/>
          <p:nvPr/>
        </p:nvSpPr>
        <p:spPr>
          <a:xfrm>
            <a:off x="3143798" y="2174795"/>
            <a:ext cx="1966918" cy="35133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7F058B38-3276-C02B-CFA0-32018D6CF202}"/>
              </a:ext>
            </a:extLst>
          </p:cNvPr>
          <p:cNvSpPr/>
          <p:nvPr/>
        </p:nvSpPr>
        <p:spPr>
          <a:xfrm>
            <a:off x="3143798" y="2597432"/>
            <a:ext cx="1966918" cy="35133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Google Shape;248;p56">
            <a:extLst>
              <a:ext uri="{FF2B5EF4-FFF2-40B4-BE49-F238E27FC236}">
                <a16:creationId xmlns:a16="http://schemas.microsoft.com/office/drawing/2014/main" id="{C2B04B19-673D-4787-5852-BD3A7FBADC97}"/>
              </a:ext>
            </a:extLst>
          </p:cNvPr>
          <p:cNvSpPr txBox="1"/>
          <p:nvPr/>
        </p:nvSpPr>
        <p:spPr>
          <a:xfrm>
            <a:off x="3166561" y="2129383"/>
            <a:ext cx="2071746"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chemeClr val="bg1"/>
                </a:solidFill>
                <a:effectLst/>
                <a:uLnTx/>
                <a:uFillTx/>
                <a:latin typeface="Lato"/>
                <a:ea typeface="Lato"/>
                <a:cs typeface="Lato"/>
                <a:sym typeface="Lato"/>
              </a:rPr>
              <a:t>2.) query optimizer</a:t>
            </a:r>
            <a:endParaRPr kumimoji="0" b="0" i="0" u="none" strike="noStrike" kern="0" cap="none" spc="0" normalizeH="0" baseline="0" noProof="0" dirty="0">
              <a:ln>
                <a:noFill/>
              </a:ln>
              <a:solidFill>
                <a:schemeClr val="bg1"/>
              </a:solidFill>
              <a:effectLst/>
              <a:uLnTx/>
              <a:uFillTx/>
              <a:latin typeface="Lato"/>
              <a:ea typeface="Lato"/>
              <a:cs typeface="Lato"/>
              <a:sym typeface="Lato"/>
            </a:endParaRPr>
          </a:p>
        </p:txBody>
      </p:sp>
      <p:sp>
        <p:nvSpPr>
          <p:cNvPr id="26" name="Google Shape;248;p56">
            <a:extLst>
              <a:ext uri="{FF2B5EF4-FFF2-40B4-BE49-F238E27FC236}">
                <a16:creationId xmlns:a16="http://schemas.microsoft.com/office/drawing/2014/main" id="{D4C5F2CB-D4D2-4BE6-D3FA-D426E3D7627A}"/>
              </a:ext>
            </a:extLst>
          </p:cNvPr>
          <p:cNvSpPr txBox="1"/>
          <p:nvPr/>
        </p:nvSpPr>
        <p:spPr>
          <a:xfrm>
            <a:off x="3166561" y="2539638"/>
            <a:ext cx="2071744"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chemeClr val="bg1"/>
                </a:solidFill>
                <a:effectLst/>
                <a:uLnTx/>
                <a:uFillTx/>
                <a:latin typeface="Lato"/>
                <a:ea typeface="Lato"/>
                <a:cs typeface="Lato"/>
                <a:sym typeface="Lato"/>
              </a:rPr>
              <a:t>3.) query processor</a:t>
            </a:r>
            <a:endParaRPr kumimoji="0" b="0" i="0" u="none" strike="noStrike" kern="0" cap="none" spc="0" normalizeH="0" baseline="0" noProof="0" dirty="0">
              <a:ln>
                <a:noFill/>
              </a:ln>
              <a:solidFill>
                <a:schemeClr val="bg1"/>
              </a:solidFill>
              <a:effectLst/>
              <a:uLnTx/>
              <a:uFillTx/>
              <a:latin typeface="Lato"/>
              <a:ea typeface="Lato"/>
              <a:cs typeface="Lato"/>
              <a:sym typeface="Lato"/>
            </a:endParaRPr>
          </a:p>
        </p:txBody>
      </p:sp>
      <p:pic>
        <p:nvPicPr>
          <p:cNvPr id="30" name="Picture 29">
            <a:extLst>
              <a:ext uri="{FF2B5EF4-FFF2-40B4-BE49-F238E27FC236}">
                <a16:creationId xmlns:a16="http://schemas.microsoft.com/office/drawing/2014/main" id="{59E29AE8-D875-9D38-A51F-42E745A690C8}"/>
              </a:ext>
            </a:extLst>
          </p:cNvPr>
          <p:cNvPicPr>
            <a:picLocks noChangeAspect="1"/>
          </p:cNvPicPr>
          <p:nvPr/>
        </p:nvPicPr>
        <p:blipFill>
          <a:blip r:embed="rId3"/>
          <a:stretch>
            <a:fillRect/>
          </a:stretch>
        </p:blipFill>
        <p:spPr>
          <a:xfrm>
            <a:off x="2028616" y="2870195"/>
            <a:ext cx="1070343" cy="651801"/>
          </a:xfrm>
          <a:prstGeom prst="rect">
            <a:avLst/>
          </a:prstGeom>
        </p:spPr>
      </p:pic>
      <p:sp>
        <p:nvSpPr>
          <p:cNvPr id="32" name="Google Shape;248;p56">
            <a:extLst>
              <a:ext uri="{FF2B5EF4-FFF2-40B4-BE49-F238E27FC236}">
                <a16:creationId xmlns:a16="http://schemas.microsoft.com/office/drawing/2014/main" id="{DFC4F113-4DD1-8A3B-7350-4295640E0A2F}"/>
              </a:ext>
            </a:extLst>
          </p:cNvPr>
          <p:cNvSpPr txBox="1"/>
          <p:nvPr/>
        </p:nvSpPr>
        <p:spPr>
          <a:xfrm>
            <a:off x="2479635" y="1565787"/>
            <a:ext cx="1121664"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SQL</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37" name="Google Shape;248;p56">
            <a:extLst>
              <a:ext uri="{FF2B5EF4-FFF2-40B4-BE49-F238E27FC236}">
                <a16:creationId xmlns:a16="http://schemas.microsoft.com/office/drawing/2014/main" id="{E66F1C95-D86C-FAA3-EBA0-D2DFD68C89FB}"/>
              </a:ext>
            </a:extLst>
          </p:cNvPr>
          <p:cNvSpPr txBox="1"/>
          <p:nvPr/>
        </p:nvSpPr>
        <p:spPr>
          <a:xfrm>
            <a:off x="2374755" y="2979898"/>
            <a:ext cx="1121664"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data</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41" name="Picture 40">
            <a:extLst>
              <a:ext uri="{FF2B5EF4-FFF2-40B4-BE49-F238E27FC236}">
                <a16:creationId xmlns:a16="http://schemas.microsoft.com/office/drawing/2014/main" id="{3131E61C-C55E-4442-FBDB-44517674E468}"/>
              </a:ext>
            </a:extLst>
          </p:cNvPr>
          <p:cNvPicPr>
            <a:picLocks noChangeAspect="1"/>
          </p:cNvPicPr>
          <p:nvPr/>
        </p:nvPicPr>
        <p:blipFill>
          <a:blip r:embed="rId5"/>
          <a:stretch>
            <a:fillRect/>
          </a:stretch>
        </p:blipFill>
        <p:spPr>
          <a:xfrm rot="15969966" flipV="1">
            <a:off x="5099727" y="1898885"/>
            <a:ext cx="504616" cy="417756"/>
          </a:xfrm>
          <a:prstGeom prst="rect">
            <a:avLst/>
          </a:prstGeom>
        </p:spPr>
      </p:pic>
      <p:pic>
        <p:nvPicPr>
          <p:cNvPr id="43" name="Picture 42">
            <a:extLst>
              <a:ext uri="{FF2B5EF4-FFF2-40B4-BE49-F238E27FC236}">
                <a16:creationId xmlns:a16="http://schemas.microsoft.com/office/drawing/2014/main" id="{E6C9DF0D-E92F-59EE-E5AE-1376F68D2C5E}"/>
              </a:ext>
            </a:extLst>
          </p:cNvPr>
          <p:cNvPicPr>
            <a:picLocks noChangeAspect="1"/>
          </p:cNvPicPr>
          <p:nvPr/>
        </p:nvPicPr>
        <p:blipFill>
          <a:blip r:embed="rId5"/>
          <a:stretch>
            <a:fillRect/>
          </a:stretch>
        </p:blipFill>
        <p:spPr>
          <a:xfrm rot="15969966" flipV="1">
            <a:off x="5099727" y="2878242"/>
            <a:ext cx="504616" cy="417756"/>
          </a:xfrm>
          <a:prstGeom prst="rect">
            <a:avLst/>
          </a:prstGeom>
        </p:spPr>
      </p:pic>
      <p:pic>
        <p:nvPicPr>
          <p:cNvPr id="45" name="Picture 44">
            <a:extLst>
              <a:ext uri="{FF2B5EF4-FFF2-40B4-BE49-F238E27FC236}">
                <a16:creationId xmlns:a16="http://schemas.microsoft.com/office/drawing/2014/main" id="{4646CD11-B289-1B93-8BFA-AA89074F3370}"/>
              </a:ext>
            </a:extLst>
          </p:cNvPr>
          <p:cNvPicPr>
            <a:picLocks noChangeAspect="1"/>
          </p:cNvPicPr>
          <p:nvPr/>
        </p:nvPicPr>
        <p:blipFill>
          <a:blip r:embed="rId5"/>
          <a:stretch>
            <a:fillRect/>
          </a:stretch>
        </p:blipFill>
        <p:spPr>
          <a:xfrm rot="15969966" flipV="1">
            <a:off x="5032124" y="2380125"/>
            <a:ext cx="504616" cy="417756"/>
          </a:xfrm>
          <a:prstGeom prst="rect">
            <a:avLst/>
          </a:prstGeom>
        </p:spPr>
      </p:pic>
      <p:pic>
        <p:nvPicPr>
          <p:cNvPr id="49" name="Picture 48">
            <a:extLst>
              <a:ext uri="{FF2B5EF4-FFF2-40B4-BE49-F238E27FC236}">
                <a16:creationId xmlns:a16="http://schemas.microsoft.com/office/drawing/2014/main" id="{9AE0AF06-1934-A40C-BF31-5F05DECA60E8}"/>
              </a:ext>
            </a:extLst>
          </p:cNvPr>
          <p:cNvPicPr>
            <a:picLocks noChangeAspect="1"/>
          </p:cNvPicPr>
          <p:nvPr/>
        </p:nvPicPr>
        <p:blipFill>
          <a:blip r:embed="rId5">
            <a:duotone>
              <a:schemeClr val="accent2">
                <a:shade val="45000"/>
                <a:satMod val="135000"/>
              </a:schemeClr>
              <a:prstClr val="white"/>
            </a:duotone>
          </a:blip>
          <a:stretch>
            <a:fillRect/>
          </a:stretch>
        </p:blipFill>
        <p:spPr>
          <a:xfrm rot="15969966" flipV="1">
            <a:off x="5352184" y="2224427"/>
            <a:ext cx="1390809" cy="849451"/>
          </a:xfrm>
          <a:prstGeom prst="rect">
            <a:avLst/>
          </a:prstGeom>
        </p:spPr>
      </p:pic>
      <p:sp>
        <p:nvSpPr>
          <p:cNvPr id="51" name="Google Shape;248;p56">
            <a:extLst>
              <a:ext uri="{FF2B5EF4-FFF2-40B4-BE49-F238E27FC236}">
                <a16:creationId xmlns:a16="http://schemas.microsoft.com/office/drawing/2014/main" id="{A63C464A-B05E-BFBC-DC4D-2258E92122BF}"/>
              </a:ext>
            </a:extLst>
          </p:cNvPr>
          <p:cNvSpPr txBox="1"/>
          <p:nvPr/>
        </p:nvSpPr>
        <p:spPr>
          <a:xfrm>
            <a:off x="6735918" y="964090"/>
            <a:ext cx="2285230" cy="3370123"/>
          </a:xfrm>
          <a:prstGeom prst="rect">
            <a:avLst/>
          </a:prstGeom>
          <a:noFill/>
          <a:ln>
            <a:noFill/>
          </a:ln>
        </p:spPr>
        <p:txBody>
          <a:bodyPr spcFirstLastPara="1" wrap="square" lIns="91425" tIns="91425" rIns="91425" bIns="91425" anchor="t" anchorCtr="0">
            <a:spAutoFit/>
          </a:bodyPr>
          <a:lstStyle/>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SQL, declarative</a:t>
            </a:r>
          </a:p>
          <a:p>
            <a:pPr marR="0" lvl="0" defTabSz="914400" rtl="0" eaLnBrk="1" fontAlgn="auto" latinLnBrk="0" hangingPunct="1">
              <a:lnSpc>
                <a:spcPct val="115000"/>
              </a:lnSpc>
              <a:spcBef>
                <a:spcPts val="0"/>
              </a:spcBef>
              <a:spcAft>
                <a:spcPts val="0"/>
              </a:spcAft>
              <a:buClr>
                <a:srgbClr val="000000"/>
              </a:buClr>
              <a:buSzTx/>
              <a:tabLst/>
              <a:defRPr/>
            </a:pP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CREATE TABLE (</a:t>
            </a:r>
            <a:r>
              <a:rPr lang="en-US" sz="1200" dirty="0">
                <a:latin typeface="Lato"/>
                <a:ea typeface="Lato"/>
                <a:cs typeface="Lato"/>
                <a:sym typeface="Lato"/>
              </a:rPr>
              <a:t>e</a:t>
            </a: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tc</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a:t>
            </a: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or,</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SELECT   .. WHERE</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UPDATE .. WHERE</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DELETE   .. WHERE</a:t>
            </a: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PREPARE</a:t>
            </a: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or the driver, automatic preparation</a:t>
            </a: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112713"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Parsing phase ?</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c</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an be 85% catalog work</a:t>
            </a:r>
          </a:p>
          <a:p>
            <a:pPr marL="339725" marR="0" lvl="0" indent="-1127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000" dirty="0">
                <a:latin typeface="Lato"/>
                <a:ea typeface="Lato"/>
                <a:cs typeface="Lato"/>
                <a:sym typeface="Lato"/>
              </a:rPr>
              <a:t>authenticate, </a:t>
            </a:r>
            <a:r>
              <a:rPr lang="en-US" sz="1000" u="sng" dirty="0">
                <a:latin typeface="Lato"/>
                <a:ea typeface="Lato"/>
                <a:cs typeface="Lato"/>
                <a:sym typeface="Lato"/>
              </a:rPr>
              <a:t>authorize</a:t>
            </a:r>
            <a:endParaRPr kumimoji="0" sz="1000" b="0" i="0" u="sng" strike="noStrike" kern="0" cap="none" spc="0" normalizeH="0" baseline="0" noProof="0" dirty="0">
              <a:ln>
                <a:noFill/>
              </a:ln>
              <a:solidFill>
                <a:srgbClr val="000000"/>
              </a:solidFill>
              <a:effectLst/>
              <a:uLnTx/>
              <a:uFillTx/>
              <a:latin typeface="Lato"/>
              <a:ea typeface="Lato"/>
              <a:cs typeface="Lato"/>
              <a:sym typeface="Lato"/>
            </a:endParaRPr>
          </a:p>
        </p:txBody>
      </p:sp>
      <p:sp>
        <p:nvSpPr>
          <p:cNvPr id="53" name="Google Shape;248;p56">
            <a:extLst>
              <a:ext uri="{FF2B5EF4-FFF2-40B4-BE49-F238E27FC236}">
                <a16:creationId xmlns:a16="http://schemas.microsoft.com/office/drawing/2014/main" id="{3BB541F9-D2D4-56C2-4141-88AEE6E03501}"/>
              </a:ext>
            </a:extLst>
          </p:cNvPr>
          <p:cNvSpPr txBox="1"/>
          <p:nvPr/>
        </p:nvSpPr>
        <p:spPr>
          <a:xfrm>
            <a:off x="5059151" y="1399898"/>
            <a:ext cx="1121664"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FFC000"/>
                </a:solidFill>
                <a:effectLst/>
                <a:uLnTx/>
                <a:uFillTx/>
                <a:latin typeface="Lato"/>
                <a:ea typeface="Lato"/>
                <a:cs typeface="Lato"/>
                <a:sym typeface="Lato"/>
              </a:rPr>
              <a:t>read</a:t>
            </a:r>
            <a:endParaRPr kumimoji="0" b="0" i="0" u="none" strike="noStrike" kern="0" cap="none" spc="0" normalizeH="0" baseline="0" noProof="0" dirty="0">
              <a:ln>
                <a:noFill/>
              </a:ln>
              <a:solidFill>
                <a:srgbClr val="FFC000"/>
              </a:solidFill>
              <a:effectLst/>
              <a:uLnTx/>
              <a:uFillTx/>
              <a:latin typeface="Lato"/>
              <a:ea typeface="Lato"/>
              <a:cs typeface="Lato"/>
              <a:sym typeface="Lato"/>
            </a:endParaRPr>
          </a:p>
        </p:txBody>
      </p:sp>
      <p:sp>
        <p:nvSpPr>
          <p:cNvPr id="55" name="Google Shape;248;p56">
            <a:extLst>
              <a:ext uri="{FF2B5EF4-FFF2-40B4-BE49-F238E27FC236}">
                <a16:creationId xmlns:a16="http://schemas.microsoft.com/office/drawing/2014/main" id="{F128353E-BB94-435E-7C95-CD52DE71825A}"/>
              </a:ext>
            </a:extLst>
          </p:cNvPr>
          <p:cNvSpPr txBox="1"/>
          <p:nvPr/>
        </p:nvSpPr>
        <p:spPr>
          <a:xfrm>
            <a:off x="5795372" y="1516901"/>
            <a:ext cx="1121664"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chemeClr val="bg1">
                    <a:lumMod val="50000"/>
                  </a:schemeClr>
                </a:solidFill>
                <a:effectLst/>
                <a:uLnTx/>
                <a:uFillTx/>
                <a:latin typeface="Lato"/>
                <a:ea typeface="Lato"/>
                <a:cs typeface="Lato"/>
                <a:sym typeface="Lato"/>
              </a:rPr>
              <a:t>write</a:t>
            </a:r>
            <a:endParaRPr kumimoji="0" b="0" i="0" u="none" strike="noStrike" kern="0" cap="none" spc="0" normalizeH="0" baseline="0" noProof="0" dirty="0">
              <a:ln>
                <a:noFill/>
              </a:ln>
              <a:solidFill>
                <a:schemeClr val="bg1">
                  <a:lumMod val="50000"/>
                </a:schemeClr>
              </a:solidFill>
              <a:effectLst/>
              <a:uLnTx/>
              <a:uFillTx/>
              <a:latin typeface="Lato"/>
              <a:ea typeface="Lato"/>
              <a:cs typeface="Lato"/>
              <a:sym typeface="Lato"/>
            </a:endParaRPr>
          </a:p>
        </p:txBody>
      </p:sp>
    </p:spTree>
    <p:extLst>
      <p:ext uri="{BB962C8B-B14F-4D97-AF65-F5344CB8AC3E}">
        <p14:creationId xmlns:p14="http://schemas.microsoft.com/office/powerpoint/2010/main" val="4246945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7DFD122F-FA89-C026-BCD0-7479F26E4174}"/>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03F1CBE5-6AB9-3431-C4D3-BCA90942D6E8}"/>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seeing parsing overhead</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55588FD4-EFEF-4AAD-A94D-7848311C4B9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pic>
        <p:nvPicPr>
          <p:cNvPr id="3" name="Picture 2">
            <a:extLst>
              <a:ext uri="{FF2B5EF4-FFF2-40B4-BE49-F238E27FC236}">
                <a16:creationId xmlns:a16="http://schemas.microsoft.com/office/drawing/2014/main" id="{8CF932E4-17E5-7562-1DE7-A24BAD837906}"/>
              </a:ext>
            </a:extLst>
          </p:cNvPr>
          <p:cNvPicPr>
            <a:picLocks noChangeAspect="1"/>
          </p:cNvPicPr>
          <p:nvPr/>
        </p:nvPicPr>
        <p:blipFill>
          <a:blip r:embed="rId3"/>
          <a:stretch>
            <a:fillRect/>
          </a:stretch>
        </p:blipFill>
        <p:spPr>
          <a:xfrm>
            <a:off x="86277" y="2019371"/>
            <a:ext cx="1105568" cy="741959"/>
          </a:xfrm>
          <a:prstGeom prst="rect">
            <a:avLst/>
          </a:prstGeom>
        </p:spPr>
      </p:pic>
      <p:cxnSp>
        <p:nvCxnSpPr>
          <p:cNvPr id="4" name="Straight Connector 3">
            <a:extLst>
              <a:ext uri="{FF2B5EF4-FFF2-40B4-BE49-F238E27FC236}">
                <a16:creationId xmlns:a16="http://schemas.microsoft.com/office/drawing/2014/main" id="{08224E63-8D52-B6A6-2615-1A93F79596D4}"/>
              </a:ext>
            </a:extLst>
          </p:cNvPr>
          <p:cNvCxnSpPr>
            <a:cxnSpLocks/>
          </p:cNvCxnSpPr>
          <p:nvPr/>
        </p:nvCxnSpPr>
        <p:spPr>
          <a:xfrm>
            <a:off x="3110214" y="1342154"/>
            <a:ext cx="0" cy="1697531"/>
          </a:xfrm>
          <a:prstGeom prst="line">
            <a:avLst/>
          </a:prstGeom>
          <a:ln>
            <a:solidFill>
              <a:srgbClr val="FFC000"/>
            </a:solidFill>
            <a:prstDash val="dash"/>
          </a:ln>
        </p:spPr>
        <p:style>
          <a:lnRef idx="1">
            <a:schemeClr val="accent1"/>
          </a:lnRef>
          <a:fillRef idx="0">
            <a:schemeClr val="accent1"/>
          </a:fillRef>
          <a:effectRef idx="0">
            <a:schemeClr val="accent1"/>
          </a:effectRef>
          <a:fontRef idx="minor">
            <a:schemeClr val="tx1"/>
          </a:fontRef>
        </p:style>
      </p:cxnSp>
      <p:sp>
        <p:nvSpPr>
          <p:cNvPr id="5" name="Google Shape;248;p56">
            <a:extLst>
              <a:ext uri="{FF2B5EF4-FFF2-40B4-BE49-F238E27FC236}">
                <a16:creationId xmlns:a16="http://schemas.microsoft.com/office/drawing/2014/main" id="{DAB76B0C-C1D1-4C64-AEF6-6D6D196B4D87}"/>
              </a:ext>
            </a:extLst>
          </p:cNvPr>
          <p:cNvSpPr txBox="1"/>
          <p:nvPr/>
        </p:nvSpPr>
        <p:spPr>
          <a:xfrm>
            <a:off x="336296" y="2726882"/>
            <a:ext cx="1562438"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client app</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7" name="Picture 6">
            <a:extLst>
              <a:ext uri="{FF2B5EF4-FFF2-40B4-BE49-F238E27FC236}">
                <a16:creationId xmlns:a16="http://schemas.microsoft.com/office/drawing/2014/main" id="{099EFEFE-5F95-B236-915D-41EC14AAB204}"/>
              </a:ext>
            </a:extLst>
          </p:cNvPr>
          <p:cNvPicPr>
            <a:picLocks noChangeAspect="1"/>
          </p:cNvPicPr>
          <p:nvPr/>
        </p:nvPicPr>
        <p:blipFill>
          <a:blip r:embed="rId4"/>
          <a:stretch>
            <a:fillRect/>
          </a:stretch>
        </p:blipFill>
        <p:spPr>
          <a:xfrm>
            <a:off x="2353833" y="2733085"/>
            <a:ext cx="1070343" cy="242683"/>
          </a:xfrm>
          <a:prstGeom prst="rect">
            <a:avLst/>
          </a:prstGeom>
        </p:spPr>
      </p:pic>
      <p:pic>
        <p:nvPicPr>
          <p:cNvPr id="11" name="Picture 10">
            <a:extLst>
              <a:ext uri="{FF2B5EF4-FFF2-40B4-BE49-F238E27FC236}">
                <a16:creationId xmlns:a16="http://schemas.microsoft.com/office/drawing/2014/main" id="{71FB3574-4F3F-777B-676E-36A91B47AF66}"/>
              </a:ext>
            </a:extLst>
          </p:cNvPr>
          <p:cNvPicPr>
            <a:picLocks noChangeAspect="1"/>
          </p:cNvPicPr>
          <p:nvPr/>
        </p:nvPicPr>
        <p:blipFill>
          <a:blip r:embed="rId4"/>
          <a:stretch>
            <a:fillRect/>
          </a:stretch>
        </p:blipFill>
        <p:spPr>
          <a:xfrm rot="10800000">
            <a:off x="2986639" y="1384477"/>
            <a:ext cx="1070342" cy="518275"/>
          </a:xfrm>
          <a:prstGeom prst="rect">
            <a:avLst/>
          </a:prstGeom>
        </p:spPr>
      </p:pic>
      <p:sp>
        <p:nvSpPr>
          <p:cNvPr id="15" name="Google Shape;248;p56">
            <a:extLst>
              <a:ext uri="{FF2B5EF4-FFF2-40B4-BE49-F238E27FC236}">
                <a16:creationId xmlns:a16="http://schemas.microsoft.com/office/drawing/2014/main" id="{1F88E2B2-409C-BA0F-68EE-402E846005BE}"/>
              </a:ext>
            </a:extLst>
          </p:cNvPr>
          <p:cNvSpPr txBox="1"/>
          <p:nvPr/>
        </p:nvSpPr>
        <p:spPr>
          <a:xfrm>
            <a:off x="1678028" y="836684"/>
            <a:ext cx="2893972" cy="68015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FF0000"/>
                </a:solidFill>
                <a:effectLst/>
                <a:uLnTx/>
                <a:uFillTx/>
                <a:latin typeface="Lato"/>
                <a:ea typeface="Lato"/>
                <a:cs typeface="Lato"/>
                <a:sym typeface="Lato"/>
              </a:rPr>
              <a:t>FOR </a:t>
            </a:r>
            <a:r>
              <a:rPr lang="en-US" dirty="0" err="1">
                <a:solidFill>
                  <a:srgbClr val="FF0000"/>
                </a:solidFill>
                <a:latin typeface="Lato"/>
                <a:ea typeface="Lato"/>
                <a:cs typeface="Lato"/>
                <a:sym typeface="Lato"/>
              </a:rPr>
              <a:t>i</a:t>
            </a:r>
            <a:r>
              <a:rPr lang="en-US" dirty="0">
                <a:solidFill>
                  <a:srgbClr val="FF0000"/>
                </a:solidFill>
                <a:latin typeface="Lato"/>
                <a:ea typeface="Lato"/>
                <a:cs typeface="Lato"/>
                <a:sym typeface="Lato"/>
              </a:rPr>
              <a:t> =</a:t>
            </a:r>
            <a:r>
              <a:rPr kumimoji="0" lang="en" b="0" i="0" u="none" strike="noStrike" kern="0" cap="none" spc="0" normalizeH="0" baseline="0" noProof="0" dirty="0">
                <a:ln>
                  <a:noFill/>
                </a:ln>
                <a:solidFill>
                  <a:srgbClr val="FF0000"/>
                </a:solidFill>
                <a:effectLst/>
                <a:uLnTx/>
                <a:uFillTx/>
                <a:latin typeface="Lato"/>
                <a:ea typeface="Lato"/>
                <a:cs typeface="Lato"/>
                <a:sym typeface="Lato"/>
              </a:rPr>
              <a:t> 1 TO 10M</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FF0000"/>
                </a:solidFill>
                <a:latin typeface="Lato"/>
                <a:ea typeface="Lato"/>
                <a:cs typeface="Lato"/>
                <a:sym typeface="Lato"/>
              </a:rPr>
              <a:t>      </a:t>
            </a:r>
            <a:r>
              <a:rPr lang="en" b="1" dirty="0">
                <a:solidFill>
                  <a:srgbClr val="FF0000"/>
                </a:solidFill>
                <a:latin typeface="Lato"/>
                <a:ea typeface="Lato"/>
                <a:cs typeface="Lato"/>
                <a:sym typeface="Lato"/>
              </a:rPr>
              <a:t>INSERT</a:t>
            </a:r>
            <a:r>
              <a:rPr lang="en" dirty="0">
                <a:solidFill>
                  <a:srgbClr val="FF0000"/>
                </a:solidFill>
                <a:latin typeface="Lato"/>
                <a:ea typeface="Lato"/>
                <a:cs typeface="Lato"/>
                <a:sym typeface="Lato"/>
              </a:rPr>
              <a:t> …</a:t>
            </a:r>
            <a:endParaRPr kumimoji="0" b="0" i="0" u="none" strike="noStrike" kern="0" cap="none" spc="0" normalizeH="0" baseline="0" noProof="0" dirty="0">
              <a:ln>
                <a:noFill/>
              </a:ln>
              <a:solidFill>
                <a:srgbClr val="FF0000"/>
              </a:solidFill>
              <a:effectLst/>
              <a:uLnTx/>
              <a:uFillTx/>
              <a:latin typeface="Lato"/>
              <a:ea typeface="Lato"/>
              <a:cs typeface="Lato"/>
              <a:sym typeface="Lato"/>
            </a:endParaRPr>
          </a:p>
        </p:txBody>
      </p:sp>
      <p:pic>
        <p:nvPicPr>
          <p:cNvPr id="20" name="Picture 19">
            <a:extLst>
              <a:ext uri="{FF2B5EF4-FFF2-40B4-BE49-F238E27FC236}">
                <a16:creationId xmlns:a16="http://schemas.microsoft.com/office/drawing/2014/main" id="{6CE729C3-1655-860E-BE1E-710E9FF09B67}"/>
              </a:ext>
            </a:extLst>
          </p:cNvPr>
          <p:cNvPicPr>
            <a:picLocks noChangeAspect="1"/>
          </p:cNvPicPr>
          <p:nvPr/>
        </p:nvPicPr>
        <p:blipFill>
          <a:blip r:embed="rId5"/>
          <a:stretch>
            <a:fillRect/>
          </a:stretch>
        </p:blipFill>
        <p:spPr>
          <a:xfrm>
            <a:off x="1675305" y="1879527"/>
            <a:ext cx="1095528" cy="181000"/>
          </a:xfrm>
          <a:prstGeom prst="rect">
            <a:avLst/>
          </a:prstGeom>
        </p:spPr>
      </p:pic>
      <p:sp>
        <p:nvSpPr>
          <p:cNvPr id="22" name="Google Shape;248;p56">
            <a:extLst>
              <a:ext uri="{FF2B5EF4-FFF2-40B4-BE49-F238E27FC236}">
                <a16:creationId xmlns:a16="http://schemas.microsoft.com/office/drawing/2014/main" id="{B6CFEC0D-C827-E7F0-625C-E523990A71F7}"/>
              </a:ext>
            </a:extLst>
          </p:cNvPr>
          <p:cNvSpPr txBox="1"/>
          <p:nvPr/>
        </p:nvSpPr>
        <p:spPr>
          <a:xfrm>
            <a:off x="2087313" y="1995077"/>
            <a:ext cx="635567" cy="36160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000" b="0" i="0" u="none" strike="noStrike" kern="0" cap="none" spc="0" normalizeH="0" baseline="0" noProof="0" dirty="0">
                <a:ln>
                  <a:noFill/>
                </a:ln>
                <a:solidFill>
                  <a:srgbClr val="000000"/>
                </a:solidFill>
                <a:effectLst/>
                <a:uLnTx/>
                <a:uFillTx/>
                <a:latin typeface="Lato"/>
                <a:ea typeface="Lato"/>
                <a:cs typeface="Lato"/>
                <a:sym typeface="Lato"/>
              </a:rPr>
              <a:t>or</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24" name="Picture 23">
            <a:extLst>
              <a:ext uri="{FF2B5EF4-FFF2-40B4-BE49-F238E27FC236}">
                <a16:creationId xmlns:a16="http://schemas.microsoft.com/office/drawing/2014/main" id="{A55AAF9C-ECDD-9ADD-CA04-85162D4031D0}"/>
              </a:ext>
            </a:extLst>
          </p:cNvPr>
          <p:cNvPicPr>
            <a:picLocks noChangeAspect="1"/>
          </p:cNvPicPr>
          <p:nvPr/>
        </p:nvPicPr>
        <p:blipFill>
          <a:blip r:embed="rId5"/>
          <a:stretch>
            <a:fillRect/>
          </a:stretch>
        </p:blipFill>
        <p:spPr>
          <a:xfrm>
            <a:off x="2703071" y="2310740"/>
            <a:ext cx="1095528" cy="181000"/>
          </a:xfrm>
          <a:prstGeom prst="rect">
            <a:avLst/>
          </a:prstGeom>
        </p:spPr>
      </p:pic>
      <p:pic>
        <p:nvPicPr>
          <p:cNvPr id="26" name="Picture 25">
            <a:extLst>
              <a:ext uri="{FF2B5EF4-FFF2-40B4-BE49-F238E27FC236}">
                <a16:creationId xmlns:a16="http://schemas.microsoft.com/office/drawing/2014/main" id="{1B741E84-A764-6965-B8F2-75909A44E401}"/>
              </a:ext>
            </a:extLst>
          </p:cNvPr>
          <p:cNvPicPr>
            <a:picLocks noChangeAspect="1"/>
          </p:cNvPicPr>
          <p:nvPr/>
        </p:nvPicPr>
        <p:blipFill>
          <a:blip r:embed="rId6"/>
          <a:stretch>
            <a:fillRect/>
          </a:stretch>
        </p:blipFill>
        <p:spPr>
          <a:xfrm>
            <a:off x="2150544" y="2305786"/>
            <a:ext cx="552527" cy="181000"/>
          </a:xfrm>
          <a:prstGeom prst="rect">
            <a:avLst/>
          </a:prstGeom>
        </p:spPr>
      </p:pic>
      <p:pic>
        <p:nvPicPr>
          <p:cNvPr id="28" name="Picture 27">
            <a:extLst>
              <a:ext uri="{FF2B5EF4-FFF2-40B4-BE49-F238E27FC236}">
                <a16:creationId xmlns:a16="http://schemas.microsoft.com/office/drawing/2014/main" id="{E407AA1E-C1A4-9D77-AD20-F15A684935F9}"/>
              </a:ext>
            </a:extLst>
          </p:cNvPr>
          <p:cNvPicPr>
            <a:picLocks noChangeAspect="1"/>
          </p:cNvPicPr>
          <p:nvPr/>
        </p:nvPicPr>
        <p:blipFill>
          <a:blip r:embed="rId6"/>
          <a:stretch>
            <a:fillRect/>
          </a:stretch>
        </p:blipFill>
        <p:spPr>
          <a:xfrm>
            <a:off x="1588919" y="2310740"/>
            <a:ext cx="552527" cy="181000"/>
          </a:xfrm>
          <a:prstGeom prst="rect">
            <a:avLst/>
          </a:prstGeom>
        </p:spPr>
      </p:pic>
      <p:pic>
        <p:nvPicPr>
          <p:cNvPr id="32" name="Picture 3">
            <a:extLst>
              <a:ext uri="{FF2B5EF4-FFF2-40B4-BE49-F238E27FC236}">
                <a16:creationId xmlns:a16="http://schemas.microsoft.com/office/drawing/2014/main" id="{27F7CFB0-0861-9AE5-64B6-E6CB8334E87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12082" y="1243006"/>
            <a:ext cx="875001" cy="547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 name="Picture 2">
            <a:extLst>
              <a:ext uri="{FF2B5EF4-FFF2-40B4-BE49-F238E27FC236}">
                <a16:creationId xmlns:a16="http://schemas.microsoft.com/office/drawing/2014/main" id="{16909AE0-0A64-DE5C-C1A2-DF1AA074233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00368" y="1625879"/>
            <a:ext cx="374248" cy="25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 name="Picture 3">
            <a:extLst>
              <a:ext uri="{FF2B5EF4-FFF2-40B4-BE49-F238E27FC236}">
                <a16:creationId xmlns:a16="http://schemas.microsoft.com/office/drawing/2014/main" id="{99B6220F-6E89-B362-FEC7-A8512C96C00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04926" y="1401161"/>
            <a:ext cx="356076" cy="258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 name="Picture 39">
            <a:extLst>
              <a:ext uri="{FF2B5EF4-FFF2-40B4-BE49-F238E27FC236}">
                <a16:creationId xmlns:a16="http://schemas.microsoft.com/office/drawing/2014/main" id="{B7CA58C4-DA47-6AEE-780A-27BB880696D7}"/>
              </a:ext>
            </a:extLst>
          </p:cNvPr>
          <p:cNvPicPr>
            <a:picLocks noChangeAspect="1"/>
          </p:cNvPicPr>
          <p:nvPr/>
        </p:nvPicPr>
        <p:blipFill>
          <a:blip r:embed="rId10"/>
          <a:stretch>
            <a:fillRect/>
          </a:stretch>
        </p:blipFill>
        <p:spPr>
          <a:xfrm>
            <a:off x="5539387" y="910017"/>
            <a:ext cx="760981" cy="845067"/>
          </a:xfrm>
          <a:prstGeom prst="rect">
            <a:avLst/>
          </a:prstGeom>
        </p:spPr>
      </p:pic>
      <p:pic>
        <p:nvPicPr>
          <p:cNvPr id="34" name="Picture 6">
            <a:extLst>
              <a:ext uri="{FF2B5EF4-FFF2-40B4-BE49-F238E27FC236}">
                <a16:creationId xmlns:a16="http://schemas.microsoft.com/office/drawing/2014/main" id="{4CE8330E-3A53-ACD8-3BD0-C0BECA79D630}"/>
              </a:ext>
            </a:extLst>
          </p:cNvPr>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34455" y="1326086"/>
            <a:ext cx="702581" cy="56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 name="Picture 41">
            <a:extLst>
              <a:ext uri="{FF2B5EF4-FFF2-40B4-BE49-F238E27FC236}">
                <a16:creationId xmlns:a16="http://schemas.microsoft.com/office/drawing/2014/main" id="{E40A1301-63FB-B5DF-F02D-5B54E04C601C}"/>
              </a:ext>
            </a:extLst>
          </p:cNvPr>
          <p:cNvPicPr>
            <a:picLocks noChangeAspect="1"/>
          </p:cNvPicPr>
          <p:nvPr/>
        </p:nvPicPr>
        <p:blipFill>
          <a:blip r:embed="rId10"/>
          <a:stretch>
            <a:fillRect/>
          </a:stretch>
        </p:blipFill>
        <p:spPr>
          <a:xfrm>
            <a:off x="7661064" y="1996737"/>
            <a:ext cx="760981" cy="845067"/>
          </a:xfrm>
          <a:prstGeom prst="rect">
            <a:avLst/>
          </a:prstGeom>
        </p:spPr>
      </p:pic>
      <p:pic>
        <p:nvPicPr>
          <p:cNvPr id="30" name="Picture 5">
            <a:extLst>
              <a:ext uri="{FF2B5EF4-FFF2-40B4-BE49-F238E27FC236}">
                <a16:creationId xmlns:a16="http://schemas.microsoft.com/office/drawing/2014/main" id="{E190F658-5F6E-2D9B-205A-18E4F89B7279}"/>
              </a:ext>
            </a:extLst>
          </p:cNvPr>
          <p:cNvPicPr>
            <a:picLocks noChangeAspect="1" noChangeArrowheads="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13789" y="1707786"/>
            <a:ext cx="868561" cy="747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8" name="Rectangle: Rounded Corners 47">
            <a:extLst>
              <a:ext uri="{FF2B5EF4-FFF2-40B4-BE49-F238E27FC236}">
                <a16:creationId xmlns:a16="http://schemas.microsoft.com/office/drawing/2014/main" id="{81122F09-73EF-EB8C-8C0C-2B5D1335973C}"/>
              </a:ext>
            </a:extLst>
          </p:cNvPr>
          <p:cNvSpPr/>
          <p:nvPr/>
        </p:nvSpPr>
        <p:spPr>
          <a:xfrm>
            <a:off x="5725127" y="2574642"/>
            <a:ext cx="1966918" cy="35133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Rounded Corners 49">
            <a:extLst>
              <a:ext uri="{FF2B5EF4-FFF2-40B4-BE49-F238E27FC236}">
                <a16:creationId xmlns:a16="http://schemas.microsoft.com/office/drawing/2014/main" id="{9985F263-7C4B-00DB-BF97-005C466E9D9C}"/>
              </a:ext>
            </a:extLst>
          </p:cNvPr>
          <p:cNvSpPr/>
          <p:nvPr/>
        </p:nvSpPr>
        <p:spPr>
          <a:xfrm>
            <a:off x="5725127" y="3088550"/>
            <a:ext cx="1966918" cy="35133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Google Shape;248;p56">
            <a:extLst>
              <a:ext uri="{FF2B5EF4-FFF2-40B4-BE49-F238E27FC236}">
                <a16:creationId xmlns:a16="http://schemas.microsoft.com/office/drawing/2014/main" id="{F09077F7-86D3-9CB0-229D-48C1D9EB0DE2}"/>
              </a:ext>
            </a:extLst>
          </p:cNvPr>
          <p:cNvSpPr txBox="1"/>
          <p:nvPr/>
        </p:nvSpPr>
        <p:spPr>
          <a:xfrm>
            <a:off x="5725129" y="3047867"/>
            <a:ext cx="2071744"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chemeClr val="bg1"/>
                </a:solidFill>
                <a:effectLst/>
                <a:uLnTx/>
                <a:uFillTx/>
                <a:latin typeface="Lato"/>
                <a:ea typeface="Lato"/>
                <a:cs typeface="Lato"/>
                <a:sym typeface="Lato"/>
              </a:rPr>
              <a:t>4.)  [ run time libraries ]</a:t>
            </a:r>
            <a:endParaRPr kumimoji="0" b="0" i="0" u="none" strike="noStrike" kern="0" cap="none" spc="0" normalizeH="0" baseline="0" noProof="0" dirty="0">
              <a:ln>
                <a:noFill/>
              </a:ln>
              <a:solidFill>
                <a:schemeClr val="bg1"/>
              </a:solidFill>
              <a:effectLst/>
              <a:uLnTx/>
              <a:uFillTx/>
              <a:latin typeface="Lato"/>
              <a:ea typeface="Lato"/>
              <a:cs typeface="Lato"/>
              <a:sym typeface="Lato"/>
            </a:endParaRPr>
          </a:p>
        </p:txBody>
      </p:sp>
      <p:sp>
        <p:nvSpPr>
          <p:cNvPr id="44" name="Google Shape;248;p56">
            <a:extLst>
              <a:ext uri="{FF2B5EF4-FFF2-40B4-BE49-F238E27FC236}">
                <a16:creationId xmlns:a16="http://schemas.microsoft.com/office/drawing/2014/main" id="{18CB4DBE-E048-B13F-2663-A5E411D8D584}"/>
              </a:ext>
            </a:extLst>
          </p:cNvPr>
          <p:cNvSpPr txBox="1"/>
          <p:nvPr/>
        </p:nvSpPr>
        <p:spPr>
          <a:xfrm>
            <a:off x="5725129" y="2534201"/>
            <a:ext cx="2071746"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chemeClr val="bg1"/>
                </a:solidFill>
                <a:effectLst/>
                <a:uLnTx/>
                <a:uFillTx/>
                <a:latin typeface="Lato"/>
                <a:ea typeface="Lato"/>
                <a:cs typeface="Lato"/>
                <a:sym typeface="Lato"/>
              </a:rPr>
              <a:t>1.) parser</a:t>
            </a:r>
            <a:endParaRPr kumimoji="0" b="0" i="0" u="none" strike="noStrike" kern="0" cap="none" spc="0" normalizeH="0" baseline="0" noProof="0" dirty="0">
              <a:ln>
                <a:noFill/>
              </a:ln>
              <a:solidFill>
                <a:schemeClr val="bg1"/>
              </a:solidFill>
              <a:effectLst/>
              <a:uLnTx/>
              <a:uFillTx/>
              <a:latin typeface="Lato"/>
              <a:ea typeface="Lato"/>
              <a:cs typeface="Lato"/>
              <a:sym typeface="Lato"/>
            </a:endParaRPr>
          </a:p>
        </p:txBody>
      </p:sp>
      <p:sp>
        <p:nvSpPr>
          <p:cNvPr id="52" name="Google Shape;248;p56">
            <a:extLst>
              <a:ext uri="{FF2B5EF4-FFF2-40B4-BE49-F238E27FC236}">
                <a16:creationId xmlns:a16="http://schemas.microsoft.com/office/drawing/2014/main" id="{CDA7CA68-8D0A-3D6F-FF16-B5FA6E540BBC}"/>
              </a:ext>
            </a:extLst>
          </p:cNvPr>
          <p:cNvSpPr txBox="1"/>
          <p:nvPr/>
        </p:nvSpPr>
        <p:spPr>
          <a:xfrm>
            <a:off x="1759312" y="2983553"/>
            <a:ext cx="2893972" cy="821733"/>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200" b="1" i="0" u="none" strike="noStrike" kern="0" cap="none" spc="0" normalizeH="0" baseline="0" noProof="0" dirty="0">
                <a:ln>
                  <a:noFill/>
                </a:ln>
                <a:solidFill>
                  <a:srgbClr val="00B0F0"/>
                </a:solidFill>
                <a:effectLst/>
                <a:uLnTx/>
                <a:uFillTx/>
                <a:latin typeface="Lato"/>
                <a:ea typeface="Lato"/>
                <a:cs typeface="Lato"/>
                <a:sym typeface="Lato"/>
              </a:rPr>
              <a:t>PREPARE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00B0F0"/>
                </a:solidFill>
                <a:effectLst/>
                <a:uLnTx/>
                <a:uFillTx/>
                <a:latin typeface="Lato"/>
                <a:ea typeface="Lato"/>
                <a:cs typeface="Lato"/>
                <a:sym typeface="Lato"/>
              </a:rPr>
              <a:t>FOR </a:t>
            </a:r>
            <a:r>
              <a:rPr lang="en-US" sz="1200" dirty="0" err="1">
                <a:solidFill>
                  <a:srgbClr val="00B0F0"/>
                </a:solidFill>
                <a:latin typeface="Lato"/>
                <a:ea typeface="Lato"/>
                <a:cs typeface="Lato"/>
                <a:sym typeface="Lato"/>
              </a:rPr>
              <a:t>i</a:t>
            </a:r>
            <a:r>
              <a:rPr lang="en-US" sz="1200" dirty="0">
                <a:solidFill>
                  <a:srgbClr val="00B0F0"/>
                </a:solidFill>
                <a:latin typeface="Lato"/>
                <a:ea typeface="Lato"/>
                <a:cs typeface="Lato"/>
                <a:sym typeface="Lato"/>
              </a:rPr>
              <a:t> =</a:t>
            </a:r>
            <a:r>
              <a:rPr kumimoji="0" lang="en" sz="1200" b="0" i="0" u="none" strike="noStrike" kern="0" cap="none" spc="0" normalizeH="0" baseline="0" noProof="0" dirty="0">
                <a:ln>
                  <a:noFill/>
                </a:ln>
                <a:solidFill>
                  <a:srgbClr val="00B0F0"/>
                </a:solidFill>
                <a:effectLst/>
                <a:uLnTx/>
                <a:uFillTx/>
                <a:latin typeface="Lato"/>
                <a:ea typeface="Lato"/>
                <a:cs typeface="Lato"/>
                <a:sym typeface="Lato"/>
              </a:rPr>
              <a:t> 1 TO 10M</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sz="1200" dirty="0">
                <a:solidFill>
                  <a:srgbClr val="00B0F0"/>
                </a:solidFill>
                <a:latin typeface="Lato"/>
                <a:ea typeface="Lato"/>
                <a:cs typeface="Lato"/>
                <a:sym typeface="Lato"/>
              </a:rPr>
              <a:t>      </a:t>
            </a:r>
            <a:r>
              <a:rPr lang="en" sz="1200" b="1" dirty="0">
                <a:solidFill>
                  <a:srgbClr val="00B0F0"/>
                </a:solidFill>
                <a:latin typeface="Lato"/>
                <a:ea typeface="Lato"/>
                <a:cs typeface="Lato"/>
                <a:sym typeface="Lato"/>
              </a:rPr>
              <a:t>EXECUTE</a:t>
            </a:r>
            <a:r>
              <a:rPr lang="en" sz="1200" dirty="0">
                <a:solidFill>
                  <a:srgbClr val="00B0F0"/>
                </a:solidFill>
                <a:latin typeface="Lato"/>
                <a:ea typeface="Lato"/>
                <a:cs typeface="Lato"/>
                <a:sym typeface="Lato"/>
              </a:rPr>
              <a:t> …</a:t>
            </a:r>
            <a:endParaRPr kumimoji="0" sz="1200" b="0" i="0" u="none" strike="noStrike" kern="0" cap="none" spc="0" normalizeH="0" baseline="0" noProof="0" dirty="0">
              <a:ln>
                <a:noFill/>
              </a:ln>
              <a:solidFill>
                <a:srgbClr val="00B0F0"/>
              </a:solidFill>
              <a:effectLst/>
              <a:uLnTx/>
              <a:uFillTx/>
              <a:latin typeface="Lato"/>
              <a:ea typeface="Lato"/>
              <a:cs typeface="Lato"/>
              <a:sym typeface="Lato"/>
            </a:endParaRPr>
          </a:p>
        </p:txBody>
      </p:sp>
      <p:sp>
        <p:nvSpPr>
          <p:cNvPr id="54" name="Google Shape;248;p56">
            <a:extLst>
              <a:ext uri="{FF2B5EF4-FFF2-40B4-BE49-F238E27FC236}">
                <a16:creationId xmlns:a16="http://schemas.microsoft.com/office/drawing/2014/main" id="{94E80FA7-84D9-68E4-169F-0E4E0F4D6EB9}"/>
              </a:ext>
            </a:extLst>
          </p:cNvPr>
          <p:cNvSpPr txBox="1"/>
          <p:nvPr/>
        </p:nvSpPr>
        <p:spPr>
          <a:xfrm>
            <a:off x="3732021" y="952044"/>
            <a:ext cx="1355566"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FF0000"/>
                </a:solidFill>
                <a:effectLst/>
                <a:uLnTx/>
                <a:uFillTx/>
                <a:latin typeface="Lato"/>
                <a:ea typeface="Lato"/>
                <a:cs typeface="Lato"/>
                <a:sym typeface="Lato"/>
              </a:rPr>
              <a:t>120 seconds ?</a:t>
            </a:r>
            <a:endParaRPr kumimoji="0" b="0" i="0" u="none" strike="noStrike" kern="0" cap="none" spc="0" normalizeH="0" baseline="0" noProof="0" dirty="0">
              <a:ln>
                <a:noFill/>
              </a:ln>
              <a:solidFill>
                <a:srgbClr val="FF0000"/>
              </a:solidFill>
              <a:effectLst/>
              <a:uLnTx/>
              <a:uFillTx/>
              <a:latin typeface="Lato"/>
              <a:ea typeface="Lato"/>
              <a:cs typeface="Lato"/>
              <a:sym typeface="Lato"/>
            </a:endParaRPr>
          </a:p>
        </p:txBody>
      </p:sp>
      <p:sp>
        <p:nvSpPr>
          <p:cNvPr id="56" name="Google Shape;248;p56">
            <a:extLst>
              <a:ext uri="{FF2B5EF4-FFF2-40B4-BE49-F238E27FC236}">
                <a16:creationId xmlns:a16="http://schemas.microsoft.com/office/drawing/2014/main" id="{1CFBB829-4EF3-2260-034E-5169B9B1877F}"/>
              </a:ext>
            </a:extLst>
          </p:cNvPr>
          <p:cNvSpPr txBox="1"/>
          <p:nvPr/>
        </p:nvSpPr>
        <p:spPr>
          <a:xfrm>
            <a:off x="3688291" y="3178221"/>
            <a:ext cx="1355566"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solidFill>
                  <a:srgbClr val="00B0F0"/>
                </a:solidFill>
                <a:latin typeface="Lato"/>
                <a:ea typeface="Lato"/>
                <a:cs typeface="Lato"/>
                <a:sym typeface="Lato"/>
              </a:rPr>
              <a:t>8  </a:t>
            </a:r>
            <a:r>
              <a:rPr kumimoji="0" lang="en-US" b="0" i="0" u="none" strike="noStrike" kern="0" cap="none" spc="0" normalizeH="0" baseline="0" noProof="0" dirty="0">
                <a:ln>
                  <a:noFill/>
                </a:ln>
                <a:solidFill>
                  <a:srgbClr val="00B0F0"/>
                </a:solidFill>
                <a:effectLst/>
                <a:uLnTx/>
                <a:uFillTx/>
                <a:latin typeface="Lato"/>
                <a:ea typeface="Lato"/>
                <a:cs typeface="Lato"/>
                <a:sym typeface="Lato"/>
              </a:rPr>
              <a:t> seconds ?</a:t>
            </a:r>
            <a:endParaRPr kumimoji="0" b="0" i="0" u="none" strike="noStrike" kern="0" cap="none" spc="0" normalizeH="0" baseline="0" noProof="0" dirty="0">
              <a:ln>
                <a:noFill/>
              </a:ln>
              <a:solidFill>
                <a:srgbClr val="00B0F0"/>
              </a:solidFill>
              <a:effectLst/>
              <a:uLnTx/>
              <a:uFillTx/>
              <a:latin typeface="Lato"/>
              <a:ea typeface="Lato"/>
              <a:cs typeface="Lato"/>
              <a:sym typeface="Lato"/>
            </a:endParaRPr>
          </a:p>
        </p:txBody>
      </p:sp>
    </p:spTree>
    <p:extLst>
      <p:ext uri="{BB962C8B-B14F-4D97-AF65-F5344CB8AC3E}">
        <p14:creationId xmlns:p14="http://schemas.microsoft.com/office/powerpoint/2010/main" val="242834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E4B93E2D-8EC6-ACE9-134B-3572C0B3B70F}"/>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03D437E1-3EBA-90A3-9861-9055D282E383}"/>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query optimizer; what constitutes a query (execution) plan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7D8ADFEE-5350-5312-EFE2-457E4F9390CB}"/>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4" name="Google Shape;248;p56">
            <a:extLst>
              <a:ext uri="{FF2B5EF4-FFF2-40B4-BE49-F238E27FC236}">
                <a16:creationId xmlns:a16="http://schemas.microsoft.com/office/drawing/2014/main" id="{C7FA8E97-07D4-2D9C-D03A-9FC7CD6CDF75}"/>
              </a:ext>
            </a:extLst>
          </p:cNvPr>
          <p:cNvSpPr txBox="1"/>
          <p:nvPr/>
        </p:nvSpPr>
        <p:spPr>
          <a:xfrm>
            <a:off x="258000" y="932539"/>
            <a:ext cx="8272606" cy="3086969"/>
          </a:xfrm>
          <a:prstGeom prst="rect">
            <a:avLst/>
          </a:prstGeom>
          <a:noFill/>
          <a:ln>
            <a:noFill/>
          </a:ln>
        </p:spPr>
        <p:txBody>
          <a:bodyPr spcFirstLastPara="1" wrap="square" lIns="91425" tIns="91425" rIns="91425" bIns="91425" anchor="t" anchorCtr="0">
            <a:spAutoFit/>
          </a:bodyPr>
          <a:lstStyle/>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1" i="0" u="none" strike="noStrike" kern="0" cap="none" spc="0" normalizeH="0" baseline="0" noProof="0" dirty="0">
                <a:ln>
                  <a:noFill/>
                </a:ln>
                <a:solidFill>
                  <a:srgbClr val="00B0F0"/>
                </a:solidFill>
                <a:effectLst/>
                <a:uLnTx/>
                <a:uFillTx/>
                <a:latin typeface="Lato"/>
                <a:ea typeface="Lato"/>
                <a:cs typeface="Lato"/>
                <a:sym typeface="Lato"/>
              </a:rPr>
              <a:t>file (table) access method</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solidFill>
                  <a:srgbClr val="00B0F0"/>
                </a:solidFill>
                <a:latin typeface="Lato"/>
                <a:ea typeface="Lato"/>
                <a:cs typeface="Lato"/>
                <a:sym typeface="Lato"/>
              </a:rPr>
              <a:t>join method  </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i="1" dirty="0">
                <a:solidFill>
                  <a:srgbClr val="00B0F0"/>
                </a:solidFill>
                <a:latin typeface="Lato"/>
                <a:ea typeface="Lato"/>
                <a:cs typeface="Lato"/>
                <a:sym typeface="Lato"/>
              </a:rPr>
              <a:t>t</a:t>
            </a:r>
            <a:r>
              <a:rPr kumimoji="0" lang="en" b="0" i="1" u="none" strike="noStrike" kern="0" cap="none" spc="0" normalizeH="0" baseline="0" noProof="0" dirty="0">
                <a:ln>
                  <a:noFill/>
                </a:ln>
                <a:solidFill>
                  <a:srgbClr val="00B0F0"/>
                </a:solidFill>
                <a:effectLst/>
                <a:uLnTx/>
                <a:uFillTx/>
                <a:latin typeface="Lato"/>
                <a:ea typeface="Lato"/>
                <a:cs typeface="Lato"/>
                <a:sym typeface="Lato"/>
              </a:rPr>
              <a:t>able order</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 dirty="0">
              <a:latin typeface="Lato"/>
              <a:ea typeface="Lato"/>
              <a:cs typeface="Lato"/>
              <a:sym typeface="Lato"/>
            </a:endParaRP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chemeClr val="bg1">
                    <a:lumMod val="50000"/>
                  </a:schemeClr>
                </a:solidFill>
                <a:effectLst/>
                <a:uLnTx/>
                <a:uFillTx/>
                <a:latin typeface="Lato"/>
                <a:ea typeface="Lato"/>
                <a:cs typeface="Lato"/>
                <a:sym typeface="Lato"/>
              </a:rPr>
              <a:t>predicate pushdown, filter placement</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chemeClr val="bg1">
                    <a:lumMod val="50000"/>
                  </a:schemeClr>
                </a:solidFill>
                <a:latin typeface="Lato"/>
                <a:ea typeface="Lato"/>
                <a:cs typeface="Lato"/>
                <a:sym typeface="Lato"/>
              </a:rPr>
              <a:t>aggregation strategy</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chemeClr val="bg1">
                    <a:lumMod val="50000"/>
                  </a:schemeClr>
                </a:solidFill>
                <a:effectLst/>
                <a:uLnTx/>
                <a:uFillTx/>
                <a:latin typeface="Lato"/>
                <a:ea typeface="Lato"/>
                <a:cs typeface="Lato"/>
                <a:sym typeface="Lato"/>
              </a:rPr>
              <a:t>sort elimination</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chemeClr val="bg1">
                    <a:lumMod val="50000"/>
                  </a:schemeClr>
                </a:solidFill>
                <a:latin typeface="Lato"/>
                <a:ea typeface="Lato"/>
                <a:cs typeface="Lato"/>
                <a:sym typeface="Lato"/>
              </a:rPr>
              <a:t>subquery transformation</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chemeClr val="bg1">
                    <a:lumMod val="50000"/>
                  </a:schemeClr>
                </a:solidFill>
                <a:effectLst/>
                <a:uLnTx/>
                <a:uFillTx/>
                <a:latin typeface="Lato"/>
                <a:ea typeface="Lato"/>
                <a:cs typeface="Lato"/>
                <a:sym typeface="Lato"/>
              </a:rPr>
              <a:t>materialization versus pi</a:t>
            </a:r>
            <a:r>
              <a:rPr lang="en-US" sz="1200" dirty="0">
                <a:solidFill>
                  <a:schemeClr val="bg1">
                    <a:lumMod val="50000"/>
                  </a:schemeClr>
                </a:solidFill>
                <a:latin typeface="Lato"/>
                <a:ea typeface="Lato"/>
                <a:cs typeface="Lato"/>
                <a:sym typeface="Lato"/>
              </a:rPr>
              <a:t>pe lining</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chemeClr val="bg1">
                    <a:lumMod val="50000"/>
                  </a:schemeClr>
                </a:solidFill>
                <a:effectLst/>
                <a:uLnTx/>
                <a:uFillTx/>
                <a:latin typeface="Lato"/>
                <a:ea typeface="Lato"/>
                <a:cs typeface="Lato"/>
                <a:sym typeface="Lato"/>
              </a:rPr>
              <a:t>parallel execution planning</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chemeClr val="bg1">
                    <a:lumMod val="50000"/>
                  </a:schemeClr>
                </a:solidFill>
                <a:latin typeface="Lato"/>
                <a:ea typeface="Lato"/>
                <a:cs typeface="Lato"/>
                <a:sym typeface="Lato"/>
              </a:rPr>
              <a:t>partition pruning</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chemeClr val="bg1">
                    <a:lumMod val="50000"/>
                  </a:schemeClr>
                </a:solidFill>
                <a:effectLst/>
                <a:uLnTx/>
                <a:uFillTx/>
                <a:latin typeface="Lato"/>
                <a:ea typeface="Lato"/>
                <a:cs typeface="Lato"/>
                <a:sym typeface="Lato"/>
              </a:rPr>
              <a:t>constants folding, expression simplification</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chemeClr val="bg1">
                    <a:lumMod val="50000"/>
                  </a:schemeClr>
                </a:solidFill>
                <a:latin typeface="Lato"/>
                <a:ea typeface="Lato"/>
                <a:cs typeface="Lato"/>
                <a:sym typeface="Lato"/>
              </a:rPr>
              <a:t>view/CTE inlining</a:t>
            </a:r>
            <a:endParaRPr kumimoji="0" sz="1200" b="0" i="0" u="none" strike="noStrike" kern="0" cap="none" spc="0" normalizeH="0" baseline="0" noProof="0" dirty="0">
              <a:ln>
                <a:noFill/>
              </a:ln>
              <a:solidFill>
                <a:schemeClr val="bg1">
                  <a:lumMod val="50000"/>
                </a:schemeClr>
              </a:solidFill>
              <a:effectLst/>
              <a:uLnTx/>
              <a:uFillTx/>
              <a:latin typeface="Lato"/>
              <a:ea typeface="Lato"/>
              <a:cs typeface="Lato"/>
              <a:sym typeface="Lato"/>
            </a:endParaRPr>
          </a:p>
        </p:txBody>
      </p:sp>
    </p:spTree>
    <p:extLst>
      <p:ext uri="{BB962C8B-B14F-4D97-AF65-F5344CB8AC3E}">
        <p14:creationId xmlns:p14="http://schemas.microsoft.com/office/powerpoint/2010/main" val="4046421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EA0D5C05-42D1-9DED-0855-918185829794}"/>
            </a:ext>
          </a:extLst>
        </p:cNvPr>
        <p:cNvGrpSpPr/>
        <p:nvPr/>
      </p:nvGrpSpPr>
      <p:grpSpPr>
        <a:xfrm>
          <a:off x="0" y="0"/>
          <a:ext cx="0" cy="0"/>
          <a:chOff x="0" y="0"/>
          <a:chExt cx="0" cy="0"/>
        </a:xfrm>
      </p:grpSpPr>
      <p:sp>
        <p:nvSpPr>
          <p:cNvPr id="305" name="Google Shape;248;p56">
            <a:extLst>
              <a:ext uri="{FF2B5EF4-FFF2-40B4-BE49-F238E27FC236}">
                <a16:creationId xmlns:a16="http://schemas.microsoft.com/office/drawing/2014/main" id="{47CDDE15-8099-D2D9-8DBA-6550455EBB4E}"/>
              </a:ext>
            </a:extLst>
          </p:cNvPr>
          <p:cNvSpPr txBox="1"/>
          <p:nvPr/>
        </p:nvSpPr>
        <p:spPr>
          <a:xfrm>
            <a:off x="4107233" y="3299552"/>
            <a:ext cx="5036767" cy="1600408"/>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 sz="1000" b="0" i="0" u="none" strike="noStrike" kern="0" cap="none" spc="0" normalizeH="0" baseline="0" noProof="0" dirty="0">
                <a:ln>
                  <a:noFill/>
                </a:ln>
                <a:solidFill>
                  <a:srgbClr val="000000"/>
                </a:solidFill>
                <a:effectLst/>
                <a:uLnTx/>
                <a:uFillTx/>
                <a:latin typeface="Lato"/>
                <a:ea typeface="Lato"/>
                <a:cs typeface="Lato"/>
                <a:sym typeface="Lato"/>
              </a:rPr>
              <a:t>index types:</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sz="1000" b="0" i="0" u="none" strike="noStrike" kern="0" cap="none" spc="0" normalizeH="0" baseline="0" noProof="0" dirty="0">
                <a:ln>
                  <a:noFill/>
                </a:ln>
                <a:solidFill>
                  <a:srgbClr val="000000"/>
                </a:solidFill>
                <a:effectLst/>
                <a:uLnTx/>
                <a:uFillTx/>
                <a:latin typeface="Lato"/>
                <a:ea typeface="Lato"/>
                <a:cs typeface="Lato"/>
                <a:sym typeface="Lato"/>
              </a:rPr>
              <a:t>b-tree+, (implied above) the oldest sql index type, volatile data, equality and range </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000" dirty="0">
                <a:latin typeface="Lato"/>
                <a:ea typeface="Lato"/>
                <a:cs typeface="Lato"/>
                <a:sym typeface="Lato"/>
              </a:rPr>
              <a:t>hash, second oldest, most performant, equality yes, range no</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000" dirty="0">
                <a:latin typeface="Lato"/>
                <a:ea typeface="Lato"/>
                <a:cs typeface="Lato"/>
                <a:sym typeface="Lato"/>
              </a:rPr>
              <a:t>lsm, log structured merge-tree, modern choice (index ordered tables)</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000" dirty="0">
                <a:latin typeface="Lato"/>
                <a:ea typeface="Lato"/>
                <a:cs typeface="Lato"/>
                <a:sym typeface="Lato"/>
              </a:rPr>
              <a:t>gin</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000" dirty="0">
                <a:latin typeface="Lato"/>
                <a:ea typeface="Lato"/>
                <a:cs typeface="Lato"/>
                <a:sym typeface="Lato"/>
              </a:rPr>
              <a:t>bitmap</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000" dirty="0">
                <a:latin typeface="Lato"/>
                <a:ea typeface="Lato"/>
                <a:cs typeface="Lato"/>
                <a:sym typeface="Lato"/>
              </a:rPr>
              <a:t>   (other)</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sz="1000" b="0" i="1"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242" name="Google Shape;242;p56">
            <a:extLst>
              <a:ext uri="{FF2B5EF4-FFF2-40B4-BE49-F238E27FC236}">
                <a16:creationId xmlns:a16="http://schemas.microsoft.com/office/drawing/2014/main" id="{4E2A3958-6104-F951-1739-2F7DA1D00E2B}"/>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file access methods, (traditionally, all databases)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5950D459-8BA6-7B12-75A4-134442C3E702}"/>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ECF6ED86-DA53-3D9E-3159-D82C12EC8CC3}"/>
              </a:ext>
            </a:extLst>
          </p:cNvPr>
          <p:cNvSpPr txBox="1"/>
          <p:nvPr/>
        </p:nvSpPr>
        <p:spPr>
          <a:xfrm>
            <a:off x="315981" y="1244428"/>
            <a:ext cx="3908689"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1" i="0" u="none" strike="noStrike" kern="0" cap="none" spc="0" normalizeH="0" baseline="0" noProof="0" dirty="0">
                <a:ln>
                  <a:noFill/>
                </a:ln>
                <a:solidFill>
                  <a:srgbClr val="000000"/>
                </a:solidFill>
                <a:effectLst/>
                <a:uLnTx/>
                <a:uFillTx/>
                <a:latin typeface="Lato"/>
                <a:ea typeface="Lato"/>
                <a:cs typeface="Lato"/>
                <a:sym typeface="Lato"/>
              </a:rPr>
              <a:t>sequential scan   </a:t>
            </a:r>
            <a:r>
              <a:rPr kumimoji="0" lang="en" b="0" i="0" u="none" strike="noStrike" kern="0" cap="none" spc="0" normalizeH="0" baseline="0" noProof="0" dirty="0">
                <a:ln>
                  <a:noFill/>
                </a:ln>
                <a:solidFill>
                  <a:srgbClr val="000000"/>
                </a:solidFill>
                <a:effectLst/>
                <a:uLnTx/>
                <a:uFillTx/>
                <a:latin typeface="Lato"/>
                <a:ea typeface="Lato"/>
                <a:cs typeface="Lato"/>
                <a:sym typeface="Lato"/>
              </a:rPr>
              <a:t>( O ( n ))</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 name="Google Shape;248;p56">
            <a:extLst>
              <a:ext uri="{FF2B5EF4-FFF2-40B4-BE49-F238E27FC236}">
                <a16:creationId xmlns:a16="http://schemas.microsoft.com/office/drawing/2014/main" id="{14AA88AF-4CAB-5676-FFD7-98A9673EB908}"/>
              </a:ext>
            </a:extLst>
          </p:cNvPr>
          <p:cNvSpPr txBox="1"/>
          <p:nvPr/>
        </p:nvSpPr>
        <p:spPr>
          <a:xfrm>
            <a:off x="4179311" y="996348"/>
            <a:ext cx="3908689"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1" i="0" u="none" strike="noStrike" kern="0" cap="none" spc="0" normalizeH="0" baseline="0" noProof="0" dirty="0">
                <a:ln>
                  <a:noFill/>
                </a:ln>
                <a:solidFill>
                  <a:srgbClr val="000000"/>
                </a:solidFill>
                <a:effectLst/>
                <a:uLnTx/>
                <a:uFillTx/>
                <a:latin typeface="Lato"/>
                <a:ea typeface="Lato"/>
                <a:cs typeface="Lato"/>
                <a:sym typeface="Lato"/>
              </a:rPr>
              <a:t>index lookup   </a:t>
            </a:r>
            <a:r>
              <a:rPr kumimoji="0" lang="en" b="0" i="0" u="none" strike="noStrike" kern="0" cap="none" spc="0" normalizeH="0" baseline="0" noProof="0" dirty="0">
                <a:ln>
                  <a:noFill/>
                </a:ln>
                <a:solidFill>
                  <a:srgbClr val="000000"/>
                </a:solidFill>
                <a:effectLst/>
                <a:uLnTx/>
                <a:uFillTx/>
                <a:latin typeface="Lato"/>
                <a:ea typeface="Lato"/>
                <a:cs typeface="Lato"/>
                <a:sym typeface="Lato"/>
              </a:rPr>
              <a:t>( O ( log n ))    </a:t>
            </a:r>
            <a:r>
              <a:rPr kumimoji="0" lang="en" sz="1200" b="0" i="1" u="none" strike="noStrike" kern="0" cap="none" spc="0" normalizeH="0" baseline="0" noProof="0" dirty="0">
                <a:ln>
                  <a:noFill/>
                </a:ln>
                <a:solidFill>
                  <a:srgbClr val="000000"/>
                </a:solidFill>
                <a:effectLst/>
                <a:uLnTx/>
                <a:uFillTx/>
                <a:latin typeface="Lato"/>
                <a:ea typeface="Lato"/>
                <a:cs typeface="Lato"/>
                <a:sym typeface="Lato"/>
              </a:rPr>
              <a:t>much better at scale</a:t>
            </a:r>
            <a:endParaRPr kumimoji="0" sz="1200" b="0" i="1"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6" name="Google Shape;248;p56">
            <a:extLst>
              <a:ext uri="{FF2B5EF4-FFF2-40B4-BE49-F238E27FC236}">
                <a16:creationId xmlns:a16="http://schemas.microsoft.com/office/drawing/2014/main" id="{22E16BC9-D0B9-E89D-5197-C045E7E0CA17}"/>
              </a:ext>
            </a:extLst>
          </p:cNvPr>
          <p:cNvSpPr txBox="1"/>
          <p:nvPr/>
        </p:nvSpPr>
        <p:spPr>
          <a:xfrm>
            <a:off x="663311" y="679628"/>
            <a:ext cx="3908689" cy="503184"/>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1" i="0" u="none" strike="noStrike" kern="0" cap="none" spc="0" normalizeH="0" baseline="0" noProof="0" dirty="0">
                <a:ln>
                  <a:noFill/>
                </a:ln>
                <a:solidFill>
                  <a:srgbClr val="000000"/>
                </a:solidFill>
                <a:effectLst/>
                <a:uLnTx/>
                <a:uFillTx/>
                <a:latin typeface="Lato"/>
                <a:ea typeface="Lato"/>
                <a:cs typeface="Lato"/>
                <a:sym typeface="Lato"/>
              </a:rPr>
              <a:t>.. WHERE prod_name = 'Mustard'</a:t>
            </a:r>
            <a:endParaRPr kumimoji="0" sz="1800" b="1"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8" name="Rectangle 7">
            <a:extLst>
              <a:ext uri="{FF2B5EF4-FFF2-40B4-BE49-F238E27FC236}">
                <a16:creationId xmlns:a16="http://schemas.microsoft.com/office/drawing/2014/main" id="{AE63787B-6FE9-85A6-0291-7DA11F92A5E9}"/>
              </a:ext>
            </a:extLst>
          </p:cNvPr>
          <p:cNvSpPr/>
          <p:nvPr/>
        </p:nvSpPr>
        <p:spPr>
          <a:xfrm>
            <a:off x="557455" y="1676076"/>
            <a:ext cx="2438400" cy="1618488"/>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625D5F95-EE36-C1C1-2BC1-CD7CBE31AA60}"/>
              </a:ext>
            </a:extLst>
          </p:cNvPr>
          <p:cNvCxnSpPr/>
          <p:nvPr/>
        </p:nvCxnSpPr>
        <p:spPr>
          <a:xfrm>
            <a:off x="557455" y="2191684"/>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8542B8D-0A35-4E08-D0A9-3E40831A5331}"/>
              </a:ext>
            </a:extLst>
          </p:cNvPr>
          <p:cNvCxnSpPr/>
          <p:nvPr/>
        </p:nvCxnSpPr>
        <p:spPr>
          <a:xfrm>
            <a:off x="557455" y="1827248"/>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125165B-624E-A78A-67A8-4CA172940136}"/>
              </a:ext>
            </a:extLst>
          </p:cNvPr>
          <p:cNvCxnSpPr/>
          <p:nvPr/>
        </p:nvCxnSpPr>
        <p:spPr>
          <a:xfrm>
            <a:off x="557455" y="2009466"/>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7871082-5858-26E2-2223-0E46CC0308D4}"/>
              </a:ext>
            </a:extLst>
          </p:cNvPr>
          <p:cNvCxnSpPr/>
          <p:nvPr/>
        </p:nvCxnSpPr>
        <p:spPr>
          <a:xfrm>
            <a:off x="557455" y="2373902"/>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CF73F66-5F9D-6215-AE86-E49838783C00}"/>
              </a:ext>
            </a:extLst>
          </p:cNvPr>
          <p:cNvCxnSpPr/>
          <p:nvPr/>
        </p:nvCxnSpPr>
        <p:spPr>
          <a:xfrm>
            <a:off x="557455" y="3102774"/>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BB388A-67CC-AD6E-7F39-C47568E26B34}"/>
              </a:ext>
            </a:extLst>
          </p:cNvPr>
          <p:cNvCxnSpPr/>
          <p:nvPr/>
        </p:nvCxnSpPr>
        <p:spPr>
          <a:xfrm>
            <a:off x="557455" y="2920556"/>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34CCF38-5245-0A3D-89E0-63AA1C9F5DA7}"/>
              </a:ext>
            </a:extLst>
          </p:cNvPr>
          <p:cNvCxnSpPr/>
          <p:nvPr/>
        </p:nvCxnSpPr>
        <p:spPr>
          <a:xfrm>
            <a:off x="557455" y="2738338"/>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F60D7AB-CCC5-C9B1-AFDC-DB7FE19A7B00}"/>
              </a:ext>
            </a:extLst>
          </p:cNvPr>
          <p:cNvCxnSpPr/>
          <p:nvPr/>
        </p:nvCxnSpPr>
        <p:spPr>
          <a:xfrm>
            <a:off x="2109888" y="1669088"/>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89E3495-FC80-E406-76EA-F5B00015E19A}"/>
              </a:ext>
            </a:extLst>
          </p:cNvPr>
          <p:cNvSpPr txBox="1"/>
          <p:nvPr/>
        </p:nvSpPr>
        <p:spPr>
          <a:xfrm>
            <a:off x="2365728" y="3074487"/>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18" name="TextBox 17">
            <a:extLst>
              <a:ext uri="{FF2B5EF4-FFF2-40B4-BE49-F238E27FC236}">
                <a16:creationId xmlns:a16="http://schemas.microsoft.com/office/drawing/2014/main" id="{8CF274F9-68DA-4E51-907A-C6805EEC9B52}"/>
              </a:ext>
            </a:extLst>
          </p:cNvPr>
          <p:cNvSpPr txBox="1"/>
          <p:nvPr/>
        </p:nvSpPr>
        <p:spPr>
          <a:xfrm>
            <a:off x="2109888" y="2157972"/>
            <a:ext cx="638316" cy="246221"/>
          </a:xfrm>
          <a:prstGeom prst="rect">
            <a:avLst/>
          </a:prstGeom>
          <a:noFill/>
        </p:spPr>
        <p:txBody>
          <a:bodyPr wrap="none" rtlCol="0">
            <a:spAutoFit/>
          </a:bodyPr>
          <a:lstStyle/>
          <a:p>
            <a:r>
              <a:rPr lang="en-US" sz="1000" b="1" dirty="0">
                <a:solidFill>
                  <a:schemeClr val="bg1">
                    <a:lumMod val="50000"/>
                  </a:schemeClr>
                </a:solidFill>
              </a:rPr>
              <a:t>Cheese</a:t>
            </a:r>
          </a:p>
        </p:txBody>
      </p:sp>
      <p:sp>
        <p:nvSpPr>
          <p:cNvPr id="19" name="TextBox 18">
            <a:extLst>
              <a:ext uri="{FF2B5EF4-FFF2-40B4-BE49-F238E27FC236}">
                <a16:creationId xmlns:a16="http://schemas.microsoft.com/office/drawing/2014/main" id="{6012A129-8FDB-2E1E-DD5A-960C4147C95C}"/>
              </a:ext>
            </a:extLst>
          </p:cNvPr>
          <p:cNvSpPr txBox="1"/>
          <p:nvPr/>
        </p:nvSpPr>
        <p:spPr>
          <a:xfrm>
            <a:off x="2109888" y="1974669"/>
            <a:ext cx="546945" cy="246221"/>
          </a:xfrm>
          <a:prstGeom prst="rect">
            <a:avLst/>
          </a:prstGeom>
          <a:noFill/>
        </p:spPr>
        <p:txBody>
          <a:bodyPr wrap="none" rtlCol="0">
            <a:spAutoFit/>
          </a:bodyPr>
          <a:lstStyle/>
          <a:p>
            <a:r>
              <a:rPr lang="en-US" sz="1000" b="1" dirty="0">
                <a:solidFill>
                  <a:schemeClr val="bg1">
                    <a:lumMod val="50000"/>
                  </a:schemeClr>
                </a:solidFill>
              </a:rPr>
              <a:t>Bread</a:t>
            </a:r>
          </a:p>
        </p:txBody>
      </p:sp>
      <p:sp>
        <p:nvSpPr>
          <p:cNvPr id="20" name="TextBox 19">
            <a:extLst>
              <a:ext uri="{FF2B5EF4-FFF2-40B4-BE49-F238E27FC236}">
                <a16:creationId xmlns:a16="http://schemas.microsoft.com/office/drawing/2014/main" id="{EA3E1286-0814-50E3-9E7C-EA5C7D370958}"/>
              </a:ext>
            </a:extLst>
          </p:cNvPr>
          <p:cNvSpPr txBox="1"/>
          <p:nvPr/>
        </p:nvSpPr>
        <p:spPr>
          <a:xfrm>
            <a:off x="2109888" y="1791366"/>
            <a:ext cx="433132" cy="246221"/>
          </a:xfrm>
          <a:prstGeom prst="rect">
            <a:avLst/>
          </a:prstGeom>
          <a:noFill/>
        </p:spPr>
        <p:txBody>
          <a:bodyPr wrap="none" rtlCol="0">
            <a:spAutoFit/>
          </a:bodyPr>
          <a:lstStyle/>
          <a:p>
            <a:r>
              <a:rPr lang="en-US" sz="1000" b="1" dirty="0">
                <a:solidFill>
                  <a:schemeClr val="bg1">
                    <a:lumMod val="50000"/>
                  </a:schemeClr>
                </a:solidFill>
              </a:rPr>
              <a:t>Milk</a:t>
            </a:r>
          </a:p>
        </p:txBody>
      </p:sp>
      <p:sp>
        <p:nvSpPr>
          <p:cNvPr id="21" name="TextBox 20">
            <a:extLst>
              <a:ext uri="{FF2B5EF4-FFF2-40B4-BE49-F238E27FC236}">
                <a16:creationId xmlns:a16="http://schemas.microsoft.com/office/drawing/2014/main" id="{912CD33F-3913-A819-947F-58BF9E5FCC2F}"/>
              </a:ext>
            </a:extLst>
          </p:cNvPr>
          <p:cNvSpPr txBox="1"/>
          <p:nvPr/>
        </p:nvSpPr>
        <p:spPr>
          <a:xfrm>
            <a:off x="2109888" y="1608063"/>
            <a:ext cx="873957" cy="246221"/>
          </a:xfrm>
          <a:prstGeom prst="rect">
            <a:avLst/>
          </a:prstGeom>
          <a:noFill/>
        </p:spPr>
        <p:txBody>
          <a:bodyPr wrap="none" rtlCol="0">
            <a:spAutoFit/>
          </a:bodyPr>
          <a:lstStyle/>
          <a:p>
            <a:r>
              <a:rPr lang="en-US" sz="1000" b="1" dirty="0" err="1"/>
              <a:t>prod_name</a:t>
            </a:r>
            <a:endParaRPr lang="en-US" sz="1000" b="1" dirty="0"/>
          </a:p>
        </p:txBody>
      </p:sp>
      <p:sp>
        <p:nvSpPr>
          <p:cNvPr id="22" name="TextBox 21">
            <a:extLst>
              <a:ext uri="{FF2B5EF4-FFF2-40B4-BE49-F238E27FC236}">
                <a16:creationId xmlns:a16="http://schemas.microsoft.com/office/drawing/2014/main" id="{042B80DE-57EC-22DD-72B5-782D960367EE}"/>
              </a:ext>
            </a:extLst>
          </p:cNvPr>
          <p:cNvSpPr txBox="1"/>
          <p:nvPr/>
        </p:nvSpPr>
        <p:spPr>
          <a:xfrm>
            <a:off x="2109888" y="2891184"/>
            <a:ext cx="683200" cy="246221"/>
          </a:xfrm>
          <a:prstGeom prst="rect">
            <a:avLst/>
          </a:prstGeom>
          <a:noFill/>
        </p:spPr>
        <p:txBody>
          <a:bodyPr wrap="none" rtlCol="0">
            <a:spAutoFit/>
          </a:bodyPr>
          <a:lstStyle/>
          <a:p>
            <a:r>
              <a:rPr lang="en-US" sz="1000" b="1" dirty="0">
                <a:solidFill>
                  <a:schemeClr val="bg1">
                    <a:lumMod val="50000"/>
                  </a:schemeClr>
                </a:solidFill>
              </a:rPr>
              <a:t>Mustard</a:t>
            </a:r>
          </a:p>
        </p:txBody>
      </p:sp>
      <p:sp>
        <p:nvSpPr>
          <p:cNvPr id="23" name="TextBox 22">
            <a:extLst>
              <a:ext uri="{FF2B5EF4-FFF2-40B4-BE49-F238E27FC236}">
                <a16:creationId xmlns:a16="http://schemas.microsoft.com/office/drawing/2014/main" id="{84041B87-D89D-5B8D-C0D0-A87B5C1BF11F}"/>
              </a:ext>
            </a:extLst>
          </p:cNvPr>
          <p:cNvSpPr txBox="1"/>
          <p:nvPr/>
        </p:nvSpPr>
        <p:spPr>
          <a:xfrm>
            <a:off x="2109888" y="2707881"/>
            <a:ext cx="731290" cy="246221"/>
          </a:xfrm>
          <a:prstGeom prst="rect">
            <a:avLst/>
          </a:prstGeom>
          <a:noFill/>
        </p:spPr>
        <p:txBody>
          <a:bodyPr wrap="none" rtlCol="0">
            <a:spAutoFit/>
          </a:bodyPr>
          <a:lstStyle/>
          <a:p>
            <a:r>
              <a:rPr lang="en-US" sz="1000" b="1" dirty="0">
                <a:solidFill>
                  <a:schemeClr val="bg1">
                    <a:lumMod val="50000"/>
                  </a:schemeClr>
                </a:solidFill>
              </a:rPr>
              <a:t>Batteries</a:t>
            </a:r>
          </a:p>
        </p:txBody>
      </p:sp>
      <p:sp>
        <p:nvSpPr>
          <p:cNvPr id="24" name="TextBox 23">
            <a:extLst>
              <a:ext uri="{FF2B5EF4-FFF2-40B4-BE49-F238E27FC236}">
                <a16:creationId xmlns:a16="http://schemas.microsoft.com/office/drawing/2014/main" id="{49E56EAA-ED72-932F-79B1-9FECCEACAC6D}"/>
              </a:ext>
            </a:extLst>
          </p:cNvPr>
          <p:cNvSpPr txBox="1"/>
          <p:nvPr/>
        </p:nvSpPr>
        <p:spPr>
          <a:xfrm>
            <a:off x="2109888" y="2524578"/>
            <a:ext cx="497252" cy="246221"/>
          </a:xfrm>
          <a:prstGeom prst="rect">
            <a:avLst/>
          </a:prstGeom>
          <a:noFill/>
        </p:spPr>
        <p:txBody>
          <a:bodyPr wrap="none" rtlCol="0">
            <a:spAutoFit/>
          </a:bodyPr>
          <a:lstStyle/>
          <a:p>
            <a:r>
              <a:rPr lang="en-US" sz="1000" b="1" dirty="0">
                <a:solidFill>
                  <a:schemeClr val="bg1">
                    <a:lumMod val="50000"/>
                  </a:schemeClr>
                </a:solidFill>
              </a:rPr>
              <a:t>Eggs</a:t>
            </a:r>
          </a:p>
        </p:txBody>
      </p:sp>
      <p:sp>
        <p:nvSpPr>
          <p:cNvPr id="25" name="TextBox 24">
            <a:extLst>
              <a:ext uri="{FF2B5EF4-FFF2-40B4-BE49-F238E27FC236}">
                <a16:creationId xmlns:a16="http://schemas.microsoft.com/office/drawing/2014/main" id="{71136FCD-6583-4699-26C7-05FB01CDE80F}"/>
              </a:ext>
            </a:extLst>
          </p:cNvPr>
          <p:cNvSpPr txBox="1"/>
          <p:nvPr/>
        </p:nvSpPr>
        <p:spPr>
          <a:xfrm>
            <a:off x="2109888" y="2341275"/>
            <a:ext cx="476412" cy="246221"/>
          </a:xfrm>
          <a:prstGeom prst="rect">
            <a:avLst/>
          </a:prstGeom>
          <a:noFill/>
        </p:spPr>
        <p:txBody>
          <a:bodyPr wrap="none" rtlCol="0">
            <a:spAutoFit/>
          </a:bodyPr>
          <a:lstStyle/>
          <a:p>
            <a:r>
              <a:rPr lang="en-US" sz="1000" b="1" dirty="0">
                <a:solidFill>
                  <a:schemeClr val="bg1">
                    <a:lumMod val="50000"/>
                  </a:schemeClr>
                </a:solidFill>
              </a:rPr>
              <a:t>Meat</a:t>
            </a:r>
          </a:p>
        </p:txBody>
      </p:sp>
      <p:sp>
        <p:nvSpPr>
          <p:cNvPr id="26" name="TextBox 25">
            <a:extLst>
              <a:ext uri="{FF2B5EF4-FFF2-40B4-BE49-F238E27FC236}">
                <a16:creationId xmlns:a16="http://schemas.microsoft.com/office/drawing/2014/main" id="{D7AFA794-6D38-8F5C-216B-5F2BD5B57073}"/>
              </a:ext>
            </a:extLst>
          </p:cNvPr>
          <p:cNvSpPr txBox="1"/>
          <p:nvPr/>
        </p:nvSpPr>
        <p:spPr>
          <a:xfrm>
            <a:off x="1281043" y="3074487"/>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27" name="TextBox 26">
            <a:extLst>
              <a:ext uri="{FF2B5EF4-FFF2-40B4-BE49-F238E27FC236}">
                <a16:creationId xmlns:a16="http://schemas.microsoft.com/office/drawing/2014/main" id="{EE994418-76A3-931D-9B06-76C1046D0B4D}"/>
              </a:ext>
            </a:extLst>
          </p:cNvPr>
          <p:cNvSpPr txBox="1"/>
          <p:nvPr/>
        </p:nvSpPr>
        <p:spPr>
          <a:xfrm>
            <a:off x="1281043" y="2157972"/>
            <a:ext cx="396262" cy="246221"/>
          </a:xfrm>
          <a:prstGeom prst="rect">
            <a:avLst/>
          </a:prstGeom>
          <a:noFill/>
        </p:spPr>
        <p:txBody>
          <a:bodyPr wrap="none" rtlCol="0">
            <a:spAutoFit/>
          </a:bodyPr>
          <a:lstStyle/>
          <a:p>
            <a:r>
              <a:rPr lang="en-US" sz="1000" b="1" dirty="0">
                <a:solidFill>
                  <a:schemeClr val="bg1">
                    <a:lumMod val="50000"/>
                  </a:schemeClr>
                </a:solidFill>
              </a:rPr>
              <a:t>402</a:t>
            </a:r>
          </a:p>
        </p:txBody>
      </p:sp>
      <p:sp>
        <p:nvSpPr>
          <p:cNvPr id="28" name="TextBox 27">
            <a:extLst>
              <a:ext uri="{FF2B5EF4-FFF2-40B4-BE49-F238E27FC236}">
                <a16:creationId xmlns:a16="http://schemas.microsoft.com/office/drawing/2014/main" id="{C1775EE7-A009-7F1E-FE8C-1A13FC156A2B}"/>
              </a:ext>
            </a:extLst>
          </p:cNvPr>
          <p:cNvSpPr txBox="1"/>
          <p:nvPr/>
        </p:nvSpPr>
        <p:spPr>
          <a:xfrm>
            <a:off x="1281043" y="1974669"/>
            <a:ext cx="396262" cy="246221"/>
          </a:xfrm>
          <a:prstGeom prst="rect">
            <a:avLst/>
          </a:prstGeom>
          <a:noFill/>
        </p:spPr>
        <p:txBody>
          <a:bodyPr wrap="none" rtlCol="0">
            <a:spAutoFit/>
          </a:bodyPr>
          <a:lstStyle/>
          <a:p>
            <a:r>
              <a:rPr lang="en-US" sz="1000" b="1" dirty="0">
                <a:solidFill>
                  <a:schemeClr val="bg1">
                    <a:lumMod val="50000"/>
                  </a:schemeClr>
                </a:solidFill>
              </a:rPr>
              <a:t>411</a:t>
            </a:r>
          </a:p>
        </p:txBody>
      </p:sp>
      <p:sp>
        <p:nvSpPr>
          <p:cNvPr id="29" name="TextBox 28">
            <a:extLst>
              <a:ext uri="{FF2B5EF4-FFF2-40B4-BE49-F238E27FC236}">
                <a16:creationId xmlns:a16="http://schemas.microsoft.com/office/drawing/2014/main" id="{BB7BB922-3771-69AF-AE7B-D2A225C00BFA}"/>
              </a:ext>
            </a:extLst>
          </p:cNvPr>
          <p:cNvSpPr txBox="1"/>
          <p:nvPr/>
        </p:nvSpPr>
        <p:spPr>
          <a:xfrm>
            <a:off x="1281043" y="1791366"/>
            <a:ext cx="396262" cy="246221"/>
          </a:xfrm>
          <a:prstGeom prst="rect">
            <a:avLst/>
          </a:prstGeom>
          <a:noFill/>
        </p:spPr>
        <p:txBody>
          <a:bodyPr wrap="none" rtlCol="0">
            <a:spAutoFit/>
          </a:bodyPr>
          <a:lstStyle/>
          <a:p>
            <a:r>
              <a:rPr lang="en-US" sz="1000" b="1" dirty="0">
                <a:solidFill>
                  <a:schemeClr val="bg1">
                    <a:lumMod val="50000"/>
                  </a:schemeClr>
                </a:solidFill>
              </a:rPr>
              <a:t>407</a:t>
            </a:r>
          </a:p>
        </p:txBody>
      </p:sp>
      <p:sp>
        <p:nvSpPr>
          <p:cNvPr id="30" name="TextBox 29">
            <a:extLst>
              <a:ext uri="{FF2B5EF4-FFF2-40B4-BE49-F238E27FC236}">
                <a16:creationId xmlns:a16="http://schemas.microsoft.com/office/drawing/2014/main" id="{2E715EDC-270D-D219-47D4-74FF0E1DBA75}"/>
              </a:ext>
            </a:extLst>
          </p:cNvPr>
          <p:cNvSpPr txBox="1"/>
          <p:nvPr/>
        </p:nvSpPr>
        <p:spPr>
          <a:xfrm>
            <a:off x="1281043" y="1608063"/>
            <a:ext cx="811441" cy="246221"/>
          </a:xfrm>
          <a:prstGeom prst="rect">
            <a:avLst/>
          </a:prstGeom>
          <a:noFill/>
        </p:spPr>
        <p:txBody>
          <a:bodyPr wrap="none" rtlCol="0">
            <a:spAutoFit/>
          </a:bodyPr>
          <a:lstStyle/>
          <a:p>
            <a:r>
              <a:rPr lang="en-US" sz="1000" b="1" dirty="0" err="1"/>
              <a:t>prod_num</a:t>
            </a:r>
            <a:endParaRPr lang="en-US" sz="1000" b="1" dirty="0"/>
          </a:p>
        </p:txBody>
      </p:sp>
      <p:sp>
        <p:nvSpPr>
          <p:cNvPr id="31" name="TextBox 30">
            <a:extLst>
              <a:ext uri="{FF2B5EF4-FFF2-40B4-BE49-F238E27FC236}">
                <a16:creationId xmlns:a16="http://schemas.microsoft.com/office/drawing/2014/main" id="{DB0410FA-8934-182B-CC1A-42E89A055B96}"/>
              </a:ext>
            </a:extLst>
          </p:cNvPr>
          <p:cNvSpPr txBox="1"/>
          <p:nvPr/>
        </p:nvSpPr>
        <p:spPr>
          <a:xfrm>
            <a:off x="1281043" y="2891184"/>
            <a:ext cx="396262" cy="246221"/>
          </a:xfrm>
          <a:prstGeom prst="rect">
            <a:avLst/>
          </a:prstGeom>
          <a:noFill/>
        </p:spPr>
        <p:txBody>
          <a:bodyPr wrap="none" rtlCol="0">
            <a:spAutoFit/>
          </a:bodyPr>
          <a:lstStyle/>
          <a:p>
            <a:r>
              <a:rPr lang="en-US" sz="1000" b="1" dirty="0">
                <a:solidFill>
                  <a:schemeClr val="bg1">
                    <a:lumMod val="50000"/>
                  </a:schemeClr>
                </a:solidFill>
              </a:rPr>
              <a:t>444</a:t>
            </a:r>
          </a:p>
        </p:txBody>
      </p:sp>
      <p:sp>
        <p:nvSpPr>
          <p:cNvPr id="32" name="TextBox 31">
            <a:extLst>
              <a:ext uri="{FF2B5EF4-FFF2-40B4-BE49-F238E27FC236}">
                <a16:creationId xmlns:a16="http://schemas.microsoft.com/office/drawing/2014/main" id="{F1878151-2BEB-2C95-7292-FCB765D588F3}"/>
              </a:ext>
            </a:extLst>
          </p:cNvPr>
          <p:cNvSpPr txBox="1"/>
          <p:nvPr/>
        </p:nvSpPr>
        <p:spPr>
          <a:xfrm>
            <a:off x="1281043" y="2707881"/>
            <a:ext cx="396262" cy="246221"/>
          </a:xfrm>
          <a:prstGeom prst="rect">
            <a:avLst/>
          </a:prstGeom>
          <a:noFill/>
        </p:spPr>
        <p:txBody>
          <a:bodyPr wrap="none" rtlCol="0">
            <a:spAutoFit/>
          </a:bodyPr>
          <a:lstStyle/>
          <a:p>
            <a:r>
              <a:rPr lang="en-US" sz="1000" b="1" dirty="0">
                <a:solidFill>
                  <a:schemeClr val="bg1">
                    <a:lumMod val="50000"/>
                  </a:schemeClr>
                </a:solidFill>
              </a:rPr>
              <a:t>419</a:t>
            </a:r>
          </a:p>
        </p:txBody>
      </p:sp>
      <p:sp>
        <p:nvSpPr>
          <p:cNvPr id="33" name="TextBox 32">
            <a:extLst>
              <a:ext uri="{FF2B5EF4-FFF2-40B4-BE49-F238E27FC236}">
                <a16:creationId xmlns:a16="http://schemas.microsoft.com/office/drawing/2014/main" id="{F44D464A-4CBB-90F0-C27B-25F57D43B9EA}"/>
              </a:ext>
            </a:extLst>
          </p:cNvPr>
          <p:cNvSpPr txBox="1"/>
          <p:nvPr/>
        </p:nvSpPr>
        <p:spPr>
          <a:xfrm>
            <a:off x="1281043" y="2524578"/>
            <a:ext cx="396262" cy="246221"/>
          </a:xfrm>
          <a:prstGeom prst="rect">
            <a:avLst/>
          </a:prstGeom>
          <a:noFill/>
        </p:spPr>
        <p:txBody>
          <a:bodyPr wrap="none" rtlCol="0">
            <a:spAutoFit/>
          </a:bodyPr>
          <a:lstStyle/>
          <a:p>
            <a:r>
              <a:rPr lang="en-US" sz="1000" b="1" dirty="0">
                <a:solidFill>
                  <a:schemeClr val="bg1">
                    <a:lumMod val="50000"/>
                  </a:schemeClr>
                </a:solidFill>
              </a:rPr>
              <a:t>422</a:t>
            </a:r>
          </a:p>
        </p:txBody>
      </p:sp>
      <p:sp>
        <p:nvSpPr>
          <p:cNvPr id="34" name="TextBox 33">
            <a:extLst>
              <a:ext uri="{FF2B5EF4-FFF2-40B4-BE49-F238E27FC236}">
                <a16:creationId xmlns:a16="http://schemas.microsoft.com/office/drawing/2014/main" id="{2FD90F35-0B30-78EF-BAE9-91837BE86CE4}"/>
              </a:ext>
            </a:extLst>
          </p:cNvPr>
          <p:cNvSpPr txBox="1"/>
          <p:nvPr/>
        </p:nvSpPr>
        <p:spPr>
          <a:xfrm>
            <a:off x="1281043" y="2341275"/>
            <a:ext cx="396262" cy="246221"/>
          </a:xfrm>
          <a:prstGeom prst="rect">
            <a:avLst/>
          </a:prstGeom>
          <a:noFill/>
        </p:spPr>
        <p:txBody>
          <a:bodyPr wrap="none" rtlCol="0">
            <a:spAutoFit/>
          </a:bodyPr>
          <a:lstStyle/>
          <a:p>
            <a:r>
              <a:rPr lang="en-US" sz="1000" b="1" dirty="0">
                <a:solidFill>
                  <a:schemeClr val="bg1">
                    <a:lumMod val="50000"/>
                  </a:schemeClr>
                </a:solidFill>
              </a:rPr>
              <a:t>452</a:t>
            </a:r>
          </a:p>
        </p:txBody>
      </p:sp>
      <p:cxnSp>
        <p:nvCxnSpPr>
          <p:cNvPr id="35" name="Straight Connector 34">
            <a:extLst>
              <a:ext uri="{FF2B5EF4-FFF2-40B4-BE49-F238E27FC236}">
                <a16:creationId xmlns:a16="http://schemas.microsoft.com/office/drawing/2014/main" id="{76AB2997-AEF8-E6AB-8537-D47E15051989}"/>
              </a:ext>
            </a:extLst>
          </p:cNvPr>
          <p:cNvCxnSpPr/>
          <p:nvPr/>
        </p:nvCxnSpPr>
        <p:spPr>
          <a:xfrm>
            <a:off x="1211358" y="1672582"/>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E321C2F-3383-0AD9-F99F-069ABC8F06F0}"/>
              </a:ext>
            </a:extLst>
          </p:cNvPr>
          <p:cNvCxnSpPr/>
          <p:nvPr/>
        </p:nvCxnSpPr>
        <p:spPr>
          <a:xfrm>
            <a:off x="557455" y="2532109"/>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B06EA967-C6D6-22EA-C1C6-84A89AA0661F}"/>
              </a:ext>
            </a:extLst>
          </p:cNvPr>
          <p:cNvCxnSpPr>
            <a:cxnSpLocks/>
          </p:cNvCxnSpPr>
          <p:nvPr/>
        </p:nvCxnSpPr>
        <p:spPr>
          <a:xfrm>
            <a:off x="3104708" y="1914476"/>
            <a:ext cx="0" cy="1814008"/>
          </a:xfrm>
          <a:prstGeom prst="straightConnector1">
            <a:avLst/>
          </a:prstGeom>
          <a:ln w="25400">
            <a:prstDash val="sysDot"/>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2DF93BBE-C9F7-D3CE-181A-49083DE35309}"/>
              </a:ext>
            </a:extLst>
          </p:cNvPr>
          <p:cNvSpPr txBox="1"/>
          <p:nvPr/>
        </p:nvSpPr>
        <p:spPr>
          <a:xfrm>
            <a:off x="513529" y="1618381"/>
            <a:ext cx="526106" cy="246221"/>
          </a:xfrm>
          <a:prstGeom prst="rect">
            <a:avLst/>
          </a:prstGeom>
          <a:noFill/>
        </p:spPr>
        <p:txBody>
          <a:bodyPr wrap="none" rtlCol="0">
            <a:spAutoFit/>
          </a:bodyPr>
          <a:lstStyle/>
          <a:p>
            <a:r>
              <a:rPr lang="en-US" sz="1000" b="1" dirty="0" err="1"/>
              <a:t>rowid</a:t>
            </a:r>
            <a:endParaRPr lang="en-US" sz="1000" b="1" dirty="0"/>
          </a:p>
        </p:txBody>
      </p:sp>
      <p:sp>
        <p:nvSpPr>
          <p:cNvPr id="57" name="TextBox 56">
            <a:extLst>
              <a:ext uri="{FF2B5EF4-FFF2-40B4-BE49-F238E27FC236}">
                <a16:creationId xmlns:a16="http://schemas.microsoft.com/office/drawing/2014/main" id="{E17705AF-B017-33B7-9DB1-EB50F3429BA3}"/>
              </a:ext>
            </a:extLst>
          </p:cNvPr>
          <p:cNvSpPr txBox="1"/>
          <p:nvPr/>
        </p:nvSpPr>
        <p:spPr>
          <a:xfrm>
            <a:off x="552643" y="3074487"/>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59" name="TextBox 58">
            <a:extLst>
              <a:ext uri="{FF2B5EF4-FFF2-40B4-BE49-F238E27FC236}">
                <a16:creationId xmlns:a16="http://schemas.microsoft.com/office/drawing/2014/main" id="{2A473A8A-5F6C-B5FB-BB37-96E599D66BB6}"/>
              </a:ext>
            </a:extLst>
          </p:cNvPr>
          <p:cNvSpPr txBox="1"/>
          <p:nvPr/>
        </p:nvSpPr>
        <p:spPr>
          <a:xfrm>
            <a:off x="552643" y="2157972"/>
            <a:ext cx="466794" cy="246221"/>
          </a:xfrm>
          <a:prstGeom prst="rect">
            <a:avLst/>
          </a:prstGeom>
          <a:noFill/>
        </p:spPr>
        <p:txBody>
          <a:bodyPr wrap="none" rtlCol="0">
            <a:spAutoFit/>
          </a:bodyPr>
          <a:lstStyle/>
          <a:p>
            <a:r>
              <a:rPr lang="en-US" sz="1000" b="1" dirty="0">
                <a:solidFill>
                  <a:schemeClr val="bg1">
                    <a:lumMod val="50000"/>
                  </a:schemeClr>
                </a:solidFill>
              </a:rPr>
              <a:t>x0e1</a:t>
            </a:r>
          </a:p>
        </p:txBody>
      </p:sp>
      <p:sp>
        <p:nvSpPr>
          <p:cNvPr id="61" name="TextBox 60">
            <a:extLst>
              <a:ext uri="{FF2B5EF4-FFF2-40B4-BE49-F238E27FC236}">
                <a16:creationId xmlns:a16="http://schemas.microsoft.com/office/drawing/2014/main" id="{B13F1720-88A2-C0E9-619E-53FCB1D28A29}"/>
              </a:ext>
            </a:extLst>
          </p:cNvPr>
          <p:cNvSpPr txBox="1"/>
          <p:nvPr/>
        </p:nvSpPr>
        <p:spPr>
          <a:xfrm>
            <a:off x="552643" y="1974669"/>
            <a:ext cx="482824" cy="246221"/>
          </a:xfrm>
          <a:prstGeom prst="rect">
            <a:avLst/>
          </a:prstGeom>
          <a:noFill/>
        </p:spPr>
        <p:txBody>
          <a:bodyPr wrap="none" rtlCol="0">
            <a:spAutoFit/>
          </a:bodyPr>
          <a:lstStyle/>
          <a:p>
            <a:r>
              <a:rPr lang="en-US" sz="1000" b="1" dirty="0" err="1">
                <a:solidFill>
                  <a:schemeClr val="bg1">
                    <a:lumMod val="50000"/>
                  </a:schemeClr>
                </a:solidFill>
              </a:rPr>
              <a:t>xocd</a:t>
            </a:r>
            <a:endParaRPr lang="en-US" sz="1000" b="1" dirty="0">
              <a:solidFill>
                <a:schemeClr val="bg1">
                  <a:lumMod val="50000"/>
                </a:schemeClr>
              </a:solidFill>
            </a:endParaRPr>
          </a:p>
        </p:txBody>
      </p:sp>
      <p:sp>
        <p:nvSpPr>
          <p:cNvPr id="63" name="TextBox 62">
            <a:extLst>
              <a:ext uri="{FF2B5EF4-FFF2-40B4-BE49-F238E27FC236}">
                <a16:creationId xmlns:a16="http://schemas.microsoft.com/office/drawing/2014/main" id="{5F559F13-D198-C5C5-126A-AD014D5B25B2}"/>
              </a:ext>
            </a:extLst>
          </p:cNvPr>
          <p:cNvSpPr txBox="1"/>
          <p:nvPr/>
        </p:nvSpPr>
        <p:spPr>
          <a:xfrm>
            <a:off x="552643" y="1791366"/>
            <a:ext cx="466794" cy="246221"/>
          </a:xfrm>
          <a:prstGeom prst="rect">
            <a:avLst/>
          </a:prstGeom>
          <a:noFill/>
        </p:spPr>
        <p:txBody>
          <a:bodyPr wrap="none" rtlCol="0">
            <a:spAutoFit/>
          </a:bodyPr>
          <a:lstStyle/>
          <a:p>
            <a:r>
              <a:rPr lang="en-US" sz="1000" b="1" dirty="0">
                <a:solidFill>
                  <a:schemeClr val="bg1">
                    <a:lumMod val="50000"/>
                  </a:schemeClr>
                </a:solidFill>
              </a:rPr>
              <a:t>x0cc</a:t>
            </a:r>
          </a:p>
        </p:txBody>
      </p:sp>
      <p:sp>
        <p:nvSpPr>
          <p:cNvPr id="193" name="TextBox 192">
            <a:extLst>
              <a:ext uri="{FF2B5EF4-FFF2-40B4-BE49-F238E27FC236}">
                <a16:creationId xmlns:a16="http://schemas.microsoft.com/office/drawing/2014/main" id="{3634AF72-DE9C-08E6-CD4B-61225C33A720}"/>
              </a:ext>
            </a:extLst>
          </p:cNvPr>
          <p:cNvSpPr txBox="1"/>
          <p:nvPr/>
        </p:nvSpPr>
        <p:spPr>
          <a:xfrm>
            <a:off x="552643" y="2891184"/>
            <a:ext cx="482824" cy="246221"/>
          </a:xfrm>
          <a:prstGeom prst="rect">
            <a:avLst/>
          </a:prstGeom>
          <a:noFill/>
        </p:spPr>
        <p:txBody>
          <a:bodyPr wrap="none" rtlCol="0">
            <a:spAutoFit/>
          </a:bodyPr>
          <a:lstStyle/>
          <a:p>
            <a:r>
              <a:rPr lang="en-US" sz="1000" b="1" dirty="0">
                <a:solidFill>
                  <a:schemeClr val="bg1">
                    <a:lumMod val="50000"/>
                  </a:schemeClr>
                </a:solidFill>
              </a:rPr>
              <a:t>xon3</a:t>
            </a:r>
          </a:p>
        </p:txBody>
      </p:sp>
      <p:sp>
        <p:nvSpPr>
          <p:cNvPr id="195" name="TextBox 194">
            <a:extLst>
              <a:ext uri="{FF2B5EF4-FFF2-40B4-BE49-F238E27FC236}">
                <a16:creationId xmlns:a16="http://schemas.microsoft.com/office/drawing/2014/main" id="{0F8CD66E-4A4F-B3BD-B4B5-0A1AD82C1BF0}"/>
              </a:ext>
            </a:extLst>
          </p:cNvPr>
          <p:cNvSpPr txBox="1"/>
          <p:nvPr/>
        </p:nvSpPr>
        <p:spPr>
          <a:xfrm>
            <a:off x="552643" y="2707881"/>
            <a:ext cx="510076" cy="246221"/>
          </a:xfrm>
          <a:prstGeom prst="rect">
            <a:avLst/>
          </a:prstGeom>
          <a:noFill/>
        </p:spPr>
        <p:txBody>
          <a:bodyPr wrap="none" rtlCol="0">
            <a:spAutoFit/>
          </a:bodyPr>
          <a:lstStyle/>
          <a:p>
            <a:r>
              <a:rPr lang="en-US" sz="1000" b="1" dirty="0">
                <a:solidFill>
                  <a:schemeClr val="bg1">
                    <a:lumMod val="50000"/>
                  </a:schemeClr>
                </a:solidFill>
              </a:rPr>
              <a:t>x0m1</a:t>
            </a:r>
          </a:p>
        </p:txBody>
      </p:sp>
      <p:sp>
        <p:nvSpPr>
          <p:cNvPr id="197" name="TextBox 196">
            <a:extLst>
              <a:ext uri="{FF2B5EF4-FFF2-40B4-BE49-F238E27FC236}">
                <a16:creationId xmlns:a16="http://schemas.microsoft.com/office/drawing/2014/main" id="{0E78B03A-0260-9041-B8B2-A2D151A23815}"/>
              </a:ext>
            </a:extLst>
          </p:cNvPr>
          <p:cNvSpPr txBox="1"/>
          <p:nvPr/>
        </p:nvSpPr>
        <p:spPr>
          <a:xfrm>
            <a:off x="552643" y="2524578"/>
            <a:ext cx="439544" cy="246221"/>
          </a:xfrm>
          <a:prstGeom prst="rect">
            <a:avLst/>
          </a:prstGeom>
          <a:noFill/>
        </p:spPr>
        <p:txBody>
          <a:bodyPr wrap="none" rtlCol="0">
            <a:spAutoFit/>
          </a:bodyPr>
          <a:lstStyle/>
          <a:p>
            <a:r>
              <a:rPr lang="en-US" sz="1000" b="1" dirty="0">
                <a:solidFill>
                  <a:schemeClr val="bg1">
                    <a:lumMod val="50000"/>
                  </a:schemeClr>
                </a:solidFill>
              </a:rPr>
              <a:t>x0f6</a:t>
            </a:r>
          </a:p>
        </p:txBody>
      </p:sp>
      <p:sp>
        <p:nvSpPr>
          <p:cNvPr id="199" name="TextBox 198">
            <a:extLst>
              <a:ext uri="{FF2B5EF4-FFF2-40B4-BE49-F238E27FC236}">
                <a16:creationId xmlns:a16="http://schemas.microsoft.com/office/drawing/2014/main" id="{6E973869-774D-548F-DBFA-B4AD1B975CB6}"/>
              </a:ext>
            </a:extLst>
          </p:cNvPr>
          <p:cNvSpPr txBox="1"/>
          <p:nvPr/>
        </p:nvSpPr>
        <p:spPr>
          <a:xfrm>
            <a:off x="552643" y="2341275"/>
            <a:ext cx="439544" cy="246221"/>
          </a:xfrm>
          <a:prstGeom prst="rect">
            <a:avLst/>
          </a:prstGeom>
          <a:noFill/>
        </p:spPr>
        <p:txBody>
          <a:bodyPr wrap="none" rtlCol="0">
            <a:spAutoFit/>
          </a:bodyPr>
          <a:lstStyle/>
          <a:p>
            <a:r>
              <a:rPr lang="en-US" sz="1000" b="1" dirty="0">
                <a:solidFill>
                  <a:schemeClr val="bg1">
                    <a:lumMod val="50000"/>
                  </a:schemeClr>
                </a:solidFill>
              </a:rPr>
              <a:t>x0f2</a:t>
            </a:r>
          </a:p>
        </p:txBody>
      </p:sp>
      <p:sp>
        <p:nvSpPr>
          <p:cNvPr id="200" name="Rectangle 199">
            <a:extLst>
              <a:ext uri="{FF2B5EF4-FFF2-40B4-BE49-F238E27FC236}">
                <a16:creationId xmlns:a16="http://schemas.microsoft.com/office/drawing/2014/main" id="{948E40F0-08CB-19B5-ADD1-602CA60EFAE2}"/>
              </a:ext>
            </a:extLst>
          </p:cNvPr>
          <p:cNvSpPr/>
          <p:nvPr/>
        </p:nvSpPr>
        <p:spPr>
          <a:xfrm>
            <a:off x="6537773" y="1489012"/>
            <a:ext cx="2438400" cy="1618488"/>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1" name="Straight Connector 200">
            <a:extLst>
              <a:ext uri="{FF2B5EF4-FFF2-40B4-BE49-F238E27FC236}">
                <a16:creationId xmlns:a16="http://schemas.microsoft.com/office/drawing/2014/main" id="{69CC6CF6-66A6-B8B6-A430-AB41B5DF5369}"/>
              </a:ext>
            </a:extLst>
          </p:cNvPr>
          <p:cNvCxnSpPr/>
          <p:nvPr/>
        </p:nvCxnSpPr>
        <p:spPr>
          <a:xfrm>
            <a:off x="6537773" y="2018799"/>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7FDFE744-F555-D51D-8A16-52A4D72DC53B}"/>
              </a:ext>
            </a:extLst>
          </p:cNvPr>
          <p:cNvCxnSpPr/>
          <p:nvPr/>
        </p:nvCxnSpPr>
        <p:spPr>
          <a:xfrm>
            <a:off x="6537773" y="1654363"/>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993293EF-E9CD-1253-A8C5-3FE3896FBA7E}"/>
              </a:ext>
            </a:extLst>
          </p:cNvPr>
          <p:cNvCxnSpPr/>
          <p:nvPr/>
        </p:nvCxnSpPr>
        <p:spPr>
          <a:xfrm>
            <a:off x="6537773" y="1836581"/>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F36A3E21-9B07-056A-FB14-360F2EF24108}"/>
              </a:ext>
            </a:extLst>
          </p:cNvPr>
          <p:cNvCxnSpPr/>
          <p:nvPr/>
        </p:nvCxnSpPr>
        <p:spPr>
          <a:xfrm>
            <a:off x="6537773" y="2201017"/>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722AF73E-A9C9-8100-2D10-CD3060A055B7}"/>
              </a:ext>
            </a:extLst>
          </p:cNvPr>
          <p:cNvCxnSpPr/>
          <p:nvPr/>
        </p:nvCxnSpPr>
        <p:spPr>
          <a:xfrm>
            <a:off x="6537773" y="2929889"/>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5D6CC400-DE22-8117-1750-4ED748C69327}"/>
              </a:ext>
            </a:extLst>
          </p:cNvPr>
          <p:cNvCxnSpPr/>
          <p:nvPr/>
        </p:nvCxnSpPr>
        <p:spPr>
          <a:xfrm>
            <a:off x="6537773" y="2747671"/>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FBAB2D6B-71EC-6257-B96E-E973431ACE35}"/>
              </a:ext>
            </a:extLst>
          </p:cNvPr>
          <p:cNvCxnSpPr/>
          <p:nvPr/>
        </p:nvCxnSpPr>
        <p:spPr>
          <a:xfrm>
            <a:off x="6537773" y="2565453"/>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9CED4451-D169-F2A6-D364-D6E65CE596B4}"/>
              </a:ext>
            </a:extLst>
          </p:cNvPr>
          <p:cNvCxnSpPr/>
          <p:nvPr/>
        </p:nvCxnSpPr>
        <p:spPr>
          <a:xfrm>
            <a:off x="8090206" y="1474948"/>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9" name="TextBox 208">
            <a:extLst>
              <a:ext uri="{FF2B5EF4-FFF2-40B4-BE49-F238E27FC236}">
                <a16:creationId xmlns:a16="http://schemas.microsoft.com/office/drawing/2014/main" id="{DA5852D9-2560-8CD0-85A7-1383727ADD30}"/>
              </a:ext>
            </a:extLst>
          </p:cNvPr>
          <p:cNvSpPr txBox="1"/>
          <p:nvPr/>
        </p:nvSpPr>
        <p:spPr>
          <a:xfrm>
            <a:off x="8346046" y="2887432"/>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210" name="TextBox 209">
            <a:extLst>
              <a:ext uri="{FF2B5EF4-FFF2-40B4-BE49-F238E27FC236}">
                <a16:creationId xmlns:a16="http://schemas.microsoft.com/office/drawing/2014/main" id="{1AFF022A-CD3D-C9FF-299A-F3AEF57B6B00}"/>
              </a:ext>
            </a:extLst>
          </p:cNvPr>
          <p:cNvSpPr txBox="1"/>
          <p:nvPr/>
        </p:nvSpPr>
        <p:spPr>
          <a:xfrm>
            <a:off x="8090206" y="1970917"/>
            <a:ext cx="638316" cy="246221"/>
          </a:xfrm>
          <a:prstGeom prst="rect">
            <a:avLst/>
          </a:prstGeom>
          <a:noFill/>
        </p:spPr>
        <p:txBody>
          <a:bodyPr wrap="none" rtlCol="0">
            <a:spAutoFit/>
          </a:bodyPr>
          <a:lstStyle/>
          <a:p>
            <a:r>
              <a:rPr lang="en-US" sz="1000" b="1" dirty="0">
                <a:solidFill>
                  <a:schemeClr val="bg1">
                    <a:lumMod val="50000"/>
                  </a:schemeClr>
                </a:solidFill>
              </a:rPr>
              <a:t>Cheese</a:t>
            </a:r>
          </a:p>
        </p:txBody>
      </p:sp>
      <p:sp>
        <p:nvSpPr>
          <p:cNvPr id="211" name="TextBox 210">
            <a:extLst>
              <a:ext uri="{FF2B5EF4-FFF2-40B4-BE49-F238E27FC236}">
                <a16:creationId xmlns:a16="http://schemas.microsoft.com/office/drawing/2014/main" id="{46D3EB7C-A88D-50AB-3301-69D659408F52}"/>
              </a:ext>
            </a:extLst>
          </p:cNvPr>
          <p:cNvSpPr txBox="1"/>
          <p:nvPr/>
        </p:nvSpPr>
        <p:spPr>
          <a:xfrm>
            <a:off x="8090206" y="1787614"/>
            <a:ext cx="546945" cy="246221"/>
          </a:xfrm>
          <a:prstGeom prst="rect">
            <a:avLst/>
          </a:prstGeom>
          <a:noFill/>
        </p:spPr>
        <p:txBody>
          <a:bodyPr wrap="none" rtlCol="0">
            <a:spAutoFit/>
          </a:bodyPr>
          <a:lstStyle/>
          <a:p>
            <a:r>
              <a:rPr lang="en-US" sz="1000" b="1" dirty="0">
                <a:solidFill>
                  <a:schemeClr val="bg1">
                    <a:lumMod val="50000"/>
                  </a:schemeClr>
                </a:solidFill>
              </a:rPr>
              <a:t>Bread</a:t>
            </a:r>
          </a:p>
        </p:txBody>
      </p:sp>
      <p:sp>
        <p:nvSpPr>
          <p:cNvPr id="212" name="TextBox 211">
            <a:extLst>
              <a:ext uri="{FF2B5EF4-FFF2-40B4-BE49-F238E27FC236}">
                <a16:creationId xmlns:a16="http://schemas.microsoft.com/office/drawing/2014/main" id="{1E5EBB97-B5A8-2BAF-E77D-81E8ABA8ED20}"/>
              </a:ext>
            </a:extLst>
          </p:cNvPr>
          <p:cNvSpPr txBox="1"/>
          <p:nvPr/>
        </p:nvSpPr>
        <p:spPr>
          <a:xfrm>
            <a:off x="8090206" y="1604311"/>
            <a:ext cx="433132" cy="246221"/>
          </a:xfrm>
          <a:prstGeom prst="rect">
            <a:avLst/>
          </a:prstGeom>
          <a:noFill/>
        </p:spPr>
        <p:txBody>
          <a:bodyPr wrap="none" rtlCol="0">
            <a:spAutoFit/>
          </a:bodyPr>
          <a:lstStyle/>
          <a:p>
            <a:r>
              <a:rPr lang="en-US" sz="1000" b="1" dirty="0">
                <a:solidFill>
                  <a:schemeClr val="bg1">
                    <a:lumMod val="50000"/>
                  </a:schemeClr>
                </a:solidFill>
              </a:rPr>
              <a:t>Milk</a:t>
            </a:r>
          </a:p>
        </p:txBody>
      </p:sp>
      <p:sp>
        <p:nvSpPr>
          <p:cNvPr id="213" name="TextBox 212">
            <a:extLst>
              <a:ext uri="{FF2B5EF4-FFF2-40B4-BE49-F238E27FC236}">
                <a16:creationId xmlns:a16="http://schemas.microsoft.com/office/drawing/2014/main" id="{862BCF95-D35D-77D8-4737-BABA4EC1FA77}"/>
              </a:ext>
            </a:extLst>
          </p:cNvPr>
          <p:cNvSpPr txBox="1"/>
          <p:nvPr/>
        </p:nvSpPr>
        <p:spPr>
          <a:xfrm>
            <a:off x="8090206" y="1421008"/>
            <a:ext cx="873957" cy="246221"/>
          </a:xfrm>
          <a:prstGeom prst="rect">
            <a:avLst/>
          </a:prstGeom>
          <a:noFill/>
        </p:spPr>
        <p:txBody>
          <a:bodyPr wrap="none" rtlCol="0">
            <a:spAutoFit/>
          </a:bodyPr>
          <a:lstStyle/>
          <a:p>
            <a:r>
              <a:rPr lang="en-US" sz="1000" b="1" dirty="0" err="1"/>
              <a:t>prod_name</a:t>
            </a:r>
            <a:endParaRPr lang="en-US" sz="1000" b="1" dirty="0"/>
          </a:p>
        </p:txBody>
      </p:sp>
      <p:sp>
        <p:nvSpPr>
          <p:cNvPr id="214" name="TextBox 213">
            <a:extLst>
              <a:ext uri="{FF2B5EF4-FFF2-40B4-BE49-F238E27FC236}">
                <a16:creationId xmlns:a16="http://schemas.microsoft.com/office/drawing/2014/main" id="{B26D59AB-2C1A-93D7-3ADB-02AD6D3C7031}"/>
              </a:ext>
            </a:extLst>
          </p:cNvPr>
          <p:cNvSpPr txBox="1"/>
          <p:nvPr/>
        </p:nvSpPr>
        <p:spPr>
          <a:xfrm>
            <a:off x="8090206" y="2704129"/>
            <a:ext cx="683200" cy="246221"/>
          </a:xfrm>
          <a:prstGeom prst="rect">
            <a:avLst/>
          </a:prstGeom>
          <a:noFill/>
        </p:spPr>
        <p:txBody>
          <a:bodyPr wrap="none" rtlCol="0">
            <a:spAutoFit/>
          </a:bodyPr>
          <a:lstStyle/>
          <a:p>
            <a:r>
              <a:rPr lang="en-US" sz="1000" b="1" dirty="0">
                <a:solidFill>
                  <a:schemeClr val="tx1">
                    <a:lumMod val="75000"/>
                    <a:lumOff val="25000"/>
                  </a:schemeClr>
                </a:solidFill>
              </a:rPr>
              <a:t>Mustard</a:t>
            </a:r>
          </a:p>
        </p:txBody>
      </p:sp>
      <p:sp>
        <p:nvSpPr>
          <p:cNvPr id="215" name="TextBox 214">
            <a:extLst>
              <a:ext uri="{FF2B5EF4-FFF2-40B4-BE49-F238E27FC236}">
                <a16:creationId xmlns:a16="http://schemas.microsoft.com/office/drawing/2014/main" id="{125440E1-F0D9-5360-8FD3-A7E8F1B2E35C}"/>
              </a:ext>
            </a:extLst>
          </p:cNvPr>
          <p:cNvSpPr txBox="1"/>
          <p:nvPr/>
        </p:nvSpPr>
        <p:spPr>
          <a:xfrm>
            <a:off x="8090206" y="2520826"/>
            <a:ext cx="731290" cy="246221"/>
          </a:xfrm>
          <a:prstGeom prst="rect">
            <a:avLst/>
          </a:prstGeom>
          <a:noFill/>
        </p:spPr>
        <p:txBody>
          <a:bodyPr wrap="none" rtlCol="0">
            <a:spAutoFit/>
          </a:bodyPr>
          <a:lstStyle/>
          <a:p>
            <a:r>
              <a:rPr lang="en-US" sz="1000" b="1" dirty="0">
                <a:solidFill>
                  <a:schemeClr val="bg1">
                    <a:lumMod val="50000"/>
                  </a:schemeClr>
                </a:solidFill>
              </a:rPr>
              <a:t>Batteries</a:t>
            </a:r>
          </a:p>
        </p:txBody>
      </p:sp>
      <p:sp>
        <p:nvSpPr>
          <p:cNvPr id="216" name="TextBox 215">
            <a:extLst>
              <a:ext uri="{FF2B5EF4-FFF2-40B4-BE49-F238E27FC236}">
                <a16:creationId xmlns:a16="http://schemas.microsoft.com/office/drawing/2014/main" id="{55ECAB7C-D26D-9E69-541F-045AFAC6181D}"/>
              </a:ext>
            </a:extLst>
          </p:cNvPr>
          <p:cNvSpPr txBox="1"/>
          <p:nvPr/>
        </p:nvSpPr>
        <p:spPr>
          <a:xfrm>
            <a:off x="8090206" y="2337523"/>
            <a:ext cx="497252" cy="246221"/>
          </a:xfrm>
          <a:prstGeom prst="rect">
            <a:avLst/>
          </a:prstGeom>
          <a:noFill/>
        </p:spPr>
        <p:txBody>
          <a:bodyPr wrap="none" rtlCol="0">
            <a:spAutoFit/>
          </a:bodyPr>
          <a:lstStyle/>
          <a:p>
            <a:r>
              <a:rPr lang="en-US" sz="1000" b="1" dirty="0">
                <a:solidFill>
                  <a:schemeClr val="bg1">
                    <a:lumMod val="50000"/>
                  </a:schemeClr>
                </a:solidFill>
              </a:rPr>
              <a:t>Eggs</a:t>
            </a:r>
          </a:p>
        </p:txBody>
      </p:sp>
      <p:sp>
        <p:nvSpPr>
          <p:cNvPr id="217" name="TextBox 216">
            <a:extLst>
              <a:ext uri="{FF2B5EF4-FFF2-40B4-BE49-F238E27FC236}">
                <a16:creationId xmlns:a16="http://schemas.microsoft.com/office/drawing/2014/main" id="{7A384AC2-09AE-6A14-2BE6-C040BF3379F3}"/>
              </a:ext>
            </a:extLst>
          </p:cNvPr>
          <p:cNvSpPr txBox="1"/>
          <p:nvPr/>
        </p:nvSpPr>
        <p:spPr>
          <a:xfrm>
            <a:off x="8090206" y="2154220"/>
            <a:ext cx="476412" cy="246221"/>
          </a:xfrm>
          <a:prstGeom prst="rect">
            <a:avLst/>
          </a:prstGeom>
          <a:noFill/>
        </p:spPr>
        <p:txBody>
          <a:bodyPr wrap="none" rtlCol="0">
            <a:spAutoFit/>
          </a:bodyPr>
          <a:lstStyle/>
          <a:p>
            <a:r>
              <a:rPr lang="en-US" sz="1000" b="1" dirty="0">
                <a:solidFill>
                  <a:schemeClr val="bg1">
                    <a:lumMod val="50000"/>
                  </a:schemeClr>
                </a:solidFill>
              </a:rPr>
              <a:t>Meat</a:t>
            </a:r>
          </a:p>
        </p:txBody>
      </p:sp>
      <p:sp>
        <p:nvSpPr>
          <p:cNvPr id="218" name="TextBox 217">
            <a:extLst>
              <a:ext uri="{FF2B5EF4-FFF2-40B4-BE49-F238E27FC236}">
                <a16:creationId xmlns:a16="http://schemas.microsoft.com/office/drawing/2014/main" id="{6032C2CF-3C08-6860-7816-E30A7A7A507F}"/>
              </a:ext>
            </a:extLst>
          </p:cNvPr>
          <p:cNvSpPr txBox="1"/>
          <p:nvPr/>
        </p:nvSpPr>
        <p:spPr>
          <a:xfrm>
            <a:off x="7261361" y="2887432"/>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219" name="TextBox 218">
            <a:extLst>
              <a:ext uri="{FF2B5EF4-FFF2-40B4-BE49-F238E27FC236}">
                <a16:creationId xmlns:a16="http://schemas.microsoft.com/office/drawing/2014/main" id="{FE0F69F4-0385-C803-26B0-91461F7AF0EF}"/>
              </a:ext>
            </a:extLst>
          </p:cNvPr>
          <p:cNvSpPr txBox="1"/>
          <p:nvPr/>
        </p:nvSpPr>
        <p:spPr>
          <a:xfrm>
            <a:off x="7261361" y="1970917"/>
            <a:ext cx="396262" cy="246221"/>
          </a:xfrm>
          <a:prstGeom prst="rect">
            <a:avLst/>
          </a:prstGeom>
          <a:noFill/>
        </p:spPr>
        <p:txBody>
          <a:bodyPr wrap="none" rtlCol="0">
            <a:spAutoFit/>
          </a:bodyPr>
          <a:lstStyle/>
          <a:p>
            <a:r>
              <a:rPr lang="en-US" sz="1000" b="1" dirty="0">
                <a:solidFill>
                  <a:schemeClr val="bg1">
                    <a:lumMod val="50000"/>
                  </a:schemeClr>
                </a:solidFill>
              </a:rPr>
              <a:t>402</a:t>
            </a:r>
          </a:p>
        </p:txBody>
      </p:sp>
      <p:sp>
        <p:nvSpPr>
          <p:cNvPr id="220" name="TextBox 219">
            <a:extLst>
              <a:ext uri="{FF2B5EF4-FFF2-40B4-BE49-F238E27FC236}">
                <a16:creationId xmlns:a16="http://schemas.microsoft.com/office/drawing/2014/main" id="{73C0E10D-88FB-F20E-EBE8-6284713CE9C0}"/>
              </a:ext>
            </a:extLst>
          </p:cNvPr>
          <p:cNvSpPr txBox="1"/>
          <p:nvPr/>
        </p:nvSpPr>
        <p:spPr>
          <a:xfrm>
            <a:off x="7261361" y="1787614"/>
            <a:ext cx="396262" cy="246221"/>
          </a:xfrm>
          <a:prstGeom prst="rect">
            <a:avLst/>
          </a:prstGeom>
          <a:noFill/>
        </p:spPr>
        <p:txBody>
          <a:bodyPr wrap="none" rtlCol="0">
            <a:spAutoFit/>
          </a:bodyPr>
          <a:lstStyle/>
          <a:p>
            <a:r>
              <a:rPr lang="en-US" sz="1000" b="1" dirty="0">
                <a:solidFill>
                  <a:schemeClr val="bg1">
                    <a:lumMod val="50000"/>
                  </a:schemeClr>
                </a:solidFill>
              </a:rPr>
              <a:t>411</a:t>
            </a:r>
          </a:p>
        </p:txBody>
      </p:sp>
      <p:sp>
        <p:nvSpPr>
          <p:cNvPr id="221" name="TextBox 220">
            <a:extLst>
              <a:ext uri="{FF2B5EF4-FFF2-40B4-BE49-F238E27FC236}">
                <a16:creationId xmlns:a16="http://schemas.microsoft.com/office/drawing/2014/main" id="{490FB50D-43CA-28B6-18A2-25A10E57E1DA}"/>
              </a:ext>
            </a:extLst>
          </p:cNvPr>
          <p:cNvSpPr txBox="1"/>
          <p:nvPr/>
        </p:nvSpPr>
        <p:spPr>
          <a:xfrm>
            <a:off x="7261361" y="1604311"/>
            <a:ext cx="396262" cy="246221"/>
          </a:xfrm>
          <a:prstGeom prst="rect">
            <a:avLst/>
          </a:prstGeom>
          <a:noFill/>
        </p:spPr>
        <p:txBody>
          <a:bodyPr wrap="none" rtlCol="0">
            <a:spAutoFit/>
          </a:bodyPr>
          <a:lstStyle/>
          <a:p>
            <a:r>
              <a:rPr lang="en-US" sz="1000" b="1" dirty="0">
                <a:solidFill>
                  <a:schemeClr val="bg1">
                    <a:lumMod val="50000"/>
                  </a:schemeClr>
                </a:solidFill>
              </a:rPr>
              <a:t>407</a:t>
            </a:r>
          </a:p>
        </p:txBody>
      </p:sp>
      <p:sp>
        <p:nvSpPr>
          <p:cNvPr id="222" name="TextBox 221">
            <a:extLst>
              <a:ext uri="{FF2B5EF4-FFF2-40B4-BE49-F238E27FC236}">
                <a16:creationId xmlns:a16="http://schemas.microsoft.com/office/drawing/2014/main" id="{FEE2A030-6903-85CA-AAEC-5028533BE476}"/>
              </a:ext>
            </a:extLst>
          </p:cNvPr>
          <p:cNvSpPr txBox="1"/>
          <p:nvPr/>
        </p:nvSpPr>
        <p:spPr>
          <a:xfrm>
            <a:off x="7261361" y="1421008"/>
            <a:ext cx="811441" cy="246221"/>
          </a:xfrm>
          <a:prstGeom prst="rect">
            <a:avLst/>
          </a:prstGeom>
          <a:noFill/>
        </p:spPr>
        <p:txBody>
          <a:bodyPr wrap="none" rtlCol="0">
            <a:spAutoFit/>
          </a:bodyPr>
          <a:lstStyle/>
          <a:p>
            <a:r>
              <a:rPr lang="en-US" sz="1000" b="1" dirty="0" err="1"/>
              <a:t>prod_num</a:t>
            </a:r>
            <a:endParaRPr lang="en-US" sz="1000" b="1" dirty="0"/>
          </a:p>
        </p:txBody>
      </p:sp>
      <p:sp>
        <p:nvSpPr>
          <p:cNvPr id="223" name="TextBox 222">
            <a:extLst>
              <a:ext uri="{FF2B5EF4-FFF2-40B4-BE49-F238E27FC236}">
                <a16:creationId xmlns:a16="http://schemas.microsoft.com/office/drawing/2014/main" id="{BD7C6494-30D0-07DB-EE98-41FB295F4993}"/>
              </a:ext>
            </a:extLst>
          </p:cNvPr>
          <p:cNvSpPr txBox="1"/>
          <p:nvPr/>
        </p:nvSpPr>
        <p:spPr>
          <a:xfrm>
            <a:off x="7261361" y="2704129"/>
            <a:ext cx="396262" cy="246221"/>
          </a:xfrm>
          <a:prstGeom prst="rect">
            <a:avLst/>
          </a:prstGeom>
          <a:noFill/>
        </p:spPr>
        <p:txBody>
          <a:bodyPr wrap="none" rtlCol="0">
            <a:spAutoFit/>
          </a:bodyPr>
          <a:lstStyle/>
          <a:p>
            <a:r>
              <a:rPr lang="en-US" sz="1000" b="1" dirty="0">
                <a:solidFill>
                  <a:schemeClr val="tx1">
                    <a:lumMod val="75000"/>
                    <a:lumOff val="25000"/>
                  </a:schemeClr>
                </a:solidFill>
              </a:rPr>
              <a:t>444</a:t>
            </a:r>
          </a:p>
        </p:txBody>
      </p:sp>
      <p:sp>
        <p:nvSpPr>
          <p:cNvPr id="224" name="TextBox 223">
            <a:extLst>
              <a:ext uri="{FF2B5EF4-FFF2-40B4-BE49-F238E27FC236}">
                <a16:creationId xmlns:a16="http://schemas.microsoft.com/office/drawing/2014/main" id="{8D7A7579-BCF3-2D31-B628-D080169674AB}"/>
              </a:ext>
            </a:extLst>
          </p:cNvPr>
          <p:cNvSpPr txBox="1"/>
          <p:nvPr/>
        </p:nvSpPr>
        <p:spPr>
          <a:xfrm>
            <a:off x="7261361" y="2520826"/>
            <a:ext cx="396262" cy="246221"/>
          </a:xfrm>
          <a:prstGeom prst="rect">
            <a:avLst/>
          </a:prstGeom>
          <a:noFill/>
        </p:spPr>
        <p:txBody>
          <a:bodyPr wrap="none" rtlCol="0">
            <a:spAutoFit/>
          </a:bodyPr>
          <a:lstStyle/>
          <a:p>
            <a:r>
              <a:rPr lang="en-US" sz="1000" b="1" dirty="0">
                <a:solidFill>
                  <a:schemeClr val="bg1">
                    <a:lumMod val="50000"/>
                  </a:schemeClr>
                </a:solidFill>
              </a:rPr>
              <a:t>419</a:t>
            </a:r>
          </a:p>
        </p:txBody>
      </p:sp>
      <p:sp>
        <p:nvSpPr>
          <p:cNvPr id="225" name="TextBox 224">
            <a:extLst>
              <a:ext uri="{FF2B5EF4-FFF2-40B4-BE49-F238E27FC236}">
                <a16:creationId xmlns:a16="http://schemas.microsoft.com/office/drawing/2014/main" id="{5D8057C5-9313-8935-65A3-5B16614CF0F4}"/>
              </a:ext>
            </a:extLst>
          </p:cNvPr>
          <p:cNvSpPr txBox="1"/>
          <p:nvPr/>
        </p:nvSpPr>
        <p:spPr>
          <a:xfrm>
            <a:off x="7261361" y="2337523"/>
            <a:ext cx="396262" cy="246221"/>
          </a:xfrm>
          <a:prstGeom prst="rect">
            <a:avLst/>
          </a:prstGeom>
          <a:noFill/>
        </p:spPr>
        <p:txBody>
          <a:bodyPr wrap="none" rtlCol="0">
            <a:spAutoFit/>
          </a:bodyPr>
          <a:lstStyle/>
          <a:p>
            <a:r>
              <a:rPr lang="en-US" sz="1000" b="1" dirty="0">
                <a:solidFill>
                  <a:schemeClr val="bg1">
                    <a:lumMod val="50000"/>
                  </a:schemeClr>
                </a:solidFill>
              </a:rPr>
              <a:t>422</a:t>
            </a:r>
          </a:p>
        </p:txBody>
      </p:sp>
      <p:sp>
        <p:nvSpPr>
          <p:cNvPr id="226" name="TextBox 225">
            <a:extLst>
              <a:ext uri="{FF2B5EF4-FFF2-40B4-BE49-F238E27FC236}">
                <a16:creationId xmlns:a16="http://schemas.microsoft.com/office/drawing/2014/main" id="{D759C070-334C-C6FC-8028-8F27059208DF}"/>
              </a:ext>
            </a:extLst>
          </p:cNvPr>
          <p:cNvSpPr txBox="1"/>
          <p:nvPr/>
        </p:nvSpPr>
        <p:spPr>
          <a:xfrm>
            <a:off x="7261361" y="2154220"/>
            <a:ext cx="396262" cy="246221"/>
          </a:xfrm>
          <a:prstGeom prst="rect">
            <a:avLst/>
          </a:prstGeom>
          <a:noFill/>
        </p:spPr>
        <p:txBody>
          <a:bodyPr wrap="none" rtlCol="0">
            <a:spAutoFit/>
          </a:bodyPr>
          <a:lstStyle/>
          <a:p>
            <a:r>
              <a:rPr lang="en-US" sz="1000" b="1" dirty="0">
                <a:solidFill>
                  <a:schemeClr val="bg1">
                    <a:lumMod val="50000"/>
                  </a:schemeClr>
                </a:solidFill>
              </a:rPr>
              <a:t>452</a:t>
            </a:r>
          </a:p>
        </p:txBody>
      </p:sp>
      <p:cxnSp>
        <p:nvCxnSpPr>
          <p:cNvPr id="227" name="Straight Connector 226">
            <a:extLst>
              <a:ext uri="{FF2B5EF4-FFF2-40B4-BE49-F238E27FC236}">
                <a16:creationId xmlns:a16="http://schemas.microsoft.com/office/drawing/2014/main" id="{08913695-85BB-BA64-E0E1-38A3BB2FD59F}"/>
              </a:ext>
            </a:extLst>
          </p:cNvPr>
          <p:cNvCxnSpPr/>
          <p:nvPr/>
        </p:nvCxnSpPr>
        <p:spPr>
          <a:xfrm>
            <a:off x="7191676" y="1478442"/>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C93EC2FB-86DA-E705-93C9-937D2E8D99D4}"/>
              </a:ext>
            </a:extLst>
          </p:cNvPr>
          <p:cNvCxnSpPr/>
          <p:nvPr/>
        </p:nvCxnSpPr>
        <p:spPr>
          <a:xfrm>
            <a:off x="6537773" y="2359224"/>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9" name="TextBox 228">
            <a:extLst>
              <a:ext uri="{FF2B5EF4-FFF2-40B4-BE49-F238E27FC236}">
                <a16:creationId xmlns:a16="http://schemas.microsoft.com/office/drawing/2014/main" id="{78BD0DCB-45A2-FEDE-3C88-C804F0FE6BA7}"/>
              </a:ext>
            </a:extLst>
          </p:cNvPr>
          <p:cNvSpPr txBox="1"/>
          <p:nvPr/>
        </p:nvSpPr>
        <p:spPr>
          <a:xfrm>
            <a:off x="6493847" y="1431326"/>
            <a:ext cx="526106" cy="246221"/>
          </a:xfrm>
          <a:prstGeom prst="rect">
            <a:avLst/>
          </a:prstGeom>
          <a:noFill/>
        </p:spPr>
        <p:txBody>
          <a:bodyPr wrap="none" rtlCol="0">
            <a:spAutoFit/>
          </a:bodyPr>
          <a:lstStyle/>
          <a:p>
            <a:r>
              <a:rPr lang="en-US" sz="1000" b="1" dirty="0" err="1"/>
              <a:t>rowid</a:t>
            </a:r>
            <a:endParaRPr lang="en-US" sz="1000" b="1" dirty="0"/>
          </a:p>
        </p:txBody>
      </p:sp>
      <p:sp>
        <p:nvSpPr>
          <p:cNvPr id="230" name="TextBox 229">
            <a:extLst>
              <a:ext uri="{FF2B5EF4-FFF2-40B4-BE49-F238E27FC236}">
                <a16:creationId xmlns:a16="http://schemas.microsoft.com/office/drawing/2014/main" id="{BDD46037-D7AD-7805-0D25-617C5EDADAE9}"/>
              </a:ext>
            </a:extLst>
          </p:cNvPr>
          <p:cNvSpPr txBox="1"/>
          <p:nvPr/>
        </p:nvSpPr>
        <p:spPr>
          <a:xfrm>
            <a:off x="6532961" y="2887432"/>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231" name="TextBox 230">
            <a:extLst>
              <a:ext uri="{FF2B5EF4-FFF2-40B4-BE49-F238E27FC236}">
                <a16:creationId xmlns:a16="http://schemas.microsoft.com/office/drawing/2014/main" id="{BE34B6FB-589E-5A14-9464-FDAE8C78AC56}"/>
              </a:ext>
            </a:extLst>
          </p:cNvPr>
          <p:cNvSpPr txBox="1"/>
          <p:nvPr/>
        </p:nvSpPr>
        <p:spPr>
          <a:xfrm>
            <a:off x="6532961" y="1970917"/>
            <a:ext cx="466794" cy="246221"/>
          </a:xfrm>
          <a:prstGeom prst="rect">
            <a:avLst/>
          </a:prstGeom>
          <a:noFill/>
        </p:spPr>
        <p:txBody>
          <a:bodyPr wrap="none" rtlCol="0">
            <a:spAutoFit/>
          </a:bodyPr>
          <a:lstStyle/>
          <a:p>
            <a:r>
              <a:rPr lang="en-US" sz="1000" b="1" dirty="0">
                <a:solidFill>
                  <a:schemeClr val="bg1">
                    <a:lumMod val="50000"/>
                  </a:schemeClr>
                </a:solidFill>
              </a:rPr>
              <a:t>x0e1</a:t>
            </a:r>
          </a:p>
        </p:txBody>
      </p:sp>
      <p:sp>
        <p:nvSpPr>
          <p:cNvPr id="232" name="TextBox 231">
            <a:extLst>
              <a:ext uri="{FF2B5EF4-FFF2-40B4-BE49-F238E27FC236}">
                <a16:creationId xmlns:a16="http://schemas.microsoft.com/office/drawing/2014/main" id="{095CE8AE-B189-8B11-CED4-16FDA54F667C}"/>
              </a:ext>
            </a:extLst>
          </p:cNvPr>
          <p:cNvSpPr txBox="1"/>
          <p:nvPr/>
        </p:nvSpPr>
        <p:spPr>
          <a:xfrm>
            <a:off x="6532961" y="1787614"/>
            <a:ext cx="482824" cy="246221"/>
          </a:xfrm>
          <a:prstGeom prst="rect">
            <a:avLst/>
          </a:prstGeom>
          <a:noFill/>
        </p:spPr>
        <p:txBody>
          <a:bodyPr wrap="none" rtlCol="0">
            <a:spAutoFit/>
          </a:bodyPr>
          <a:lstStyle/>
          <a:p>
            <a:r>
              <a:rPr lang="en-US" sz="1000" b="1" dirty="0" err="1">
                <a:solidFill>
                  <a:schemeClr val="bg1">
                    <a:lumMod val="50000"/>
                  </a:schemeClr>
                </a:solidFill>
              </a:rPr>
              <a:t>xocd</a:t>
            </a:r>
            <a:endParaRPr lang="en-US" sz="1000" b="1" dirty="0">
              <a:solidFill>
                <a:schemeClr val="bg1">
                  <a:lumMod val="50000"/>
                </a:schemeClr>
              </a:solidFill>
            </a:endParaRPr>
          </a:p>
        </p:txBody>
      </p:sp>
      <p:sp>
        <p:nvSpPr>
          <p:cNvPr id="233" name="TextBox 232">
            <a:extLst>
              <a:ext uri="{FF2B5EF4-FFF2-40B4-BE49-F238E27FC236}">
                <a16:creationId xmlns:a16="http://schemas.microsoft.com/office/drawing/2014/main" id="{31F6CA1A-05A8-B68E-04BA-A3A47C08260A}"/>
              </a:ext>
            </a:extLst>
          </p:cNvPr>
          <p:cNvSpPr txBox="1"/>
          <p:nvPr/>
        </p:nvSpPr>
        <p:spPr>
          <a:xfrm>
            <a:off x="6532961" y="1604311"/>
            <a:ext cx="466794" cy="246221"/>
          </a:xfrm>
          <a:prstGeom prst="rect">
            <a:avLst/>
          </a:prstGeom>
          <a:noFill/>
        </p:spPr>
        <p:txBody>
          <a:bodyPr wrap="none" rtlCol="0">
            <a:spAutoFit/>
          </a:bodyPr>
          <a:lstStyle/>
          <a:p>
            <a:r>
              <a:rPr lang="en-US" sz="1000" b="1" dirty="0">
                <a:solidFill>
                  <a:schemeClr val="bg1">
                    <a:lumMod val="50000"/>
                  </a:schemeClr>
                </a:solidFill>
              </a:rPr>
              <a:t>x0cc</a:t>
            </a:r>
          </a:p>
        </p:txBody>
      </p:sp>
      <p:sp>
        <p:nvSpPr>
          <p:cNvPr id="234" name="TextBox 233">
            <a:extLst>
              <a:ext uri="{FF2B5EF4-FFF2-40B4-BE49-F238E27FC236}">
                <a16:creationId xmlns:a16="http://schemas.microsoft.com/office/drawing/2014/main" id="{64738475-8879-6B55-E2DC-12F90D97C6FE}"/>
              </a:ext>
            </a:extLst>
          </p:cNvPr>
          <p:cNvSpPr txBox="1"/>
          <p:nvPr/>
        </p:nvSpPr>
        <p:spPr>
          <a:xfrm>
            <a:off x="6532961" y="2704129"/>
            <a:ext cx="482824" cy="246221"/>
          </a:xfrm>
          <a:prstGeom prst="rect">
            <a:avLst/>
          </a:prstGeom>
          <a:noFill/>
        </p:spPr>
        <p:txBody>
          <a:bodyPr wrap="none" rtlCol="0">
            <a:spAutoFit/>
          </a:bodyPr>
          <a:lstStyle/>
          <a:p>
            <a:r>
              <a:rPr lang="en-US" sz="1000" b="1" dirty="0">
                <a:solidFill>
                  <a:schemeClr val="tx1">
                    <a:lumMod val="75000"/>
                    <a:lumOff val="25000"/>
                  </a:schemeClr>
                </a:solidFill>
              </a:rPr>
              <a:t>xon3</a:t>
            </a:r>
          </a:p>
        </p:txBody>
      </p:sp>
      <p:sp>
        <p:nvSpPr>
          <p:cNvPr id="235" name="TextBox 234">
            <a:extLst>
              <a:ext uri="{FF2B5EF4-FFF2-40B4-BE49-F238E27FC236}">
                <a16:creationId xmlns:a16="http://schemas.microsoft.com/office/drawing/2014/main" id="{0A30AD35-D2D0-B6FB-36F2-8B688D63B68A}"/>
              </a:ext>
            </a:extLst>
          </p:cNvPr>
          <p:cNvSpPr txBox="1"/>
          <p:nvPr/>
        </p:nvSpPr>
        <p:spPr>
          <a:xfrm>
            <a:off x="6532961" y="2520826"/>
            <a:ext cx="510076" cy="246221"/>
          </a:xfrm>
          <a:prstGeom prst="rect">
            <a:avLst/>
          </a:prstGeom>
          <a:noFill/>
        </p:spPr>
        <p:txBody>
          <a:bodyPr wrap="none" rtlCol="0">
            <a:spAutoFit/>
          </a:bodyPr>
          <a:lstStyle/>
          <a:p>
            <a:r>
              <a:rPr lang="en-US" sz="1000" b="1" dirty="0">
                <a:solidFill>
                  <a:schemeClr val="bg1">
                    <a:lumMod val="50000"/>
                  </a:schemeClr>
                </a:solidFill>
              </a:rPr>
              <a:t>x0m1</a:t>
            </a:r>
          </a:p>
        </p:txBody>
      </p:sp>
      <p:sp>
        <p:nvSpPr>
          <p:cNvPr id="236" name="TextBox 235">
            <a:extLst>
              <a:ext uri="{FF2B5EF4-FFF2-40B4-BE49-F238E27FC236}">
                <a16:creationId xmlns:a16="http://schemas.microsoft.com/office/drawing/2014/main" id="{0D20D30A-F7DD-AB32-79D4-FF8FB9F77C88}"/>
              </a:ext>
            </a:extLst>
          </p:cNvPr>
          <p:cNvSpPr txBox="1"/>
          <p:nvPr/>
        </p:nvSpPr>
        <p:spPr>
          <a:xfrm>
            <a:off x="6532961" y="2337523"/>
            <a:ext cx="439544" cy="246221"/>
          </a:xfrm>
          <a:prstGeom prst="rect">
            <a:avLst/>
          </a:prstGeom>
          <a:noFill/>
        </p:spPr>
        <p:txBody>
          <a:bodyPr wrap="none" rtlCol="0">
            <a:spAutoFit/>
          </a:bodyPr>
          <a:lstStyle/>
          <a:p>
            <a:r>
              <a:rPr lang="en-US" sz="1000" b="1" dirty="0">
                <a:solidFill>
                  <a:schemeClr val="bg1">
                    <a:lumMod val="50000"/>
                  </a:schemeClr>
                </a:solidFill>
              </a:rPr>
              <a:t>x0f6</a:t>
            </a:r>
          </a:p>
        </p:txBody>
      </p:sp>
      <p:sp>
        <p:nvSpPr>
          <p:cNvPr id="237" name="TextBox 236">
            <a:extLst>
              <a:ext uri="{FF2B5EF4-FFF2-40B4-BE49-F238E27FC236}">
                <a16:creationId xmlns:a16="http://schemas.microsoft.com/office/drawing/2014/main" id="{1EA91D81-8137-8BD8-1443-30A3A6033E80}"/>
              </a:ext>
            </a:extLst>
          </p:cNvPr>
          <p:cNvSpPr txBox="1"/>
          <p:nvPr/>
        </p:nvSpPr>
        <p:spPr>
          <a:xfrm>
            <a:off x="6532961" y="2154220"/>
            <a:ext cx="439544" cy="246221"/>
          </a:xfrm>
          <a:prstGeom prst="rect">
            <a:avLst/>
          </a:prstGeom>
          <a:noFill/>
        </p:spPr>
        <p:txBody>
          <a:bodyPr wrap="none" rtlCol="0">
            <a:spAutoFit/>
          </a:bodyPr>
          <a:lstStyle/>
          <a:p>
            <a:r>
              <a:rPr lang="en-US" sz="1000" b="1" dirty="0">
                <a:solidFill>
                  <a:schemeClr val="bg1">
                    <a:lumMod val="50000"/>
                  </a:schemeClr>
                </a:solidFill>
              </a:rPr>
              <a:t>x0f2</a:t>
            </a:r>
          </a:p>
        </p:txBody>
      </p:sp>
      <p:sp>
        <p:nvSpPr>
          <p:cNvPr id="239" name="Rectangle 238">
            <a:extLst>
              <a:ext uri="{FF2B5EF4-FFF2-40B4-BE49-F238E27FC236}">
                <a16:creationId xmlns:a16="http://schemas.microsoft.com/office/drawing/2014/main" id="{5F7C2D36-956F-75BD-F0F5-936BC0FB4997}"/>
              </a:ext>
            </a:extLst>
          </p:cNvPr>
          <p:cNvSpPr/>
          <p:nvPr/>
        </p:nvSpPr>
        <p:spPr>
          <a:xfrm>
            <a:off x="4072229" y="2291008"/>
            <a:ext cx="489732" cy="371739"/>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0" name="Straight Connector 239">
            <a:extLst>
              <a:ext uri="{FF2B5EF4-FFF2-40B4-BE49-F238E27FC236}">
                <a16:creationId xmlns:a16="http://schemas.microsoft.com/office/drawing/2014/main" id="{205E4076-9858-5500-91C1-B6FFB28E41AD}"/>
              </a:ext>
            </a:extLst>
          </p:cNvPr>
          <p:cNvCxnSpPr>
            <a:cxnSpLocks/>
            <a:endCxn id="239" idx="3"/>
          </p:cNvCxnSpPr>
          <p:nvPr/>
        </p:nvCxnSpPr>
        <p:spPr>
          <a:xfrm>
            <a:off x="4069937" y="2472356"/>
            <a:ext cx="492024" cy="45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4" name="TextBox 243">
            <a:extLst>
              <a:ext uri="{FF2B5EF4-FFF2-40B4-BE49-F238E27FC236}">
                <a16:creationId xmlns:a16="http://schemas.microsoft.com/office/drawing/2014/main" id="{B0EE6D88-C0AC-C2C0-7FCE-7801105851A5}"/>
              </a:ext>
            </a:extLst>
          </p:cNvPr>
          <p:cNvSpPr txBox="1"/>
          <p:nvPr/>
        </p:nvSpPr>
        <p:spPr>
          <a:xfrm>
            <a:off x="4048221" y="2261762"/>
            <a:ext cx="428322" cy="246221"/>
          </a:xfrm>
          <a:prstGeom prst="rect">
            <a:avLst/>
          </a:prstGeom>
          <a:noFill/>
        </p:spPr>
        <p:txBody>
          <a:bodyPr wrap="none" rtlCol="0">
            <a:spAutoFit/>
          </a:bodyPr>
          <a:lstStyle/>
          <a:p>
            <a:r>
              <a:rPr lang="en-US" sz="1000" b="1" dirty="0">
                <a:solidFill>
                  <a:schemeClr val="tx1">
                    <a:lumMod val="75000"/>
                    <a:lumOff val="25000"/>
                  </a:schemeClr>
                </a:solidFill>
              </a:rPr>
              <a:t>A-M</a:t>
            </a:r>
          </a:p>
        </p:txBody>
      </p:sp>
      <p:sp>
        <p:nvSpPr>
          <p:cNvPr id="246" name="TextBox 245">
            <a:extLst>
              <a:ext uri="{FF2B5EF4-FFF2-40B4-BE49-F238E27FC236}">
                <a16:creationId xmlns:a16="http://schemas.microsoft.com/office/drawing/2014/main" id="{351519C7-C5B0-1380-0339-25BB60261A12}"/>
              </a:ext>
            </a:extLst>
          </p:cNvPr>
          <p:cNvSpPr txBox="1"/>
          <p:nvPr/>
        </p:nvSpPr>
        <p:spPr>
          <a:xfrm>
            <a:off x="4048221" y="2443980"/>
            <a:ext cx="399468" cy="246221"/>
          </a:xfrm>
          <a:prstGeom prst="rect">
            <a:avLst/>
          </a:prstGeom>
          <a:noFill/>
        </p:spPr>
        <p:txBody>
          <a:bodyPr wrap="none" rtlCol="0">
            <a:spAutoFit/>
          </a:bodyPr>
          <a:lstStyle/>
          <a:p>
            <a:r>
              <a:rPr lang="en-US" sz="1000" b="1" dirty="0">
                <a:solidFill>
                  <a:schemeClr val="bg1">
                    <a:lumMod val="50000"/>
                  </a:schemeClr>
                </a:solidFill>
              </a:rPr>
              <a:t>N-Z</a:t>
            </a:r>
          </a:p>
        </p:txBody>
      </p:sp>
      <p:sp>
        <p:nvSpPr>
          <p:cNvPr id="251" name="Rectangle 250">
            <a:extLst>
              <a:ext uri="{FF2B5EF4-FFF2-40B4-BE49-F238E27FC236}">
                <a16:creationId xmlns:a16="http://schemas.microsoft.com/office/drawing/2014/main" id="{2BA9CE78-9B42-21E2-14E0-2D0FB38868BA}"/>
              </a:ext>
            </a:extLst>
          </p:cNvPr>
          <p:cNvSpPr/>
          <p:nvPr/>
        </p:nvSpPr>
        <p:spPr>
          <a:xfrm>
            <a:off x="4636346" y="2133631"/>
            <a:ext cx="489732" cy="371739"/>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Rectangle 252">
            <a:extLst>
              <a:ext uri="{FF2B5EF4-FFF2-40B4-BE49-F238E27FC236}">
                <a16:creationId xmlns:a16="http://schemas.microsoft.com/office/drawing/2014/main" id="{6569C483-A265-C7F5-5126-47F7311DDB2C}"/>
              </a:ext>
            </a:extLst>
          </p:cNvPr>
          <p:cNvSpPr/>
          <p:nvPr/>
        </p:nvSpPr>
        <p:spPr>
          <a:xfrm>
            <a:off x="4636346" y="2549801"/>
            <a:ext cx="489732" cy="371739"/>
          </a:xfrm>
          <a:prstGeom prst="rect">
            <a:avLst/>
          </a:prstGeom>
          <a:solidFill>
            <a:schemeClr val="bg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7" name="Straight Connector 256">
            <a:extLst>
              <a:ext uri="{FF2B5EF4-FFF2-40B4-BE49-F238E27FC236}">
                <a16:creationId xmlns:a16="http://schemas.microsoft.com/office/drawing/2014/main" id="{08637846-0173-3CCF-795E-1300AEF83AC4}"/>
              </a:ext>
            </a:extLst>
          </p:cNvPr>
          <p:cNvCxnSpPr>
            <a:cxnSpLocks/>
          </p:cNvCxnSpPr>
          <p:nvPr/>
        </p:nvCxnSpPr>
        <p:spPr>
          <a:xfrm>
            <a:off x="4636346" y="2333000"/>
            <a:ext cx="492024" cy="45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1A1686FF-1D7E-B93A-C2E9-AA982EFFF41C}"/>
              </a:ext>
            </a:extLst>
          </p:cNvPr>
          <p:cNvCxnSpPr>
            <a:cxnSpLocks/>
          </p:cNvCxnSpPr>
          <p:nvPr/>
        </p:nvCxnSpPr>
        <p:spPr>
          <a:xfrm>
            <a:off x="4636346" y="2742909"/>
            <a:ext cx="492024" cy="45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0" name="Rectangle 259">
            <a:extLst>
              <a:ext uri="{FF2B5EF4-FFF2-40B4-BE49-F238E27FC236}">
                <a16:creationId xmlns:a16="http://schemas.microsoft.com/office/drawing/2014/main" id="{D318DFCF-D73D-D87A-D716-52D2961A4C55}"/>
              </a:ext>
            </a:extLst>
          </p:cNvPr>
          <p:cNvSpPr/>
          <p:nvPr/>
        </p:nvSpPr>
        <p:spPr>
          <a:xfrm>
            <a:off x="5299222" y="1463568"/>
            <a:ext cx="899529" cy="371739"/>
          </a:xfrm>
          <a:prstGeom prst="rect">
            <a:avLst/>
          </a:prstGeom>
          <a:solidFill>
            <a:schemeClr val="bg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22B8B1B1-7A15-997F-8B20-713634CB7959}"/>
              </a:ext>
            </a:extLst>
          </p:cNvPr>
          <p:cNvSpPr/>
          <p:nvPr/>
        </p:nvSpPr>
        <p:spPr>
          <a:xfrm>
            <a:off x="5299222" y="1879738"/>
            <a:ext cx="899532" cy="371739"/>
          </a:xfrm>
          <a:prstGeom prst="rect">
            <a:avLst/>
          </a:prstGeom>
          <a:solidFill>
            <a:schemeClr val="bg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CD472592-FE98-762F-7261-4E6E146043DB}"/>
              </a:ext>
            </a:extLst>
          </p:cNvPr>
          <p:cNvSpPr/>
          <p:nvPr/>
        </p:nvSpPr>
        <p:spPr>
          <a:xfrm>
            <a:off x="5299222" y="2295908"/>
            <a:ext cx="905834" cy="371739"/>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FED64059-942E-F50F-9924-14F17BC21291}"/>
              </a:ext>
            </a:extLst>
          </p:cNvPr>
          <p:cNvSpPr/>
          <p:nvPr/>
        </p:nvSpPr>
        <p:spPr>
          <a:xfrm>
            <a:off x="5299222" y="2712079"/>
            <a:ext cx="899529" cy="371739"/>
          </a:xfrm>
          <a:prstGeom prst="rect">
            <a:avLst/>
          </a:prstGeom>
          <a:solidFill>
            <a:schemeClr val="bg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TextBox 268">
            <a:extLst>
              <a:ext uri="{FF2B5EF4-FFF2-40B4-BE49-F238E27FC236}">
                <a16:creationId xmlns:a16="http://schemas.microsoft.com/office/drawing/2014/main" id="{568BAFF5-EF34-CB97-AC40-347FDD702BF6}"/>
              </a:ext>
            </a:extLst>
          </p:cNvPr>
          <p:cNvSpPr txBox="1"/>
          <p:nvPr/>
        </p:nvSpPr>
        <p:spPr>
          <a:xfrm>
            <a:off x="4604181" y="2104147"/>
            <a:ext cx="420308" cy="246221"/>
          </a:xfrm>
          <a:prstGeom prst="rect">
            <a:avLst/>
          </a:prstGeom>
          <a:noFill/>
        </p:spPr>
        <p:txBody>
          <a:bodyPr wrap="none" rtlCol="0">
            <a:spAutoFit/>
          </a:bodyPr>
          <a:lstStyle/>
          <a:p>
            <a:r>
              <a:rPr lang="en-US" sz="1000" b="1" dirty="0">
                <a:solidFill>
                  <a:schemeClr val="bg1">
                    <a:lumMod val="50000"/>
                  </a:schemeClr>
                </a:solidFill>
              </a:rPr>
              <a:t>A-G</a:t>
            </a:r>
          </a:p>
        </p:txBody>
      </p:sp>
      <p:sp>
        <p:nvSpPr>
          <p:cNvPr id="271" name="TextBox 270">
            <a:extLst>
              <a:ext uri="{FF2B5EF4-FFF2-40B4-BE49-F238E27FC236}">
                <a16:creationId xmlns:a16="http://schemas.microsoft.com/office/drawing/2014/main" id="{71AB57D8-86D3-960F-112E-60BA8011505B}"/>
              </a:ext>
            </a:extLst>
          </p:cNvPr>
          <p:cNvSpPr txBox="1"/>
          <p:nvPr/>
        </p:nvSpPr>
        <p:spPr>
          <a:xfrm>
            <a:off x="4604181" y="2294981"/>
            <a:ext cx="428322" cy="246221"/>
          </a:xfrm>
          <a:prstGeom prst="rect">
            <a:avLst/>
          </a:prstGeom>
          <a:noFill/>
        </p:spPr>
        <p:txBody>
          <a:bodyPr wrap="none" rtlCol="0">
            <a:spAutoFit/>
          </a:bodyPr>
          <a:lstStyle/>
          <a:p>
            <a:r>
              <a:rPr lang="en-US" sz="1000" b="1" dirty="0">
                <a:solidFill>
                  <a:schemeClr val="tx1">
                    <a:lumMod val="75000"/>
                    <a:lumOff val="25000"/>
                  </a:schemeClr>
                </a:solidFill>
              </a:rPr>
              <a:t>H-M</a:t>
            </a:r>
          </a:p>
        </p:txBody>
      </p:sp>
      <p:sp>
        <p:nvSpPr>
          <p:cNvPr id="273" name="TextBox 272">
            <a:extLst>
              <a:ext uri="{FF2B5EF4-FFF2-40B4-BE49-F238E27FC236}">
                <a16:creationId xmlns:a16="http://schemas.microsoft.com/office/drawing/2014/main" id="{1794952F-CAD1-F0AA-7884-431FA2D82001}"/>
              </a:ext>
            </a:extLst>
          </p:cNvPr>
          <p:cNvSpPr txBox="1"/>
          <p:nvPr/>
        </p:nvSpPr>
        <p:spPr>
          <a:xfrm>
            <a:off x="4604181" y="2521326"/>
            <a:ext cx="399468" cy="246221"/>
          </a:xfrm>
          <a:prstGeom prst="rect">
            <a:avLst/>
          </a:prstGeom>
          <a:noFill/>
        </p:spPr>
        <p:txBody>
          <a:bodyPr wrap="none" rtlCol="0">
            <a:spAutoFit/>
          </a:bodyPr>
          <a:lstStyle/>
          <a:p>
            <a:r>
              <a:rPr lang="en-US" sz="1000" b="1" dirty="0">
                <a:solidFill>
                  <a:schemeClr val="bg1">
                    <a:lumMod val="50000"/>
                  </a:schemeClr>
                </a:solidFill>
              </a:rPr>
              <a:t>N-T</a:t>
            </a:r>
          </a:p>
        </p:txBody>
      </p:sp>
      <p:sp>
        <p:nvSpPr>
          <p:cNvPr id="276" name="TextBox 275">
            <a:extLst>
              <a:ext uri="{FF2B5EF4-FFF2-40B4-BE49-F238E27FC236}">
                <a16:creationId xmlns:a16="http://schemas.microsoft.com/office/drawing/2014/main" id="{A9BF607E-7DB7-EDAD-1943-A1DD7AEA6C5C}"/>
              </a:ext>
            </a:extLst>
          </p:cNvPr>
          <p:cNvSpPr txBox="1"/>
          <p:nvPr/>
        </p:nvSpPr>
        <p:spPr>
          <a:xfrm>
            <a:off x="4604181" y="2709342"/>
            <a:ext cx="399468" cy="246221"/>
          </a:xfrm>
          <a:prstGeom prst="rect">
            <a:avLst/>
          </a:prstGeom>
          <a:noFill/>
        </p:spPr>
        <p:txBody>
          <a:bodyPr wrap="none" rtlCol="0">
            <a:spAutoFit/>
          </a:bodyPr>
          <a:lstStyle/>
          <a:p>
            <a:r>
              <a:rPr lang="en-US" sz="1000" b="1" dirty="0">
                <a:solidFill>
                  <a:schemeClr val="bg1">
                    <a:lumMod val="50000"/>
                  </a:schemeClr>
                </a:solidFill>
              </a:rPr>
              <a:t>U-Z</a:t>
            </a:r>
          </a:p>
        </p:txBody>
      </p:sp>
      <p:sp>
        <p:nvSpPr>
          <p:cNvPr id="278" name="TextBox 277">
            <a:extLst>
              <a:ext uri="{FF2B5EF4-FFF2-40B4-BE49-F238E27FC236}">
                <a16:creationId xmlns:a16="http://schemas.microsoft.com/office/drawing/2014/main" id="{0EEF7A26-1044-4A7F-E8DC-9B429E32D7F5}"/>
              </a:ext>
            </a:extLst>
          </p:cNvPr>
          <p:cNvSpPr txBox="1"/>
          <p:nvPr/>
        </p:nvSpPr>
        <p:spPr>
          <a:xfrm>
            <a:off x="5267391" y="1441563"/>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280" name="TextBox 279">
            <a:extLst>
              <a:ext uri="{FF2B5EF4-FFF2-40B4-BE49-F238E27FC236}">
                <a16:creationId xmlns:a16="http://schemas.microsoft.com/office/drawing/2014/main" id="{63DDA964-4994-2220-BEF1-EAB203771632}"/>
              </a:ext>
            </a:extLst>
          </p:cNvPr>
          <p:cNvSpPr txBox="1"/>
          <p:nvPr/>
        </p:nvSpPr>
        <p:spPr>
          <a:xfrm>
            <a:off x="5267390" y="1626703"/>
            <a:ext cx="926548" cy="246221"/>
          </a:xfrm>
          <a:prstGeom prst="rect">
            <a:avLst/>
          </a:prstGeom>
          <a:noFill/>
        </p:spPr>
        <p:txBody>
          <a:bodyPr wrap="square" rtlCol="0">
            <a:spAutoFit/>
          </a:bodyPr>
          <a:lstStyle/>
          <a:p>
            <a:r>
              <a:rPr lang="en-US" sz="1000" b="1" dirty="0">
                <a:solidFill>
                  <a:schemeClr val="bg1">
                    <a:lumMod val="50000"/>
                  </a:schemeClr>
                </a:solidFill>
              </a:rPr>
              <a:t>H-I         x0j3</a:t>
            </a:r>
          </a:p>
        </p:txBody>
      </p:sp>
      <p:sp>
        <p:nvSpPr>
          <p:cNvPr id="282" name="TextBox 281">
            <a:extLst>
              <a:ext uri="{FF2B5EF4-FFF2-40B4-BE49-F238E27FC236}">
                <a16:creationId xmlns:a16="http://schemas.microsoft.com/office/drawing/2014/main" id="{A6949E4B-AC9D-5A20-7F1E-992CF112F82D}"/>
              </a:ext>
            </a:extLst>
          </p:cNvPr>
          <p:cNvSpPr txBox="1"/>
          <p:nvPr/>
        </p:nvSpPr>
        <p:spPr>
          <a:xfrm>
            <a:off x="5267390" y="1846974"/>
            <a:ext cx="926545" cy="246221"/>
          </a:xfrm>
          <a:prstGeom prst="rect">
            <a:avLst/>
          </a:prstGeom>
          <a:noFill/>
        </p:spPr>
        <p:txBody>
          <a:bodyPr wrap="square" rtlCol="0">
            <a:spAutoFit/>
          </a:bodyPr>
          <a:lstStyle/>
          <a:p>
            <a:r>
              <a:rPr lang="en-US" sz="1000" b="1" dirty="0">
                <a:solidFill>
                  <a:schemeClr val="bg1">
                    <a:lumMod val="50000"/>
                  </a:schemeClr>
                </a:solidFill>
              </a:rPr>
              <a:t>J-K        x0l1</a:t>
            </a:r>
          </a:p>
        </p:txBody>
      </p:sp>
      <p:sp>
        <p:nvSpPr>
          <p:cNvPr id="284" name="TextBox 283">
            <a:extLst>
              <a:ext uri="{FF2B5EF4-FFF2-40B4-BE49-F238E27FC236}">
                <a16:creationId xmlns:a16="http://schemas.microsoft.com/office/drawing/2014/main" id="{97234F44-5EDC-284B-B3CC-2A3DB15F832A}"/>
              </a:ext>
            </a:extLst>
          </p:cNvPr>
          <p:cNvSpPr txBox="1"/>
          <p:nvPr/>
        </p:nvSpPr>
        <p:spPr>
          <a:xfrm>
            <a:off x="5267389" y="2039432"/>
            <a:ext cx="1017919" cy="246221"/>
          </a:xfrm>
          <a:prstGeom prst="rect">
            <a:avLst/>
          </a:prstGeom>
          <a:noFill/>
        </p:spPr>
        <p:txBody>
          <a:bodyPr wrap="square" rtlCol="0">
            <a:spAutoFit/>
          </a:bodyPr>
          <a:lstStyle/>
          <a:p>
            <a:r>
              <a:rPr lang="en-US" sz="1000" b="1" dirty="0">
                <a:solidFill>
                  <a:schemeClr val="bg1">
                    <a:lumMod val="50000"/>
                  </a:schemeClr>
                </a:solidFill>
              </a:rPr>
              <a:t>L-Me     x0c5</a:t>
            </a:r>
          </a:p>
        </p:txBody>
      </p:sp>
      <p:sp>
        <p:nvSpPr>
          <p:cNvPr id="286" name="TextBox 285">
            <a:extLst>
              <a:ext uri="{FF2B5EF4-FFF2-40B4-BE49-F238E27FC236}">
                <a16:creationId xmlns:a16="http://schemas.microsoft.com/office/drawing/2014/main" id="{70CE3050-A835-D487-8AC8-6D16AB50098E}"/>
              </a:ext>
            </a:extLst>
          </p:cNvPr>
          <p:cNvSpPr txBox="1"/>
          <p:nvPr/>
        </p:nvSpPr>
        <p:spPr>
          <a:xfrm>
            <a:off x="5267390" y="2265518"/>
            <a:ext cx="1050329" cy="246221"/>
          </a:xfrm>
          <a:prstGeom prst="rect">
            <a:avLst/>
          </a:prstGeom>
          <a:noFill/>
        </p:spPr>
        <p:txBody>
          <a:bodyPr wrap="square" rtlCol="0">
            <a:spAutoFit/>
          </a:bodyPr>
          <a:lstStyle/>
          <a:p>
            <a:r>
              <a:rPr lang="en-US" sz="1000" b="1" dirty="0" err="1">
                <a:solidFill>
                  <a:schemeClr val="tx1">
                    <a:lumMod val="75000"/>
                    <a:lumOff val="25000"/>
                  </a:schemeClr>
                </a:solidFill>
              </a:rPr>
              <a:t>Mf</a:t>
            </a:r>
            <a:r>
              <a:rPr lang="en-US" sz="1000" b="1" dirty="0">
                <a:solidFill>
                  <a:schemeClr val="tx1">
                    <a:lumMod val="75000"/>
                    <a:lumOff val="25000"/>
                  </a:schemeClr>
                </a:solidFill>
              </a:rPr>
              <a:t>-Mu   xon3</a:t>
            </a:r>
          </a:p>
        </p:txBody>
      </p:sp>
      <p:sp>
        <p:nvSpPr>
          <p:cNvPr id="288" name="TextBox 287">
            <a:extLst>
              <a:ext uri="{FF2B5EF4-FFF2-40B4-BE49-F238E27FC236}">
                <a16:creationId xmlns:a16="http://schemas.microsoft.com/office/drawing/2014/main" id="{BB3305CB-12BB-D091-5812-37B3B1A7AD9D}"/>
              </a:ext>
            </a:extLst>
          </p:cNvPr>
          <p:cNvSpPr txBox="1"/>
          <p:nvPr/>
        </p:nvSpPr>
        <p:spPr>
          <a:xfrm>
            <a:off x="5235014" y="2460633"/>
            <a:ext cx="1014413" cy="246221"/>
          </a:xfrm>
          <a:prstGeom prst="rect">
            <a:avLst/>
          </a:prstGeom>
          <a:noFill/>
        </p:spPr>
        <p:txBody>
          <a:bodyPr wrap="square" rtlCol="0">
            <a:spAutoFit/>
          </a:bodyPr>
          <a:lstStyle/>
          <a:p>
            <a:r>
              <a:rPr lang="en-US" sz="1000" b="1" dirty="0">
                <a:solidFill>
                  <a:schemeClr val="bg1">
                    <a:lumMod val="50000"/>
                  </a:schemeClr>
                </a:solidFill>
              </a:rPr>
              <a:t>Mv-</a:t>
            </a:r>
            <a:r>
              <a:rPr lang="en-US" sz="1000" b="1" dirty="0" err="1">
                <a:solidFill>
                  <a:schemeClr val="bg1">
                    <a:lumMod val="50000"/>
                  </a:schemeClr>
                </a:solidFill>
              </a:rPr>
              <a:t>Mz</a:t>
            </a:r>
            <a:r>
              <a:rPr lang="en-US" sz="1000" b="1" dirty="0">
                <a:solidFill>
                  <a:schemeClr val="bg1">
                    <a:lumMod val="50000"/>
                  </a:schemeClr>
                </a:solidFill>
              </a:rPr>
              <a:t>   x0e4</a:t>
            </a:r>
          </a:p>
        </p:txBody>
      </p:sp>
      <p:sp>
        <p:nvSpPr>
          <p:cNvPr id="290" name="TextBox 289">
            <a:extLst>
              <a:ext uri="{FF2B5EF4-FFF2-40B4-BE49-F238E27FC236}">
                <a16:creationId xmlns:a16="http://schemas.microsoft.com/office/drawing/2014/main" id="{8E4D9EDF-CDA7-9D52-CB16-F1B298024EF3}"/>
              </a:ext>
            </a:extLst>
          </p:cNvPr>
          <p:cNvSpPr txBox="1"/>
          <p:nvPr/>
        </p:nvSpPr>
        <p:spPr>
          <a:xfrm>
            <a:off x="5267391" y="2669498"/>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292" name="TextBox 291">
            <a:extLst>
              <a:ext uri="{FF2B5EF4-FFF2-40B4-BE49-F238E27FC236}">
                <a16:creationId xmlns:a16="http://schemas.microsoft.com/office/drawing/2014/main" id="{C02D0A8A-0534-8654-5231-C61B78CCCF1C}"/>
              </a:ext>
            </a:extLst>
          </p:cNvPr>
          <p:cNvSpPr txBox="1"/>
          <p:nvPr/>
        </p:nvSpPr>
        <p:spPr>
          <a:xfrm>
            <a:off x="5267391" y="2861287"/>
            <a:ext cx="312906" cy="246221"/>
          </a:xfrm>
          <a:prstGeom prst="rect">
            <a:avLst/>
          </a:prstGeom>
          <a:noFill/>
        </p:spPr>
        <p:txBody>
          <a:bodyPr wrap="none" rtlCol="0">
            <a:spAutoFit/>
          </a:bodyPr>
          <a:lstStyle/>
          <a:p>
            <a:r>
              <a:rPr lang="en-US" sz="1000" b="1" dirty="0">
                <a:solidFill>
                  <a:schemeClr val="bg1">
                    <a:lumMod val="50000"/>
                  </a:schemeClr>
                </a:solidFill>
              </a:rPr>
              <a:t>…</a:t>
            </a:r>
          </a:p>
        </p:txBody>
      </p:sp>
      <p:cxnSp>
        <p:nvCxnSpPr>
          <p:cNvPr id="293" name="Straight Arrow Connector 292">
            <a:extLst>
              <a:ext uri="{FF2B5EF4-FFF2-40B4-BE49-F238E27FC236}">
                <a16:creationId xmlns:a16="http://schemas.microsoft.com/office/drawing/2014/main" id="{FEBAFDCB-CFAE-6883-E0D5-4BE02982EC78}"/>
              </a:ext>
            </a:extLst>
          </p:cNvPr>
          <p:cNvCxnSpPr>
            <a:cxnSpLocks/>
            <a:stCxn id="244" idx="3"/>
          </p:cNvCxnSpPr>
          <p:nvPr/>
        </p:nvCxnSpPr>
        <p:spPr>
          <a:xfrm>
            <a:off x="4476543" y="2384873"/>
            <a:ext cx="235987" cy="26520"/>
          </a:xfrm>
          <a:prstGeom prst="straightConnector1">
            <a:avLst/>
          </a:prstGeom>
          <a:ln w="2540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97" name="Straight Arrow Connector 296">
            <a:extLst>
              <a:ext uri="{FF2B5EF4-FFF2-40B4-BE49-F238E27FC236}">
                <a16:creationId xmlns:a16="http://schemas.microsoft.com/office/drawing/2014/main" id="{40227106-5D7E-0301-DB05-D0DB06356D9F}"/>
              </a:ext>
            </a:extLst>
          </p:cNvPr>
          <p:cNvCxnSpPr>
            <a:cxnSpLocks/>
          </p:cNvCxnSpPr>
          <p:nvPr/>
        </p:nvCxnSpPr>
        <p:spPr>
          <a:xfrm flipV="1">
            <a:off x="5063263" y="2345054"/>
            <a:ext cx="280605" cy="55387"/>
          </a:xfrm>
          <a:prstGeom prst="straightConnector1">
            <a:avLst/>
          </a:prstGeom>
          <a:ln w="2540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99" name="Straight Arrow Connector 298">
            <a:extLst>
              <a:ext uri="{FF2B5EF4-FFF2-40B4-BE49-F238E27FC236}">
                <a16:creationId xmlns:a16="http://schemas.microsoft.com/office/drawing/2014/main" id="{2EB65C96-5F95-04C2-D32B-42EE985B591C}"/>
              </a:ext>
            </a:extLst>
          </p:cNvPr>
          <p:cNvCxnSpPr>
            <a:cxnSpLocks/>
          </p:cNvCxnSpPr>
          <p:nvPr/>
        </p:nvCxnSpPr>
        <p:spPr>
          <a:xfrm>
            <a:off x="6196914" y="2359224"/>
            <a:ext cx="411865" cy="400291"/>
          </a:xfrm>
          <a:prstGeom prst="straightConnector1">
            <a:avLst/>
          </a:prstGeom>
          <a:ln w="2540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B273F0BB-7B43-D1BC-415F-09FE8BBA2649}"/>
              </a:ext>
            </a:extLst>
          </p:cNvPr>
          <p:cNvCxnSpPr>
            <a:cxnSpLocks/>
          </p:cNvCxnSpPr>
          <p:nvPr/>
        </p:nvCxnSpPr>
        <p:spPr>
          <a:xfrm>
            <a:off x="5296948" y="1654363"/>
            <a:ext cx="898853" cy="45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a16="http://schemas.microsoft.com/office/drawing/2014/main" id="{E29AA2AE-3A06-11AB-533B-32B665661168}"/>
              </a:ext>
            </a:extLst>
          </p:cNvPr>
          <p:cNvCxnSpPr>
            <a:cxnSpLocks/>
          </p:cNvCxnSpPr>
          <p:nvPr/>
        </p:nvCxnSpPr>
        <p:spPr>
          <a:xfrm>
            <a:off x="5300978" y="2066854"/>
            <a:ext cx="898853" cy="45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a16="http://schemas.microsoft.com/office/drawing/2014/main" id="{7836AA11-4522-2626-5043-39E72A33B648}"/>
              </a:ext>
            </a:extLst>
          </p:cNvPr>
          <p:cNvCxnSpPr>
            <a:cxnSpLocks/>
          </p:cNvCxnSpPr>
          <p:nvPr/>
        </p:nvCxnSpPr>
        <p:spPr>
          <a:xfrm>
            <a:off x="5299691" y="2481825"/>
            <a:ext cx="898853" cy="45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1828E8D2-A831-C1B7-B1CF-9D7F9C9603D0}"/>
              </a:ext>
            </a:extLst>
          </p:cNvPr>
          <p:cNvCxnSpPr>
            <a:cxnSpLocks/>
          </p:cNvCxnSpPr>
          <p:nvPr/>
        </p:nvCxnSpPr>
        <p:spPr>
          <a:xfrm>
            <a:off x="5300978" y="2890521"/>
            <a:ext cx="898853" cy="45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2195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B42CF45-8F5D-8954-D97D-018733E679B4}"/>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1C5E7707-C928-3517-8748-617CB516E761}"/>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join method,  </a:t>
            </a:r>
            <a:r>
              <a:rPr lang="en" i="1" dirty="0">
                <a:solidFill>
                  <a:schemeClr val="accent2"/>
                </a:solidFill>
                <a:latin typeface="Lato"/>
                <a:ea typeface="Lato"/>
                <a:cs typeface="Lato"/>
                <a:sym typeface="Lato"/>
              </a:rPr>
              <a:t>table order</a:t>
            </a:r>
            <a:endParaRPr i="1"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C74310B2-7B5C-FAD8-8D58-472264ABAE5F}"/>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pic>
        <p:nvPicPr>
          <p:cNvPr id="8" name="Picture 7">
            <a:extLst>
              <a:ext uri="{FF2B5EF4-FFF2-40B4-BE49-F238E27FC236}">
                <a16:creationId xmlns:a16="http://schemas.microsoft.com/office/drawing/2014/main" id="{BE9DA563-3F3C-CC15-95DD-E14195AC23FA}"/>
              </a:ext>
            </a:extLst>
          </p:cNvPr>
          <p:cNvPicPr>
            <a:picLocks noChangeAspect="1"/>
          </p:cNvPicPr>
          <p:nvPr/>
        </p:nvPicPr>
        <p:blipFill>
          <a:blip r:embed="rId3"/>
          <a:stretch>
            <a:fillRect/>
          </a:stretch>
        </p:blipFill>
        <p:spPr>
          <a:xfrm>
            <a:off x="3839909" y="1399282"/>
            <a:ext cx="2015676" cy="1369319"/>
          </a:xfrm>
          <a:prstGeom prst="rect">
            <a:avLst/>
          </a:prstGeom>
        </p:spPr>
      </p:pic>
      <p:grpSp>
        <p:nvGrpSpPr>
          <p:cNvPr id="26" name="Group 25">
            <a:extLst>
              <a:ext uri="{FF2B5EF4-FFF2-40B4-BE49-F238E27FC236}">
                <a16:creationId xmlns:a16="http://schemas.microsoft.com/office/drawing/2014/main" id="{BA7428B1-5D55-E95C-6470-74CC76C024F8}"/>
              </a:ext>
            </a:extLst>
          </p:cNvPr>
          <p:cNvGrpSpPr/>
          <p:nvPr/>
        </p:nvGrpSpPr>
        <p:grpSpPr>
          <a:xfrm>
            <a:off x="5925177" y="2108053"/>
            <a:ext cx="609600" cy="1334915"/>
            <a:chOff x="4990214" y="2571750"/>
            <a:chExt cx="609600" cy="1334915"/>
          </a:xfrm>
        </p:grpSpPr>
        <p:cxnSp>
          <p:nvCxnSpPr>
            <p:cNvPr id="13" name="Straight Connector 12">
              <a:extLst>
                <a:ext uri="{FF2B5EF4-FFF2-40B4-BE49-F238E27FC236}">
                  <a16:creationId xmlns:a16="http://schemas.microsoft.com/office/drawing/2014/main" id="{95D433FB-5D71-C128-84CD-9908B33E13C4}"/>
                </a:ext>
              </a:extLst>
            </p:cNvPr>
            <p:cNvCxnSpPr/>
            <p:nvPr/>
          </p:nvCxnSpPr>
          <p:spPr>
            <a:xfrm>
              <a:off x="4990214" y="2571750"/>
              <a:ext cx="48909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0394A29-6DD6-7374-3603-61F5E1F93B68}"/>
                </a:ext>
              </a:extLst>
            </p:cNvPr>
            <p:cNvCxnSpPr/>
            <p:nvPr/>
          </p:nvCxnSpPr>
          <p:spPr>
            <a:xfrm>
              <a:off x="5465135" y="2571750"/>
              <a:ext cx="0" cy="6605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E0E799C-F11B-8733-1151-3D71023BBB01}"/>
                </a:ext>
              </a:extLst>
            </p:cNvPr>
            <p:cNvCxnSpPr/>
            <p:nvPr/>
          </p:nvCxnSpPr>
          <p:spPr>
            <a:xfrm flipH="1">
              <a:off x="5160335" y="3239386"/>
              <a:ext cx="31897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DF0C9A4-376A-B76E-4737-1FA17C90A403}"/>
                </a:ext>
              </a:extLst>
            </p:cNvPr>
            <p:cNvCxnSpPr/>
            <p:nvPr/>
          </p:nvCxnSpPr>
          <p:spPr>
            <a:xfrm flipV="1">
              <a:off x="5167423" y="2824083"/>
              <a:ext cx="0" cy="42239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C1017DA-ECF9-D0EC-21D5-2336E917341D}"/>
                </a:ext>
              </a:extLst>
            </p:cNvPr>
            <p:cNvCxnSpPr/>
            <p:nvPr/>
          </p:nvCxnSpPr>
          <p:spPr>
            <a:xfrm>
              <a:off x="5160335" y="2824083"/>
              <a:ext cx="439479"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47183C7-B8A2-3345-7D13-FA9998A8C876}"/>
                </a:ext>
              </a:extLst>
            </p:cNvPr>
            <p:cNvCxnSpPr/>
            <p:nvPr/>
          </p:nvCxnSpPr>
          <p:spPr>
            <a:xfrm>
              <a:off x="5592726" y="2809907"/>
              <a:ext cx="0" cy="1096758"/>
            </a:xfrm>
            <a:prstGeom prst="line">
              <a:avLst/>
            </a:prstGeom>
            <a:ln w="25400">
              <a:headEnd type="none"/>
              <a:tailEnd type="triangle"/>
            </a:ln>
          </p:spPr>
          <p:style>
            <a:lnRef idx="1">
              <a:schemeClr val="accent1"/>
            </a:lnRef>
            <a:fillRef idx="0">
              <a:schemeClr val="accent1"/>
            </a:fillRef>
            <a:effectRef idx="0">
              <a:schemeClr val="accent1"/>
            </a:effectRef>
            <a:fontRef idx="minor">
              <a:schemeClr val="tx1"/>
            </a:fontRef>
          </p:style>
        </p:cxnSp>
      </p:grpSp>
      <p:pic>
        <p:nvPicPr>
          <p:cNvPr id="25" name="Picture 24">
            <a:extLst>
              <a:ext uri="{FF2B5EF4-FFF2-40B4-BE49-F238E27FC236}">
                <a16:creationId xmlns:a16="http://schemas.microsoft.com/office/drawing/2014/main" id="{80BD00D3-C085-9E91-CB1C-415378F06A66}"/>
              </a:ext>
            </a:extLst>
          </p:cNvPr>
          <p:cNvPicPr>
            <a:picLocks noChangeAspect="1"/>
          </p:cNvPicPr>
          <p:nvPr/>
        </p:nvPicPr>
        <p:blipFill>
          <a:blip r:embed="rId4"/>
          <a:stretch>
            <a:fillRect/>
          </a:stretch>
        </p:blipFill>
        <p:spPr>
          <a:xfrm>
            <a:off x="6683634" y="2604031"/>
            <a:ext cx="2015672" cy="1437611"/>
          </a:xfrm>
          <a:prstGeom prst="rect">
            <a:avLst/>
          </a:prstGeom>
        </p:spPr>
      </p:pic>
      <p:sp>
        <p:nvSpPr>
          <p:cNvPr id="28" name="Google Shape;248;p56">
            <a:extLst>
              <a:ext uri="{FF2B5EF4-FFF2-40B4-BE49-F238E27FC236}">
                <a16:creationId xmlns:a16="http://schemas.microsoft.com/office/drawing/2014/main" id="{28AB6664-4860-9750-EA96-3542F3BBDFBE}"/>
              </a:ext>
            </a:extLst>
          </p:cNvPr>
          <p:cNvSpPr txBox="1"/>
          <p:nvPr/>
        </p:nvSpPr>
        <p:spPr>
          <a:xfrm>
            <a:off x="258000" y="1574637"/>
            <a:ext cx="5036767" cy="1246465"/>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 sz="1000" b="0" i="0" u="none" strike="noStrike" kern="0" cap="none" spc="0" normalizeH="0" baseline="0" noProof="0" dirty="0">
                <a:ln>
                  <a:noFill/>
                </a:ln>
                <a:solidFill>
                  <a:srgbClr val="000000"/>
                </a:solidFill>
                <a:effectLst/>
                <a:uLnTx/>
                <a:uFillTx/>
                <a:latin typeface="Lato"/>
                <a:ea typeface="Lato"/>
                <a:cs typeface="Lato"/>
                <a:sym typeface="Lato"/>
              </a:rPr>
              <a:t>join methods:</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sz="1000" b="0" i="0" u="none" strike="noStrike" kern="0" cap="none" spc="0" normalizeH="0" baseline="0" noProof="0" dirty="0">
                <a:ln>
                  <a:noFill/>
                </a:ln>
                <a:solidFill>
                  <a:srgbClr val="000000"/>
                </a:solidFill>
                <a:effectLst/>
                <a:uLnTx/>
                <a:uFillTx/>
                <a:latin typeface="Lato"/>
                <a:ea typeface="Lato"/>
                <a:cs typeface="Lato"/>
                <a:sym typeface="Lato"/>
              </a:rPr>
              <a:t>nested loop join (implied here), the oldest</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000" dirty="0">
                <a:latin typeface="Lato"/>
                <a:ea typeface="Lato"/>
                <a:cs typeface="Lato"/>
                <a:sym typeface="Lato"/>
              </a:rPr>
              <a:t>batch nested loop join (optimized for distributed)</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000" dirty="0">
                <a:latin typeface="Lato"/>
                <a:ea typeface="Lato"/>
                <a:cs typeface="Lato"/>
                <a:sym typeface="Lato"/>
              </a:rPr>
              <a:t>hash join</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000" dirty="0">
                <a:latin typeface="Lato"/>
                <a:ea typeface="Lato"/>
                <a:cs typeface="Lato"/>
                <a:sym typeface="Lato"/>
              </a:rPr>
              <a:t>merge join (sort-merge)</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sz="1000" b="0" i="1"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609056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4B097A79-56EB-169A-00FD-1E397A447366}"/>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E14FC1AE-300A-5B7E-5608-CCE2B0DA6160}"/>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rules based optimizer (rbo), cost based optimizer (cbo)</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EE5F8621-C89F-0CAC-50DF-E27574A45968}"/>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11</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805E29AB-665A-382F-4E18-03F62AA6A9A2}"/>
              </a:ext>
            </a:extLst>
          </p:cNvPr>
          <p:cNvSpPr txBox="1"/>
          <p:nvPr/>
        </p:nvSpPr>
        <p:spPr>
          <a:xfrm>
            <a:off x="315981" y="1549228"/>
            <a:ext cx="3958307" cy="2556054"/>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rules based optimizer</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original</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based on sound principles</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1" i="0" u="none" strike="noStrike" kern="0" cap="none" spc="0" normalizeH="0" baseline="0" noProof="0" dirty="0">
                <a:ln>
                  <a:noFill/>
                </a:ln>
                <a:solidFill>
                  <a:srgbClr val="000000"/>
                </a:solidFill>
                <a:effectLst/>
                <a:uLnTx/>
                <a:uFillTx/>
                <a:latin typeface="Lato"/>
                <a:ea typeface="Lato"/>
                <a:cs typeface="Lato"/>
                <a:sym typeface="Lato"/>
              </a:rPr>
              <a:t>a decision tree</a:t>
            </a:r>
          </a:p>
          <a:p>
            <a:pPr marL="227012" marR="0" lvl="0" defTabSz="914400" rtl="0" eaLnBrk="1" fontAlgn="auto" latinLnBrk="0" hangingPunct="1">
              <a:lnSpc>
                <a:spcPct val="115000"/>
              </a:lnSpc>
              <a:spcBef>
                <a:spcPts val="0"/>
              </a:spcBef>
              <a:spcAft>
                <a:spcPts val="0"/>
              </a:spcAft>
              <a:buClr>
                <a:srgbClr val="000000"/>
              </a:buClr>
              <a:buSzTx/>
              <a:tabLst/>
              <a:defRPr/>
            </a:pP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5 rules applied in order to determine query plan</a:t>
            </a: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outer joins</a:t>
            </a: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joins</a:t>
            </a: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filters</a:t>
            </a: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table size</a:t>
            </a:r>
          </a:p>
          <a:p>
            <a:pPr marL="687388"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table cardinality</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 name="Google Shape;248;p56">
            <a:extLst>
              <a:ext uri="{FF2B5EF4-FFF2-40B4-BE49-F238E27FC236}">
                <a16:creationId xmlns:a16="http://schemas.microsoft.com/office/drawing/2014/main" id="{43D0F9E8-B9A1-8564-BA31-401FC2CF5A20}"/>
              </a:ext>
            </a:extLst>
          </p:cNvPr>
          <p:cNvSpPr txBox="1"/>
          <p:nvPr/>
        </p:nvSpPr>
        <p:spPr>
          <a:xfrm>
            <a:off x="4990762" y="1549228"/>
            <a:ext cx="3958307" cy="92791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cost based optimizer</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err="1">
                <a:ln>
                  <a:noFill/>
                </a:ln>
                <a:solidFill>
                  <a:srgbClr val="000000"/>
                </a:solidFill>
                <a:effectLst/>
                <a:uLnTx/>
                <a:uFillTx/>
                <a:latin typeface="Lato"/>
                <a:ea typeface="Lato"/>
                <a:cs typeface="Lato"/>
                <a:sym typeface="Lato"/>
              </a:rPr>
              <a:t>rbo</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 plus statistics about the data</a:t>
            </a:r>
          </a:p>
          <a:p>
            <a:pPr marL="460375" marR="0" lvl="0" indent="-23336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same principles (they were not broken</a:t>
            </a:r>
            <a:r>
              <a:rPr lang="en-US" dirty="0">
                <a:latin typeface="Lato"/>
                <a:ea typeface="Lato"/>
                <a:cs typeface="Lato"/>
                <a:sym typeface="Lato"/>
              </a:rPr>
              <a:t>)</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6" name="Picture 5">
            <a:extLst>
              <a:ext uri="{FF2B5EF4-FFF2-40B4-BE49-F238E27FC236}">
                <a16:creationId xmlns:a16="http://schemas.microsoft.com/office/drawing/2014/main" id="{9034E17F-E78C-5A0F-2D79-4EE6823C76DC}"/>
              </a:ext>
            </a:extLst>
          </p:cNvPr>
          <p:cNvPicPr>
            <a:picLocks noChangeAspect="1"/>
          </p:cNvPicPr>
          <p:nvPr/>
        </p:nvPicPr>
        <p:blipFill>
          <a:blip r:embed="rId3"/>
          <a:stretch>
            <a:fillRect/>
          </a:stretch>
        </p:blipFill>
        <p:spPr>
          <a:xfrm>
            <a:off x="4153239" y="1324900"/>
            <a:ext cx="548688" cy="1152244"/>
          </a:xfrm>
          <a:prstGeom prst="rect">
            <a:avLst/>
          </a:prstGeom>
        </p:spPr>
      </p:pic>
    </p:spTree>
    <p:extLst>
      <p:ext uri="{BB962C8B-B14F-4D97-AF65-F5344CB8AC3E}">
        <p14:creationId xmlns:p14="http://schemas.microsoft.com/office/powerpoint/2010/main" val="1888036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07F496C1-6521-76FA-AAB2-05BAE4BAB1F2}"/>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446DDA3E-BC38-44BE-C242-9F9A33C32F5B}"/>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6A89148D-BC59-5ADD-4C79-BB2C797CF69E}"/>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01</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DE783E59-7B74-DFB7-3341-2F6726973836}"/>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855374B8-C5C7-BABF-D7C5-A0238DAFCBF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14957252-855B-AF1D-D8BE-6B723C6DCE60}"/>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Rectangle: Rounded Corners 2">
            <a:extLst>
              <a:ext uri="{FF2B5EF4-FFF2-40B4-BE49-F238E27FC236}">
                <a16:creationId xmlns:a16="http://schemas.microsoft.com/office/drawing/2014/main" id="{9BE603FA-2AEC-D4F8-688F-F5608F0A916D}"/>
              </a:ext>
            </a:extLst>
          </p:cNvPr>
          <p:cNvSpPr/>
          <p:nvPr/>
        </p:nvSpPr>
        <p:spPr>
          <a:xfrm>
            <a:off x="3136053" y="1754293"/>
            <a:ext cx="372533" cy="372533"/>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a:t>
            </a:r>
          </a:p>
        </p:txBody>
      </p:sp>
      <p:sp>
        <p:nvSpPr>
          <p:cNvPr id="9" name="Rectangle: Rounded Corners 8">
            <a:extLst>
              <a:ext uri="{FF2B5EF4-FFF2-40B4-BE49-F238E27FC236}">
                <a16:creationId xmlns:a16="http://schemas.microsoft.com/office/drawing/2014/main" id="{E70C6C21-3302-E642-D391-56981E496DC8}"/>
              </a:ext>
            </a:extLst>
          </p:cNvPr>
          <p:cNvSpPr/>
          <p:nvPr/>
        </p:nvSpPr>
        <p:spPr>
          <a:xfrm>
            <a:off x="3544461" y="1754293"/>
            <a:ext cx="372533" cy="372533"/>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2</a:t>
            </a:r>
          </a:p>
        </p:txBody>
      </p:sp>
      <p:sp>
        <p:nvSpPr>
          <p:cNvPr id="13" name="Rectangle: Rounded Corners 12">
            <a:extLst>
              <a:ext uri="{FF2B5EF4-FFF2-40B4-BE49-F238E27FC236}">
                <a16:creationId xmlns:a16="http://schemas.microsoft.com/office/drawing/2014/main" id="{7B5B2AA1-996D-753C-1745-3878F4AA9E33}"/>
              </a:ext>
            </a:extLst>
          </p:cNvPr>
          <p:cNvSpPr/>
          <p:nvPr/>
        </p:nvSpPr>
        <p:spPr>
          <a:xfrm>
            <a:off x="3952869" y="1754293"/>
            <a:ext cx="372533" cy="372533"/>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3</a:t>
            </a:r>
          </a:p>
        </p:txBody>
      </p:sp>
      <p:sp>
        <p:nvSpPr>
          <p:cNvPr id="16" name="Rectangle: Rounded Corners 15">
            <a:extLst>
              <a:ext uri="{FF2B5EF4-FFF2-40B4-BE49-F238E27FC236}">
                <a16:creationId xmlns:a16="http://schemas.microsoft.com/office/drawing/2014/main" id="{258A7BA6-BD94-4D60-30F0-FFE4132E4566}"/>
              </a:ext>
            </a:extLst>
          </p:cNvPr>
          <p:cNvSpPr/>
          <p:nvPr/>
        </p:nvSpPr>
        <p:spPr>
          <a:xfrm>
            <a:off x="4361277" y="1754293"/>
            <a:ext cx="372533" cy="372533"/>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4</a:t>
            </a:r>
          </a:p>
        </p:txBody>
      </p:sp>
      <p:sp>
        <p:nvSpPr>
          <p:cNvPr id="18" name="Rectangle: Rounded Corners 17">
            <a:extLst>
              <a:ext uri="{FF2B5EF4-FFF2-40B4-BE49-F238E27FC236}">
                <a16:creationId xmlns:a16="http://schemas.microsoft.com/office/drawing/2014/main" id="{B1D30825-CE41-3FD7-DD6D-F40F7CD07AA3}"/>
              </a:ext>
            </a:extLst>
          </p:cNvPr>
          <p:cNvSpPr/>
          <p:nvPr/>
        </p:nvSpPr>
        <p:spPr>
          <a:xfrm>
            <a:off x="5994909" y="1754293"/>
            <a:ext cx="372533" cy="372533"/>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8</a:t>
            </a:r>
          </a:p>
        </p:txBody>
      </p:sp>
      <p:sp>
        <p:nvSpPr>
          <p:cNvPr id="20" name="Rectangle: Rounded Corners 19">
            <a:extLst>
              <a:ext uri="{FF2B5EF4-FFF2-40B4-BE49-F238E27FC236}">
                <a16:creationId xmlns:a16="http://schemas.microsoft.com/office/drawing/2014/main" id="{8768A626-161B-B8ED-20B7-081A6E542B3F}"/>
              </a:ext>
            </a:extLst>
          </p:cNvPr>
          <p:cNvSpPr/>
          <p:nvPr/>
        </p:nvSpPr>
        <p:spPr>
          <a:xfrm>
            <a:off x="5586501" y="1754293"/>
            <a:ext cx="372533" cy="372533"/>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7</a:t>
            </a:r>
          </a:p>
        </p:txBody>
      </p:sp>
      <p:sp>
        <p:nvSpPr>
          <p:cNvPr id="22" name="Rectangle: Rounded Corners 21">
            <a:extLst>
              <a:ext uri="{FF2B5EF4-FFF2-40B4-BE49-F238E27FC236}">
                <a16:creationId xmlns:a16="http://schemas.microsoft.com/office/drawing/2014/main" id="{FB294805-1C0C-602E-D3F9-AA5B9BFADF9D}"/>
              </a:ext>
            </a:extLst>
          </p:cNvPr>
          <p:cNvSpPr/>
          <p:nvPr/>
        </p:nvSpPr>
        <p:spPr>
          <a:xfrm>
            <a:off x="6403317" y="1754293"/>
            <a:ext cx="372533" cy="372533"/>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9</a:t>
            </a:r>
          </a:p>
        </p:txBody>
      </p:sp>
      <p:sp>
        <p:nvSpPr>
          <p:cNvPr id="24" name="Rectangle: Rounded Corners 23">
            <a:extLst>
              <a:ext uri="{FF2B5EF4-FFF2-40B4-BE49-F238E27FC236}">
                <a16:creationId xmlns:a16="http://schemas.microsoft.com/office/drawing/2014/main" id="{335799B7-0FBC-F292-7AC2-BE493D354D10}"/>
              </a:ext>
            </a:extLst>
          </p:cNvPr>
          <p:cNvSpPr/>
          <p:nvPr/>
        </p:nvSpPr>
        <p:spPr>
          <a:xfrm>
            <a:off x="4769685" y="1754293"/>
            <a:ext cx="372533" cy="372533"/>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5</a:t>
            </a:r>
          </a:p>
        </p:txBody>
      </p:sp>
      <p:sp>
        <p:nvSpPr>
          <p:cNvPr id="26" name="Rectangle: Rounded Corners 25">
            <a:extLst>
              <a:ext uri="{FF2B5EF4-FFF2-40B4-BE49-F238E27FC236}">
                <a16:creationId xmlns:a16="http://schemas.microsoft.com/office/drawing/2014/main" id="{C28D2D58-55AE-EE27-5E30-77E87FFD6E96}"/>
              </a:ext>
            </a:extLst>
          </p:cNvPr>
          <p:cNvSpPr/>
          <p:nvPr/>
        </p:nvSpPr>
        <p:spPr>
          <a:xfrm>
            <a:off x="5178093" y="1754293"/>
            <a:ext cx="372533" cy="372533"/>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6</a:t>
            </a:r>
          </a:p>
        </p:txBody>
      </p:sp>
      <p:sp>
        <p:nvSpPr>
          <p:cNvPr id="28" name="Rectangle: Rounded Corners 27">
            <a:extLst>
              <a:ext uri="{FF2B5EF4-FFF2-40B4-BE49-F238E27FC236}">
                <a16:creationId xmlns:a16="http://schemas.microsoft.com/office/drawing/2014/main" id="{0BF0E95A-81B1-9E6C-FCCE-840ED9689C64}"/>
              </a:ext>
            </a:extLst>
          </p:cNvPr>
          <p:cNvSpPr/>
          <p:nvPr/>
        </p:nvSpPr>
        <p:spPr>
          <a:xfrm>
            <a:off x="6811727" y="1754293"/>
            <a:ext cx="432589" cy="372533"/>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10</a:t>
            </a:r>
          </a:p>
        </p:txBody>
      </p:sp>
      <p:sp>
        <p:nvSpPr>
          <p:cNvPr id="30" name="Google Shape;248;p56">
            <a:extLst>
              <a:ext uri="{FF2B5EF4-FFF2-40B4-BE49-F238E27FC236}">
                <a16:creationId xmlns:a16="http://schemas.microsoft.com/office/drawing/2014/main" id="{F2463AAE-1598-699F-F811-135B291259C3}"/>
              </a:ext>
            </a:extLst>
          </p:cNvPr>
          <p:cNvSpPr txBox="1"/>
          <p:nvPr/>
        </p:nvSpPr>
        <p:spPr>
          <a:xfrm>
            <a:off x="3351103" y="2253251"/>
            <a:ext cx="3958307" cy="68015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difficulty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solidFill>
                  <a:schemeClr val="bg1">
                    <a:lumMod val="50000"/>
                  </a:schemeClr>
                </a:solidFill>
                <a:latin typeface="Lato"/>
                <a:ea typeface="Lato"/>
                <a:cs typeface="Lato"/>
                <a:sym typeface="Lato"/>
              </a:rPr>
              <a:t>      only because it has 3 simple things going on</a:t>
            </a:r>
            <a:endParaRPr kumimoji="0" b="0" i="0" u="none" strike="noStrike" kern="0" cap="none" spc="0" normalizeH="0" baseline="0" noProof="0" dirty="0">
              <a:ln>
                <a:noFill/>
              </a:ln>
              <a:solidFill>
                <a:schemeClr val="bg1">
                  <a:lumMod val="50000"/>
                </a:schemeClr>
              </a:solidFill>
              <a:effectLst/>
              <a:uLnTx/>
              <a:uFillTx/>
              <a:latin typeface="Lato"/>
              <a:ea typeface="Lato"/>
              <a:cs typeface="Lato"/>
              <a:sym typeface="Lato"/>
            </a:endParaRPr>
          </a:p>
        </p:txBody>
      </p:sp>
    </p:spTree>
    <p:extLst>
      <p:ext uri="{BB962C8B-B14F-4D97-AF65-F5344CB8AC3E}">
        <p14:creationId xmlns:p14="http://schemas.microsoft.com/office/powerpoint/2010/main" val="2836896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D00F9B6-73B9-E44A-51DA-8052A417C503}"/>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4C17D401-4966-7AD2-C93D-D42DF3C0ABE1}"/>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01:</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18B96CFF-87C7-8E45-83C4-6C03EDFCEA88}"/>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0B271D7D-AE4D-AA07-103B-31DDA3E64E44}"/>
              </a:ext>
            </a:extLst>
          </p:cNvPr>
          <p:cNvSpPr txBox="1"/>
          <p:nvPr/>
        </p:nvSpPr>
        <p:spPr>
          <a:xfrm>
            <a:off x="315981" y="1244428"/>
            <a:ext cx="1905672" cy="266223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from t1, 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t2.col2 &gt;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order by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a:t>
            </a:r>
            <a:r>
              <a:rPr kumimoji="0" lang="en" b="0" i="0" u="none" strike="noStrike" kern="0" cap="none" spc="0" normalizeH="0" baseline="0" noProof="0" dirty="0">
                <a:ln>
                  <a:noFill/>
                </a:ln>
                <a:solidFill>
                  <a:srgbClr val="000000"/>
                </a:solidFill>
                <a:effectLst/>
                <a:uLnTx/>
                <a:uFillTx/>
                <a:latin typeface="Lato"/>
                <a:ea typeface="Lato"/>
                <a:cs typeface="Lato"/>
                <a:sym typeface="Lato"/>
              </a:rPr>
              <a:t>t2.col2;</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 name="Google Shape;248;p56">
            <a:extLst>
              <a:ext uri="{FF2B5EF4-FFF2-40B4-BE49-F238E27FC236}">
                <a16:creationId xmlns:a16="http://schemas.microsoft.com/office/drawing/2014/main" id="{34CF5993-DFC6-99B5-98FF-BB8C37B26FD3}"/>
              </a:ext>
            </a:extLst>
          </p:cNvPr>
          <p:cNvSpPr txBox="1"/>
          <p:nvPr/>
        </p:nvSpPr>
        <p:spPr>
          <a:xfrm>
            <a:off x="6102002" y="269068"/>
            <a:ext cx="2570073" cy="1671196"/>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Lato"/>
                <a:ea typeface="Lato"/>
                <a:cs typeface="Lato"/>
                <a:sym typeface="Lato"/>
              </a:rPr>
              <a:t>5 rules applied in order to determine query plan</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outer 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filters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table size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table cardinality</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8" name="Google Shape;248;p56">
            <a:extLst>
              <a:ext uri="{FF2B5EF4-FFF2-40B4-BE49-F238E27FC236}">
                <a16:creationId xmlns:a16="http://schemas.microsoft.com/office/drawing/2014/main" id="{36C6D01E-71A7-5646-D7A9-34AB76972D35}"/>
              </a:ext>
            </a:extLst>
          </p:cNvPr>
          <p:cNvSpPr txBox="1"/>
          <p:nvPr/>
        </p:nvSpPr>
        <p:spPr>
          <a:xfrm>
            <a:off x="6102002" y="2893099"/>
            <a:ext cx="2640986" cy="1034099"/>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 sz="1200" i="0" u="none" strike="noStrike" kern="0" cap="none" spc="0" normalizeH="0" baseline="0" noProof="0" dirty="0">
                <a:ln>
                  <a:noFill/>
                </a:ln>
                <a:solidFill>
                  <a:srgbClr val="00B0F0"/>
                </a:solidFill>
                <a:effectLst/>
                <a:uLnTx/>
                <a:uFillTx/>
                <a:latin typeface="Lato"/>
                <a:ea typeface="Lato"/>
                <a:cs typeface="Lato"/>
                <a:sym typeface="Lato"/>
              </a:rPr>
              <a:t>query plan</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sz="1200" i="0" u="none" strike="noStrike" kern="0" cap="none" spc="0" normalizeH="0" baseline="0" noProof="0" dirty="0">
                <a:ln>
                  <a:noFill/>
                </a:ln>
                <a:solidFill>
                  <a:srgbClr val="00B0F0"/>
                </a:solidFill>
                <a:effectLst/>
                <a:uLnTx/>
                <a:uFillTx/>
                <a:latin typeface="Lato"/>
                <a:ea typeface="Lato"/>
                <a:cs typeface="Lato"/>
                <a:sym typeface="Lato"/>
              </a:rPr>
              <a:t>file (table) access method</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00B0F0"/>
                </a:solidFill>
                <a:latin typeface="Lato"/>
                <a:ea typeface="Lato"/>
                <a:cs typeface="Lato"/>
                <a:sym typeface="Lato"/>
              </a:rPr>
              <a:t>join method  </a:t>
            </a:r>
          </a:p>
          <a:p>
            <a:pPr marL="227013" marR="0" lvl="0" indent="-111125"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i="1" dirty="0">
                <a:solidFill>
                  <a:srgbClr val="00B0F0"/>
                </a:solidFill>
                <a:latin typeface="Lato"/>
                <a:ea typeface="Lato"/>
                <a:cs typeface="Lato"/>
                <a:sym typeface="Lato"/>
              </a:rPr>
              <a:t>t</a:t>
            </a:r>
            <a:r>
              <a:rPr kumimoji="0" lang="en" sz="1200" b="0" i="1" u="none" strike="noStrike" kern="0" cap="none" spc="0" normalizeH="0" baseline="0" noProof="0" dirty="0">
                <a:ln>
                  <a:noFill/>
                </a:ln>
                <a:solidFill>
                  <a:srgbClr val="00B0F0"/>
                </a:solidFill>
                <a:effectLst/>
                <a:uLnTx/>
                <a:uFillTx/>
                <a:latin typeface="Lato"/>
                <a:ea typeface="Lato"/>
                <a:cs typeface="Lato"/>
                <a:sym typeface="Lato"/>
              </a:rPr>
              <a:t>able order</a:t>
            </a:r>
          </a:p>
        </p:txBody>
      </p:sp>
    </p:spTree>
    <p:extLst>
      <p:ext uri="{BB962C8B-B14F-4D97-AF65-F5344CB8AC3E}">
        <p14:creationId xmlns:p14="http://schemas.microsoft.com/office/powerpoint/2010/main" val="2531364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585AAD5-08CA-232A-8EF5-E805ECC33BE2}"/>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FB093E2F-E5E6-3375-9EA8-25752DB16D2B}"/>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but first, 7'th grade algebra; the associative property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BF645DED-E753-2D49-22DC-A65372D3FB98}"/>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36E26E90-E1B5-9362-6A28-346D2054BE59}"/>
              </a:ext>
            </a:extLst>
          </p:cNvPr>
          <p:cNvSpPr txBox="1"/>
          <p:nvPr/>
        </p:nvSpPr>
        <p:spPr>
          <a:xfrm>
            <a:off x="315981" y="1545431"/>
            <a:ext cx="2325619" cy="1918957"/>
          </a:xfrm>
          <a:prstGeom prst="rect">
            <a:avLst/>
          </a:prstGeom>
          <a:noFill/>
          <a:ln>
            <a:noFill/>
          </a:ln>
        </p:spPr>
        <p:txBody>
          <a:bodyPr spcFirstLastPara="1" wrap="square" lIns="91425" tIns="91425" rIns="91425" bIns="91425" anchor="t" anchorCtr="0">
            <a:spAutoFit/>
          </a:bodyPr>
          <a:lstStyle/>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applies to addition, multiplication</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not subtraction, division</a:t>
            </a: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 b="0" i="0" u="none" strike="noStrike" kern="0" cap="none" spc="0" normalizeH="0" baseline="0" noProof="0" dirty="0">
              <a:ln>
                <a:noFill/>
              </a:ln>
              <a:solidFill>
                <a:srgbClr val="000000"/>
              </a:solidFill>
              <a:effectLst/>
              <a:uLnTx/>
              <a:uFillTx/>
              <a:latin typeface="Lato"/>
              <a:ea typeface="Lato"/>
              <a:cs typeface="Lato"/>
              <a:sym typeface="Lato"/>
            </a:endParaRPr>
          </a:p>
          <a:p>
            <a:pPr marL="230188"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dirty="0">
                <a:latin typeface="Lato"/>
                <a:ea typeface="Lato"/>
                <a:cs typeface="Lato"/>
                <a:sym typeface="Lato"/>
              </a:rPr>
              <a:t>in this context,</a:t>
            </a:r>
          </a:p>
          <a:p>
            <a:pPr marL="3460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B0F0"/>
                </a:solidFill>
                <a:effectLst/>
                <a:uLnTx/>
                <a:uFillTx/>
                <a:latin typeface="Lato"/>
                <a:ea typeface="Lato"/>
                <a:cs typeface="Lato"/>
                <a:sym typeface="Lato"/>
              </a:rPr>
              <a:t>A = B,  B = C,                  thus A = C</a:t>
            </a:r>
            <a:endParaRPr kumimoji="0" b="0" i="0" u="none" strike="noStrike" kern="0" cap="none" spc="0" normalizeH="0" baseline="0" noProof="0" dirty="0">
              <a:ln>
                <a:noFill/>
              </a:ln>
              <a:solidFill>
                <a:srgbClr val="00B0F0"/>
              </a:solidFill>
              <a:effectLst/>
              <a:uLnTx/>
              <a:uFillTx/>
              <a:latin typeface="Lato"/>
              <a:ea typeface="Lato"/>
              <a:cs typeface="Lato"/>
              <a:sym typeface="Lato"/>
            </a:endParaRPr>
          </a:p>
        </p:txBody>
      </p:sp>
      <p:sp>
        <p:nvSpPr>
          <p:cNvPr id="4" name="Google Shape;248;p56">
            <a:extLst>
              <a:ext uri="{FF2B5EF4-FFF2-40B4-BE49-F238E27FC236}">
                <a16:creationId xmlns:a16="http://schemas.microsoft.com/office/drawing/2014/main" id="{07FC9364-CA5D-01D0-5936-E273F216ED14}"/>
              </a:ext>
            </a:extLst>
          </p:cNvPr>
          <p:cNvSpPr txBox="1"/>
          <p:nvPr/>
        </p:nvSpPr>
        <p:spPr>
          <a:xfrm>
            <a:off x="3184464" y="1240631"/>
            <a:ext cx="1905672" cy="315775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from t1, 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 b="0" i="0" u="none" strike="noStrike" kern="0" cap="none" spc="0" normalizeH="0" baseline="0" noProof="0" dirty="0">
              <a:ln>
                <a:noFill/>
              </a:ln>
              <a:solidFill>
                <a:srgbClr val="000000"/>
              </a:solidFill>
              <a:effectLst/>
              <a:uLnTx/>
              <a:uFillTx/>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lang="en" dirty="0">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t2.col2 &gt;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order by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a:t>
            </a:r>
            <a:r>
              <a:rPr kumimoji="0" lang="en" b="0" i="0" u="none" strike="noStrike" kern="0" cap="none" spc="0" normalizeH="0" baseline="0" noProof="0" dirty="0">
                <a:ln>
                  <a:noFill/>
                </a:ln>
                <a:solidFill>
                  <a:srgbClr val="000000"/>
                </a:solidFill>
                <a:effectLst/>
                <a:uLnTx/>
                <a:uFillTx/>
                <a:latin typeface="Lato"/>
                <a:ea typeface="Lato"/>
                <a:cs typeface="Lato"/>
                <a:sym typeface="Lato"/>
              </a:rPr>
              <a:t>t2.col2;</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6" name="Picture 5">
            <a:extLst>
              <a:ext uri="{FF2B5EF4-FFF2-40B4-BE49-F238E27FC236}">
                <a16:creationId xmlns:a16="http://schemas.microsoft.com/office/drawing/2014/main" id="{282312B1-134B-68CF-F608-4B004741ABC7}"/>
              </a:ext>
            </a:extLst>
          </p:cNvPr>
          <p:cNvPicPr>
            <a:picLocks noChangeAspect="1"/>
          </p:cNvPicPr>
          <p:nvPr/>
        </p:nvPicPr>
        <p:blipFill>
          <a:blip r:embed="rId3"/>
          <a:stretch>
            <a:fillRect/>
          </a:stretch>
        </p:blipFill>
        <p:spPr>
          <a:xfrm>
            <a:off x="4914030" y="1995627"/>
            <a:ext cx="548688" cy="1152244"/>
          </a:xfrm>
          <a:prstGeom prst="rect">
            <a:avLst/>
          </a:prstGeom>
        </p:spPr>
      </p:pic>
      <p:sp>
        <p:nvSpPr>
          <p:cNvPr id="8" name="Google Shape;248;p56">
            <a:extLst>
              <a:ext uri="{FF2B5EF4-FFF2-40B4-BE49-F238E27FC236}">
                <a16:creationId xmlns:a16="http://schemas.microsoft.com/office/drawing/2014/main" id="{8D68D183-120E-A6CD-943E-A727E6866DDE}"/>
              </a:ext>
            </a:extLst>
          </p:cNvPr>
          <p:cNvSpPr txBox="1"/>
          <p:nvPr/>
        </p:nvSpPr>
        <p:spPr>
          <a:xfrm>
            <a:off x="5633000" y="1240631"/>
            <a:ext cx="1905672" cy="315775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from t1, 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00B0F0"/>
                </a:solidFill>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00B0F0"/>
                </a:solidFill>
                <a:latin typeface="Lato"/>
                <a:ea typeface="Lato"/>
                <a:cs typeface="Lato"/>
                <a:sym typeface="Lato"/>
              </a:rPr>
              <a:t>      t2.col1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t2.col2 &gt;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order by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a:t>
            </a:r>
            <a:r>
              <a:rPr kumimoji="0" lang="en" b="0" i="0" u="none" strike="noStrike" kern="0" cap="none" spc="0" normalizeH="0" baseline="0" noProof="0" dirty="0">
                <a:ln>
                  <a:noFill/>
                </a:ln>
                <a:solidFill>
                  <a:srgbClr val="000000"/>
                </a:solidFill>
                <a:effectLst/>
                <a:uLnTx/>
                <a:uFillTx/>
                <a:latin typeface="Lato"/>
                <a:ea typeface="Lato"/>
                <a:cs typeface="Lato"/>
                <a:sym typeface="Lato"/>
              </a:rPr>
              <a:t>t2.col2;</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4048326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4F070D2A-B96F-67A6-660C-8E7736742508}"/>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098FE4B8-2AD8-8DC4-2E2C-DADFF96BA5EE}"/>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also first; the "psuedo order by clause" (a query rewrite)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8986C051-ED21-FA7A-597A-9E89642721AA}"/>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6" name="Google Shape;248;p56">
            <a:extLst>
              <a:ext uri="{FF2B5EF4-FFF2-40B4-BE49-F238E27FC236}">
                <a16:creationId xmlns:a16="http://schemas.microsoft.com/office/drawing/2014/main" id="{73D2894C-06E8-87F5-B152-C95BDF2A25B1}"/>
              </a:ext>
            </a:extLst>
          </p:cNvPr>
          <p:cNvSpPr txBox="1"/>
          <p:nvPr/>
        </p:nvSpPr>
        <p:spPr>
          <a:xfrm>
            <a:off x="729106" y="939628"/>
            <a:ext cx="1905672" cy="315775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from t1, 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FFC000"/>
                </a:solidFill>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FFC000"/>
                </a:solidFill>
                <a:latin typeface="Lato"/>
                <a:ea typeface="Lato"/>
                <a:cs typeface="Lato"/>
                <a:sym typeface="Lato"/>
              </a:rPr>
              <a:t>      t2.col1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t2.col2 &gt;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order by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00B0F0"/>
                </a:solidFill>
                <a:latin typeface="Lato"/>
                <a:ea typeface="Lato"/>
                <a:cs typeface="Lato"/>
                <a:sym typeface="Lato"/>
              </a:rPr>
              <a:t>      t2.col1, </a:t>
            </a:r>
            <a:r>
              <a:rPr kumimoji="0" lang="en" b="0" i="0" u="none" strike="noStrike" kern="0" cap="none" spc="0" normalizeH="0" baseline="0" noProof="0" dirty="0">
                <a:ln>
                  <a:noFill/>
                </a:ln>
                <a:solidFill>
                  <a:srgbClr val="000000"/>
                </a:solidFill>
                <a:effectLst/>
                <a:uLnTx/>
                <a:uFillTx/>
                <a:latin typeface="Lato"/>
                <a:ea typeface="Lato"/>
                <a:cs typeface="Lato"/>
                <a:sym typeface="Lato"/>
              </a:rPr>
              <a:t>t2.col2;</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20" name="Google Shape;248;p56">
            <a:extLst>
              <a:ext uri="{FF2B5EF4-FFF2-40B4-BE49-F238E27FC236}">
                <a16:creationId xmlns:a16="http://schemas.microsoft.com/office/drawing/2014/main" id="{A9E796CD-A345-80CB-1AD1-867CD70B7768}"/>
              </a:ext>
            </a:extLst>
          </p:cNvPr>
          <p:cNvSpPr txBox="1"/>
          <p:nvPr/>
        </p:nvSpPr>
        <p:spPr>
          <a:xfrm>
            <a:off x="3582874" y="1540809"/>
            <a:ext cx="3932691" cy="821733"/>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Lato"/>
                <a:ea typeface="Lato"/>
                <a:cs typeface="Lato"/>
                <a:sym typeface="Lato"/>
              </a:rPr>
              <a:t>why-</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one index</a:t>
            </a:r>
          </a:p>
          <a:p>
            <a:pPr marL="227013"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pre-sorted data  ( "pipelined sort" )</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3326358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22E1B25B-5F70-3E17-38D9-6AF069232D3E}"/>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A669A7DC-CDB1-0599-099D-24A475826331}"/>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B9DEC406-636D-348A-39C0-7D43AA686A48}"/>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01</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920D4D6C-2566-BE92-0049-1027DB5D19DD}"/>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8F8965DF-E685-B4AB-B531-BB6012215EDC}"/>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244A309F-47A5-C350-1BC5-C1B0A3C55DAA}"/>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FDABD592-50C2-0E00-5A23-CC9AC7E458E7}"/>
              </a:ext>
            </a:extLst>
          </p:cNvPr>
          <p:cNvSpPr txBox="1"/>
          <p:nvPr/>
        </p:nvSpPr>
        <p:spPr>
          <a:xfrm>
            <a:off x="4508674" y="2124961"/>
            <a:ext cx="2463600"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solution</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1921856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4B14C5D0-9004-4C49-10FA-1B122CBE789F}"/>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BB19D199-0EBA-721C-EE00-938DEE471C96}"/>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01: determing the query plan, applying the rules </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1E818614-681A-7E3A-4630-E24E3FC82B6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4" name="Google Shape;248;p56">
            <a:extLst>
              <a:ext uri="{FF2B5EF4-FFF2-40B4-BE49-F238E27FC236}">
                <a16:creationId xmlns:a16="http://schemas.microsoft.com/office/drawing/2014/main" id="{E806C06A-21DC-E715-FBB6-3361254E8BEF}"/>
              </a:ext>
            </a:extLst>
          </p:cNvPr>
          <p:cNvSpPr txBox="1"/>
          <p:nvPr/>
        </p:nvSpPr>
        <p:spPr>
          <a:xfrm>
            <a:off x="729106" y="939628"/>
            <a:ext cx="1905672" cy="315775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from t1, 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FFC000"/>
                </a:solidFill>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FFC000"/>
                </a:solidFill>
                <a:latin typeface="Lato"/>
                <a:ea typeface="Lato"/>
                <a:cs typeface="Lato"/>
                <a:sym typeface="Lato"/>
              </a:rPr>
              <a:t>      t2.col1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t2.col2 &gt;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order by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FFC000"/>
                </a:solidFill>
                <a:latin typeface="Lato"/>
                <a:ea typeface="Lato"/>
                <a:cs typeface="Lato"/>
                <a:sym typeface="Lato"/>
              </a:rPr>
              <a:t>      t2.col1, </a:t>
            </a:r>
            <a:r>
              <a:rPr kumimoji="0" lang="en" b="0" i="0" u="none" strike="noStrike" kern="0" cap="none" spc="0" normalizeH="0" baseline="0" noProof="0" dirty="0">
                <a:ln>
                  <a:noFill/>
                </a:ln>
                <a:solidFill>
                  <a:srgbClr val="000000"/>
                </a:solidFill>
                <a:effectLst/>
                <a:uLnTx/>
                <a:uFillTx/>
                <a:latin typeface="Lato"/>
                <a:ea typeface="Lato"/>
                <a:cs typeface="Lato"/>
                <a:sym typeface="Lato"/>
              </a:rPr>
              <a:t>t2.col2;</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6" name="Google Shape;248;p56">
            <a:extLst>
              <a:ext uri="{FF2B5EF4-FFF2-40B4-BE49-F238E27FC236}">
                <a16:creationId xmlns:a16="http://schemas.microsoft.com/office/drawing/2014/main" id="{89268AB2-A0EC-80F5-4060-E7004832CEE0}"/>
              </a:ext>
            </a:extLst>
          </p:cNvPr>
          <p:cNvSpPr txBox="1"/>
          <p:nvPr/>
        </p:nvSpPr>
        <p:spPr>
          <a:xfrm>
            <a:off x="4191922" y="1041747"/>
            <a:ext cx="2195331" cy="1246465"/>
          </a:xfrm>
          <a:prstGeom prst="rect">
            <a:avLst/>
          </a:prstGeom>
          <a:solidFill>
            <a:schemeClr val="lt1"/>
          </a:solidFill>
          <a:ln>
            <a:noFill/>
          </a:ln>
        </p:spPr>
        <p:txBody>
          <a:bodyPr spcFirstLastPara="1" wrap="square" lIns="91425" tIns="91425" rIns="91425" bIns="91425" anchor="t" anchorCtr="0">
            <a:spAutoFit/>
          </a:bodyPr>
          <a:lstStyle/>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outer 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filters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table size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table cardinality</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8" name="Google Shape;248;p56">
            <a:extLst>
              <a:ext uri="{FF2B5EF4-FFF2-40B4-BE49-F238E27FC236}">
                <a16:creationId xmlns:a16="http://schemas.microsoft.com/office/drawing/2014/main" id="{8757FBDB-573B-8A93-B949-9D6442F31C19}"/>
              </a:ext>
            </a:extLst>
          </p:cNvPr>
          <p:cNvSpPr txBox="1"/>
          <p:nvPr/>
        </p:nvSpPr>
        <p:spPr>
          <a:xfrm>
            <a:off x="5881868" y="1041747"/>
            <a:ext cx="3004132" cy="1246465"/>
          </a:xfrm>
          <a:prstGeom prst="rect">
            <a:avLst/>
          </a:prstGeom>
          <a:solidFill>
            <a:schemeClr val="lt1"/>
          </a:solidFill>
          <a:ln>
            <a:noFill/>
          </a:ln>
        </p:spPr>
        <p:txBody>
          <a:bodyPr spcFirstLastPara="1" wrap="square" lIns="91425" tIns="91425" rIns="91425" bIns="91425" anchor="t" anchorCtr="0">
            <a:spAutoFit/>
          </a:bodyPr>
          <a:lstStyle/>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chemeClr val="bg1">
                    <a:lumMod val="50000"/>
                  </a:schemeClr>
                </a:solidFill>
                <a:effectLst/>
                <a:uLnTx/>
                <a:uFillTx/>
                <a:latin typeface="Lato"/>
                <a:ea typeface="Lato"/>
                <a:cs typeface="Lato"/>
                <a:sym typeface="Lato"/>
              </a:rPr>
              <a:t>not present</a:t>
            </a:r>
          </a:p>
          <a:p>
            <a:pPr marL="115888" marR="0" lvl="0" defTabSz="914400" rtl="0" eaLnBrk="1" fontAlgn="auto" latinLnBrk="0" hangingPunct="1">
              <a:lnSpc>
                <a:spcPct val="115000"/>
              </a:lnSpc>
              <a:spcBef>
                <a:spcPts val="0"/>
              </a:spcBef>
              <a:spcAft>
                <a:spcPts val="0"/>
              </a:spcAft>
              <a:buClr>
                <a:srgbClr val="000000"/>
              </a:buClr>
              <a:buSzTx/>
              <a:tabLst/>
              <a:defRPr/>
            </a:pPr>
            <a:r>
              <a:rPr lang="en-US" sz="1200" dirty="0">
                <a:solidFill>
                  <a:schemeClr val="bg1">
                    <a:lumMod val="50000"/>
                  </a:schemeClr>
                </a:solidFill>
                <a:latin typeface="Lato"/>
                <a:ea typeface="Lato"/>
                <a:cs typeface="Lato"/>
                <a:sym typeface="Lato"/>
              </a:rPr>
              <a:t>all tables joined    (common, 2</a:t>
            </a:r>
            <a:r>
              <a:rPr lang="en-US" sz="1200" baseline="30000" dirty="0">
                <a:solidFill>
                  <a:schemeClr val="bg1">
                    <a:lumMod val="50000"/>
                  </a:schemeClr>
                </a:solidFill>
                <a:latin typeface="Lato"/>
                <a:ea typeface="Lato"/>
                <a:cs typeface="Lato"/>
                <a:sym typeface="Lato"/>
              </a:rPr>
              <a:t>nd</a:t>
            </a:r>
            <a:r>
              <a:rPr lang="en-US" sz="1200" dirty="0">
                <a:solidFill>
                  <a:schemeClr val="bg1">
                    <a:lumMod val="50000"/>
                  </a:schemeClr>
                </a:solidFill>
                <a:latin typeface="Lato"/>
                <a:ea typeface="Lato"/>
                <a:cs typeface="Lato"/>
                <a:sym typeface="Lato"/>
              </a:rPr>
              <a:t> table+)</a:t>
            </a:r>
          </a:p>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chemeClr val="bg1">
                    <a:lumMod val="50000"/>
                  </a:schemeClr>
                </a:solidFill>
                <a:effectLst/>
                <a:uLnTx/>
                <a:uFillTx/>
                <a:latin typeface="Lato"/>
                <a:ea typeface="Lato"/>
                <a:cs typeface="Lato"/>
                <a:sym typeface="Lato"/>
              </a:rPr>
              <a:t>98% of the time    (determines first table)</a:t>
            </a:r>
          </a:p>
          <a:p>
            <a:pPr marL="115888" marR="0" lvl="0" defTabSz="914400" rtl="0" eaLnBrk="1" fontAlgn="auto" latinLnBrk="0" hangingPunct="1">
              <a:lnSpc>
                <a:spcPct val="115000"/>
              </a:lnSpc>
              <a:spcBef>
                <a:spcPts val="0"/>
              </a:spcBef>
              <a:spcAft>
                <a:spcPts val="0"/>
              </a:spcAft>
              <a:buClr>
                <a:srgbClr val="000000"/>
              </a:buClr>
              <a:buSzTx/>
              <a:tabLst/>
              <a:defRPr/>
            </a:pPr>
            <a:r>
              <a:rPr lang="en-US" sz="1200" dirty="0">
                <a:solidFill>
                  <a:schemeClr val="bg1">
                    <a:lumMod val="50000"/>
                  </a:schemeClr>
                </a:solidFill>
                <a:latin typeface="Lato"/>
                <a:ea typeface="Lato"/>
                <a:cs typeface="Lato"/>
                <a:sym typeface="Lato"/>
              </a:rPr>
              <a:t>(not needed)</a:t>
            </a:r>
          </a:p>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chemeClr val="bg1">
                    <a:lumMod val="50000"/>
                  </a:schemeClr>
                </a:solidFill>
                <a:effectLst/>
                <a:uLnTx/>
                <a:uFillTx/>
                <a:latin typeface="Lato"/>
                <a:ea typeface="Lato"/>
                <a:cs typeface="Lato"/>
                <a:sym typeface="Lato"/>
              </a:rPr>
              <a:t>(not needed)</a:t>
            </a:r>
            <a:endParaRPr kumimoji="0" sz="1200" b="0" i="0" u="none" strike="noStrike" kern="0" cap="none" spc="0" normalizeH="0" baseline="0" noProof="0" dirty="0">
              <a:ln>
                <a:noFill/>
              </a:ln>
              <a:solidFill>
                <a:schemeClr val="bg1">
                  <a:lumMod val="50000"/>
                </a:schemeClr>
              </a:solidFill>
              <a:effectLst/>
              <a:uLnTx/>
              <a:uFillTx/>
              <a:latin typeface="Lato"/>
              <a:ea typeface="Lato"/>
              <a:cs typeface="Lato"/>
              <a:sym typeface="Lato"/>
            </a:endParaRPr>
          </a:p>
        </p:txBody>
      </p:sp>
      <p:sp>
        <p:nvSpPr>
          <p:cNvPr id="10" name="Google Shape;248;p56">
            <a:extLst>
              <a:ext uri="{FF2B5EF4-FFF2-40B4-BE49-F238E27FC236}">
                <a16:creationId xmlns:a16="http://schemas.microsoft.com/office/drawing/2014/main" id="{EA0ACBF4-C16B-AB69-D5DA-27A92D47151C}"/>
              </a:ext>
            </a:extLst>
          </p:cNvPr>
          <p:cNvSpPr txBox="1"/>
          <p:nvPr/>
        </p:nvSpPr>
        <p:spPr>
          <a:xfrm>
            <a:off x="4865867" y="2855289"/>
            <a:ext cx="2195331" cy="397001"/>
          </a:xfrm>
          <a:prstGeom prst="rect">
            <a:avLst/>
          </a:prstGeom>
          <a:solidFill>
            <a:schemeClr val="lt1"/>
          </a:solidFill>
          <a:ln>
            <a:noFill/>
          </a:ln>
        </p:spPr>
        <p:txBody>
          <a:bodyPr spcFirstLastPara="1" wrap="square" lIns="91425" tIns="91425" rIns="91425" bIns="91425" anchor="t" anchorCtr="0">
            <a:spAutoFit/>
          </a:bodyPr>
          <a:lstStyle/>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filter  </a:t>
            </a:r>
            <a:r>
              <a:rPr kumimoji="0" lang="en-US" sz="1200" b="0" i="0" u="none" strike="noStrike" kern="0" cap="none" spc="0" normalizeH="0" baseline="0" noProof="0" dirty="0">
                <a:ln>
                  <a:noFill/>
                </a:ln>
                <a:solidFill>
                  <a:srgbClr val="000000"/>
                </a:solidFill>
                <a:effectLst/>
                <a:uLnTx/>
                <a:uFillTx/>
                <a:latin typeface="Lato"/>
                <a:ea typeface="Lato"/>
                <a:cs typeface="Lato"/>
                <a:sym typeface="Wingdings" panose="05000000000000000000" pitchFamily="2" charset="2"/>
              </a:rPr>
              <a:t> join    sort      FJS</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12" name="Google Shape;248;p56">
            <a:extLst>
              <a:ext uri="{FF2B5EF4-FFF2-40B4-BE49-F238E27FC236}">
                <a16:creationId xmlns:a16="http://schemas.microsoft.com/office/drawing/2014/main" id="{5B5DBE02-FAC7-1E63-1025-02DF0C34D047}"/>
              </a:ext>
            </a:extLst>
          </p:cNvPr>
          <p:cNvSpPr txBox="1"/>
          <p:nvPr/>
        </p:nvSpPr>
        <p:spPr>
          <a:xfrm>
            <a:off x="4865867" y="3332530"/>
            <a:ext cx="4155283" cy="1246465"/>
          </a:xfrm>
          <a:prstGeom prst="rect">
            <a:avLst/>
          </a:prstGeom>
          <a:solidFill>
            <a:schemeClr val="lt1"/>
          </a:solidFill>
          <a:ln>
            <a:noFill/>
          </a:ln>
        </p:spPr>
        <p:txBody>
          <a:bodyPr spcFirstLastPara="1" wrap="square" lIns="91425" tIns="91425" rIns="91425" bIns="91425" anchor="t" anchorCtr="0">
            <a:spAutoFit/>
          </a:bodyPr>
          <a:lstStyle/>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worse table first</a:t>
            </a:r>
          </a:p>
          <a:p>
            <a:pPr marL="115888" marR="0" lvl="0" defTabSz="914400" rtl="0" eaLnBrk="1" fontAlgn="auto" latinLnBrk="0" hangingPunct="1">
              <a:lnSpc>
                <a:spcPct val="115000"/>
              </a:lnSpc>
              <a:spcBef>
                <a:spcPts val="0"/>
              </a:spcBef>
              <a:spcAft>
                <a:spcPts val="0"/>
              </a:spcAft>
              <a:buClr>
                <a:srgbClr val="000000"/>
              </a:buClr>
              <a:buSzTx/>
              <a:tabLst/>
              <a:defRPr/>
            </a:pPr>
            <a:r>
              <a:rPr lang="en-US" sz="1000" dirty="0">
                <a:latin typeface="Lato"/>
                <a:ea typeface="Lato"/>
                <a:cs typeface="Lato"/>
                <a:sym typeface="Lato"/>
              </a:rPr>
              <a:t>      make the nested, repetitive action the most efficient</a:t>
            </a:r>
          </a:p>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0000"/>
                </a:solidFill>
                <a:effectLst/>
                <a:uLnTx/>
                <a:uFillTx/>
                <a:latin typeface="Lato"/>
                <a:ea typeface="Lato"/>
                <a:cs typeface="Lato"/>
                <a:sym typeface="Lato"/>
              </a:rPr>
              <a:t>huh ?</a:t>
            </a:r>
          </a:p>
          <a:p>
            <a:pPr marL="115888" marR="0" lvl="0" defTabSz="914400" rtl="0" eaLnBrk="1" fontAlgn="auto" latinLnBrk="0" hangingPunct="1">
              <a:lnSpc>
                <a:spcPct val="115000"/>
              </a:lnSpc>
              <a:spcBef>
                <a:spcPts val="0"/>
              </a:spcBef>
              <a:spcAft>
                <a:spcPts val="0"/>
              </a:spcAft>
              <a:buClr>
                <a:srgbClr val="000000"/>
              </a:buClr>
              <a:buSzTx/>
              <a:tabLst/>
              <a:defRPr/>
            </a:pPr>
            <a:r>
              <a:rPr lang="en-US" sz="1000" dirty="0">
                <a:latin typeface="Lato"/>
                <a:ea typeface="Lato"/>
                <a:cs typeface="Lato"/>
                <a:sym typeface="Lato"/>
              </a:rPr>
              <a:t>      the nested table will likely have the best access method</a:t>
            </a:r>
            <a:br>
              <a:rPr lang="en-US" sz="1000" dirty="0">
                <a:latin typeface="Lato"/>
                <a:ea typeface="Lato"/>
                <a:cs typeface="Lato"/>
                <a:sym typeface="Lato"/>
              </a:rPr>
            </a:br>
            <a:br>
              <a:rPr lang="en-US" sz="1000" dirty="0">
                <a:latin typeface="Lato"/>
                <a:ea typeface="Lato"/>
                <a:cs typeface="Lato"/>
                <a:sym typeface="Lato"/>
              </a:rPr>
            </a:br>
            <a:r>
              <a:rPr lang="en-US" sz="1000" dirty="0">
                <a:latin typeface="Lato"/>
                <a:ea typeface="Lato"/>
                <a:cs typeface="Lato"/>
                <a:sym typeface="Lato"/>
              </a:rPr>
              <a:t>as efficiently as possible, reduce the number of tuples to be processed</a:t>
            </a:r>
            <a:endParaRPr kumimoji="0" sz="10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2920919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525C2CA-AF70-B5F2-2518-673224A251BC}"/>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75B87003-9AA1-75F5-EADA-A3EBA92557FA}"/>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01: which query predicate (filter)</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AC08F06-1308-691B-FB39-36C3682C27E2}"/>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DECEB8F9-665E-3F40-750A-1DB8E0CE9DBC}"/>
              </a:ext>
            </a:extLst>
          </p:cNvPr>
          <p:cNvSpPr txBox="1"/>
          <p:nvPr/>
        </p:nvSpPr>
        <p:spPr>
          <a:xfrm>
            <a:off x="315981" y="1244428"/>
            <a:ext cx="1905672" cy="266223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from t1, 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t2.col2 &gt;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order by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a:t>
            </a:r>
            <a:r>
              <a:rPr kumimoji="0" lang="en" b="0" i="0" u="none" strike="noStrike" kern="0" cap="none" spc="0" normalizeH="0" baseline="0" noProof="0" dirty="0">
                <a:ln>
                  <a:noFill/>
                </a:ln>
                <a:solidFill>
                  <a:srgbClr val="000000"/>
                </a:solidFill>
                <a:effectLst/>
                <a:uLnTx/>
                <a:uFillTx/>
                <a:latin typeface="Lato"/>
                <a:ea typeface="Lato"/>
                <a:cs typeface="Lato"/>
                <a:sym typeface="Lato"/>
              </a:rPr>
              <a:t>t2.col2;</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 name="Google Shape;248;p56">
            <a:extLst>
              <a:ext uri="{FF2B5EF4-FFF2-40B4-BE49-F238E27FC236}">
                <a16:creationId xmlns:a16="http://schemas.microsoft.com/office/drawing/2014/main" id="{020EA174-4C7A-F901-B622-EE7BB24E2CA2}"/>
              </a:ext>
            </a:extLst>
          </p:cNvPr>
          <p:cNvSpPr txBox="1"/>
          <p:nvPr/>
        </p:nvSpPr>
        <p:spPr>
          <a:xfrm>
            <a:off x="6102002" y="269068"/>
            <a:ext cx="2570073" cy="1671196"/>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Lato"/>
                <a:ea typeface="Lato"/>
                <a:cs typeface="Lato"/>
                <a:sym typeface="Lato"/>
              </a:rPr>
              <a:t>5 rules applied in order to determine query plan</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outer 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filters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table size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table cardinality</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6" name="Google Shape;248;p56">
            <a:extLst>
              <a:ext uri="{FF2B5EF4-FFF2-40B4-BE49-F238E27FC236}">
                <a16:creationId xmlns:a16="http://schemas.microsoft.com/office/drawing/2014/main" id="{80E30B1B-F0CC-1D82-5001-6381CA3230B5}"/>
              </a:ext>
            </a:extLst>
          </p:cNvPr>
          <p:cNvSpPr txBox="1"/>
          <p:nvPr/>
        </p:nvSpPr>
        <p:spPr>
          <a:xfrm>
            <a:off x="3951469" y="2235469"/>
            <a:ext cx="3932691" cy="1246465"/>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Lato"/>
                <a:ea typeface="Lato"/>
                <a:cs typeface="Lato"/>
                <a:sym typeface="Lato"/>
              </a:rPr>
              <a:t>(estimating) filter selectivity</a:t>
            </a:r>
          </a:p>
          <a:p>
            <a:pPr marL="3460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equality on unique index, 1 tuple</a:t>
            </a:r>
          </a:p>
          <a:p>
            <a:pPr marL="3460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equality on duplicate index, heuristic, 100 tuples</a:t>
            </a:r>
          </a:p>
          <a:p>
            <a:pPr marL="3460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range on duplicate index,  heuristic/complicated, historically it was 1/3 of tuples</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3928424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E9F7B1B-089E-4FC2-1A59-EB392EB161D9}"/>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AFF05326-519D-B9C5-C2FF-F9FF9E0F39BA}"/>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01: how, why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8EC856A2-D990-F2E3-82C6-39C30E0FAE2D}"/>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19</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4" name="Google Shape;248;p56">
            <a:extLst>
              <a:ext uri="{FF2B5EF4-FFF2-40B4-BE49-F238E27FC236}">
                <a16:creationId xmlns:a16="http://schemas.microsoft.com/office/drawing/2014/main" id="{2E023966-8C16-CD01-65D8-33318C3CA368}"/>
              </a:ext>
            </a:extLst>
          </p:cNvPr>
          <p:cNvSpPr txBox="1"/>
          <p:nvPr/>
        </p:nvSpPr>
        <p:spPr>
          <a:xfrm>
            <a:off x="634280" y="939628"/>
            <a:ext cx="1905672" cy="290999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   …</a:t>
            </a:r>
            <a:endParaRPr lang="en" dirty="0">
              <a:latin typeface="Lato"/>
              <a:ea typeface="Lato"/>
              <a:cs typeface="Lato"/>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t1.col1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FFC000"/>
                </a:solidFill>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FFC000"/>
                </a:solidFill>
                <a:latin typeface="Lato"/>
                <a:ea typeface="Lato"/>
                <a:cs typeface="Lato"/>
                <a:sym typeface="Lato"/>
              </a:rPr>
              <a:t>      t2.col1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and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t2.col2 &gt;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order by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FFC000"/>
                </a:solidFill>
                <a:latin typeface="Lato"/>
                <a:ea typeface="Lato"/>
                <a:cs typeface="Lato"/>
                <a:sym typeface="Lato"/>
              </a:rPr>
              <a:t>      t2.col1, </a:t>
            </a:r>
            <a:r>
              <a:rPr kumimoji="0" lang="en" b="0" i="0" u="none" strike="noStrike" kern="0" cap="none" spc="0" normalizeH="0" baseline="0" noProof="0" dirty="0">
                <a:ln>
                  <a:noFill/>
                </a:ln>
                <a:solidFill>
                  <a:srgbClr val="000000"/>
                </a:solidFill>
                <a:effectLst/>
                <a:uLnTx/>
                <a:uFillTx/>
                <a:latin typeface="Lato"/>
                <a:ea typeface="Lato"/>
                <a:cs typeface="Lato"/>
                <a:sym typeface="Lato"/>
              </a:rPr>
              <a:t>t2.col2;</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6" name="Google Shape;248;p56">
            <a:extLst>
              <a:ext uri="{FF2B5EF4-FFF2-40B4-BE49-F238E27FC236}">
                <a16:creationId xmlns:a16="http://schemas.microsoft.com/office/drawing/2014/main" id="{1341206E-CC36-0AF3-7D20-82FB50B7FBC5}"/>
              </a:ext>
            </a:extLst>
          </p:cNvPr>
          <p:cNvSpPr txBox="1"/>
          <p:nvPr/>
        </p:nvSpPr>
        <p:spPr>
          <a:xfrm>
            <a:off x="4191922" y="1041747"/>
            <a:ext cx="4410211" cy="2520660"/>
          </a:xfrm>
          <a:prstGeom prst="rect">
            <a:avLst/>
          </a:prstGeom>
          <a:solidFill>
            <a:schemeClr val="lt1"/>
          </a:solidFill>
          <a:ln>
            <a:noFill/>
          </a:ln>
        </p:spPr>
        <p:txBody>
          <a:bodyPr spcFirstLastPara="1" wrap="square" lIns="91425" tIns="91425" rIns="91425" bIns="91425" anchor="t" anchorCtr="0">
            <a:spAutoFit/>
          </a:bodyPr>
          <a:lstStyle/>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best access method: indexed read into t2   (col1, col2)</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(table order set, t2  </a:t>
            </a:r>
            <a:r>
              <a:rPr kumimoji="0" lang="en-US" sz="1200" b="0" i="0" u="none" strike="noStrike" kern="0" cap="none" spc="0" normalizeH="0" baseline="0" noProof="0" dirty="0">
                <a:ln>
                  <a:noFill/>
                </a:ln>
                <a:solidFill>
                  <a:srgbClr val="000000"/>
                </a:solidFill>
                <a:effectLst/>
                <a:uLnTx/>
                <a:uFillTx/>
                <a:latin typeface="Lato"/>
                <a:ea typeface="Lato"/>
                <a:cs typeface="Lato"/>
                <a:sym typeface="Wingdings" panose="05000000000000000000" pitchFamily="2" charset="2"/>
              </a:rPr>
              <a:t>  t1</a:t>
            </a: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best access method: indexed read into t1   (col1)</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latin typeface="Lato"/>
              <a:ea typeface="Lato"/>
              <a:cs typeface="Lato"/>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SQL, table relationships (cardinality)</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1:1, M:M, 1:M,    98% are 1:M</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t1 was our parent, t2 a child   (count the join pairs)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US" sz="1200" b="0" i="0" u="none" strike="noStrike" kern="0" cap="none" spc="0" normalizeH="0" baseline="0" noProof="0" dirty="0">
              <a:ln>
                <a:noFill/>
              </a:ln>
              <a:solidFill>
                <a:srgbClr val="000000"/>
              </a:solidFill>
              <a:effectLst/>
              <a:uLnTx/>
              <a:uFillTx/>
              <a:latin typeface="Lato"/>
              <a:ea typeface="Lato"/>
              <a:cs typeface="Lato"/>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join method</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determined (supported by) available indexes</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small tables can alter this</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17610625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F68F4286-3F21-161E-4C50-1B14CAD849F3}"/>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8771AEED-EC01-0DA3-1A00-2EA9C8BD43A1}"/>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01: the actual code behind this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2AA3599C-9C42-AADC-76E6-3AB35E461B50}"/>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20</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6DB0490B-B70A-6118-DB2B-43E44FAD49F5}"/>
              </a:ext>
            </a:extLst>
          </p:cNvPr>
          <p:cNvSpPr txBox="1"/>
          <p:nvPr/>
        </p:nvSpPr>
        <p:spPr>
          <a:xfrm>
            <a:off x="315981" y="926081"/>
            <a:ext cx="8272606" cy="2874603"/>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Explicit HASH primary key (</a:t>
            </a:r>
            <a:r>
              <a:rPr lang="en-US" sz="800" dirty="0">
                <a:latin typeface="Courier New" panose="02070309020205020404" pitchFamily="49" charset="0"/>
                <a:ea typeface="Lato"/>
                <a:cs typeface="Courier New" panose="02070309020205020404" pitchFamily="49" charset="0"/>
                <a:sym typeface="Lato"/>
              </a:rPr>
              <a:t>y</a:t>
            </a:r>
            <a:r>
              <a:rPr kumimoji="0" lang="en-US" sz="8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ugabyteDB's</a:t>
            </a: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preferred PK syntax) rather</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than the bare "col1 INT PRIMARY KEY" shorthand, which defaults to a</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range-sharded (ASC) index here. col1 is a monotonically increasing</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sequence (1..100,000) -- range sharding on that would hotspot writes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onto one tablet range at a time; hashing spreads rows evenly across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tablets by hash(col1) instead.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TABLE t1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col2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col3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PRIMARY KEY (col1 HASH)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-- 100,000 rows, col1 = 1..100,000 (unique -- the join key)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INSERT INTO t1 (col1, col2, col3)</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g, 1 + (g % 1000), repeat('x', 50)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a:t>
            </a:r>
            <a:r>
              <a:rPr kumimoji="0" lang="en-US" sz="8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generate_series</a:t>
            </a: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(1, 100000) AS g;</a:t>
            </a:r>
            <a:endParaRPr kumimoji="0"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2693682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41D39A1-7BE2-B02F-6FBF-D58418AE2431}"/>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66746D39-0B1F-A561-3926-74739FDACBD6}"/>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01: the actual code behind this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557350C8-23FF-C617-F9D6-A27A68CAE958}"/>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21</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2B362395-FDC0-5513-BDB7-D3147DB3A4F3}"/>
              </a:ext>
            </a:extLst>
          </p:cNvPr>
          <p:cNvSpPr txBox="1"/>
          <p:nvPr/>
        </p:nvSpPr>
        <p:spPr>
          <a:xfrm>
            <a:off x="315981" y="787641"/>
            <a:ext cx="8272606" cy="372406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Composite primary key (col1, col2): col1 carries the equality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join/filter (t1.col1 = t2.col1 = 5), col2 the range filter (&gt; 5)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putting both in the PK lets the planner satisfy the WHERE clause with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a single index scan instead of a 1,000,000-row seq scan, AND return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rows already in col2 order within that col1 value, which can let it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skip the separate Sort step for "order by t2.col2" too.</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col1 leads with HASH for the same reason as t1's PK above -- its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generator cycles 1..100,000 repeatedly, so a range-sharded leading</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column would hit tablets in the same moving-sequential-hotspot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pattern. col2 stays ASC (range): the col2-sorted-within-a-col1-value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guarantee this key exists for lives inside each hash bucket, so</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hashing col1 doesn't disturb it.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(col1, col2) is guaranteed unique by construction below -- the 10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rows sharing a given col1 land 100,000 </a:t>
            </a:r>
            <a:r>
              <a:rPr kumimoji="0" lang="en-US" sz="800" b="0" i="0" u="none" strike="noStrike" kern="0" cap="none" spc="0" normalizeH="0" baseline="0" noProof="0" dirty="0" err="1">
                <a:ln>
                  <a:noFill/>
                </a:ln>
                <a:solidFill>
                  <a:schemeClr val="tx1"/>
                </a:solidFill>
                <a:effectLst/>
                <a:uLnTx/>
                <a:uFillTx/>
                <a:latin typeface="Courier New" panose="02070309020205020404" pitchFamily="49" charset="0"/>
                <a:ea typeface="Lato"/>
                <a:cs typeface="Courier New" panose="02070309020205020404" pitchFamily="49" charset="0"/>
                <a:sym typeface="Lato"/>
              </a:rPr>
              <a:t>generate_series</a:t>
            </a: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steps apart,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and 100,000 mod 997 (col2's modulus, chosen prime) is nonzero, so</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those 10 rows' col2 values never collide.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CREATE TABLE t2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col1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col2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col3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PRIMARY KEY (col1 HASH, col2 ASC)</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a:t>
            </a:r>
          </a:p>
        </p:txBody>
      </p:sp>
    </p:spTree>
    <p:extLst>
      <p:ext uri="{BB962C8B-B14F-4D97-AF65-F5344CB8AC3E}">
        <p14:creationId xmlns:p14="http://schemas.microsoft.com/office/powerpoint/2010/main" val="12784971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EC4E2842-F3E1-C1B1-60D8-434033B54304}"/>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AFB9E640-E6EC-B6E6-1D52-83B665BD83C9}"/>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01: the actual code behind this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67D49EDD-78F3-CC32-160F-B3D16D1372B5}"/>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22</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2E851008-1260-C8F6-1CF5-BED834038A9F}"/>
              </a:ext>
            </a:extLst>
          </p:cNvPr>
          <p:cNvSpPr txBox="1"/>
          <p:nvPr/>
        </p:nvSpPr>
        <p:spPr>
          <a:xfrm>
            <a:off x="315981" y="1424334"/>
            <a:ext cx="8272606" cy="216671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-- 1,000,000 rows, col1 cycles 1..100,000 so every t1.col1 value has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exactly 10 matching rows in t2 -- guarantees the exercise query's join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actually returns rows (t1.col1 = 5 alone matches 10 rows in 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col2 uses modulus 997 (prime), NOT 1000: 1000 divides evenly into</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-- 100,000, so a col1-cycle-aligned modulus for col2 would make col2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fully determined by col1 -- every row sharing a col1 value would get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the identical col2 value, and "t2.col2 &gt; 5" would then either match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 all or none of them instead of a realistic subset.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INSERT INTO t2 (col1, col2, col3)</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SELECT 1 + (g % 100000), 1 + (g % 997), repeat('x', 50)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FROM </a:t>
            </a:r>
            <a:r>
              <a:rPr kumimoji="0" lang="en-US" sz="800" b="0" i="0" u="none" strike="noStrike" kern="0" cap="none" spc="0" normalizeH="0" baseline="0" noProof="0" dirty="0" err="1">
                <a:ln>
                  <a:noFill/>
                </a:ln>
                <a:solidFill>
                  <a:schemeClr val="tx1"/>
                </a:solidFill>
                <a:effectLst/>
                <a:uLnTx/>
                <a:uFillTx/>
                <a:latin typeface="Courier New" panose="02070309020205020404" pitchFamily="49" charset="0"/>
                <a:ea typeface="Lato"/>
                <a:cs typeface="Courier New" panose="02070309020205020404" pitchFamily="49" charset="0"/>
                <a:sym typeface="Lato"/>
              </a:rPr>
              <a:t>generate_series</a:t>
            </a:r>
            <a:r>
              <a:rPr kumimoji="0" lang="en-US"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rPr>
              <a:t>(1, 1000000) AS g;</a:t>
            </a:r>
            <a:endParaRPr kumimoji="0" sz="800" b="0" i="0" u="none" strike="noStrike" kern="0" cap="none" spc="0" normalizeH="0" baseline="0" noProof="0" dirty="0">
              <a:ln>
                <a:noFill/>
              </a:ln>
              <a:solidFill>
                <a:schemeClr val="tx1"/>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899305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B7031AA-FA40-7CBD-EC9B-BE29447C0043}"/>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AF3294AE-A25B-ECA7-F3AE-361A627647A1}"/>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01: running the </a:t>
            </a:r>
            <a:r>
              <a:rPr lang="en" u="sng" dirty="0">
                <a:solidFill>
                  <a:schemeClr val="accent2"/>
                </a:solidFill>
                <a:latin typeface="Lato"/>
                <a:ea typeface="Lato"/>
                <a:cs typeface="Lato"/>
                <a:sym typeface="Lato"/>
              </a:rPr>
              <a:t>original</a:t>
            </a:r>
            <a:r>
              <a:rPr lang="en" dirty="0">
                <a:solidFill>
                  <a:schemeClr val="accent2"/>
                </a:solidFill>
                <a:latin typeface="Lato"/>
                <a:ea typeface="Lato"/>
                <a:cs typeface="Lato"/>
                <a:sym typeface="Lato"/>
              </a:rPr>
              <a:t> query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04D653E-1692-C423-2112-33087557D3A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23</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72CF2F5A-F78B-808C-0C8D-15316CFC44ED}"/>
              </a:ext>
            </a:extLst>
          </p:cNvPr>
          <p:cNvSpPr txBox="1"/>
          <p:nvPr/>
        </p:nvSpPr>
        <p:spPr>
          <a:xfrm>
            <a:off x="315981" y="926081"/>
            <a:ext cx="8272606" cy="2131322"/>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EXPLAIN (ANALYZE)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t1, t2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where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and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t1.col1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and</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t2.col2 &gt;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order by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t2.col2;</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57995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8C95347D-C2C4-AC08-820F-CFC7726618CB}"/>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278D0639-A1D4-DEFF-7EBE-707203F8B04C}"/>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01: output from ANALYZE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77ECD23B-19BB-E698-B2B7-961B89FE394A}"/>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24</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248CBB88-B3C6-ACD1-EA50-C38E756EF909}"/>
              </a:ext>
            </a:extLst>
          </p:cNvPr>
          <p:cNvSpPr txBox="1"/>
          <p:nvPr/>
        </p:nvSpPr>
        <p:spPr>
          <a:xfrm>
            <a:off x="315981" y="926081"/>
            <a:ext cx="8272606" cy="2449871"/>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QUERY PLAN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Nested Loop  (cost=42.19..43.56 rows=10 width=118) (actual time=1.554..1.567 rows=9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a:t>
            </a:r>
            <a:r>
              <a:rPr kumimoji="0" lang="en-US"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Index Scan using t2_pkey on t2  </a:t>
            </a: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(cost=21.10..22.19 rows=10 width=59) (actual time=0.927..0.929 rows=9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Index Cond: ((col1 = 5) AND (col2 &gt;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Materialize  (cost=21.09..21.25 rows=1 width=59) (actual time=0.069..0.069 rows=1 loops=9)</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a:t>
            </a:r>
            <a:r>
              <a:rPr kumimoji="0" lang="en-US"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Index Scan using t1_pkey on t1  </a:t>
            </a: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(cost=21.09..21.25 rows=1 width=59) (actual time=0.613..0.615 rows=1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Cond: (col1 =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Planning Time: 12.405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ms</a:t>
            </a: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Execution Time: 2.035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ms</a:t>
            </a: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Peak Memory Usage: 202 kB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(9 rows)</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
        <p:nvSpPr>
          <p:cNvPr id="6" name="Google Shape;248;p56">
            <a:extLst>
              <a:ext uri="{FF2B5EF4-FFF2-40B4-BE49-F238E27FC236}">
                <a16:creationId xmlns:a16="http://schemas.microsoft.com/office/drawing/2014/main" id="{F6D91172-2894-7A2C-6776-04A3024F4DC0}"/>
              </a:ext>
            </a:extLst>
          </p:cNvPr>
          <p:cNvSpPr txBox="1"/>
          <p:nvPr/>
        </p:nvSpPr>
        <p:spPr>
          <a:xfrm>
            <a:off x="3853256" y="2799360"/>
            <a:ext cx="4857251" cy="1671196"/>
          </a:xfrm>
          <a:prstGeom prst="rect">
            <a:avLst/>
          </a:prstGeom>
          <a:solidFill>
            <a:schemeClr val="lt1"/>
          </a:solidFill>
          <a:ln>
            <a:noFill/>
          </a:ln>
        </p:spPr>
        <p:txBody>
          <a:bodyPr spcFirstLastPara="1" wrap="square" lIns="91425" tIns="91425" rIns="91425" bIns="91425" anchor="t" anchorCtr="0">
            <a:spAutoFit/>
          </a:bodyPr>
          <a:lstStyle/>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70C0"/>
                </a:solidFill>
                <a:effectLst/>
                <a:uLnTx/>
                <a:uFillTx/>
                <a:latin typeface="Lato"/>
                <a:ea typeface="Lato"/>
                <a:cs typeface="Lato"/>
                <a:sym typeface="Lato"/>
              </a:rPr>
              <a:t>associative principle automatically applied</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pseudo order-by clause automatically applied, pipelined sort</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i="1" dirty="0">
                <a:solidFill>
                  <a:srgbClr val="0070C0"/>
                </a:solidFill>
                <a:latin typeface="Lato"/>
                <a:ea typeface="Lato"/>
                <a:cs typeface="Lato"/>
                <a:sym typeface="Lato"/>
              </a:rPr>
              <a:t>how do we know that   (next page)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70C0"/>
                </a:solidFill>
                <a:effectLst/>
                <a:uLnTx/>
                <a:uFillTx/>
                <a:latin typeface="Lato"/>
                <a:ea typeface="Lato"/>
                <a:cs typeface="Lato"/>
                <a:sym typeface="Lato"/>
              </a:rPr>
              <a:t>why not </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70C0"/>
                </a:solidFill>
                <a:effectLst/>
                <a:uLnTx/>
                <a:uFillTx/>
                <a:latin typeface="Lato"/>
                <a:ea typeface="Lato"/>
                <a:cs typeface="Lato"/>
                <a:sym typeface="Lato"/>
              </a:rPr>
              <a:t>batch nested loop join   (small data volumes)</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hash join                                (we had indexes on both sides)</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sort-merge                           (we had indexes, and high selectivity)</a:t>
            </a:r>
          </a:p>
        </p:txBody>
      </p:sp>
    </p:spTree>
    <p:extLst>
      <p:ext uri="{BB962C8B-B14F-4D97-AF65-F5344CB8AC3E}">
        <p14:creationId xmlns:p14="http://schemas.microsoft.com/office/powerpoint/2010/main" val="30816005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7825F1EE-586C-9E61-35ED-A56E15206F2B}"/>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67F42869-DD54-C24C-2425-72D7CA008014}"/>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01: a different version, that needs to sort</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695623B6-9A58-148D-40A4-AEBE59CB94F9}"/>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25</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34558F56-73D3-7039-24E0-B57710FE7255}"/>
              </a:ext>
            </a:extLst>
          </p:cNvPr>
          <p:cNvSpPr txBox="1"/>
          <p:nvPr/>
        </p:nvSpPr>
        <p:spPr>
          <a:xfrm>
            <a:off x="315981" y="926081"/>
            <a:ext cx="8272606" cy="2626843"/>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QUERY PLAN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Sort  (cost=47.03..47.11 rows=30 width=118) (actual time=2.454..2.456 rows=29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Sort Key: t2.col2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Sort Method: quicksort  Memory: 29kB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YB Batched Nested Loop Join  (cost=42.19..46.30 rows=30 width=118) (actual time=2.081..2.100 rows=29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Join Filter: (t1.col1 = t2.col1)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Index Scan using t1_pkey on t1  (cost=21.09..21.74 rows=3 width=59) (actual time=1.305..1.307 rows=3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Index Cond: (col1 = ANY ('{5,6,7}'::integer[]))</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Index Scan using t2_pkey on t2  (cost=21.10..24.56 rows=30 width=59) (actual time=0.747..0.754 rows=29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Cond: ((</a:t>
            </a:r>
            <a:r>
              <a:rPr kumimoji="0" lang="en-US"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col1 = ANY (ARRAY[t1.col1, $1, $2, ..., $1023])) AND (col2 &gt; 5))</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Planning Time: 15.893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ms</a:t>
            </a: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Execution Time: 3.049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ms</a:t>
            </a: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Peak Memory Usage: 641 kB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(12 rows)</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33854807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16CD553A-EDCA-A4BD-41F1-C2B9CD2C71D1}"/>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F3C81D68-697D-E394-C355-CBF4A40A47D0}"/>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yugabyteDB doc page: Ask AI capability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603EAFFF-E91C-1205-E901-DB1B8A2CF05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26</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110B70BC-5392-A3DC-6353-7E31F1240514}"/>
              </a:ext>
            </a:extLst>
          </p:cNvPr>
          <p:cNvSpPr txBox="1"/>
          <p:nvPr/>
        </p:nvSpPr>
        <p:spPr>
          <a:xfrm>
            <a:off x="1044802" y="1038865"/>
            <a:ext cx="4128428"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docs.yugabyte.com</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pic>
        <p:nvPicPr>
          <p:cNvPr id="4" name="Picture 3">
            <a:extLst>
              <a:ext uri="{FF2B5EF4-FFF2-40B4-BE49-F238E27FC236}">
                <a16:creationId xmlns:a16="http://schemas.microsoft.com/office/drawing/2014/main" id="{BAEA85CF-57F2-4213-7E59-9E0B0298EBD9}"/>
              </a:ext>
            </a:extLst>
          </p:cNvPr>
          <p:cNvPicPr>
            <a:picLocks noChangeAspect="1"/>
          </p:cNvPicPr>
          <p:nvPr/>
        </p:nvPicPr>
        <p:blipFill>
          <a:blip r:embed="rId3"/>
          <a:stretch>
            <a:fillRect/>
          </a:stretch>
        </p:blipFill>
        <p:spPr>
          <a:xfrm>
            <a:off x="5173230" y="283535"/>
            <a:ext cx="3415357" cy="4320172"/>
          </a:xfrm>
          <a:prstGeom prst="rect">
            <a:avLst/>
          </a:prstGeom>
          <a:ln>
            <a:solidFill>
              <a:schemeClr val="tx1"/>
            </a:solidFill>
          </a:ln>
        </p:spPr>
      </p:pic>
    </p:spTree>
    <p:extLst>
      <p:ext uri="{BB962C8B-B14F-4D97-AF65-F5344CB8AC3E}">
        <p14:creationId xmlns:p14="http://schemas.microsoft.com/office/powerpoint/2010/main" val="36504973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6D2DADED-11E1-419C-672D-A74B0AD0A8F5}"/>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90CDA98E-1312-5595-0F27-CEBFE485C60E}"/>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02713442-E59E-2E4C-C9BB-17BE909E4693}"/>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FFFFFF"/>
                </a:solidFill>
                <a:effectLst/>
                <a:uLnTx/>
                <a:uFillTx/>
                <a:latin typeface="Rubik"/>
                <a:ea typeface="Rubik"/>
                <a:cs typeface="Rubik"/>
                <a:sym typeface="Rubik"/>
              </a:rPr>
              <a:t>checkpoint</a:t>
            </a:r>
            <a:endParaRPr kumimoji="0" sz="24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C7BF25D6-A615-8C63-8478-BBCFA9DA06D5}"/>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E6A1CAC5-5F8D-CFF4-E2C7-5E5ADDB1C452}"/>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27</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635061F4-8515-DE95-2C39-806D39C30035}"/>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2012890B-7AFA-365A-B877-E442546B68BA}"/>
              </a:ext>
            </a:extLst>
          </p:cNvPr>
          <p:cNvSpPr txBox="1"/>
          <p:nvPr/>
        </p:nvSpPr>
        <p:spPr>
          <a:xfrm>
            <a:off x="2687303" y="157453"/>
            <a:ext cx="6271640" cy="4431952"/>
          </a:xfrm>
          <a:prstGeom prst="rect">
            <a:avLst/>
          </a:prstGeom>
          <a:noFill/>
          <a:ln>
            <a:noFill/>
          </a:ln>
        </p:spPr>
        <p:txBody>
          <a:bodyPr spcFirstLastPara="1" wrap="square" lIns="91425" tIns="91425" rIns="91425" bIns="91425" anchor="t" anchorCtr="0">
            <a:spAutoFit/>
          </a:bodyPr>
          <a:lstStyle/>
          <a:p>
            <a:pPr marL="227013" lvl="0" indent="-227013">
              <a:lnSpc>
                <a:spcPct val="115000"/>
              </a:lnSpc>
              <a:buFont typeface="Arial" panose="020B0604020202020204" pitchFamily="34" charset="0"/>
              <a:buChar char="•"/>
              <a:defRPr/>
            </a:pPr>
            <a:r>
              <a:rPr lang="en-US" dirty="0">
                <a:solidFill>
                  <a:srgbClr val="00B0F0"/>
                </a:solidFill>
              </a:rPr>
              <a:t>ballpark; where can we make a 5 minute query run in sub-second ?   (network tuning, </a:t>
            </a:r>
            <a:r>
              <a:rPr lang="en-US" dirty="0" err="1">
                <a:solidFill>
                  <a:srgbClr val="00B0F0"/>
                </a:solidFill>
              </a:rPr>
              <a:t>os</a:t>
            </a:r>
            <a:r>
              <a:rPr lang="en-US" dirty="0">
                <a:solidFill>
                  <a:srgbClr val="00B0F0"/>
                </a:solidFill>
              </a:rPr>
              <a:t> tuning, ..)</a:t>
            </a:r>
          </a:p>
          <a:p>
            <a:pPr marL="227013" lvl="0" indent="-227013">
              <a:lnSpc>
                <a:spcPct val="115000"/>
              </a:lnSpc>
              <a:buFont typeface="Arial" panose="020B0604020202020204" pitchFamily="34" charset="0"/>
              <a:buChar char="•"/>
              <a:defRPr/>
            </a:pPr>
            <a:r>
              <a:rPr lang="en-US" dirty="0"/>
              <a:t>what is index negation ? give an example</a:t>
            </a:r>
          </a:p>
          <a:p>
            <a:pPr marL="227013" lvl="0" indent="-227013">
              <a:lnSpc>
                <a:spcPct val="115000"/>
              </a:lnSpc>
              <a:buFont typeface="Arial" panose="020B0604020202020204" pitchFamily="34" charset="0"/>
              <a:buChar char="•"/>
              <a:defRPr/>
            </a:pPr>
            <a:r>
              <a:rPr lang="en-US" dirty="0">
                <a:solidFill>
                  <a:srgbClr val="00B0F0"/>
                </a:solidFill>
              </a:rPr>
              <a:t>besides SELECT, name two query verbs that read</a:t>
            </a:r>
          </a:p>
          <a:p>
            <a:pPr marL="227013" lvl="0" indent="-227013">
              <a:lnSpc>
                <a:spcPct val="115000"/>
              </a:lnSpc>
              <a:buFont typeface="Arial" panose="020B0604020202020204" pitchFamily="34" charset="0"/>
              <a:buChar char="•"/>
              <a:defRPr/>
            </a:pPr>
            <a:r>
              <a:rPr lang="en-US" dirty="0">
                <a:solidFill>
                  <a:srgbClr val="00B0F0"/>
                </a:solidFill>
              </a:rPr>
              <a:t>name the 4 stages in the backend that queries go thru</a:t>
            </a:r>
          </a:p>
          <a:p>
            <a:pPr marL="227013" lvl="0" indent="-227013">
              <a:lnSpc>
                <a:spcPct val="115000"/>
              </a:lnSpc>
              <a:buFont typeface="Arial" panose="020B0604020202020204" pitchFamily="34" charset="0"/>
              <a:buChar char="•"/>
              <a:defRPr/>
            </a:pPr>
            <a:r>
              <a:rPr lang="en-US" dirty="0"/>
              <a:t>which two does CREATE TABLE experience ? why ?</a:t>
            </a:r>
          </a:p>
          <a:p>
            <a:pPr marL="227013" lvl="0" indent="-227013">
              <a:lnSpc>
                <a:spcPct val="115000"/>
              </a:lnSpc>
              <a:buFont typeface="Arial" panose="020B0604020202020204" pitchFamily="34" charset="0"/>
              <a:buChar char="•"/>
              <a:defRPr/>
            </a:pPr>
            <a:r>
              <a:rPr lang="en-US" dirty="0"/>
              <a:t>how can you bypass the parser ? why would you want to ?</a:t>
            </a:r>
          </a:p>
          <a:p>
            <a:pPr marL="227013" lvl="0" indent="-227013">
              <a:lnSpc>
                <a:spcPct val="115000"/>
              </a:lnSpc>
              <a:buFont typeface="Arial" panose="020B0604020202020204" pitchFamily="34" charset="0"/>
              <a:buChar char="•"/>
              <a:defRPr/>
            </a:pPr>
            <a:r>
              <a:rPr lang="en-US" dirty="0">
                <a:solidFill>
                  <a:srgbClr val="00B0F0"/>
                </a:solidFill>
              </a:rPr>
              <a:t>what are the 3 primary elements of a query plan and which one pretty much drives the whole process ?</a:t>
            </a:r>
          </a:p>
          <a:p>
            <a:pPr marL="227013" lvl="0" indent="-227013">
              <a:lnSpc>
                <a:spcPct val="115000"/>
              </a:lnSpc>
              <a:buFont typeface="Arial" panose="020B0604020202020204" pitchFamily="34" charset="0"/>
              <a:buChar char="•"/>
              <a:defRPr/>
            </a:pPr>
            <a:r>
              <a:rPr lang="en-US" dirty="0">
                <a:solidFill>
                  <a:srgbClr val="00B0F0"/>
                </a:solidFill>
              </a:rPr>
              <a:t>name two file access methods</a:t>
            </a:r>
          </a:p>
          <a:p>
            <a:pPr marL="227013" lvl="0" indent="-227013">
              <a:lnSpc>
                <a:spcPct val="115000"/>
              </a:lnSpc>
              <a:buFont typeface="Arial" panose="020B0604020202020204" pitchFamily="34" charset="0"/>
              <a:buChar char="•"/>
              <a:defRPr/>
            </a:pPr>
            <a:r>
              <a:rPr lang="en-US" dirty="0">
                <a:solidFill>
                  <a:srgbClr val="00B0F0"/>
                </a:solidFill>
              </a:rPr>
              <a:t>name two join methods</a:t>
            </a:r>
          </a:p>
          <a:p>
            <a:pPr marL="227013" lvl="0" indent="-227013">
              <a:lnSpc>
                <a:spcPct val="115000"/>
              </a:lnSpc>
              <a:buFont typeface="Arial" panose="020B0604020202020204" pitchFamily="34" charset="0"/>
              <a:buChar char="•"/>
              <a:defRPr/>
            </a:pPr>
            <a:r>
              <a:rPr lang="en-US" dirty="0"/>
              <a:t>our two table query, both tables with predicates; what additional two query topics did we introduce here ? briefly describe each</a:t>
            </a:r>
          </a:p>
          <a:p>
            <a:pPr marL="227013" lvl="0" indent="-227013">
              <a:lnSpc>
                <a:spcPct val="115000"/>
              </a:lnSpc>
              <a:buFont typeface="Arial" panose="020B0604020202020204" pitchFamily="34" charset="0"/>
              <a:buChar char="•"/>
              <a:defRPr/>
            </a:pPr>
            <a:r>
              <a:rPr lang="en-US" dirty="0"/>
              <a:t>   ..  WHERE col1 = "FFF" and col2 &gt; 20;                                                          knowing nothing else, which predicate returns more rows ?   which predicate do we prefer to process first ?</a:t>
            </a:r>
          </a:p>
          <a:p>
            <a:pPr marL="227013" lvl="0" indent="-227013">
              <a:lnSpc>
                <a:spcPct val="115000"/>
              </a:lnSpc>
              <a:buFont typeface="Arial" panose="020B0604020202020204" pitchFamily="34" charset="0"/>
              <a:buChar char="•"/>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what is </a:t>
            </a:r>
            <a:r>
              <a:rPr lang="en-US" dirty="0">
                <a:latin typeface="Lato"/>
                <a:ea typeface="Lato"/>
                <a:cs typeface="Lato"/>
                <a:sym typeface="Lato"/>
              </a:rPr>
              <a:t>a sort pipelining ?</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20320350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A05C3B26-579D-B2DC-F070-AA495B61B607}"/>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9CA205D2-BBAB-D267-06D3-46D5F78E80BF}"/>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F3A27475-AA46-3079-6D85-E22F98CE391F}"/>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01</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DAA8B351-031A-3B23-CE1E-008372AAA1EA}"/>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8F8BAEBB-1299-278F-360F-08510668BD34}"/>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28</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7E31A6B3-79F8-ED0B-9FB1-612057097732}"/>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A10C44EA-4FF3-8BBD-2791-8838D621866F}"/>
              </a:ext>
            </a:extLst>
          </p:cNvPr>
          <p:cNvSpPr txBox="1"/>
          <p:nvPr/>
        </p:nvSpPr>
        <p:spPr>
          <a:xfrm>
            <a:off x="4508674" y="2124961"/>
            <a:ext cx="2463600"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hands on exercise</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14908908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F3698663-AFAD-B5C4-2CAF-868C5ADAE00C}"/>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FDD697C1-AF98-DD3C-2978-41DDD812DFE3}"/>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FB21B8D2-6D1A-D421-54B6-45C74E05FBAA}"/>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02</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CF08ED28-A61A-E1DC-6174-4D1D4E8F5F25}"/>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5FAF015C-6CAA-D003-4722-A00320638D9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29</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4122E6E4-F405-ABAF-7C7D-F8AC6F3849C7}"/>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Rectangle: Rounded Corners 2">
            <a:extLst>
              <a:ext uri="{FF2B5EF4-FFF2-40B4-BE49-F238E27FC236}">
                <a16:creationId xmlns:a16="http://schemas.microsoft.com/office/drawing/2014/main" id="{F487542A-9EE5-3FAB-C774-EF578EBB2876}"/>
              </a:ext>
            </a:extLst>
          </p:cNvPr>
          <p:cNvSpPr/>
          <p:nvPr/>
        </p:nvSpPr>
        <p:spPr>
          <a:xfrm>
            <a:off x="3136053"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a:t>
            </a:r>
          </a:p>
        </p:txBody>
      </p:sp>
      <p:sp>
        <p:nvSpPr>
          <p:cNvPr id="9" name="Rectangle: Rounded Corners 8">
            <a:extLst>
              <a:ext uri="{FF2B5EF4-FFF2-40B4-BE49-F238E27FC236}">
                <a16:creationId xmlns:a16="http://schemas.microsoft.com/office/drawing/2014/main" id="{9CC1A440-5442-7E98-0E2F-5CAAD8DB8CF5}"/>
              </a:ext>
            </a:extLst>
          </p:cNvPr>
          <p:cNvSpPr/>
          <p:nvPr/>
        </p:nvSpPr>
        <p:spPr>
          <a:xfrm>
            <a:off x="3544461" y="1754293"/>
            <a:ext cx="372533" cy="372533"/>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2</a:t>
            </a:r>
          </a:p>
        </p:txBody>
      </p:sp>
      <p:sp>
        <p:nvSpPr>
          <p:cNvPr id="13" name="Rectangle: Rounded Corners 12">
            <a:extLst>
              <a:ext uri="{FF2B5EF4-FFF2-40B4-BE49-F238E27FC236}">
                <a16:creationId xmlns:a16="http://schemas.microsoft.com/office/drawing/2014/main" id="{FC9D9DAD-93DB-507E-C354-6A60559D05AC}"/>
              </a:ext>
            </a:extLst>
          </p:cNvPr>
          <p:cNvSpPr/>
          <p:nvPr/>
        </p:nvSpPr>
        <p:spPr>
          <a:xfrm>
            <a:off x="3952869"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3</a:t>
            </a:r>
          </a:p>
        </p:txBody>
      </p:sp>
      <p:sp>
        <p:nvSpPr>
          <p:cNvPr id="16" name="Rectangle: Rounded Corners 15">
            <a:extLst>
              <a:ext uri="{FF2B5EF4-FFF2-40B4-BE49-F238E27FC236}">
                <a16:creationId xmlns:a16="http://schemas.microsoft.com/office/drawing/2014/main" id="{BF884A2C-FEBA-F0EB-07D3-08C7A8181088}"/>
              </a:ext>
            </a:extLst>
          </p:cNvPr>
          <p:cNvSpPr/>
          <p:nvPr/>
        </p:nvSpPr>
        <p:spPr>
          <a:xfrm>
            <a:off x="4361277"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4</a:t>
            </a:r>
          </a:p>
        </p:txBody>
      </p:sp>
      <p:sp>
        <p:nvSpPr>
          <p:cNvPr id="18" name="Rectangle: Rounded Corners 17">
            <a:extLst>
              <a:ext uri="{FF2B5EF4-FFF2-40B4-BE49-F238E27FC236}">
                <a16:creationId xmlns:a16="http://schemas.microsoft.com/office/drawing/2014/main" id="{9D06092A-13E6-684E-205C-3B669D12B67F}"/>
              </a:ext>
            </a:extLst>
          </p:cNvPr>
          <p:cNvSpPr/>
          <p:nvPr/>
        </p:nvSpPr>
        <p:spPr>
          <a:xfrm>
            <a:off x="5994909"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8</a:t>
            </a:r>
          </a:p>
        </p:txBody>
      </p:sp>
      <p:sp>
        <p:nvSpPr>
          <p:cNvPr id="20" name="Rectangle: Rounded Corners 19">
            <a:extLst>
              <a:ext uri="{FF2B5EF4-FFF2-40B4-BE49-F238E27FC236}">
                <a16:creationId xmlns:a16="http://schemas.microsoft.com/office/drawing/2014/main" id="{55AFDF6D-89D0-3C7C-B923-2005183F3ED7}"/>
              </a:ext>
            </a:extLst>
          </p:cNvPr>
          <p:cNvSpPr/>
          <p:nvPr/>
        </p:nvSpPr>
        <p:spPr>
          <a:xfrm>
            <a:off x="5586501"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7</a:t>
            </a:r>
          </a:p>
        </p:txBody>
      </p:sp>
      <p:sp>
        <p:nvSpPr>
          <p:cNvPr id="22" name="Rectangle: Rounded Corners 21">
            <a:extLst>
              <a:ext uri="{FF2B5EF4-FFF2-40B4-BE49-F238E27FC236}">
                <a16:creationId xmlns:a16="http://schemas.microsoft.com/office/drawing/2014/main" id="{51CA577E-967C-5D59-2BB4-C38792243133}"/>
              </a:ext>
            </a:extLst>
          </p:cNvPr>
          <p:cNvSpPr/>
          <p:nvPr/>
        </p:nvSpPr>
        <p:spPr>
          <a:xfrm>
            <a:off x="6403317"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9</a:t>
            </a:r>
          </a:p>
        </p:txBody>
      </p:sp>
      <p:sp>
        <p:nvSpPr>
          <p:cNvPr id="24" name="Rectangle: Rounded Corners 23">
            <a:extLst>
              <a:ext uri="{FF2B5EF4-FFF2-40B4-BE49-F238E27FC236}">
                <a16:creationId xmlns:a16="http://schemas.microsoft.com/office/drawing/2014/main" id="{17F8CDDB-6E32-1580-1187-5F6739C16150}"/>
              </a:ext>
            </a:extLst>
          </p:cNvPr>
          <p:cNvSpPr/>
          <p:nvPr/>
        </p:nvSpPr>
        <p:spPr>
          <a:xfrm>
            <a:off x="4769685"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5</a:t>
            </a:r>
          </a:p>
        </p:txBody>
      </p:sp>
      <p:sp>
        <p:nvSpPr>
          <p:cNvPr id="26" name="Rectangle: Rounded Corners 25">
            <a:extLst>
              <a:ext uri="{FF2B5EF4-FFF2-40B4-BE49-F238E27FC236}">
                <a16:creationId xmlns:a16="http://schemas.microsoft.com/office/drawing/2014/main" id="{FD588689-7DD5-073F-7ECF-BCB29A4290C5}"/>
              </a:ext>
            </a:extLst>
          </p:cNvPr>
          <p:cNvSpPr/>
          <p:nvPr/>
        </p:nvSpPr>
        <p:spPr>
          <a:xfrm>
            <a:off x="5178093"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6</a:t>
            </a:r>
          </a:p>
        </p:txBody>
      </p:sp>
      <p:sp>
        <p:nvSpPr>
          <p:cNvPr id="28" name="Rectangle: Rounded Corners 27">
            <a:extLst>
              <a:ext uri="{FF2B5EF4-FFF2-40B4-BE49-F238E27FC236}">
                <a16:creationId xmlns:a16="http://schemas.microsoft.com/office/drawing/2014/main" id="{5DE8074F-5F5C-826E-5380-F5298A9186FC}"/>
              </a:ext>
            </a:extLst>
          </p:cNvPr>
          <p:cNvSpPr/>
          <p:nvPr/>
        </p:nvSpPr>
        <p:spPr>
          <a:xfrm>
            <a:off x="6811727" y="1754293"/>
            <a:ext cx="432589"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10</a:t>
            </a:r>
          </a:p>
        </p:txBody>
      </p:sp>
      <p:sp>
        <p:nvSpPr>
          <p:cNvPr id="30" name="Google Shape;248;p56">
            <a:extLst>
              <a:ext uri="{FF2B5EF4-FFF2-40B4-BE49-F238E27FC236}">
                <a16:creationId xmlns:a16="http://schemas.microsoft.com/office/drawing/2014/main" id="{861D34C7-5E44-31B8-33F2-CD26A6B7EFF7}"/>
              </a:ext>
            </a:extLst>
          </p:cNvPr>
          <p:cNvSpPr txBox="1"/>
          <p:nvPr/>
        </p:nvSpPr>
        <p:spPr>
          <a:xfrm>
            <a:off x="3351103" y="2253251"/>
            <a:ext cx="4729641" cy="68015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difficulty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solidFill>
                  <a:schemeClr val="bg1">
                    <a:lumMod val="50000"/>
                  </a:schemeClr>
                </a:solidFill>
                <a:latin typeface="Lato"/>
                <a:ea typeface="Lato"/>
                <a:cs typeface="Lato"/>
                <a:sym typeface="Lato"/>
              </a:rPr>
              <a:t>      one new index negation, one new query rewrite</a:t>
            </a:r>
            <a:endParaRPr kumimoji="0" b="0" i="0" u="none" strike="noStrike" kern="0" cap="none" spc="0" normalizeH="0" baseline="0" noProof="0" dirty="0">
              <a:ln>
                <a:noFill/>
              </a:ln>
              <a:solidFill>
                <a:schemeClr val="bg1">
                  <a:lumMod val="50000"/>
                </a:schemeClr>
              </a:solidFill>
              <a:effectLst/>
              <a:uLnTx/>
              <a:uFillTx/>
              <a:latin typeface="Lato"/>
              <a:ea typeface="Lato"/>
              <a:cs typeface="Lato"/>
              <a:sym typeface="Lato"/>
            </a:endParaRPr>
          </a:p>
        </p:txBody>
      </p:sp>
    </p:spTree>
    <p:extLst>
      <p:ext uri="{BB962C8B-B14F-4D97-AF65-F5344CB8AC3E}">
        <p14:creationId xmlns:p14="http://schemas.microsoft.com/office/powerpoint/2010/main" val="30252934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E4E767F-902C-69E9-52B4-B413A7B227AB}"/>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095C1F76-CF46-84C0-E516-5C7B7839D8E9}"/>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02:</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7E26061A-D012-D9FE-BB57-7661CF3BEBFA}"/>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30</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224DBF39-6B4A-4B6F-A74B-FF7A0F4D9515}"/>
              </a:ext>
            </a:extLst>
          </p:cNvPr>
          <p:cNvSpPr txBox="1"/>
          <p:nvPr/>
        </p:nvSpPr>
        <p:spPr>
          <a:xfrm>
            <a:off x="315981" y="1244428"/>
            <a:ext cx="1905672" cy="16711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col1 = 10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or</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col2 = 20;</a:t>
            </a:r>
          </a:p>
        </p:txBody>
      </p:sp>
      <p:sp>
        <p:nvSpPr>
          <p:cNvPr id="4" name="Google Shape;248;p56">
            <a:extLst>
              <a:ext uri="{FF2B5EF4-FFF2-40B4-BE49-F238E27FC236}">
                <a16:creationId xmlns:a16="http://schemas.microsoft.com/office/drawing/2014/main" id="{501D0A4C-9A83-8BE1-C8B5-6DB5F6A65173}"/>
              </a:ext>
            </a:extLst>
          </p:cNvPr>
          <p:cNvSpPr txBox="1"/>
          <p:nvPr/>
        </p:nvSpPr>
        <p:spPr>
          <a:xfrm>
            <a:off x="6102002" y="269068"/>
            <a:ext cx="2570073" cy="1671196"/>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sz="1200" dirty="0">
                <a:latin typeface="Lato"/>
                <a:ea typeface="Lato"/>
                <a:cs typeface="Lato"/>
                <a:sym typeface="Lato"/>
              </a:rPr>
              <a:t>5 rules applied in order to determine query plan</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outer 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filters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table size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table cardinality</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30807496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814EF533-33EB-3AD5-99F3-3AD33EE7782C}"/>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0B6D0158-29A1-E040-276F-FF67067D730B}"/>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the OR-topped query, the physics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D6036F44-A4EB-F401-8AFF-B50515368075}"/>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31</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85952B07-B901-12DE-6488-F58EB2EC6DE7}"/>
              </a:ext>
            </a:extLst>
          </p:cNvPr>
          <p:cNvSpPr txBox="1"/>
          <p:nvPr/>
        </p:nvSpPr>
        <p:spPr>
          <a:xfrm>
            <a:off x="315981" y="1244428"/>
            <a:ext cx="8272606" cy="16711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from </a:t>
            </a:r>
            <a:r>
              <a:rPr kumimoji="0" lang="en" b="0" i="0" u="none" strike="noStrike" kern="0" cap="none" spc="0" normalizeH="0" baseline="0" noProof="0" dirty="0">
                <a:ln>
                  <a:noFill/>
                </a:ln>
                <a:solidFill>
                  <a:srgbClr val="000000"/>
                </a:solidFill>
                <a:effectLst/>
                <a:uLnTx/>
                <a:uFillTx/>
                <a:latin typeface="Lato"/>
                <a:ea typeface="Lato"/>
                <a:cs typeface="Lato"/>
                <a:sym typeface="Lato"/>
              </a:rPr>
              <a:t>population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where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      age = 30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or</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      state = "CO";</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4" name="Google Shape;248;p56">
            <a:extLst>
              <a:ext uri="{FF2B5EF4-FFF2-40B4-BE49-F238E27FC236}">
                <a16:creationId xmlns:a16="http://schemas.microsoft.com/office/drawing/2014/main" id="{8C2C621C-2744-E714-4A67-D1C879BBAB27}"/>
              </a:ext>
            </a:extLst>
          </p:cNvPr>
          <p:cNvSpPr txBox="1"/>
          <p:nvPr/>
        </p:nvSpPr>
        <p:spPr>
          <a:xfrm>
            <a:off x="3889550" y="900554"/>
            <a:ext cx="4448424" cy="2626843"/>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70C0"/>
                </a:solidFill>
                <a:effectLst/>
                <a:uLnTx/>
                <a:uFillTx/>
                <a:latin typeface="Lato"/>
                <a:ea typeface="Lato"/>
                <a:cs typeface="Lato"/>
                <a:sym typeface="Lato"/>
              </a:rPr>
              <a:t>tuples could include-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age = 30 and state = "WI"</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age = 10 and state = "CO"</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neither</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both age = 30 and state = "CO"</a:t>
            </a:r>
          </a:p>
          <a:p>
            <a:pPr marR="0" lvl="0" defTabSz="914400" rtl="0" eaLnBrk="1" fontAlgn="auto" latinLnBrk="0" hangingPunct="1">
              <a:lnSpc>
                <a:spcPct val="115000"/>
              </a:lnSpc>
              <a:spcBef>
                <a:spcPts val="0"/>
              </a:spcBef>
              <a:spcAft>
                <a:spcPts val="0"/>
              </a:spcAft>
              <a:buClr>
                <a:srgbClr val="000000"/>
              </a:buClr>
              <a:buSzTx/>
              <a:tabLst/>
              <a:defRPr/>
            </a:pPr>
            <a:endParaRPr lang="en-US" i="1" dirty="0">
              <a:solidFill>
                <a:srgbClr val="0070C0"/>
              </a:solidFill>
              <a:latin typeface="Lato"/>
              <a:ea typeface="Lato"/>
              <a:cs typeface="Lato"/>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lang="en-US" sz="1600" i="1" dirty="0">
                <a:solidFill>
                  <a:srgbClr val="0070C0"/>
                </a:solidFill>
                <a:latin typeface="Lato"/>
                <a:ea typeface="Lato"/>
                <a:cs typeface="Lato"/>
                <a:sym typeface="Lato"/>
              </a:rPr>
              <a:t>how</a:t>
            </a:r>
            <a:r>
              <a:rPr lang="en-US" sz="1200" dirty="0">
                <a:solidFill>
                  <a:srgbClr val="0070C0"/>
                </a:solidFill>
                <a:latin typeface="Lato"/>
                <a:ea typeface="Lato"/>
                <a:cs typeface="Lato"/>
                <a:sym typeface="Lato"/>
              </a:rPr>
              <a:t>   you query process can not affect the result set</a:t>
            </a:r>
          </a:p>
          <a:p>
            <a:pPr marR="0" lvl="0" defTabSz="914400" rtl="0" eaLnBrk="1" fontAlgn="auto" latinLnBrk="0" hangingPunct="1">
              <a:lnSpc>
                <a:spcPct val="115000"/>
              </a:lnSpc>
              <a:spcBef>
                <a:spcPts val="0"/>
              </a:spcBef>
              <a:spcAft>
                <a:spcPts val="0"/>
              </a:spcAft>
              <a:buClr>
                <a:srgbClr val="000000"/>
              </a:buClr>
              <a:buSzTx/>
              <a:tabLst/>
              <a:defRPr/>
            </a:pPr>
            <a:endParaRPr lang="en-US" sz="1200" dirty="0">
              <a:solidFill>
                <a:srgbClr val="0070C0"/>
              </a:solidFill>
              <a:latin typeface="Lato"/>
              <a:ea typeface="Lato"/>
              <a:cs typeface="Lato"/>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lang="en-US" sz="1200" dirty="0">
                <a:solidFill>
                  <a:srgbClr val="0070C0"/>
                </a:solidFill>
                <a:latin typeface="Lato"/>
                <a:ea typeface="Lato"/>
                <a:cs typeface="Lato"/>
                <a:sym typeface="Lato"/>
              </a:rPr>
              <a:t>huh ?</a:t>
            </a:r>
          </a:p>
          <a:p>
            <a:pPr marL="230188" marR="0" lvl="0" defTabSz="914400" rtl="0" eaLnBrk="1" fontAlgn="auto" latinLnBrk="0" hangingPunct="1">
              <a:lnSpc>
                <a:spcPct val="115000"/>
              </a:lnSpc>
              <a:spcBef>
                <a:spcPts val="0"/>
              </a:spcBef>
              <a:spcAft>
                <a:spcPts val="0"/>
              </a:spcAft>
              <a:buClr>
                <a:srgbClr val="000000"/>
              </a:buClr>
              <a:buSzTx/>
              <a:tabLst/>
              <a:defRPr/>
            </a:pPr>
            <a:r>
              <a:rPr lang="en-US" sz="1200" dirty="0">
                <a:solidFill>
                  <a:srgbClr val="0070C0"/>
                </a:solidFill>
                <a:latin typeface="Lato"/>
                <a:ea typeface="Lato"/>
                <a:cs typeface="Lato"/>
                <a:sym typeface="Lato"/>
              </a:rPr>
              <a:t>a given tuple can not be returned twice (in error) because of your chosen query processing</a:t>
            </a:r>
          </a:p>
        </p:txBody>
      </p:sp>
    </p:spTree>
    <p:extLst>
      <p:ext uri="{BB962C8B-B14F-4D97-AF65-F5344CB8AC3E}">
        <p14:creationId xmlns:p14="http://schemas.microsoft.com/office/powerpoint/2010/main" val="42051184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A04C808-E57F-C8E5-E693-9C490BF8C609}"/>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CFB8B819-E7B0-DA98-28D0-C68CC5488175}"/>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index negation; non-anchored composite key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EF612F9E-05D8-0D79-0C52-6EF438712896}"/>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32</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pic>
        <p:nvPicPr>
          <p:cNvPr id="4" name="Picture 3">
            <a:extLst>
              <a:ext uri="{FF2B5EF4-FFF2-40B4-BE49-F238E27FC236}">
                <a16:creationId xmlns:a16="http://schemas.microsoft.com/office/drawing/2014/main" id="{F15BD5BB-0A08-FAD0-1B83-594A84482321}"/>
              </a:ext>
            </a:extLst>
          </p:cNvPr>
          <p:cNvPicPr>
            <a:picLocks noChangeAspect="1"/>
          </p:cNvPicPr>
          <p:nvPr/>
        </p:nvPicPr>
        <p:blipFill>
          <a:blip r:embed="rId3"/>
          <a:stretch>
            <a:fillRect/>
          </a:stretch>
        </p:blipFill>
        <p:spPr>
          <a:xfrm>
            <a:off x="721593" y="1432738"/>
            <a:ext cx="2444708" cy="1749704"/>
          </a:xfrm>
          <a:prstGeom prst="rect">
            <a:avLst/>
          </a:prstGeom>
        </p:spPr>
      </p:pic>
      <p:sp>
        <p:nvSpPr>
          <p:cNvPr id="6" name="Google Shape;248;p56">
            <a:extLst>
              <a:ext uri="{FF2B5EF4-FFF2-40B4-BE49-F238E27FC236}">
                <a16:creationId xmlns:a16="http://schemas.microsoft.com/office/drawing/2014/main" id="{DE11ECED-3D0C-7211-33F4-350FC08C0E23}"/>
              </a:ext>
            </a:extLst>
          </p:cNvPr>
          <p:cNvSpPr txBox="1"/>
          <p:nvPr/>
        </p:nvSpPr>
        <p:spPr>
          <a:xfrm>
            <a:off x="3889549" y="850231"/>
            <a:ext cx="4857251" cy="3157757"/>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70C0"/>
                </a:solidFill>
                <a:effectLst/>
                <a:uLnTx/>
                <a:uFillTx/>
                <a:latin typeface="Lato"/>
                <a:ea typeface="Lato"/>
                <a:cs typeface="Lato"/>
                <a:sym typeface="Lato"/>
              </a:rPr>
              <a:t>phone book</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sorted (composite indexed) descending by last name, then first name descending</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solidFill>
                <a:srgbClr val="0070C0"/>
              </a:solidFill>
              <a:latin typeface="Lato"/>
              <a:ea typeface="Lato"/>
              <a:cs typeface="Lato"/>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find all persons with first name, Carly</a:t>
            </a:r>
          </a:p>
          <a:p>
            <a:pPr marL="115888" marR="0" lvl="0" defTabSz="914400" rtl="0" eaLnBrk="1" fontAlgn="auto" latinLnBrk="0" hangingPunct="1">
              <a:lnSpc>
                <a:spcPct val="115000"/>
              </a:lnSpc>
              <a:spcBef>
                <a:spcPts val="0"/>
              </a:spcBef>
              <a:spcAft>
                <a:spcPts val="0"/>
              </a:spcAft>
              <a:buClr>
                <a:srgbClr val="000000"/>
              </a:buClr>
              <a:buSzTx/>
              <a:tabLst/>
              <a:defRPr/>
            </a:pPr>
            <a:endParaRPr lang="en-US" sz="1200" dirty="0">
              <a:solidFill>
                <a:srgbClr val="0070C0"/>
              </a:solidFill>
              <a:latin typeface="Lato"/>
              <a:ea typeface="Lato"/>
              <a:cs typeface="Lato"/>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first name is not the first column, not the anchor column</a:t>
            </a:r>
          </a:p>
          <a:p>
            <a:pPr marL="460375"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index is now unanchored (data is not sorted by first name)</a:t>
            </a:r>
          </a:p>
          <a:p>
            <a:pPr marL="460375"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more performant to be a sequential scan</a:t>
            </a:r>
          </a:p>
          <a:p>
            <a:pPr marL="460375"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solidFill>
                <a:srgbClr val="0070C0"/>
              </a:solidFill>
              <a:latin typeface="Lato"/>
              <a:ea typeface="Lato"/>
              <a:cs typeface="Lato"/>
              <a:sym typeface="Lato"/>
            </a:endParaRPr>
          </a:p>
          <a:p>
            <a:pPr marL="460375"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unless it is key-only (discussed later, but doesn’t help us here)</a:t>
            </a:r>
          </a:p>
          <a:p>
            <a:pPr marL="460375"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solidFill>
                <a:srgbClr val="0070C0"/>
              </a:solidFill>
              <a:latin typeface="Lato"/>
              <a:ea typeface="Lato"/>
              <a:cs typeface="Lato"/>
              <a:sym typeface="Lato"/>
            </a:endParaRPr>
          </a:p>
          <a:p>
            <a:pPr marL="346075" marR="0" lvl="0" defTabSz="914400" rtl="0" eaLnBrk="1" fontAlgn="auto" latinLnBrk="0" hangingPunct="1">
              <a:lnSpc>
                <a:spcPct val="115000"/>
              </a:lnSpc>
              <a:spcBef>
                <a:spcPts val="0"/>
              </a:spcBef>
              <a:spcAft>
                <a:spcPts val="0"/>
              </a:spcAft>
              <a:buClr>
                <a:srgbClr val="000000"/>
              </a:buClr>
              <a:buSzTx/>
              <a:tabLst/>
              <a:defRPr/>
            </a:pPr>
            <a:endParaRPr lang="en-US" sz="1200" dirty="0">
              <a:solidFill>
                <a:srgbClr val="0070C0"/>
              </a:solidFill>
              <a:latin typeface="Lato"/>
              <a:ea typeface="Lato"/>
              <a:cs typeface="Lato"/>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lang="en-US" sz="1200" b="1" dirty="0">
                <a:solidFill>
                  <a:srgbClr val="0070C0"/>
                </a:solidFill>
                <a:latin typeface="Lato"/>
                <a:ea typeface="Lato"/>
                <a:cs typeface="Lato"/>
                <a:sym typeface="Lato"/>
              </a:rPr>
              <a:t>there is no single index serving (anchored) by both columns</a:t>
            </a:r>
          </a:p>
        </p:txBody>
      </p:sp>
    </p:spTree>
    <p:extLst>
      <p:ext uri="{BB962C8B-B14F-4D97-AF65-F5344CB8AC3E}">
        <p14:creationId xmlns:p14="http://schemas.microsoft.com/office/powerpoint/2010/main" val="25070922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886F8390-C485-9E45-18B2-697B8EA8C10B}"/>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3D54D00D-F0EF-F271-7FD2-5644F82333B8}"/>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OR-topped query  </a:t>
            </a:r>
            <a:r>
              <a:rPr lang="en" dirty="0">
                <a:solidFill>
                  <a:schemeClr val="accent2"/>
                </a:solidFill>
                <a:latin typeface="Lato"/>
                <a:ea typeface="Lato"/>
                <a:cs typeface="Lato"/>
                <a:sym typeface="Wingdings" panose="05000000000000000000" pitchFamily="2" charset="2"/>
              </a:rPr>
              <a:t>  OR-union transfer (a query rewrite)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B48034AD-F8CF-5962-874A-9310B97155BB}"/>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33</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6" name="Google Shape;248;p56">
            <a:extLst>
              <a:ext uri="{FF2B5EF4-FFF2-40B4-BE49-F238E27FC236}">
                <a16:creationId xmlns:a16="http://schemas.microsoft.com/office/drawing/2014/main" id="{E8FC21A4-4E2E-4E00-9E57-257E8B90CF69}"/>
              </a:ext>
            </a:extLst>
          </p:cNvPr>
          <p:cNvSpPr txBox="1"/>
          <p:nvPr/>
        </p:nvSpPr>
        <p:spPr>
          <a:xfrm>
            <a:off x="315981" y="1567410"/>
            <a:ext cx="1905672" cy="16711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col1 = 10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or</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col2 = 20;</a:t>
            </a:r>
          </a:p>
        </p:txBody>
      </p:sp>
      <p:pic>
        <p:nvPicPr>
          <p:cNvPr id="8" name="Picture 7">
            <a:extLst>
              <a:ext uri="{FF2B5EF4-FFF2-40B4-BE49-F238E27FC236}">
                <a16:creationId xmlns:a16="http://schemas.microsoft.com/office/drawing/2014/main" id="{4CBAA132-3B35-F1FF-47F3-B8DA210CF3DB}"/>
              </a:ext>
            </a:extLst>
          </p:cNvPr>
          <p:cNvPicPr>
            <a:picLocks noChangeAspect="1"/>
          </p:cNvPicPr>
          <p:nvPr/>
        </p:nvPicPr>
        <p:blipFill>
          <a:blip r:embed="rId3"/>
          <a:stretch>
            <a:fillRect/>
          </a:stretch>
        </p:blipFill>
        <p:spPr>
          <a:xfrm rot="21083677">
            <a:off x="1634728" y="1524625"/>
            <a:ext cx="343085" cy="720479"/>
          </a:xfrm>
          <a:prstGeom prst="rect">
            <a:avLst/>
          </a:prstGeom>
        </p:spPr>
      </p:pic>
      <p:pic>
        <p:nvPicPr>
          <p:cNvPr id="10" name="Picture 9">
            <a:extLst>
              <a:ext uri="{FF2B5EF4-FFF2-40B4-BE49-F238E27FC236}">
                <a16:creationId xmlns:a16="http://schemas.microsoft.com/office/drawing/2014/main" id="{A52621B1-5A95-2A03-A07D-A07E9E5CC61F}"/>
              </a:ext>
            </a:extLst>
          </p:cNvPr>
          <p:cNvPicPr>
            <a:picLocks noChangeAspect="1"/>
          </p:cNvPicPr>
          <p:nvPr/>
        </p:nvPicPr>
        <p:blipFill>
          <a:blip r:embed="rId3"/>
          <a:stretch>
            <a:fillRect/>
          </a:stretch>
        </p:blipFill>
        <p:spPr>
          <a:xfrm rot="436822">
            <a:off x="1573967" y="2759327"/>
            <a:ext cx="343085" cy="720479"/>
          </a:xfrm>
          <a:prstGeom prst="rect">
            <a:avLst/>
          </a:prstGeom>
        </p:spPr>
      </p:pic>
      <p:sp>
        <p:nvSpPr>
          <p:cNvPr id="12" name="Google Shape;248;p56">
            <a:extLst>
              <a:ext uri="{FF2B5EF4-FFF2-40B4-BE49-F238E27FC236}">
                <a16:creationId xmlns:a16="http://schemas.microsoft.com/office/drawing/2014/main" id="{D15F8C98-2D76-4239-6D91-93B834DFA51A}"/>
              </a:ext>
            </a:extLst>
          </p:cNvPr>
          <p:cNvSpPr txBox="1"/>
          <p:nvPr/>
        </p:nvSpPr>
        <p:spPr>
          <a:xfrm>
            <a:off x="2221653" y="900554"/>
            <a:ext cx="1905672" cy="142343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 </a:t>
            </a:r>
            <a:r>
              <a:rPr lang="en" dirty="0">
                <a:latin typeface="Lato"/>
                <a:ea typeface="Lato"/>
                <a:cs typeface="Lato"/>
                <a:sym typeface="Lato"/>
              </a:rPr>
              <a:t>from t1 </a:t>
            </a: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where col1 = 10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00B0F0"/>
                </a:solidFill>
                <a:latin typeface="Lato"/>
                <a:ea typeface="Lato"/>
                <a:cs typeface="Lato"/>
                <a:sym typeface="Lato"/>
              </a:rPr>
              <a:t>union all</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 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where col2 = 20;</a:t>
            </a:r>
          </a:p>
        </p:txBody>
      </p:sp>
      <p:sp>
        <p:nvSpPr>
          <p:cNvPr id="14" name="Google Shape;248;p56">
            <a:extLst>
              <a:ext uri="{FF2B5EF4-FFF2-40B4-BE49-F238E27FC236}">
                <a16:creationId xmlns:a16="http://schemas.microsoft.com/office/drawing/2014/main" id="{33A45AF0-A2B0-ED44-4CB8-985AF4C5099A}"/>
              </a:ext>
            </a:extLst>
          </p:cNvPr>
          <p:cNvSpPr txBox="1"/>
          <p:nvPr/>
        </p:nvSpPr>
        <p:spPr>
          <a:xfrm>
            <a:off x="2221653" y="2571750"/>
            <a:ext cx="1905672" cy="142343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 </a:t>
            </a:r>
            <a:r>
              <a:rPr lang="en" dirty="0">
                <a:latin typeface="Lato"/>
                <a:ea typeface="Lato"/>
                <a:cs typeface="Lato"/>
                <a:sym typeface="Lato"/>
              </a:rPr>
              <a:t>from t1 </a:t>
            </a: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where col1 = 10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solidFill>
                  <a:srgbClr val="00B0F0"/>
                </a:solidFill>
                <a:latin typeface="Lato"/>
                <a:ea typeface="Lato"/>
                <a:cs typeface="Lato"/>
                <a:sym typeface="Lato"/>
              </a:rPr>
              <a:t>union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 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where col2 = 20;</a:t>
            </a:r>
          </a:p>
        </p:txBody>
      </p:sp>
      <p:sp>
        <p:nvSpPr>
          <p:cNvPr id="16" name="Google Shape;248;p56">
            <a:extLst>
              <a:ext uri="{FF2B5EF4-FFF2-40B4-BE49-F238E27FC236}">
                <a16:creationId xmlns:a16="http://schemas.microsoft.com/office/drawing/2014/main" id="{26B4B242-E40D-867C-DBB3-754F62615A7B}"/>
              </a:ext>
            </a:extLst>
          </p:cNvPr>
          <p:cNvSpPr txBox="1"/>
          <p:nvPr/>
        </p:nvSpPr>
        <p:spPr>
          <a:xfrm>
            <a:off x="5655570" y="1148314"/>
            <a:ext cx="3230429" cy="2945391"/>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FFC000"/>
                </a:solidFill>
                <a:effectLst/>
                <a:uLnTx/>
                <a:uFillTx/>
                <a:latin typeface="Lato"/>
                <a:ea typeface="Lato"/>
                <a:cs typeface="Lato"/>
                <a:sym typeface="Lato"/>
              </a:rPr>
              <a:t>when-</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FFC000"/>
                </a:solidFill>
                <a:latin typeface="Lato"/>
                <a:ea typeface="Lato"/>
                <a:cs typeface="Lato"/>
                <a:sym typeface="Lato"/>
              </a:rPr>
              <a:t>both predicates are indexed</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FFC000"/>
                </a:solidFill>
                <a:latin typeface="Lato"/>
                <a:ea typeface="Lato"/>
                <a:cs typeface="Lato"/>
                <a:sym typeface="Lato"/>
              </a:rPr>
              <a:t>both predicates are selective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 sz="1200" dirty="0">
              <a:solidFill>
                <a:srgbClr val="FFC000"/>
              </a:solidFill>
              <a:latin typeface="Lato"/>
              <a:ea typeface="Lato"/>
              <a:cs typeface="Lato"/>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lang="en" sz="1200" i="1" dirty="0">
                <a:solidFill>
                  <a:srgbClr val="FFC000"/>
                </a:solidFill>
                <a:latin typeface="Lato"/>
                <a:ea typeface="Lato"/>
                <a:cs typeface="Lato"/>
                <a:sym typeface="Lato"/>
              </a:rPr>
              <a:t>use union all when</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FFC000"/>
                </a:solidFill>
                <a:latin typeface="Lato"/>
                <a:ea typeface="Lato"/>
                <a:cs typeface="Lato"/>
                <a:sym typeface="Lato"/>
              </a:rPr>
              <a:t>both predicates produce a unique result set</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FFC000"/>
                </a:solidFill>
                <a:latin typeface="Lato"/>
                <a:ea typeface="Lato"/>
                <a:cs typeface="Lato"/>
                <a:sym typeface="Lato"/>
              </a:rPr>
              <a:t>most performant</a:t>
            </a:r>
          </a:p>
          <a:p>
            <a:pPr marR="0" lvl="0" defTabSz="914400" rtl="0" eaLnBrk="1" fontAlgn="auto" latinLnBrk="0" hangingPunct="1">
              <a:lnSpc>
                <a:spcPct val="115000"/>
              </a:lnSpc>
              <a:spcBef>
                <a:spcPts val="0"/>
              </a:spcBef>
              <a:spcAft>
                <a:spcPts val="0"/>
              </a:spcAft>
              <a:buClr>
                <a:srgbClr val="000000"/>
              </a:buClr>
              <a:buSzTx/>
              <a:tabLst/>
              <a:defRPr/>
            </a:pPr>
            <a:r>
              <a:rPr lang="en" sz="1200" i="1" dirty="0">
                <a:solidFill>
                  <a:srgbClr val="FFC000"/>
                </a:solidFill>
                <a:latin typeface="Lato"/>
                <a:ea typeface="Lato"/>
                <a:cs typeface="Lato"/>
                <a:sym typeface="Lato"/>
              </a:rPr>
              <a:t>use union when </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FFC000"/>
                </a:solidFill>
                <a:latin typeface="Lato"/>
                <a:ea typeface="Lato"/>
                <a:cs typeface="Lato"/>
                <a:sym typeface="Lato"/>
              </a:rPr>
              <a:t>there might be duplicates in the two result sets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solidFill>
                  <a:srgbClr val="FFC000"/>
                </a:solidFill>
                <a:latin typeface="Lato"/>
                <a:ea typeface="Lato"/>
                <a:cs typeface="Lato"/>
                <a:sym typeface="Lato"/>
              </a:rPr>
              <a:t>(sorts both lists, merge, remove duplicates), blecht</a:t>
            </a:r>
          </a:p>
        </p:txBody>
      </p:sp>
    </p:spTree>
    <p:extLst>
      <p:ext uri="{BB962C8B-B14F-4D97-AF65-F5344CB8AC3E}">
        <p14:creationId xmlns:p14="http://schemas.microsoft.com/office/powerpoint/2010/main" val="23470273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E744CCFD-1B1A-075D-F8CB-DE2F1E21A47A}"/>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617E091E-0546-CBFB-6DEB-3C126EFC6BC7}"/>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870952C4-9554-0A1A-584D-9177A5117989}"/>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02</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0A683D1F-1122-68D9-E1A1-A95ECF52BC04}"/>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1F3E44ED-4E83-C334-6655-E005A3D90979}"/>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34</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E44A1F51-21C5-770F-B263-A9975065794E}"/>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4AD47552-A18C-3E95-F9C7-0DE8EC2C3146}"/>
              </a:ext>
            </a:extLst>
          </p:cNvPr>
          <p:cNvSpPr txBox="1"/>
          <p:nvPr/>
        </p:nvSpPr>
        <p:spPr>
          <a:xfrm>
            <a:off x="4508674" y="2124961"/>
            <a:ext cx="2463600"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solution</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37467403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F3B1BCC7-D682-0B11-4143-343119DDA8A7}"/>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8F6D5EBB-DA29-4ABC-94B2-502695D27A63}"/>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02: determing the query plan, applying the rules </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F07489B4-498A-A778-D3B4-61788AED633D}"/>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35</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6" name="Google Shape;248;p56">
            <a:extLst>
              <a:ext uri="{FF2B5EF4-FFF2-40B4-BE49-F238E27FC236}">
                <a16:creationId xmlns:a16="http://schemas.microsoft.com/office/drawing/2014/main" id="{5B3A7E9C-6841-27E5-5B11-9F49FE8977D9}"/>
              </a:ext>
            </a:extLst>
          </p:cNvPr>
          <p:cNvSpPr txBox="1"/>
          <p:nvPr/>
        </p:nvSpPr>
        <p:spPr>
          <a:xfrm>
            <a:off x="4191922" y="888039"/>
            <a:ext cx="2195331" cy="1246465"/>
          </a:xfrm>
          <a:prstGeom prst="rect">
            <a:avLst/>
          </a:prstGeom>
          <a:solidFill>
            <a:schemeClr val="lt1"/>
          </a:solidFill>
          <a:ln>
            <a:noFill/>
          </a:ln>
        </p:spPr>
        <p:txBody>
          <a:bodyPr spcFirstLastPara="1" wrap="square" lIns="91425" tIns="91425" rIns="91425" bIns="91425" anchor="t" anchorCtr="0">
            <a:spAutoFit/>
          </a:bodyPr>
          <a:lstStyle/>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outer 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joins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filters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Lato"/>
                <a:ea typeface="Lato"/>
                <a:cs typeface="Lato"/>
                <a:sym typeface="Lato"/>
              </a:rPr>
              <a:t>table size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table cardinality</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8" name="Google Shape;248;p56">
            <a:extLst>
              <a:ext uri="{FF2B5EF4-FFF2-40B4-BE49-F238E27FC236}">
                <a16:creationId xmlns:a16="http://schemas.microsoft.com/office/drawing/2014/main" id="{F37805C7-BB9D-AC7F-8F80-86D91DB7EF92}"/>
              </a:ext>
            </a:extLst>
          </p:cNvPr>
          <p:cNvSpPr txBox="1"/>
          <p:nvPr/>
        </p:nvSpPr>
        <p:spPr>
          <a:xfrm>
            <a:off x="5881868" y="888039"/>
            <a:ext cx="3004132" cy="1246465"/>
          </a:xfrm>
          <a:prstGeom prst="rect">
            <a:avLst/>
          </a:prstGeom>
          <a:solidFill>
            <a:schemeClr val="lt1"/>
          </a:solidFill>
          <a:ln>
            <a:noFill/>
          </a:ln>
        </p:spPr>
        <p:txBody>
          <a:bodyPr spcFirstLastPara="1" wrap="square" lIns="91425" tIns="91425" rIns="91425" bIns="91425" anchor="t" anchorCtr="0">
            <a:spAutoFit/>
          </a:bodyPr>
          <a:lstStyle/>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chemeClr val="bg1">
                    <a:lumMod val="50000"/>
                  </a:schemeClr>
                </a:solidFill>
                <a:effectLst/>
                <a:uLnTx/>
                <a:uFillTx/>
                <a:latin typeface="Lato"/>
                <a:ea typeface="Lato"/>
                <a:cs typeface="Lato"/>
                <a:sym typeface="Lato"/>
              </a:rPr>
              <a:t>not present</a:t>
            </a:r>
          </a:p>
          <a:p>
            <a:pPr marL="115888" marR="0" lvl="0" defTabSz="914400" rtl="0" eaLnBrk="1" fontAlgn="auto" latinLnBrk="0" hangingPunct="1">
              <a:lnSpc>
                <a:spcPct val="115000"/>
              </a:lnSpc>
              <a:spcBef>
                <a:spcPts val="0"/>
              </a:spcBef>
              <a:spcAft>
                <a:spcPts val="0"/>
              </a:spcAft>
              <a:buClr>
                <a:srgbClr val="000000"/>
              </a:buClr>
              <a:buSzTx/>
              <a:tabLst/>
              <a:defRPr/>
            </a:pPr>
            <a:r>
              <a:rPr lang="en-US" sz="1200" dirty="0">
                <a:solidFill>
                  <a:schemeClr val="bg1">
                    <a:lumMod val="50000"/>
                  </a:schemeClr>
                </a:solidFill>
                <a:latin typeface="Lato"/>
                <a:ea typeface="Lato"/>
                <a:cs typeface="Lato"/>
                <a:sym typeface="Lato"/>
              </a:rPr>
              <a:t>all tables joined    (common, 2</a:t>
            </a:r>
            <a:r>
              <a:rPr lang="en-US" sz="1200" baseline="30000" dirty="0">
                <a:solidFill>
                  <a:schemeClr val="bg1">
                    <a:lumMod val="50000"/>
                  </a:schemeClr>
                </a:solidFill>
                <a:latin typeface="Lato"/>
                <a:ea typeface="Lato"/>
                <a:cs typeface="Lato"/>
                <a:sym typeface="Lato"/>
              </a:rPr>
              <a:t>nd</a:t>
            </a:r>
            <a:r>
              <a:rPr lang="en-US" sz="1200" dirty="0">
                <a:solidFill>
                  <a:schemeClr val="bg1">
                    <a:lumMod val="50000"/>
                  </a:schemeClr>
                </a:solidFill>
                <a:latin typeface="Lato"/>
                <a:ea typeface="Lato"/>
                <a:cs typeface="Lato"/>
                <a:sym typeface="Lato"/>
              </a:rPr>
              <a:t> table+)</a:t>
            </a:r>
          </a:p>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chemeClr val="bg1">
                    <a:lumMod val="50000"/>
                  </a:schemeClr>
                </a:solidFill>
                <a:effectLst/>
                <a:uLnTx/>
                <a:uFillTx/>
                <a:latin typeface="Lato"/>
                <a:ea typeface="Lato"/>
                <a:cs typeface="Lato"/>
                <a:sym typeface="Lato"/>
              </a:rPr>
              <a:t>98% of the time    (determines first table)</a:t>
            </a:r>
          </a:p>
          <a:p>
            <a:pPr marL="115888" marR="0" lvl="0" defTabSz="914400" rtl="0" eaLnBrk="1" fontAlgn="auto" latinLnBrk="0" hangingPunct="1">
              <a:lnSpc>
                <a:spcPct val="115000"/>
              </a:lnSpc>
              <a:spcBef>
                <a:spcPts val="0"/>
              </a:spcBef>
              <a:spcAft>
                <a:spcPts val="0"/>
              </a:spcAft>
              <a:buClr>
                <a:srgbClr val="000000"/>
              </a:buClr>
              <a:buSzTx/>
              <a:tabLst/>
              <a:defRPr/>
            </a:pPr>
            <a:r>
              <a:rPr lang="en-US" sz="1200" dirty="0">
                <a:solidFill>
                  <a:schemeClr val="bg1">
                    <a:lumMod val="50000"/>
                  </a:schemeClr>
                </a:solidFill>
                <a:latin typeface="Lato"/>
                <a:ea typeface="Lato"/>
                <a:cs typeface="Lato"/>
                <a:sym typeface="Lato"/>
              </a:rPr>
              <a:t>(not needed)</a:t>
            </a:r>
          </a:p>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chemeClr val="bg1">
                    <a:lumMod val="50000"/>
                  </a:schemeClr>
                </a:solidFill>
                <a:effectLst/>
                <a:uLnTx/>
                <a:uFillTx/>
                <a:latin typeface="Lato"/>
                <a:ea typeface="Lato"/>
                <a:cs typeface="Lato"/>
                <a:sym typeface="Lato"/>
              </a:rPr>
              <a:t>(not needed)</a:t>
            </a:r>
            <a:endParaRPr kumimoji="0" sz="1200" b="0" i="0" u="none" strike="noStrike" kern="0" cap="none" spc="0" normalizeH="0" baseline="0" noProof="0" dirty="0">
              <a:ln>
                <a:noFill/>
              </a:ln>
              <a:solidFill>
                <a:schemeClr val="bg1">
                  <a:lumMod val="50000"/>
                </a:schemeClr>
              </a:solidFill>
              <a:effectLst/>
              <a:uLnTx/>
              <a:uFillTx/>
              <a:latin typeface="Lato"/>
              <a:ea typeface="Lato"/>
              <a:cs typeface="Lato"/>
              <a:sym typeface="Lato"/>
            </a:endParaRPr>
          </a:p>
        </p:txBody>
      </p:sp>
      <p:sp>
        <p:nvSpPr>
          <p:cNvPr id="10" name="Google Shape;248;p56">
            <a:extLst>
              <a:ext uri="{FF2B5EF4-FFF2-40B4-BE49-F238E27FC236}">
                <a16:creationId xmlns:a16="http://schemas.microsoft.com/office/drawing/2014/main" id="{9903E850-21D2-6884-8929-0B7BEBA7DB3C}"/>
              </a:ext>
            </a:extLst>
          </p:cNvPr>
          <p:cNvSpPr txBox="1"/>
          <p:nvPr/>
        </p:nvSpPr>
        <p:spPr>
          <a:xfrm>
            <a:off x="4865867" y="2174749"/>
            <a:ext cx="2195331" cy="397001"/>
          </a:xfrm>
          <a:prstGeom prst="rect">
            <a:avLst/>
          </a:prstGeom>
          <a:solidFill>
            <a:schemeClr val="lt1"/>
          </a:solidFill>
          <a:ln>
            <a:noFill/>
          </a:ln>
        </p:spPr>
        <p:txBody>
          <a:bodyPr spcFirstLastPara="1" wrap="square" lIns="91425" tIns="91425" rIns="91425" bIns="91425" anchor="t" anchorCtr="0">
            <a:spAutoFit/>
          </a:bodyPr>
          <a:lstStyle/>
          <a:p>
            <a:pPr marL="115888"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rgbClr val="000000"/>
                </a:solidFill>
                <a:effectLst/>
                <a:uLnTx/>
                <a:uFillTx/>
                <a:latin typeface="Lato"/>
                <a:ea typeface="Lato"/>
                <a:cs typeface="Lato"/>
                <a:sym typeface="Lato"/>
              </a:rPr>
              <a:t>filter  </a:t>
            </a:r>
            <a:r>
              <a:rPr kumimoji="0" lang="en-US" sz="1200" b="0" i="0" u="none" strike="noStrike" kern="0" cap="none" spc="0" normalizeH="0" baseline="0" noProof="0" dirty="0">
                <a:ln>
                  <a:noFill/>
                </a:ln>
                <a:solidFill>
                  <a:srgbClr val="000000"/>
                </a:solidFill>
                <a:effectLst/>
                <a:uLnTx/>
                <a:uFillTx/>
                <a:latin typeface="Lato"/>
                <a:ea typeface="Lato"/>
                <a:cs typeface="Lato"/>
                <a:sym typeface="Wingdings" panose="05000000000000000000" pitchFamily="2" charset="2"/>
              </a:rPr>
              <a:t> join    sort      FJS</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
        <p:nvSpPr>
          <p:cNvPr id="12" name="Google Shape;248;p56">
            <a:extLst>
              <a:ext uri="{FF2B5EF4-FFF2-40B4-BE49-F238E27FC236}">
                <a16:creationId xmlns:a16="http://schemas.microsoft.com/office/drawing/2014/main" id="{3393C680-2A6E-82AC-3C22-21674F44A51F}"/>
              </a:ext>
            </a:extLst>
          </p:cNvPr>
          <p:cNvSpPr txBox="1"/>
          <p:nvPr/>
        </p:nvSpPr>
        <p:spPr>
          <a:xfrm>
            <a:off x="4214857" y="2743250"/>
            <a:ext cx="4155283" cy="1423436"/>
          </a:xfrm>
          <a:prstGeom prst="rect">
            <a:avLst/>
          </a:prstGeom>
          <a:solidFill>
            <a:schemeClr val="lt1"/>
          </a:solidFill>
          <a:ln>
            <a:noFill/>
          </a:ln>
        </p:spPr>
        <p:txBody>
          <a:bodyPr spcFirstLastPara="1" wrap="square" lIns="91425" tIns="91425" rIns="91425" bIns="91425" anchor="t" anchorCtr="0">
            <a:spAutoFit/>
          </a:bodyPr>
          <a:lstStyle/>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0" cap="none" spc="0" normalizeH="0" baseline="0" noProof="0" dirty="0">
                <a:ln>
                  <a:noFill/>
                </a:ln>
                <a:solidFill>
                  <a:srgbClr val="00B0F0"/>
                </a:solidFill>
                <a:effectLst/>
                <a:uLnTx/>
                <a:uFillTx/>
                <a:latin typeface="Lato"/>
                <a:ea typeface="Lato"/>
                <a:cs typeface="Lato"/>
                <a:sym typeface="Lato"/>
              </a:rPr>
              <a:t>only one table; no join methods, no table order, pick a predicate-</a:t>
            </a:r>
          </a:p>
          <a:p>
            <a:pPr marR="0" lvl="0" defTabSz="914400" rtl="0" eaLnBrk="1" fontAlgn="auto" latinLnBrk="0" hangingPunct="1">
              <a:lnSpc>
                <a:spcPct val="115000"/>
              </a:lnSpc>
              <a:spcBef>
                <a:spcPts val="0"/>
              </a:spcBef>
              <a:spcAft>
                <a:spcPts val="0"/>
              </a:spcAft>
              <a:buClr>
                <a:srgbClr val="000000"/>
              </a:buClr>
              <a:buSzTx/>
              <a:tabLst/>
              <a:defRPr/>
            </a:pPr>
            <a:endParaRPr kumimoji="0" lang="en-US" sz="1000" b="0" i="0" u="none" strike="noStrike" kern="0" cap="none" spc="0" normalizeH="0" baseline="0" noProof="0" dirty="0">
              <a:ln>
                <a:noFill/>
              </a:ln>
              <a:solidFill>
                <a:srgbClr val="00B0F0"/>
              </a:solidFill>
              <a:effectLst/>
              <a:uLnTx/>
              <a:uFillTx/>
              <a:latin typeface="Lato"/>
              <a:ea typeface="Lato"/>
              <a:cs typeface="Lato"/>
              <a:sym typeface="Lato"/>
            </a:endParaRP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000" dirty="0">
                <a:solidFill>
                  <a:srgbClr val="00B0F0"/>
                </a:solidFill>
                <a:latin typeface="Lato"/>
                <a:ea typeface="Lato"/>
                <a:cs typeface="Lato"/>
                <a:sym typeface="Lato"/>
              </a:rPr>
              <a:t>because of the chance a row would qualify for both access methods, we need to sort, merge, remove duplicates</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US" sz="1000" b="0" i="0" u="none" strike="noStrike" kern="0" cap="none" spc="0" normalizeH="0" baseline="0" noProof="0" dirty="0">
              <a:ln>
                <a:noFill/>
              </a:ln>
              <a:solidFill>
                <a:srgbClr val="00B0F0"/>
              </a:solidFill>
              <a:effectLst/>
              <a:uLnTx/>
              <a:uFillTx/>
              <a:latin typeface="Lato"/>
              <a:ea typeface="Lato"/>
              <a:cs typeface="Lato"/>
              <a:sym typeface="Lato"/>
            </a:endParaRP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000" dirty="0">
                <a:solidFill>
                  <a:srgbClr val="00B0F0"/>
                </a:solidFill>
                <a:latin typeface="Lato"/>
                <a:ea typeface="Lato"/>
                <a:cs typeface="Lato"/>
                <a:sym typeface="Lato"/>
              </a:rPr>
              <a:t>without a </a:t>
            </a:r>
            <a:r>
              <a:rPr lang="en-US" sz="1000" u="sng" dirty="0">
                <a:solidFill>
                  <a:srgbClr val="00B0F0"/>
                </a:solidFill>
                <a:latin typeface="Lato"/>
                <a:ea typeface="Lato"/>
                <a:cs typeface="Lato"/>
                <a:sym typeface="Lato"/>
              </a:rPr>
              <a:t>manual or automatic OR-union transfer</a:t>
            </a:r>
            <a:r>
              <a:rPr lang="en-US" sz="1000" dirty="0">
                <a:solidFill>
                  <a:srgbClr val="00B0F0"/>
                </a:solidFill>
                <a:latin typeface="Lato"/>
                <a:ea typeface="Lato"/>
                <a:cs typeface="Lato"/>
                <a:sym typeface="Lato"/>
              </a:rPr>
              <a:t>, this will only ever be sequential access method</a:t>
            </a:r>
            <a:endParaRPr kumimoji="0" sz="1000" b="0" i="0" u="none" strike="noStrike" kern="0" cap="none" spc="0" normalizeH="0" baseline="0" noProof="0" dirty="0">
              <a:ln>
                <a:noFill/>
              </a:ln>
              <a:solidFill>
                <a:srgbClr val="00B0F0"/>
              </a:solidFill>
              <a:effectLst/>
              <a:uLnTx/>
              <a:uFillTx/>
              <a:latin typeface="Lato"/>
              <a:ea typeface="Lato"/>
              <a:cs typeface="Lato"/>
              <a:sym typeface="Lato"/>
            </a:endParaRPr>
          </a:p>
        </p:txBody>
      </p:sp>
      <p:sp>
        <p:nvSpPr>
          <p:cNvPr id="3" name="Google Shape;248;p56">
            <a:extLst>
              <a:ext uri="{FF2B5EF4-FFF2-40B4-BE49-F238E27FC236}">
                <a16:creationId xmlns:a16="http://schemas.microsoft.com/office/drawing/2014/main" id="{7BCAB874-5FD1-E3B7-02B4-B4C234667AC1}"/>
              </a:ext>
            </a:extLst>
          </p:cNvPr>
          <p:cNvSpPr txBox="1"/>
          <p:nvPr/>
        </p:nvSpPr>
        <p:spPr>
          <a:xfrm>
            <a:off x="315981" y="1244428"/>
            <a:ext cx="1905672" cy="16711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where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col1 = 10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or</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 dirty="0">
                <a:latin typeface="Lato"/>
                <a:ea typeface="Lato"/>
                <a:cs typeface="Lato"/>
                <a:sym typeface="Lato"/>
              </a:rPr>
              <a:t>      col2 = 20;</a:t>
            </a:r>
          </a:p>
        </p:txBody>
      </p:sp>
    </p:spTree>
    <p:extLst>
      <p:ext uri="{BB962C8B-B14F-4D97-AF65-F5344CB8AC3E}">
        <p14:creationId xmlns:p14="http://schemas.microsoft.com/office/powerpoint/2010/main" val="30536225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60C46EB9-81EF-9AA7-2893-687D514D30C4}"/>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31F861BF-7B53-0E12-5124-F5FEE487298B}"/>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02: the actual code behind this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27C55864-5DDE-AE9B-B617-BF9424C53D44}"/>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36</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0CEC2004-0D86-1B40-44A3-1CD88BEA660A}"/>
              </a:ext>
            </a:extLst>
          </p:cNvPr>
          <p:cNvSpPr txBox="1"/>
          <p:nvPr/>
        </p:nvSpPr>
        <p:spPr>
          <a:xfrm>
            <a:off x="315981" y="926081"/>
            <a:ext cx="8272606" cy="2874603"/>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Explicit HASH primary key -- see "10 - create exercise 01.sql" for</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why (col1 is a monotonically increasing sequence; hashing avoids a</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moving-sequential-hotspot on writes).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CREATE TABLE t1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col2  INT,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col3  TEXT,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PRIMARY KEY (col1 HASH)</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-- 100,000 rows, col1 = 1..100,000 (unique), col2 = 1..1,000 (repeating)</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 ~100 rows match col2 = 20, plus the single col1 = 10 row.</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INSERT INTO t1 (col1, col2, col3)</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g, 1 + (g % 1000), repeat('x', 50)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a:t>
            </a:r>
            <a:r>
              <a:rPr kumimoji="0" lang="en-US" sz="8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generate_series</a:t>
            </a: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(1, 100000) AS g;</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col2 has the same repeating-cycle shape as col1, so HASH here too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same write-hotspot reasoning as everywhere else in this lab.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CREATE INDEX t1_col2_idx ON t1 (col2 HASH);</a:t>
            </a:r>
            <a:endParaRPr kumimoji="0"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6608185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BB6C56E-EE12-B285-3A37-242617933FF4}"/>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849D4FB2-3E2B-7335-914B-B70165EF147D}"/>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02: running the query</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D3B7745A-9735-8CA8-11B6-8F44AD0AA82A}"/>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37</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0D63DEDE-C0C0-1F8B-8F9C-1B6AFBED7A65}"/>
              </a:ext>
            </a:extLst>
          </p:cNvPr>
          <p:cNvSpPr txBox="1"/>
          <p:nvPr/>
        </p:nvSpPr>
        <p:spPr>
          <a:xfrm>
            <a:off x="315981" y="926081"/>
            <a:ext cx="8272606" cy="142343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EXPLAIN (ANALYZE)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where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col1 = 10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or</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col2 = 20;</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12297967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897FC860-E647-6B37-8D86-9DEF1A536457}"/>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1A59D3B1-0EE5-B574-A7AD-49ECB5F0217C}"/>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02: output from ANALYZE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7BE8D4A4-194F-E119-61F1-1537F47C66A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38</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AE102BD4-84ED-0BB6-96A5-CAB153367B79}"/>
              </a:ext>
            </a:extLst>
          </p:cNvPr>
          <p:cNvSpPr txBox="1"/>
          <p:nvPr/>
        </p:nvSpPr>
        <p:spPr>
          <a:xfrm>
            <a:off x="315981" y="729654"/>
            <a:ext cx="8272606" cy="2414477"/>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QUERY PLAN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YB Bitmap Table Scan on t1  (cost=78.55..98.96 rows=101 width=59) (actual time=2.594..2.605 rows=101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a:t>
            </a:r>
            <a:r>
              <a:rPr kumimoji="0" lang="en-US" sz="800" b="0" i="0" u="none" strike="noStrike" kern="0" cap="none" spc="0" normalizeH="0" baseline="0" noProof="0" dirty="0" err="1">
                <a:ln>
                  <a:noFill/>
                </a:ln>
                <a:solidFill>
                  <a:srgbClr val="00B0F0"/>
                </a:solidFill>
                <a:effectLst/>
                <a:uLnTx/>
                <a:uFillTx/>
                <a:latin typeface="Courier New" panose="02070309020205020404" pitchFamily="49" charset="0"/>
                <a:ea typeface="Lato"/>
                <a:cs typeface="Courier New" panose="02070309020205020404" pitchFamily="49" charset="0"/>
                <a:sym typeface="Lato"/>
              </a:rPr>
              <a:t>BitmapOr</a:t>
            </a: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(cost=54.46..54.46 rows=101 width=0) (actual time=0.954..0.954 rows=101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a:t>
            </a:r>
            <a:r>
              <a:rPr kumimoji="0" lang="en-US"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Bitmap Index Scan </a:t>
            </a: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on t1_pkey  (cost=0.00..21.22 rows=1 width=0) (actual time=0.612..0.612 rows=1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Cond: (col1 = 10)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a:t>
            </a:r>
            <a:r>
              <a:rPr kumimoji="0" lang="en-US" sz="8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Bitmap Index Scan </a:t>
            </a: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on t1_col2_idx  (cost=0.00..33.19 rows=100 width=0) (actual time=0.338..0.338 rows=100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Index Cond: (col2 = 20)</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Planning Time: 11.312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ms</a:t>
            </a: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Execution Time: 3.253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ms</a:t>
            </a: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Peak Memory Usage: 190 kB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(9 rows)</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
        <p:nvSpPr>
          <p:cNvPr id="6" name="Google Shape;248;p56">
            <a:extLst>
              <a:ext uri="{FF2B5EF4-FFF2-40B4-BE49-F238E27FC236}">
                <a16:creationId xmlns:a16="http://schemas.microsoft.com/office/drawing/2014/main" id="{7B5C33EF-04C4-3702-BE79-6ACEAA2FC360}"/>
              </a:ext>
            </a:extLst>
          </p:cNvPr>
          <p:cNvSpPr txBox="1"/>
          <p:nvPr/>
        </p:nvSpPr>
        <p:spPr>
          <a:xfrm>
            <a:off x="3461173" y="2125972"/>
            <a:ext cx="5262880" cy="2520660"/>
          </a:xfrm>
          <a:prstGeom prst="rect">
            <a:avLst/>
          </a:prstGeom>
          <a:solidFill>
            <a:schemeClr val="lt1"/>
          </a:solidFill>
          <a:ln>
            <a:noFill/>
          </a:ln>
        </p:spPr>
        <p:txBody>
          <a:bodyPr spcFirstLastPara="1" wrap="square" lIns="91425" tIns="91425" rIns="91425" bIns="91425" anchor="t" anchorCtr="0">
            <a:spAutoFit/>
          </a:bodyPr>
          <a:lstStyle/>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because both predicates are supported via indexes, the OR-union transfer </a:t>
            </a:r>
            <a:r>
              <a:rPr lang="en-US" sz="1200" u="sng" dirty="0">
                <a:solidFill>
                  <a:srgbClr val="0070C0"/>
                </a:solidFill>
                <a:latin typeface="Lato"/>
                <a:ea typeface="Lato"/>
                <a:cs typeface="Lato"/>
                <a:sym typeface="Lato"/>
              </a:rPr>
              <a:t>functional equivalent </a:t>
            </a:r>
            <a:r>
              <a:rPr lang="en-US" sz="1200" dirty="0">
                <a:solidFill>
                  <a:srgbClr val="0070C0"/>
                </a:solidFill>
                <a:latin typeface="Lato"/>
                <a:ea typeface="Lato"/>
                <a:cs typeface="Lato"/>
                <a:sym typeface="Lato"/>
              </a:rPr>
              <a:t>is automatically applied (a query rewrite)</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solidFill>
                <a:srgbClr val="0070C0"/>
              </a:solidFill>
              <a:latin typeface="Lato"/>
              <a:ea typeface="Lato"/>
              <a:cs typeface="Lato"/>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other access methods output tuples. bitmap index scan outputs tuple ids (not column values proper). this means we will need to go also to the data page once the result sets are formed. (not a candidate for covering indexes, discussed later.)</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bitmap index scan supports efficient; </a:t>
            </a:r>
            <a:r>
              <a:rPr lang="en-US" sz="1200" dirty="0" err="1">
                <a:solidFill>
                  <a:srgbClr val="0070C0"/>
                </a:solidFill>
                <a:latin typeface="Lato"/>
                <a:ea typeface="Lato"/>
                <a:cs typeface="Lato"/>
                <a:sym typeface="Lato"/>
              </a:rPr>
              <a:t>BitMapOr</a:t>
            </a:r>
            <a:r>
              <a:rPr lang="en-US" sz="1200" dirty="0">
                <a:solidFill>
                  <a:srgbClr val="0070C0"/>
                </a:solidFill>
                <a:latin typeface="Lato"/>
                <a:ea typeface="Lato"/>
                <a:cs typeface="Lato"/>
                <a:sym typeface="Lato"/>
              </a:rPr>
              <a:t>(s), </a:t>
            </a:r>
            <a:r>
              <a:rPr lang="en-US" sz="1200" dirty="0" err="1">
                <a:solidFill>
                  <a:srgbClr val="0070C0"/>
                </a:solidFill>
                <a:latin typeface="Lato"/>
                <a:ea typeface="Lato"/>
                <a:cs typeface="Lato"/>
                <a:sym typeface="Lato"/>
              </a:rPr>
              <a:t>BitMapAnd</a:t>
            </a:r>
            <a:r>
              <a:rPr lang="en-US" sz="1200" dirty="0">
                <a:solidFill>
                  <a:srgbClr val="0070C0"/>
                </a:solidFill>
                <a:latin typeface="Lato"/>
                <a:ea typeface="Lato"/>
                <a:cs typeface="Lato"/>
                <a:sym typeface="Lato"/>
              </a:rPr>
              <a:t>(s)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err="1">
                <a:solidFill>
                  <a:srgbClr val="0070C0"/>
                </a:solidFill>
                <a:latin typeface="Lato"/>
                <a:ea typeface="Lato"/>
                <a:cs typeface="Lato"/>
                <a:sym typeface="Lato"/>
              </a:rPr>
              <a:t>BitMapOr</a:t>
            </a:r>
            <a:r>
              <a:rPr lang="en-US" sz="1200" dirty="0">
                <a:solidFill>
                  <a:srgbClr val="0070C0"/>
                </a:solidFill>
                <a:latin typeface="Lato"/>
                <a:ea typeface="Lato"/>
                <a:cs typeface="Lato"/>
                <a:sym typeface="Lato"/>
              </a:rPr>
              <a:t>, grossly efficient means to intersect two result sets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solidFill>
                <a:srgbClr val="0070C0"/>
              </a:solidFill>
              <a:latin typeface="Lato"/>
              <a:ea typeface="Lato"/>
              <a:cs typeface="Lato"/>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more notes on next page-</a:t>
            </a:r>
          </a:p>
        </p:txBody>
      </p:sp>
    </p:spTree>
    <p:extLst>
      <p:ext uri="{BB962C8B-B14F-4D97-AF65-F5344CB8AC3E}">
        <p14:creationId xmlns:p14="http://schemas.microsoft.com/office/powerpoint/2010/main" val="1345284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BA74536B-50B4-09F5-56A7-769AFEDBD00C}"/>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567032F5-0CFA-36B6-63F1-3449B778D446}"/>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02: additional topics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CA77319-BFC8-C6FF-B306-199515324978}"/>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39</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6" name="Google Shape;248;p56">
            <a:extLst>
              <a:ext uri="{FF2B5EF4-FFF2-40B4-BE49-F238E27FC236}">
                <a16:creationId xmlns:a16="http://schemas.microsoft.com/office/drawing/2014/main" id="{17D937BE-D1ED-FA1C-D718-5590B885C044}"/>
              </a:ext>
            </a:extLst>
          </p:cNvPr>
          <p:cNvSpPr txBox="1"/>
          <p:nvPr/>
        </p:nvSpPr>
        <p:spPr>
          <a:xfrm>
            <a:off x="1089736" y="838669"/>
            <a:ext cx="7485304" cy="3794855"/>
          </a:xfrm>
          <a:prstGeom prst="rect">
            <a:avLst/>
          </a:prstGeom>
          <a:solidFill>
            <a:schemeClr val="lt1"/>
          </a:solid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lang="en-US" sz="1200" dirty="0">
                <a:solidFill>
                  <a:srgbClr val="0070C0"/>
                </a:solidFill>
                <a:latin typeface="Lato"/>
                <a:ea typeface="Lato"/>
                <a:cs typeface="Lato"/>
                <a:sym typeface="Lato"/>
              </a:rPr>
              <a:t>to be aware of-</a:t>
            </a:r>
          </a:p>
          <a:p>
            <a:pPr marR="0" lvl="0" defTabSz="914400" rtl="0" eaLnBrk="1" fontAlgn="auto" latinLnBrk="0" hangingPunct="1">
              <a:lnSpc>
                <a:spcPct val="115000"/>
              </a:lnSpc>
              <a:spcBef>
                <a:spcPts val="0"/>
              </a:spcBef>
              <a:spcAft>
                <a:spcPts val="0"/>
              </a:spcAft>
              <a:buClr>
                <a:srgbClr val="000000"/>
              </a:buClr>
              <a:buSzTx/>
              <a:tabLst/>
              <a:defRPr/>
            </a:pPr>
            <a:endParaRPr lang="en-US" sz="1200" dirty="0">
              <a:solidFill>
                <a:srgbClr val="0070C0"/>
              </a:solidFill>
              <a:latin typeface="Lato"/>
              <a:ea typeface="Lato"/>
              <a:cs typeface="Lato"/>
              <a:sym typeface="Lato"/>
            </a:endParaRP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this is named OR "topped", but it applies to any OR inside a query at any level in the WHERE clause. all ORs cause this branching.</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   !=   and   &lt;&gt;   can, in given cases, be transformed to an   OR</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solidFill>
                <a:srgbClr val="0070C0"/>
              </a:solidFill>
              <a:latin typeface="Lato"/>
              <a:ea typeface="Lato"/>
              <a:cs typeface="Lato"/>
              <a:sym typeface="Lato"/>
            </a:endParaRP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currently, if this doesn't fit in </a:t>
            </a:r>
            <a:r>
              <a:rPr lang="en-US" sz="1200" dirty="0" err="1">
                <a:solidFill>
                  <a:srgbClr val="0070C0"/>
                </a:solidFill>
                <a:latin typeface="Lato"/>
                <a:ea typeface="Lato"/>
                <a:cs typeface="Lato"/>
                <a:sym typeface="Lato"/>
              </a:rPr>
              <a:t>work_mem</a:t>
            </a:r>
            <a:r>
              <a:rPr lang="en-US" sz="1200" dirty="0">
                <a:solidFill>
                  <a:srgbClr val="0070C0"/>
                </a:solidFill>
                <a:latin typeface="Lato"/>
                <a:ea typeface="Lato"/>
                <a:cs typeface="Lato"/>
                <a:sym typeface="Lato"/>
              </a:rPr>
              <a:t>, this automatic query rewrite will fall back to sequential scan</a:t>
            </a: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err="1">
                <a:solidFill>
                  <a:srgbClr val="0070C0"/>
                </a:solidFill>
                <a:latin typeface="Lato"/>
                <a:ea typeface="Lato"/>
                <a:cs typeface="Lato"/>
                <a:sym typeface="Lato"/>
              </a:rPr>
              <a:t>work_mem</a:t>
            </a:r>
            <a:endParaRPr lang="en-US" sz="1200" dirty="0">
              <a:solidFill>
                <a:srgbClr val="0070C0"/>
              </a:solidFill>
              <a:latin typeface="Lato"/>
              <a:ea typeface="Lato"/>
              <a:cs typeface="Lato"/>
              <a:sym typeface="Lato"/>
            </a:endParaRP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all databases have this; (working) memory or virtual memory (temporary tables)</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default 4MB, one allocation per each of sort/hash/aggregate/node/query</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SET </a:t>
            </a:r>
            <a:r>
              <a:rPr lang="en-US" sz="1200" dirty="0" err="1">
                <a:solidFill>
                  <a:srgbClr val="0070C0"/>
                </a:solidFill>
                <a:latin typeface="Lato"/>
                <a:ea typeface="Lato"/>
                <a:cs typeface="Lato"/>
                <a:sym typeface="Lato"/>
              </a:rPr>
              <a:t>work_mem</a:t>
            </a:r>
            <a:r>
              <a:rPr lang="en-US" sz="1200" dirty="0">
                <a:solidFill>
                  <a:srgbClr val="0070C0"/>
                </a:solidFill>
                <a:latin typeface="Lato"/>
                <a:ea typeface="Lato"/>
                <a:cs typeface="Lato"/>
                <a:sym typeface="Lato"/>
              </a:rPr>
              <a:t> = '64MB';                                                                      -- session only</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SET LOCAL </a:t>
            </a:r>
            <a:r>
              <a:rPr lang="en-US" sz="1200" dirty="0" err="1">
                <a:solidFill>
                  <a:srgbClr val="0070C0"/>
                </a:solidFill>
                <a:latin typeface="Lato"/>
                <a:ea typeface="Lato"/>
                <a:cs typeface="Lato"/>
                <a:sym typeface="Lato"/>
              </a:rPr>
              <a:t>work_mem</a:t>
            </a:r>
            <a:r>
              <a:rPr lang="en-US" sz="1200" dirty="0">
                <a:solidFill>
                  <a:srgbClr val="0070C0"/>
                </a:solidFill>
                <a:latin typeface="Lato"/>
                <a:ea typeface="Lato"/>
                <a:cs typeface="Lato"/>
                <a:sym typeface="Lato"/>
              </a:rPr>
              <a:t> = '64MB';                                                     -- just this one transaction</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ALTER DATABASE </a:t>
            </a:r>
            <a:r>
              <a:rPr lang="en-US" sz="1200" dirty="0" err="1">
                <a:solidFill>
                  <a:srgbClr val="0070C0"/>
                </a:solidFill>
                <a:latin typeface="Lato"/>
                <a:ea typeface="Lato"/>
                <a:cs typeface="Lato"/>
                <a:sym typeface="Lato"/>
              </a:rPr>
              <a:t>my_db</a:t>
            </a:r>
            <a:r>
              <a:rPr lang="en-US" sz="1200" dirty="0">
                <a:solidFill>
                  <a:srgbClr val="0070C0"/>
                </a:solidFill>
                <a:latin typeface="Lato"/>
                <a:ea typeface="Lato"/>
                <a:cs typeface="Lato"/>
                <a:sym typeface="Lato"/>
              </a:rPr>
              <a:t> SET </a:t>
            </a:r>
            <a:r>
              <a:rPr lang="en-US" sz="1200" dirty="0" err="1">
                <a:solidFill>
                  <a:srgbClr val="0070C0"/>
                </a:solidFill>
                <a:latin typeface="Lato"/>
                <a:ea typeface="Lato"/>
                <a:cs typeface="Lato"/>
                <a:sym typeface="Lato"/>
              </a:rPr>
              <a:t>work_mem</a:t>
            </a:r>
            <a:r>
              <a:rPr lang="en-US" sz="1200" dirty="0">
                <a:solidFill>
                  <a:srgbClr val="0070C0"/>
                </a:solidFill>
                <a:latin typeface="Lato"/>
                <a:ea typeface="Lato"/>
                <a:cs typeface="Lato"/>
                <a:sym typeface="Lato"/>
              </a:rPr>
              <a:t> = '64MB';            -- per database</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rgbClr val="0070C0"/>
                </a:solidFill>
                <a:latin typeface="Lato"/>
                <a:ea typeface="Lato"/>
                <a:cs typeface="Lato"/>
                <a:sym typeface="Lato"/>
              </a:rPr>
              <a:t>ALTER ROLE </a:t>
            </a:r>
            <a:r>
              <a:rPr lang="en-US" sz="1200" dirty="0" err="1">
                <a:solidFill>
                  <a:srgbClr val="0070C0"/>
                </a:solidFill>
                <a:latin typeface="Lato"/>
                <a:ea typeface="Lato"/>
                <a:cs typeface="Lato"/>
                <a:sym typeface="Lato"/>
              </a:rPr>
              <a:t>my_role</a:t>
            </a:r>
            <a:r>
              <a:rPr lang="en-US" sz="1200" dirty="0">
                <a:solidFill>
                  <a:srgbClr val="0070C0"/>
                </a:solidFill>
                <a:latin typeface="Lato"/>
                <a:ea typeface="Lato"/>
                <a:cs typeface="Lato"/>
                <a:sym typeface="Lato"/>
              </a:rPr>
              <a:t> SET </a:t>
            </a:r>
            <a:r>
              <a:rPr lang="en-US" sz="1200" dirty="0" err="1">
                <a:solidFill>
                  <a:srgbClr val="0070C0"/>
                </a:solidFill>
                <a:latin typeface="Lato"/>
                <a:ea typeface="Lato"/>
                <a:cs typeface="Lato"/>
                <a:sym typeface="Lato"/>
              </a:rPr>
              <a:t>work_mem</a:t>
            </a:r>
            <a:r>
              <a:rPr lang="en-US" sz="1200" dirty="0">
                <a:solidFill>
                  <a:srgbClr val="0070C0"/>
                </a:solidFill>
                <a:latin typeface="Lato"/>
                <a:ea typeface="Lato"/>
                <a:cs typeface="Lato"/>
                <a:sym typeface="Lato"/>
              </a:rPr>
              <a:t> = '64MB';                      -- per user</a:t>
            </a:r>
          </a:p>
          <a:p>
            <a:pPr marL="346075"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err="1">
                <a:solidFill>
                  <a:srgbClr val="0070C0"/>
                </a:solidFill>
                <a:latin typeface="Lato"/>
                <a:ea typeface="Lato"/>
                <a:cs typeface="Lato"/>
                <a:sym typeface="Lato"/>
              </a:rPr>
              <a:t>ysql_pg_conf_csv</a:t>
            </a:r>
            <a:r>
              <a:rPr lang="en-US" sz="1200" dirty="0">
                <a:solidFill>
                  <a:srgbClr val="0070C0"/>
                </a:solidFill>
                <a:latin typeface="Lato"/>
                <a:ea typeface="Lato"/>
                <a:cs typeface="Lato"/>
                <a:sym typeface="Lato"/>
              </a:rPr>
              <a:t>, </a:t>
            </a:r>
            <a:r>
              <a:rPr lang="en-US" sz="1200" dirty="0" err="1">
                <a:solidFill>
                  <a:srgbClr val="0070C0"/>
                </a:solidFill>
                <a:latin typeface="Lato"/>
                <a:ea typeface="Lato"/>
                <a:cs typeface="Lato"/>
                <a:sym typeface="Lato"/>
              </a:rPr>
              <a:t>work_mem</a:t>
            </a:r>
            <a:r>
              <a:rPr lang="en-US" sz="1200" dirty="0">
                <a:solidFill>
                  <a:srgbClr val="0070C0"/>
                </a:solidFill>
                <a:latin typeface="Lato"/>
                <a:ea typeface="Lato"/>
                <a:cs typeface="Lato"/>
                <a:sym typeface="Lato"/>
              </a:rPr>
              <a:t>=64MB                                               -- </a:t>
            </a:r>
            <a:r>
              <a:rPr lang="en-US" sz="1200" dirty="0" err="1">
                <a:solidFill>
                  <a:srgbClr val="0070C0"/>
                </a:solidFill>
                <a:latin typeface="Lato"/>
                <a:ea typeface="Lato"/>
                <a:cs typeface="Lato"/>
                <a:sym typeface="Lato"/>
              </a:rPr>
              <a:t>yb-tserver</a:t>
            </a:r>
            <a:endParaRPr lang="en-US" sz="1200" dirty="0">
              <a:solidFill>
                <a:srgbClr val="0070C0"/>
              </a:solidFill>
              <a:latin typeface="Lato"/>
              <a:ea typeface="Lato"/>
              <a:cs typeface="Lato"/>
              <a:sym typeface="Lato"/>
            </a:endParaRP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solidFill>
                <a:srgbClr val="0070C0"/>
              </a:solidFill>
              <a:latin typeface="Lato"/>
              <a:ea typeface="Lato"/>
              <a:cs typeface="Lato"/>
              <a:sym typeface="Lato"/>
            </a:endParaRPr>
          </a:p>
          <a:p>
            <a:pPr marL="115888" marR="0" lvl="0" indent="-1158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solidFill>
                <a:srgbClr val="0070C0"/>
              </a:solidFill>
              <a:latin typeface="Lato"/>
              <a:ea typeface="Lato"/>
              <a:cs typeface="Lato"/>
              <a:sym typeface="Lato"/>
            </a:endParaRPr>
          </a:p>
        </p:txBody>
      </p:sp>
    </p:spTree>
    <p:extLst>
      <p:ext uri="{BB962C8B-B14F-4D97-AF65-F5344CB8AC3E}">
        <p14:creationId xmlns:p14="http://schemas.microsoft.com/office/powerpoint/2010/main" val="15711109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E2EF2CF-A521-5741-9173-77582C39D2F0}"/>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29405BA5-03C6-64C8-193D-3C2CC77DFA73}"/>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02'ish: a different query, seeing work_mem and sorts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804F5CF4-AC71-C0C8-E0E2-0F5640AF2A82}"/>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40</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028F5921-D66A-9249-8226-A8E425D87D6F}"/>
              </a:ext>
            </a:extLst>
          </p:cNvPr>
          <p:cNvSpPr txBox="1"/>
          <p:nvPr/>
        </p:nvSpPr>
        <p:spPr>
          <a:xfrm>
            <a:off x="315981" y="926081"/>
            <a:ext cx="8272606" cy="3511700"/>
          </a:xfrm>
          <a:prstGeom prst="rect">
            <a:avLst/>
          </a:prstGeom>
          <a:noFill/>
          <a:ln>
            <a:noFill/>
          </a:ln>
        </p:spPr>
        <p:txBody>
          <a:bodyPr spcFirstLastPara="1" wrap="square" lIns="91425" tIns="91425" rIns="91425" bIns="91425" anchor="t" anchorCtr="0">
            <a:spAutoFit/>
          </a:bodyPr>
          <a:lstStyle/>
          <a:p>
            <a:pPr lvl="0">
              <a:lnSpc>
                <a:spcPct val="115000"/>
              </a:lnSpc>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SET </a:t>
            </a:r>
            <a:r>
              <a:rPr kumimoji="0" lang="en-US" sz="1000" b="0" i="0" u="none" strike="noStrike" kern="0" cap="none" spc="0" normalizeH="0" baseline="0" noProof="0" dirty="0" err="1">
                <a:ln>
                  <a:noFill/>
                </a:ln>
                <a:solidFill>
                  <a:srgbClr val="00B0F0"/>
                </a:solidFill>
                <a:effectLst/>
                <a:uLnTx/>
                <a:uFillTx/>
                <a:latin typeface="Courier New" panose="02070309020205020404" pitchFamily="49" charset="0"/>
                <a:ea typeface="Lato"/>
                <a:cs typeface="Courier New" panose="02070309020205020404" pitchFamily="49" charset="0"/>
                <a:sym typeface="Lato"/>
              </a:rPr>
              <a:t>work_mem</a:t>
            </a: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 '16MB';</a:t>
            </a:r>
            <a:r>
              <a:rPr lang="en-US" sz="1000" dirty="0">
                <a:solidFill>
                  <a:srgbClr val="00B0F0"/>
                </a:solidFill>
              </a:rPr>
              <a:t> </a:t>
            </a:r>
          </a:p>
          <a:p>
            <a:pPr lvl="0">
              <a:lnSpc>
                <a:spcPct val="115000"/>
              </a:lnSpc>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EXPLAIN (ANALYZE)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order by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col2;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QUERY PLAN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Sort  (cost=21562.22..21812.22 rows=100000 width=59) (actual time=267.715..279.740 rows=100000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Sort Key: col2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Sort Method: quicksort  Memory: 13229kB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Seq Scan on t1  (cost=21.09..13257.40 rows=100000 width=59) (actual time=2.579..241.263 rows=100000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Planning Time: 10.982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ms</a:t>
            </a: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Execution Time: 293.255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ms</a:t>
            </a: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Peak Memory Usage: 19755 kB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(7 rows)</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3968704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BF00034A-ADED-6CFC-4932-94F66BFC3F57}"/>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4ED06F39-22B9-9982-CFF9-01D01AAA6934}"/>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02'ish: a different query, seeing work_mem and sorts</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8DC9BCD6-2601-14C6-D75D-105C1725FDBF}"/>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41</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E26AAD22-143A-6C06-CCBC-A374F65B3D8A}"/>
              </a:ext>
            </a:extLst>
          </p:cNvPr>
          <p:cNvSpPr txBox="1"/>
          <p:nvPr/>
        </p:nvSpPr>
        <p:spPr>
          <a:xfrm>
            <a:off x="315981" y="926081"/>
            <a:ext cx="8272606" cy="3511700"/>
          </a:xfrm>
          <a:prstGeom prst="rect">
            <a:avLst/>
          </a:prstGeom>
          <a:noFill/>
          <a:ln>
            <a:noFill/>
          </a:ln>
        </p:spPr>
        <p:txBody>
          <a:bodyPr spcFirstLastPara="1" wrap="square" lIns="91425" tIns="91425" rIns="91425" bIns="91425" anchor="t" anchorCtr="0">
            <a:spAutoFit/>
          </a:bodyPr>
          <a:lstStyle/>
          <a:p>
            <a:pPr lvl="0">
              <a:lnSpc>
                <a:spcPct val="115000"/>
              </a:lnSpc>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SET </a:t>
            </a:r>
            <a:r>
              <a:rPr kumimoji="0" lang="en-US" sz="1000" b="0" i="0" u="none" strike="noStrike" kern="0" cap="none" spc="0" normalizeH="0" baseline="0" noProof="0" dirty="0" err="1">
                <a:ln>
                  <a:noFill/>
                </a:ln>
                <a:solidFill>
                  <a:srgbClr val="00B0F0"/>
                </a:solidFill>
                <a:effectLst/>
                <a:uLnTx/>
                <a:uFillTx/>
                <a:latin typeface="Courier New" panose="02070309020205020404" pitchFamily="49" charset="0"/>
                <a:ea typeface="Lato"/>
                <a:cs typeface="Courier New" panose="02070309020205020404" pitchFamily="49" charset="0"/>
                <a:sym typeface="Lato"/>
              </a:rPr>
              <a:t>work_mem</a:t>
            </a: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 '4MB';</a:t>
            </a:r>
            <a:r>
              <a:rPr lang="en-US" sz="1000" dirty="0">
                <a:solidFill>
                  <a:srgbClr val="00B0F0"/>
                </a:solidFill>
              </a:rPr>
              <a:t> </a:t>
            </a:r>
          </a:p>
          <a:p>
            <a:pPr lvl="0">
              <a:lnSpc>
                <a:spcPct val="115000"/>
              </a:lnSpc>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EXPLAIN (ANALYZE)</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select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from t1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order by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sz="1000" dirty="0">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col2;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QUERY PLAN</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Sort  (cost=25324.72..25574.72 rows=100000 width=59) (actual time=266.545..271.658 rows=100000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Sort Key: col2</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B0F0"/>
                </a:solidFill>
                <a:effectLst/>
                <a:uLnTx/>
                <a:uFillTx/>
                <a:latin typeface="Courier New" panose="02070309020205020404" pitchFamily="49" charset="0"/>
                <a:ea typeface="Lato"/>
                <a:cs typeface="Courier New" panose="02070309020205020404" pitchFamily="49" charset="0"/>
                <a:sym typeface="Lato"/>
              </a:rPr>
              <a:t>   Sort Method: external merge  Disk: 6768kB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-&gt;  Seq Scan on t1  (cost=21.09..13257.40 rows=100000 width=59) (actual time=2.290..234.344 rows=100000 loops=1)</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Planning Time: 10.003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ms</a:t>
            </a: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Execution Time: 285.005 </a:t>
            </a:r>
            <a:r>
              <a:rPr kumimoji="0" lang="en-US" sz="1000" b="0" i="0" u="none" strike="noStrike" kern="0" cap="none" spc="0" normalizeH="0" baseline="0" noProof="0" dirty="0" err="1">
                <a:ln>
                  <a:noFill/>
                </a:ln>
                <a:solidFill>
                  <a:srgbClr val="000000"/>
                </a:solidFill>
                <a:effectLst/>
                <a:uLnTx/>
                <a:uFillTx/>
                <a:latin typeface="Courier New" panose="02070309020205020404" pitchFamily="49" charset="0"/>
                <a:ea typeface="Lato"/>
                <a:cs typeface="Courier New" panose="02070309020205020404" pitchFamily="49" charset="0"/>
                <a:sym typeface="Lato"/>
              </a:rPr>
              <a:t>ms</a:t>
            </a: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t>
            </a:r>
            <a:r>
              <a:rPr kumimoji="0" lang="en-US" sz="1000" b="0" i="0" u="none" strike="noStrike" kern="0" cap="none" spc="0" normalizeH="0" baseline="0" noProof="0" dirty="0">
                <a:ln>
                  <a:noFill/>
                </a:ln>
                <a:solidFill>
                  <a:srgbClr val="FFC000"/>
                </a:solidFill>
                <a:effectLst/>
                <a:uLnTx/>
                <a:uFillTx/>
                <a:latin typeface="Courier New" panose="02070309020205020404" pitchFamily="49" charset="0"/>
                <a:ea typeface="Lato"/>
                <a:cs typeface="Courier New" panose="02070309020205020404" pitchFamily="49" charset="0"/>
                <a:sym typeface="Lato"/>
              </a:rPr>
              <a:t>// what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Peak Memory Usage: 5238 kB</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(7 rows)</a:t>
            </a:r>
            <a:endParaRPr kumimoji="0"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p:txBody>
      </p:sp>
    </p:spTree>
    <p:extLst>
      <p:ext uri="{BB962C8B-B14F-4D97-AF65-F5344CB8AC3E}">
        <p14:creationId xmlns:p14="http://schemas.microsoft.com/office/powerpoint/2010/main" val="34949134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EEEDA0B6-E3D3-38C5-6686-6B04B93A20AE}"/>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699B3F09-12B5-E243-1F1E-42E480076EB0}"/>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02'ish: a different query, sort time jitter on small sized data</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646F8030-F7AE-25B3-4FB6-94B83E714059}"/>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42</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4" name="Google Shape;248;p56">
            <a:extLst>
              <a:ext uri="{FF2B5EF4-FFF2-40B4-BE49-F238E27FC236}">
                <a16:creationId xmlns:a16="http://schemas.microsoft.com/office/drawing/2014/main" id="{1D050908-A004-8232-0D66-932B2C9558A3}"/>
              </a:ext>
            </a:extLst>
          </p:cNvPr>
          <p:cNvSpPr txBox="1"/>
          <p:nvPr/>
        </p:nvSpPr>
        <p:spPr>
          <a:xfrm>
            <a:off x="315981" y="926081"/>
            <a:ext cx="8272606" cy="3193152"/>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rPr>
              <a:t>The Sort node’s own actual time=X..Y numbers mix two different things: X (time to first row) already includes the child Seq Scan’s full time plus the sort itself, since Sort is a blocking operator.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rPr>
              <a:t>So Execution Time differences between runs were mostly driven by the Seq Scan underneath — which is identical logic either way and, on this shared cluster, varied noisily between 237ms and 289ms across otherwise-identical runs, dwarfing whatever the sort itself costs.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rPr>
              <a:t>Subtracting the scan’s own time from the sort’s start time isolates the actual sort cost:</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run               in-memory quicksort           external merge (disk)</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1                 29.7ms                        32.5ms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2                 25.9ms                        34.0ms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3                 26.7ms                        36.4ms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rPr>
              <a:t>   avg                ~27.4ms                       ~34.3ms</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Courier New" panose="02070309020205020404" pitchFamily="49" charset="0"/>
              <a:ea typeface="Lato"/>
              <a:cs typeface="Courier New" panose="02070309020205020404" pitchFamily="49" charset="0"/>
              <a:sym typeface="Lato"/>
            </a:endParaRP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rPr>
              <a:t>Once the scan noise is stripped out, the disk-spilling sort is consistently slower, as expected — quicksort has no I/O to pay for.</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rPr>
              <a:t>The one-off result </a:t>
            </a:r>
            <a:r>
              <a:rPr lang="en-US" sz="1000" dirty="0">
                <a:latin typeface="Arial" panose="020B0604020202020204" pitchFamily="34" charset="0"/>
                <a:ea typeface="Lato"/>
                <a:cs typeface="Arial" panose="020B0604020202020204" pitchFamily="34" charset="0"/>
                <a:sym typeface="Lato"/>
              </a:rPr>
              <a:t>in the slides </a:t>
            </a: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rPr>
              <a:t>where the disk version looked faster was Execution Time being dominated by scan-time jitter on the shared cluster, not anything about the sort method itself. </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rPr>
              <a:t>Total Execution Time isn’t a reliable way to compare these two — the scan noise (tens of </a:t>
            </a:r>
            <a:r>
              <a:rPr kumimoji="0" lang="en-US" sz="1000" b="0" i="0" u="none" strike="noStrike" kern="0" cap="none" spc="0" normalizeH="0" baseline="0" noProof="0" dirty="0" err="1">
                <a:ln>
                  <a:noFill/>
                </a:ln>
                <a:solidFill>
                  <a:srgbClr val="000000"/>
                </a:solidFill>
                <a:effectLst/>
                <a:uLnTx/>
                <a:uFillTx/>
                <a:latin typeface="Arial" panose="020B0604020202020204" pitchFamily="34" charset="0"/>
                <a:ea typeface="Lato"/>
                <a:cs typeface="Arial" panose="020B0604020202020204" pitchFamily="34" charset="0"/>
                <a:sym typeface="Lato"/>
              </a:rPr>
              <a:t>ms</a:t>
            </a: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rPr>
              <a:t>) is larger than the real sort-method difference (~7ms).</a:t>
            </a:r>
            <a:endParaRPr kumimoji="0" sz="10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endParaRPr>
          </a:p>
        </p:txBody>
      </p:sp>
    </p:spTree>
    <p:extLst>
      <p:ext uri="{BB962C8B-B14F-4D97-AF65-F5344CB8AC3E}">
        <p14:creationId xmlns:p14="http://schemas.microsoft.com/office/powerpoint/2010/main" val="17317135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7A4E06C6-D389-FB70-BB08-53941628BBB2}"/>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4668A13B-3139-558F-6294-DD2833C3B8CF}"/>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example 02: optional exercise</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73884A90-E70D-6BB3-E2B6-8D37C482B942}"/>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43</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4" name="Google Shape;248;p56">
            <a:extLst>
              <a:ext uri="{FF2B5EF4-FFF2-40B4-BE49-F238E27FC236}">
                <a16:creationId xmlns:a16="http://schemas.microsoft.com/office/drawing/2014/main" id="{08EF4D89-B8B4-1A94-7716-2D3ECDBFB553}"/>
              </a:ext>
            </a:extLst>
          </p:cNvPr>
          <p:cNvSpPr txBox="1"/>
          <p:nvPr/>
        </p:nvSpPr>
        <p:spPr>
          <a:xfrm>
            <a:off x="315981" y="926081"/>
            <a:ext cx="8272606" cy="2095928"/>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rPr>
              <a:t>as an optional exercise only</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latin typeface="Arial" panose="020B0604020202020204" pitchFamily="34" charset="0"/>
              <a:ea typeface="Lato"/>
              <a:cs typeface="Arial" panose="020B0604020202020204" pitchFamily="34" charset="0"/>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disable bitmap scans</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SET </a:t>
            </a:r>
            <a:r>
              <a:rPr lang="en-US" sz="1200" dirty="0" err="1">
                <a:latin typeface="Arial" panose="020B0604020202020204" pitchFamily="34" charset="0"/>
                <a:ea typeface="Lato"/>
                <a:cs typeface="Arial" panose="020B0604020202020204" pitchFamily="34" charset="0"/>
                <a:sym typeface="Lato"/>
              </a:rPr>
              <a:t>enable_bitmapscan</a:t>
            </a:r>
            <a:r>
              <a:rPr lang="en-US" sz="1200" dirty="0">
                <a:latin typeface="Arial" panose="020B0604020202020204" pitchFamily="34" charset="0"/>
                <a:ea typeface="Lato"/>
                <a:cs typeface="Arial" panose="020B0604020202020204" pitchFamily="34" charset="0"/>
                <a:sym typeface="Lato"/>
              </a:rPr>
              <a:t> = off;                     -- or</a:t>
            </a:r>
          </a:p>
          <a:p>
            <a:pPr marL="460375" marR="0" lvl="0" indent="-230188"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SET </a:t>
            </a:r>
            <a:r>
              <a:rPr lang="en-US" sz="1200" dirty="0" err="1">
                <a:latin typeface="Arial" panose="020B0604020202020204" pitchFamily="34" charset="0"/>
                <a:ea typeface="Lato"/>
                <a:cs typeface="Arial" panose="020B0604020202020204" pitchFamily="34" charset="0"/>
                <a:sym typeface="Lato"/>
              </a:rPr>
              <a:t>yb_enable_bitmapscan</a:t>
            </a:r>
            <a:r>
              <a:rPr lang="en-US" sz="1200" dirty="0">
                <a:latin typeface="Arial" panose="020B0604020202020204" pitchFamily="34" charset="0"/>
                <a:ea typeface="Lato"/>
                <a:cs typeface="Arial" panose="020B0604020202020204" pitchFamily="34" charset="0"/>
                <a:sym typeface="Lato"/>
              </a:rPr>
              <a:t> = off;</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lang="en-US" sz="1200" dirty="0">
              <a:latin typeface="Arial" panose="020B0604020202020204" pitchFamily="34" charset="0"/>
              <a:ea typeface="Lato"/>
              <a:cs typeface="Arial" panose="020B0604020202020204" pitchFamily="34" charset="0"/>
              <a:sym typeface="Lato"/>
            </a:endParaRP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run the OR-topped query as is</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latin typeface="Arial" panose="020B0604020202020204" pitchFamily="34" charset="0"/>
                <a:ea typeface="Lato"/>
                <a:cs typeface="Arial" panose="020B0604020202020204" pitchFamily="34" charset="0"/>
                <a:sym typeface="Lato"/>
              </a:rPr>
              <a:t>do your own OR-union transfer</a:t>
            </a:r>
          </a:p>
          <a:p>
            <a:pPr marL="230188" marR="0" lvl="0" indent="-114300"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sz="1200" b="0" i="0" u="none" strike="noStrike" kern="0" cap="none" spc="0" normalizeH="0" baseline="0" noProof="0" dirty="0">
              <a:ln>
                <a:noFill/>
              </a:ln>
              <a:solidFill>
                <a:srgbClr val="000000"/>
              </a:solidFill>
              <a:effectLst/>
              <a:uLnTx/>
              <a:uFillTx/>
              <a:latin typeface="Arial" panose="020B0604020202020204" pitchFamily="34" charset="0"/>
              <a:ea typeface="Lato"/>
              <a:cs typeface="Arial" panose="020B0604020202020204" pitchFamily="34" charset="0"/>
              <a:sym typeface="Lato"/>
            </a:endParaRPr>
          </a:p>
        </p:txBody>
      </p:sp>
    </p:spTree>
    <p:extLst>
      <p:ext uri="{BB962C8B-B14F-4D97-AF65-F5344CB8AC3E}">
        <p14:creationId xmlns:p14="http://schemas.microsoft.com/office/powerpoint/2010/main" val="34387244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41CD41BC-ACCA-E4E2-7F9E-362722DC3572}"/>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B4E8A183-C56C-D0A7-7A98-EF3B4176B129}"/>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DD97D9C2-D1F1-D266-C7FF-499766F5F0D3}"/>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FFFFFF"/>
                </a:solidFill>
                <a:effectLst/>
                <a:uLnTx/>
                <a:uFillTx/>
                <a:latin typeface="Rubik"/>
                <a:ea typeface="Rubik"/>
                <a:cs typeface="Rubik"/>
                <a:sym typeface="Rubik"/>
              </a:rPr>
              <a:t>checkpoint</a:t>
            </a:r>
            <a:endParaRPr kumimoji="0" sz="24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887E1EA2-F766-2CDC-9942-385F79A8DEDF}"/>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B113A543-F0EF-4540-DEFE-7E47F9CB994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44</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5F06315C-E3FE-456E-7FB6-2E4FA6D2B921}"/>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46A30340-7A23-5378-B48D-EB268D141F72}"/>
              </a:ext>
            </a:extLst>
          </p:cNvPr>
          <p:cNvSpPr txBox="1"/>
          <p:nvPr/>
        </p:nvSpPr>
        <p:spPr>
          <a:xfrm>
            <a:off x="2687303" y="509667"/>
            <a:ext cx="6271640" cy="3370123"/>
          </a:xfrm>
          <a:prstGeom prst="rect">
            <a:avLst/>
          </a:prstGeom>
          <a:noFill/>
          <a:ln>
            <a:noFill/>
          </a:ln>
        </p:spPr>
        <p:txBody>
          <a:bodyPr spcFirstLastPara="1" wrap="square" lIns="91425" tIns="91425" rIns="91425" bIns="91425" anchor="t" anchorCtr="0">
            <a:spAutoFit/>
          </a:bodyPr>
          <a:lstStyle/>
          <a:p>
            <a:pPr marL="227013" lvl="0" indent="-227013">
              <a:lnSpc>
                <a:spcPct val="115000"/>
              </a:lnSpc>
              <a:buFont typeface="Arial" panose="020B0604020202020204" pitchFamily="34" charset="0"/>
              <a:buChar char="•"/>
              <a:defRPr/>
            </a:pP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which index negation was introduced in this example</a:t>
            </a:r>
          </a:p>
          <a:p>
            <a:pPr marL="227013" lvl="0" indent="-227013">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which query rewrite was introduced in this example</a:t>
            </a:r>
          </a:p>
          <a:p>
            <a:pPr marL="227013" lvl="0" indent="-227013">
              <a:lnSpc>
                <a:spcPct val="115000"/>
              </a:lnSpc>
              <a:buFont typeface="Arial" panose="020B0604020202020204" pitchFamily="34" charset="0"/>
              <a:buChar char="•"/>
              <a:defRPr/>
            </a:pPr>
            <a:endParaRPr kumimoji="0" lang="en-US" sz="1200" b="0" i="0" u="none" strike="noStrike" kern="0" cap="none" spc="0" normalizeH="0" baseline="0" noProof="0" dirty="0">
              <a:ln>
                <a:noFill/>
              </a:ln>
              <a:solidFill>
                <a:schemeClr val="tx1"/>
              </a:solidFill>
              <a:effectLst/>
              <a:uLnTx/>
              <a:uFillTx/>
              <a:latin typeface="Lato"/>
              <a:ea typeface="Lato"/>
              <a:cs typeface="Lato"/>
              <a:sym typeface="Lato"/>
            </a:endParaRPr>
          </a:p>
          <a:p>
            <a:pPr marL="227013" lvl="0" indent="-227013">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what is the difference between UNION and UNION ALL</a:t>
            </a:r>
          </a:p>
          <a:p>
            <a:pPr marL="227013" lvl="0" indent="-227013">
              <a:lnSpc>
                <a:spcPct val="115000"/>
              </a:lnSpc>
              <a:buFont typeface="Arial" panose="020B0604020202020204" pitchFamily="34" charset="0"/>
              <a:buChar char="•"/>
              <a:defRPr/>
            </a:pPr>
            <a:endParaRPr kumimoji="0" lang="en-US" sz="1200" b="0" i="0" u="none" strike="noStrike" kern="0" cap="none" spc="0" normalizeH="0" baseline="0" noProof="0" dirty="0">
              <a:ln>
                <a:noFill/>
              </a:ln>
              <a:solidFill>
                <a:schemeClr val="tx1"/>
              </a:solidFill>
              <a:effectLst/>
              <a:uLnTx/>
              <a:uFillTx/>
              <a:latin typeface="Lato"/>
              <a:ea typeface="Lato"/>
              <a:cs typeface="Lato"/>
              <a:sym typeface="Lato"/>
            </a:endParaRPr>
          </a:p>
          <a:p>
            <a:pPr marL="227013" lvl="0" indent="-227013">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where does </a:t>
            </a:r>
            <a:r>
              <a:rPr lang="en-US" sz="1200" dirty="0" err="1">
                <a:solidFill>
                  <a:schemeClr val="tx1"/>
                </a:solidFill>
                <a:latin typeface="Lato"/>
                <a:ea typeface="Lato"/>
                <a:cs typeface="Lato"/>
                <a:sym typeface="Lato"/>
              </a:rPr>
              <a:t>work_mem</a:t>
            </a:r>
            <a:r>
              <a:rPr lang="en-US" sz="1200" dirty="0">
                <a:solidFill>
                  <a:schemeClr val="tx1"/>
                </a:solidFill>
                <a:latin typeface="Lato"/>
                <a:ea typeface="Lato"/>
                <a:cs typeface="Lato"/>
                <a:sym typeface="Lato"/>
              </a:rPr>
              <a:t> go if it overflows</a:t>
            </a:r>
          </a:p>
          <a:p>
            <a:pPr marL="227013" lvl="0" indent="-227013">
              <a:lnSpc>
                <a:spcPct val="115000"/>
              </a:lnSpc>
              <a:buFont typeface="Arial" panose="020B0604020202020204" pitchFamily="34" charset="0"/>
              <a:buChar char="•"/>
              <a:defRPr/>
            </a:pPr>
            <a:endParaRPr kumimoji="0" lang="en-US" sz="1200" b="0" i="0" u="none" strike="noStrike" kern="0" cap="none" spc="0" normalizeH="0" baseline="0" noProof="0" dirty="0">
              <a:ln>
                <a:noFill/>
              </a:ln>
              <a:solidFill>
                <a:schemeClr val="tx1"/>
              </a:solidFill>
              <a:effectLst/>
              <a:uLnTx/>
              <a:uFillTx/>
              <a:latin typeface="Lato"/>
              <a:ea typeface="Lato"/>
              <a:cs typeface="Lato"/>
              <a:sym typeface="Lato"/>
            </a:endParaRPr>
          </a:p>
          <a:p>
            <a:pPr marL="227013" lvl="0" indent="-227013">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the default </a:t>
            </a:r>
            <a:r>
              <a:rPr lang="en-US" sz="1200" dirty="0" err="1">
                <a:solidFill>
                  <a:schemeClr val="tx1"/>
                </a:solidFill>
                <a:latin typeface="Lato"/>
                <a:ea typeface="Lato"/>
                <a:cs typeface="Lato"/>
                <a:sym typeface="Lato"/>
              </a:rPr>
              <a:t>work_mem</a:t>
            </a:r>
            <a:r>
              <a:rPr lang="en-US" sz="1200" dirty="0">
                <a:solidFill>
                  <a:schemeClr val="tx1"/>
                </a:solidFill>
                <a:latin typeface="Lato"/>
                <a:ea typeface="Lato"/>
                <a:cs typeface="Lato"/>
                <a:sym typeface="Lato"/>
              </a:rPr>
              <a:t> is 4MB; on node </a:t>
            </a:r>
            <a:r>
              <a:rPr lang="en-US" sz="1200" dirty="0" err="1">
                <a:solidFill>
                  <a:schemeClr val="tx1"/>
                </a:solidFill>
                <a:latin typeface="Lato"/>
                <a:ea typeface="Lato"/>
                <a:cs typeface="Lato"/>
                <a:sym typeface="Lato"/>
              </a:rPr>
              <a:t>node</a:t>
            </a:r>
            <a:r>
              <a:rPr lang="en-US" sz="1200" dirty="0">
                <a:solidFill>
                  <a:schemeClr val="tx1"/>
                </a:solidFill>
                <a:latin typeface="Lato"/>
                <a:ea typeface="Lato"/>
                <a:cs typeface="Lato"/>
                <a:sym typeface="Lato"/>
              </a:rPr>
              <a:t>, how much memory might you use for this query-</a:t>
            </a:r>
          </a:p>
          <a:p>
            <a:pPr marL="460375" lvl="0">
              <a:lnSpc>
                <a:spcPct val="115000"/>
              </a:lnSpc>
              <a:defRPr/>
            </a:pP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select </a:t>
            </a:r>
          </a:p>
          <a:p>
            <a:pPr marL="460375" lvl="0">
              <a:lnSpc>
                <a:spcPct val="115000"/>
              </a:lnSpc>
              <a:defRPr/>
            </a:pPr>
            <a:r>
              <a:rPr lang="en-US" sz="1200" dirty="0">
                <a:solidFill>
                  <a:schemeClr val="tx1"/>
                </a:solidFill>
                <a:latin typeface="Lato"/>
                <a:ea typeface="Lato"/>
                <a:cs typeface="Lato"/>
                <a:sym typeface="Lato"/>
              </a:rPr>
              <a:t>      </a:t>
            </a: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col2, </a:t>
            </a:r>
          </a:p>
          <a:p>
            <a:pPr marL="460375" lvl="0">
              <a:lnSpc>
                <a:spcPct val="115000"/>
              </a:lnSpc>
              <a:defRPr/>
            </a:pPr>
            <a:r>
              <a:rPr lang="en-US" sz="1200" dirty="0">
                <a:solidFill>
                  <a:schemeClr val="tx1"/>
                </a:solidFill>
                <a:latin typeface="Lato"/>
                <a:ea typeface="Lato"/>
                <a:cs typeface="Lato"/>
                <a:sym typeface="Lato"/>
              </a:rPr>
              <a:t>      </a:t>
            </a: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count(*) as </a:t>
            </a:r>
            <a:r>
              <a:rPr kumimoji="0" lang="en-US" sz="1200" b="0" i="0" u="none" strike="noStrike" kern="0" cap="none" spc="0" normalizeH="0" baseline="0" noProof="0" dirty="0" err="1">
                <a:ln>
                  <a:noFill/>
                </a:ln>
                <a:solidFill>
                  <a:schemeClr val="tx1"/>
                </a:solidFill>
                <a:effectLst/>
                <a:uLnTx/>
                <a:uFillTx/>
                <a:latin typeface="Lato"/>
                <a:ea typeface="Lato"/>
                <a:cs typeface="Lato"/>
                <a:sym typeface="Lato"/>
              </a:rPr>
              <a:t>row_count</a:t>
            </a:r>
            <a:endParaRPr kumimoji="0" lang="en-US" sz="1200" b="0" i="0" u="none" strike="noStrike" kern="0" cap="none" spc="0" normalizeH="0" baseline="0" noProof="0" dirty="0">
              <a:ln>
                <a:noFill/>
              </a:ln>
              <a:solidFill>
                <a:schemeClr val="tx1"/>
              </a:solidFill>
              <a:effectLst/>
              <a:uLnTx/>
              <a:uFillTx/>
              <a:latin typeface="Lato"/>
              <a:ea typeface="Lato"/>
              <a:cs typeface="Lato"/>
              <a:sym typeface="Lato"/>
            </a:endParaRPr>
          </a:p>
          <a:p>
            <a:pPr marL="460375" lvl="0">
              <a:lnSpc>
                <a:spcPct val="115000"/>
              </a:lnSpc>
              <a:defRPr/>
            </a:pP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from t1</a:t>
            </a:r>
          </a:p>
          <a:p>
            <a:pPr marL="460375" lvl="0">
              <a:lnSpc>
                <a:spcPct val="115000"/>
              </a:lnSpc>
              <a:defRPr/>
            </a:pP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group by col2</a:t>
            </a:r>
          </a:p>
          <a:p>
            <a:pPr marL="460375" lvl="0">
              <a:lnSpc>
                <a:spcPct val="115000"/>
              </a:lnSpc>
              <a:defRPr/>
            </a:pP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order by </a:t>
            </a:r>
            <a:r>
              <a:rPr kumimoji="0" lang="en-US" sz="1200" b="0" i="0" u="none" strike="noStrike" kern="0" cap="none" spc="0" normalizeH="0" baseline="0" noProof="0" dirty="0" err="1">
                <a:ln>
                  <a:noFill/>
                </a:ln>
                <a:solidFill>
                  <a:schemeClr val="tx1"/>
                </a:solidFill>
                <a:effectLst/>
                <a:uLnTx/>
                <a:uFillTx/>
                <a:latin typeface="Lato"/>
                <a:ea typeface="Lato"/>
                <a:cs typeface="Lato"/>
                <a:sym typeface="Lato"/>
              </a:rPr>
              <a:t>row_count</a:t>
            </a: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 desc;</a:t>
            </a:r>
            <a:endParaRPr kumimoji="0" sz="1200" b="0" i="0" u="none" strike="noStrike" kern="0" cap="none" spc="0" normalizeH="0" baseline="0" noProof="0" dirty="0">
              <a:ln>
                <a:noFill/>
              </a:ln>
              <a:solidFill>
                <a:schemeClr val="tx1"/>
              </a:solidFill>
              <a:effectLst/>
              <a:uLnTx/>
              <a:uFillTx/>
              <a:latin typeface="Lato"/>
              <a:ea typeface="Lato"/>
              <a:cs typeface="Lato"/>
              <a:sym typeface="Lato"/>
            </a:endParaRPr>
          </a:p>
        </p:txBody>
      </p:sp>
    </p:spTree>
    <p:extLst>
      <p:ext uri="{BB962C8B-B14F-4D97-AF65-F5344CB8AC3E}">
        <p14:creationId xmlns:p14="http://schemas.microsoft.com/office/powerpoint/2010/main" val="32504675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A8F7F20A-B4F2-ED25-6D97-67AABDF6824F}"/>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C2C8EC1B-79D6-E940-EDE3-94996D9A83CE}"/>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57F35FFD-FA00-C22E-4405-FE8DB2AE665C}"/>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02</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52E0D350-CC3C-98BB-3E55-9CEBAD745797}"/>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DC2D294F-2136-05FD-08E3-FD623900794C}"/>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45</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0D45CB67-99FD-AD95-D70A-F1FD27E51DF3}"/>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Google Shape;248;p56">
            <a:extLst>
              <a:ext uri="{FF2B5EF4-FFF2-40B4-BE49-F238E27FC236}">
                <a16:creationId xmlns:a16="http://schemas.microsoft.com/office/drawing/2014/main" id="{AABAF9FF-BCDF-B7B6-0F21-686C0D8F5A5B}"/>
              </a:ext>
            </a:extLst>
          </p:cNvPr>
          <p:cNvSpPr txBox="1"/>
          <p:nvPr/>
        </p:nvSpPr>
        <p:spPr>
          <a:xfrm>
            <a:off x="4508674" y="2124961"/>
            <a:ext cx="2463600"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hands on exercise</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31404558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583EC802-DDC1-4639-6E90-1A551E1802AC}"/>
            </a:ext>
          </a:extLst>
        </p:cNvPr>
        <p:cNvGrpSpPr/>
        <p:nvPr/>
      </p:nvGrpSpPr>
      <p:grpSpPr>
        <a:xfrm>
          <a:off x="0" y="0"/>
          <a:ext cx="0" cy="0"/>
          <a:chOff x="0" y="0"/>
          <a:chExt cx="0" cy="0"/>
        </a:xfrm>
      </p:grpSpPr>
      <p:sp>
        <p:nvSpPr>
          <p:cNvPr id="232" name="Google Shape;232;p55">
            <a:extLst>
              <a:ext uri="{FF2B5EF4-FFF2-40B4-BE49-F238E27FC236}">
                <a16:creationId xmlns:a16="http://schemas.microsoft.com/office/drawing/2014/main" id="{0D3062B3-5D87-B04C-F60C-6289219E76C4}"/>
              </a:ext>
            </a:extLst>
          </p:cNvPr>
          <p:cNvSpPr/>
          <p:nvPr/>
        </p:nvSpPr>
        <p:spPr>
          <a:xfrm>
            <a:off x="-25" y="0"/>
            <a:ext cx="2057425"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Inter"/>
                <a:ea typeface="Inter"/>
                <a:cs typeface="Inter"/>
                <a:sym typeface="Inter"/>
              </a:rPr>
              <a:t>   </a:t>
            </a:r>
            <a:endParaRPr kumimoji="0" sz="1400" b="0" i="0" u="none" strike="noStrike" kern="0" cap="none" spc="0" normalizeH="0" baseline="0" noProof="0">
              <a:ln>
                <a:noFill/>
              </a:ln>
              <a:solidFill>
                <a:srgbClr val="000000"/>
              </a:solidFill>
              <a:effectLst/>
              <a:uLnTx/>
              <a:uFillTx/>
              <a:latin typeface="Inter"/>
              <a:ea typeface="Inter"/>
              <a:cs typeface="Inter"/>
              <a:sym typeface="Inter"/>
            </a:endParaRPr>
          </a:p>
        </p:txBody>
      </p:sp>
      <p:sp>
        <p:nvSpPr>
          <p:cNvPr id="233" name="Google Shape;233;p55">
            <a:extLst>
              <a:ext uri="{FF2B5EF4-FFF2-40B4-BE49-F238E27FC236}">
                <a16:creationId xmlns:a16="http://schemas.microsoft.com/office/drawing/2014/main" id="{94F1AB45-6BD0-AEF6-5603-936E600E1E40}"/>
              </a:ext>
            </a:extLst>
          </p:cNvPr>
          <p:cNvSpPr txBox="1"/>
          <p:nvPr/>
        </p:nvSpPr>
        <p:spPr>
          <a:xfrm>
            <a:off x="51233" y="600708"/>
            <a:ext cx="1934321" cy="3305087"/>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Rubik"/>
                <a:ea typeface="Rubik"/>
                <a:cs typeface="Rubik"/>
                <a:sym typeface="Rubik"/>
              </a:rPr>
              <a:t>example 03</a:t>
            </a:r>
            <a:endParaRPr kumimoji="0" sz="2800" b="0" i="0" u="none" strike="noStrike" kern="0" cap="none" spc="0" normalizeH="0" baseline="0" noProof="0" dirty="0">
              <a:ln>
                <a:noFill/>
              </a:ln>
              <a:solidFill>
                <a:srgbClr val="FFFFFF"/>
              </a:solidFill>
              <a:effectLst/>
              <a:uLnTx/>
              <a:uFillTx/>
              <a:latin typeface="Rubik"/>
              <a:ea typeface="Rubik"/>
              <a:cs typeface="Rubik"/>
              <a:sym typeface="Rubik"/>
            </a:endParaRPr>
          </a:p>
        </p:txBody>
      </p:sp>
      <p:pic>
        <p:nvPicPr>
          <p:cNvPr id="234" name="Google Shape;234;p55">
            <a:extLst>
              <a:ext uri="{FF2B5EF4-FFF2-40B4-BE49-F238E27FC236}">
                <a16:creationId xmlns:a16="http://schemas.microsoft.com/office/drawing/2014/main" id="{8A72A4E6-464A-A296-DA45-D787E4F43448}"/>
              </a:ext>
            </a:extLst>
          </p:cNvPr>
          <p:cNvPicPr preferRelativeResize="0"/>
          <p:nvPr/>
        </p:nvPicPr>
        <p:blipFill>
          <a:blip r:embed="rId3">
            <a:alphaModFix/>
          </a:blip>
          <a:stretch>
            <a:fillRect/>
          </a:stretch>
        </p:blipFill>
        <p:spPr>
          <a:xfrm>
            <a:off x="185057" y="4306251"/>
            <a:ext cx="1547225" cy="773625"/>
          </a:xfrm>
          <a:prstGeom prst="rect">
            <a:avLst/>
          </a:prstGeom>
          <a:noFill/>
          <a:ln>
            <a:noFill/>
          </a:ln>
        </p:spPr>
      </p:pic>
      <p:sp>
        <p:nvSpPr>
          <p:cNvPr id="4" name="Google Shape;166;p40">
            <a:extLst>
              <a:ext uri="{FF2B5EF4-FFF2-40B4-BE49-F238E27FC236}">
                <a16:creationId xmlns:a16="http://schemas.microsoft.com/office/drawing/2014/main" id="{A59AC85F-5C5F-C9CA-0F6E-43F6B7E62B70}"/>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lvl1pPr lvl="0" algn="r">
              <a:buNone/>
              <a:defRPr sz="1200">
                <a:solidFill>
                  <a:srgbClr val="FF6E42"/>
                </a:solidFill>
              </a:defRPr>
            </a:lvl1pPr>
            <a:lvl2pPr lvl="1" algn="r">
              <a:buNone/>
              <a:defRPr sz="1200">
                <a:solidFill>
                  <a:srgbClr val="FF6E42"/>
                </a:solidFill>
              </a:defRPr>
            </a:lvl2pPr>
            <a:lvl3pPr lvl="2" algn="r">
              <a:buNone/>
              <a:defRPr sz="1200">
                <a:solidFill>
                  <a:srgbClr val="FF6E42"/>
                </a:solidFill>
              </a:defRPr>
            </a:lvl3pPr>
            <a:lvl4pPr lvl="3" algn="r">
              <a:buNone/>
              <a:defRPr sz="1200">
                <a:solidFill>
                  <a:srgbClr val="FF6E42"/>
                </a:solidFill>
              </a:defRPr>
            </a:lvl4pPr>
            <a:lvl5pPr lvl="4" algn="r">
              <a:buNone/>
              <a:defRPr sz="1200">
                <a:solidFill>
                  <a:srgbClr val="FF6E42"/>
                </a:solidFill>
              </a:defRPr>
            </a:lvl5pPr>
            <a:lvl6pPr lvl="5" algn="r">
              <a:buNone/>
              <a:defRPr sz="1200">
                <a:solidFill>
                  <a:srgbClr val="FF6E42"/>
                </a:solidFill>
              </a:defRPr>
            </a:lvl6pPr>
            <a:lvl7pPr lvl="6" algn="r">
              <a:buNone/>
              <a:defRPr sz="1200">
                <a:solidFill>
                  <a:srgbClr val="FF6E42"/>
                </a:solidFill>
              </a:defRPr>
            </a:lvl7pPr>
            <a:lvl8pPr lvl="7" algn="r">
              <a:buNone/>
              <a:defRPr sz="1200">
                <a:solidFill>
                  <a:srgbClr val="FF6E42"/>
                </a:solidFill>
              </a:defRPr>
            </a:lvl8pPr>
            <a:lvl9pPr lvl="8" algn="r">
              <a:buNone/>
              <a:defRPr sz="1200">
                <a:solidFill>
                  <a:srgbClr val="FF6E42"/>
                </a:solidFil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46</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5" name="Google Shape;121;p28">
            <a:extLst>
              <a:ext uri="{FF2B5EF4-FFF2-40B4-BE49-F238E27FC236}">
                <a16:creationId xmlns:a16="http://schemas.microsoft.com/office/drawing/2014/main" id="{6ACAE5CC-F88E-6B15-DB73-4985DDEDE15A}"/>
              </a:ext>
            </a:extLst>
          </p:cNvPr>
          <p:cNvSpPr txBox="1"/>
          <p:nvPr/>
        </p:nvSpPr>
        <p:spPr>
          <a:xfrm>
            <a:off x="7059043" y="4775650"/>
            <a:ext cx="1899900" cy="39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rPr>
              <a:t>© 2026 All Rights Reserved</a:t>
            </a:r>
            <a:endParaRPr kumimoji="0" sz="800" b="0" i="0" u="none" strike="noStrike" kern="0" cap="none" spc="0" normalizeH="0" baseline="0" noProof="0" dirty="0">
              <a:ln>
                <a:noFill/>
              </a:ln>
              <a:solidFill>
                <a:srgbClr val="000000"/>
              </a:solidFill>
              <a:effectLst/>
              <a:uLnTx/>
              <a:uFillTx/>
              <a:latin typeface="Inter Medium"/>
              <a:ea typeface="Inter Medium"/>
              <a:cs typeface="Inter Medium"/>
              <a:sym typeface="Inter Medium"/>
            </a:endParaRPr>
          </a:p>
        </p:txBody>
      </p:sp>
      <p:sp>
        <p:nvSpPr>
          <p:cNvPr id="3" name="Rectangle: Rounded Corners 2">
            <a:extLst>
              <a:ext uri="{FF2B5EF4-FFF2-40B4-BE49-F238E27FC236}">
                <a16:creationId xmlns:a16="http://schemas.microsoft.com/office/drawing/2014/main" id="{265054E5-D480-7A7B-2F7D-B84A1D8DBB54}"/>
              </a:ext>
            </a:extLst>
          </p:cNvPr>
          <p:cNvSpPr/>
          <p:nvPr/>
        </p:nvSpPr>
        <p:spPr>
          <a:xfrm>
            <a:off x="3136053"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a:t>
            </a:r>
          </a:p>
        </p:txBody>
      </p:sp>
      <p:sp>
        <p:nvSpPr>
          <p:cNvPr id="9" name="Rectangle: Rounded Corners 8">
            <a:extLst>
              <a:ext uri="{FF2B5EF4-FFF2-40B4-BE49-F238E27FC236}">
                <a16:creationId xmlns:a16="http://schemas.microsoft.com/office/drawing/2014/main" id="{8E424053-9E55-27E3-F7B8-1C127DDB380E}"/>
              </a:ext>
            </a:extLst>
          </p:cNvPr>
          <p:cNvSpPr/>
          <p:nvPr/>
        </p:nvSpPr>
        <p:spPr>
          <a:xfrm>
            <a:off x="3544461" y="1754293"/>
            <a:ext cx="372533" cy="372533"/>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2</a:t>
            </a:r>
          </a:p>
        </p:txBody>
      </p:sp>
      <p:sp>
        <p:nvSpPr>
          <p:cNvPr id="13" name="Rectangle: Rounded Corners 12">
            <a:extLst>
              <a:ext uri="{FF2B5EF4-FFF2-40B4-BE49-F238E27FC236}">
                <a16:creationId xmlns:a16="http://schemas.microsoft.com/office/drawing/2014/main" id="{36B94350-F529-55C0-A2F1-8C6309BD42C7}"/>
              </a:ext>
            </a:extLst>
          </p:cNvPr>
          <p:cNvSpPr/>
          <p:nvPr/>
        </p:nvSpPr>
        <p:spPr>
          <a:xfrm>
            <a:off x="3952869"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3</a:t>
            </a:r>
          </a:p>
        </p:txBody>
      </p:sp>
      <p:sp>
        <p:nvSpPr>
          <p:cNvPr id="16" name="Rectangle: Rounded Corners 15">
            <a:extLst>
              <a:ext uri="{FF2B5EF4-FFF2-40B4-BE49-F238E27FC236}">
                <a16:creationId xmlns:a16="http://schemas.microsoft.com/office/drawing/2014/main" id="{4287C357-C7FB-EB92-6274-93910F50FAAC}"/>
              </a:ext>
            </a:extLst>
          </p:cNvPr>
          <p:cNvSpPr/>
          <p:nvPr/>
        </p:nvSpPr>
        <p:spPr>
          <a:xfrm>
            <a:off x="4361277"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4</a:t>
            </a:r>
          </a:p>
        </p:txBody>
      </p:sp>
      <p:sp>
        <p:nvSpPr>
          <p:cNvPr id="18" name="Rectangle: Rounded Corners 17">
            <a:extLst>
              <a:ext uri="{FF2B5EF4-FFF2-40B4-BE49-F238E27FC236}">
                <a16:creationId xmlns:a16="http://schemas.microsoft.com/office/drawing/2014/main" id="{A09E719F-D934-BE6E-51DC-69938E61240E}"/>
              </a:ext>
            </a:extLst>
          </p:cNvPr>
          <p:cNvSpPr/>
          <p:nvPr/>
        </p:nvSpPr>
        <p:spPr>
          <a:xfrm>
            <a:off x="5994909"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8</a:t>
            </a:r>
          </a:p>
        </p:txBody>
      </p:sp>
      <p:sp>
        <p:nvSpPr>
          <p:cNvPr id="20" name="Rectangle: Rounded Corners 19">
            <a:extLst>
              <a:ext uri="{FF2B5EF4-FFF2-40B4-BE49-F238E27FC236}">
                <a16:creationId xmlns:a16="http://schemas.microsoft.com/office/drawing/2014/main" id="{C89F86CE-727B-6949-C25B-E4BB4D87F1ED}"/>
              </a:ext>
            </a:extLst>
          </p:cNvPr>
          <p:cNvSpPr/>
          <p:nvPr/>
        </p:nvSpPr>
        <p:spPr>
          <a:xfrm>
            <a:off x="5586501"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7</a:t>
            </a:r>
          </a:p>
        </p:txBody>
      </p:sp>
      <p:sp>
        <p:nvSpPr>
          <p:cNvPr id="22" name="Rectangle: Rounded Corners 21">
            <a:extLst>
              <a:ext uri="{FF2B5EF4-FFF2-40B4-BE49-F238E27FC236}">
                <a16:creationId xmlns:a16="http://schemas.microsoft.com/office/drawing/2014/main" id="{F3169EB7-1396-398E-7E70-638EC0D3E96B}"/>
              </a:ext>
            </a:extLst>
          </p:cNvPr>
          <p:cNvSpPr/>
          <p:nvPr/>
        </p:nvSpPr>
        <p:spPr>
          <a:xfrm>
            <a:off x="6403317"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9</a:t>
            </a:r>
          </a:p>
        </p:txBody>
      </p:sp>
      <p:sp>
        <p:nvSpPr>
          <p:cNvPr id="24" name="Rectangle: Rounded Corners 23">
            <a:extLst>
              <a:ext uri="{FF2B5EF4-FFF2-40B4-BE49-F238E27FC236}">
                <a16:creationId xmlns:a16="http://schemas.microsoft.com/office/drawing/2014/main" id="{080CF367-BEB4-01DF-8D09-C7DF0E06E8C6}"/>
              </a:ext>
            </a:extLst>
          </p:cNvPr>
          <p:cNvSpPr/>
          <p:nvPr/>
        </p:nvSpPr>
        <p:spPr>
          <a:xfrm>
            <a:off x="4769685"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5</a:t>
            </a:r>
          </a:p>
        </p:txBody>
      </p:sp>
      <p:sp>
        <p:nvSpPr>
          <p:cNvPr id="26" name="Rectangle: Rounded Corners 25">
            <a:extLst>
              <a:ext uri="{FF2B5EF4-FFF2-40B4-BE49-F238E27FC236}">
                <a16:creationId xmlns:a16="http://schemas.microsoft.com/office/drawing/2014/main" id="{404D3D25-3B70-3AB2-1194-39206A4EEDC0}"/>
              </a:ext>
            </a:extLst>
          </p:cNvPr>
          <p:cNvSpPr/>
          <p:nvPr/>
        </p:nvSpPr>
        <p:spPr>
          <a:xfrm>
            <a:off x="5178093" y="1754293"/>
            <a:ext cx="372533"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6</a:t>
            </a:r>
          </a:p>
        </p:txBody>
      </p:sp>
      <p:sp>
        <p:nvSpPr>
          <p:cNvPr id="28" name="Rectangle: Rounded Corners 27">
            <a:extLst>
              <a:ext uri="{FF2B5EF4-FFF2-40B4-BE49-F238E27FC236}">
                <a16:creationId xmlns:a16="http://schemas.microsoft.com/office/drawing/2014/main" id="{CA8AFC8E-1816-E473-D80D-D8A2F51D8244}"/>
              </a:ext>
            </a:extLst>
          </p:cNvPr>
          <p:cNvSpPr/>
          <p:nvPr/>
        </p:nvSpPr>
        <p:spPr>
          <a:xfrm>
            <a:off x="6811727" y="1754293"/>
            <a:ext cx="432589" cy="372533"/>
          </a:xfrm>
          <a:prstGeom prst="roundRect">
            <a:avLst/>
          </a:prstGeom>
          <a:solidFill>
            <a:srgbClr val="00B0F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10</a:t>
            </a:r>
          </a:p>
        </p:txBody>
      </p:sp>
      <p:sp>
        <p:nvSpPr>
          <p:cNvPr id="30" name="Google Shape;248;p56">
            <a:extLst>
              <a:ext uri="{FF2B5EF4-FFF2-40B4-BE49-F238E27FC236}">
                <a16:creationId xmlns:a16="http://schemas.microsoft.com/office/drawing/2014/main" id="{E096690E-6F08-9CC4-E0D7-426EA2366DE1}"/>
              </a:ext>
            </a:extLst>
          </p:cNvPr>
          <p:cNvSpPr txBox="1"/>
          <p:nvPr/>
        </p:nvSpPr>
        <p:spPr>
          <a:xfrm>
            <a:off x="3351103" y="2253251"/>
            <a:ext cx="4729641" cy="68015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dirty="0">
                <a:ln>
                  <a:noFill/>
                </a:ln>
                <a:solidFill>
                  <a:srgbClr val="000000"/>
                </a:solidFill>
                <a:effectLst/>
                <a:uLnTx/>
                <a:uFillTx/>
                <a:latin typeface="Lato"/>
                <a:ea typeface="Lato"/>
                <a:cs typeface="Lato"/>
                <a:sym typeface="Lato"/>
              </a:rPr>
              <a:t>difficulty</a:t>
            </a:r>
          </a:p>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lang="en-US" dirty="0">
                <a:solidFill>
                  <a:schemeClr val="bg1">
                    <a:lumMod val="50000"/>
                  </a:schemeClr>
                </a:solidFill>
                <a:latin typeface="Lato"/>
                <a:ea typeface="Lato"/>
                <a:cs typeface="Lato"/>
                <a:sym typeface="Lato"/>
              </a:rPr>
              <a:t>      another index negation, a new index type</a:t>
            </a:r>
            <a:endParaRPr kumimoji="0" b="0" i="0" u="none" strike="noStrike" kern="0" cap="none" spc="0" normalizeH="0" baseline="0" noProof="0" dirty="0">
              <a:ln>
                <a:noFill/>
              </a:ln>
              <a:solidFill>
                <a:schemeClr val="bg1">
                  <a:lumMod val="50000"/>
                </a:schemeClr>
              </a:solidFill>
              <a:effectLst/>
              <a:uLnTx/>
              <a:uFillTx/>
              <a:latin typeface="Lato"/>
              <a:ea typeface="Lato"/>
              <a:cs typeface="Lato"/>
              <a:sym typeface="Lato"/>
            </a:endParaRPr>
          </a:p>
        </p:txBody>
      </p:sp>
    </p:spTree>
    <p:extLst>
      <p:ext uri="{BB962C8B-B14F-4D97-AF65-F5344CB8AC3E}">
        <p14:creationId xmlns:p14="http://schemas.microsoft.com/office/powerpoint/2010/main" val="2150440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16BBE4B-1E17-0241-2B85-60DF760AA2D2}"/>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7B057EB2-20F3-8589-A5BF-E06D7FE77659}"/>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aaa</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B00033EA-B740-3581-0254-52304D20043A}"/>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47</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65EE79C0-D3F4-BE59-7FBE-074C7F680525}"/>
              </a:ext>
            </a:extLst>
          </p:cNvPr>
          <p:cNvSpPr txBox="1"/>
          <p:nvPr/>
        </p:nvSpPr>
        <p:spPr>
          <a:xfrm>
            <a:off x="315981" y="1244428"/>
            <a:ext cx="8272606"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aaa</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7732034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4650D9C8-038B-7ADE-6C6A-B3B558218627}"/>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6045451E-51DE-D819-E3A8-BAD0C39807E2}"/>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aaa</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84CEA7FD-F8AE-0FDF-3A7F-7079A52A4ABA}"/>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48</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2A25D300-60DF-102B-50F6-5376EBE61714}"/>
              </a:ext>
            </a:extLst>
          </p:cNvPr>
          <p:cNvSpPr txBox="1"/>
          <p:nvPr/>
        </p:nvSpPr>
        <p:spPr>
          <a:xfrm>
            <a:off x="315981" y="1244428"/>
            <a:ext cx="8272606"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aaa</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15662285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F46BCB04-7358-7247-DFBA-CEF40D282508}"/>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CBD73975-45BB-12F3-84F0-2E87B37FC9A9}"/>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aaa</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8E9EC3A-85B5-D575-FF24-2A0AB0870639}"/>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49</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FD927F2F-6746-13B0-806D-9B77CC6CE8C2}"/>
              </a:ext>
            </a:extLst>
          </p:cNvPr>
          <p:cNvSpPr txBox="1"/>
          <p:nvPr/>
        </p:nvSpPr>
        <p:spPr>
          <a:xfrm>
            <a:off x="315981" y="1244428"/>
            <a:ext cx="8272606"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aaa</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106925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8093281-A64C-338C-4DBF-A7F7C7798B84}"/>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527DE015-4730-6894-E46C-8906F187A26A}"/>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aaa</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BF9F397C-8A74-07BF-E8A6-E0B4728A1D20}"/>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50</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D6FA2F70-AD9B-9A82-7DD1-8668732B4B8F}"/>
              </a:ext>
            </a:extLst>
          </p:cNvPr>
          <p:cNvSpPr txBox="1"/>
          <p:nvPr/>
        </p:nvSpPr>
        <p:spPr>
          <a:xfrm>
            <a:off x="315981" y="1244428"/>
            <a:ext cx="8272606" cy="432396"/>
          </a:xfrm>
          <a:prstGeom prst="rect">
            <a:avLst/>
          </a:prstGeom>
          <a:no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15000"/>
              </a:lnSpc>
              <a:spcBef>
                <a:spcPts val="0"/>
              </a:spcBef>
              <a:spcAft>
                <a:spcPts val="0"/>
              </a:spcAft>
              <a:buClr>
                <a:srgbClr val="000000"/>
              </a:buClr>
              <a:buSzTx/>
              <a:buFont typeface="Arial"/>
              <a:buNone/>
              <a:tabLst/>
              <a:defRPr/>
            </a:pPr>
            <a:r>
              <a:rPr kumimoji="0" lang="en" b="0" i="0" u="none" strike="noStrike" kern="0" cap="none" spc="0" normalizeH="0" baseline="0" noProof="0" dirty="0">
                <a:ln>
                  <a:noFill/>
                </a:ln>
                <a:solidFill>
                  <a:srgbClr val="000000"/>
                </a:solidFill>
                <a:effectLst/>
                <a:uLnTx/>
                <a:uFillTx/>
                <a:latin typeface="Lato"/>
                <a:ea typeface="Lato"/>
                <a:cs typeface="Lato"/>
                <a:sym typeface="Lato"/>
              </a:rPr>
              <a:t>aaa</a:t>
            </a:r>
            <a:endParaRPr kumimoji="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4931893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BE9602EB-0050-DA90-7F27-ECF6B09EA9C9}"/>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375245CF-C8A4-6785-9737-4938493FCEC5}"/>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demonstration: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CA0A6E6C-6C54-A0AC-A49A-B7B607AFCDEC}"/>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51</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766D4C38-94AC-1D73-0960-BD2644D05513}"/>
              </a:ext>
            </a:extLst>
          </p:cNvPr>
          <p:cNvSpPr txBox="1"/>
          <p:nvPr/>
        </p:nvSpPr>
        <p:spPr>
          <a:xfrm>
            <a:off x="3235287" y="2124961"/>
            <a:ext cx="2463600"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 sz="1800" dirty="0">
                <a:latin typeface="Lato"/>
                <a:ea typeface="Lato"/>
                <a:cs typeface="Lato"/>
                <a:sym typeface="Lato"/>
              </a:rPr>
              <a:t>w</a:t>
            </a: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eb program</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1518074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932E335-8793-EBFF-6F7F-206A96582660}"/>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BE829013-5F27-C1A1-3783-533B16750BBC}"/>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Next step ..</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3D6499B0-9E79-55D8-198B-6B79FB89DB20}"/>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52</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75CA5347-C8FC-2270-C94A-761F2501BCAA}"/>
              </a:ext>
            </a:extLst>
          </p:cNvPr>
          <p:cNvSpPr txBox="1"/>
          <p:nvPr/>
        </p:nvSpPr>
        <p:spPr>
          <a:xfrm>
            <a:off x="535978" y="928827"/>
            <a:ext cx="8278838" cy="1671196"/>
          </a:xfrm>
          <a:prstGeom prst="rect">
            <a:avLst/>
          </a:prstGeom>
          <a:noFill/>
          <a:ln>
            <a:noFill/>
          </a:ln>
        </p:spPr>
        <p:txBody>
          <a:bodyPr spcFirstLastPara="1" wrap="square" lIns="91425" tIns="91425" rIns="91425" bIns="91425" anchor="t" anchorCtr="0">
            <a:spAutoFit/>
          </a:bodyPr>
          <a:lstStyle/>
          <a:p>
            <a:pPr marL="227013" marR="0" lvl="0" indent="-227013"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___</a:t>
            </a:r>
          </a:p>
          <a:p>
            <a:pPr marL="227013" marR="0" lvl="0" indent="-227013"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 sz="1200" b="0" i="0" u="none" strike="noStrike" kern="0" cap="none" spc="0" normalizeH="0" baseline="0" noProof="0" dirty="0">
              <a:ln>
                <a:noFill/>
              </a:ln>
              <a:solidFill>
                <a:srgbClr val="000000"/>
              </a:solidFill>
              <a:effectLst/>
              <a:uLnTx/>
              <a:uFillTx/>
              <a:latin typeface="Lato"/>
              <a:ea typeface="Lato"/>
              <a:cs typeface="Lato"/>
              <a:sym typeface="Lato"/>
            </a:endParaRPr>
          </a:p>
          <a:p>
            <a:pPr marL="227013" marR="0" lvl="0" indent="-227013"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___</a:t>
            </a:r>
          </a:p>
          <a:p>
            <a:pPr marL="227013" marR="0" lvl="0" indent="-227013"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 sz="1200" b="0" i="0" u="none" strike="noStrike" kern="0" cap="none" spc="0" normalizeH="0" baseline="0" noProof="0" dirty="0">
              <a:ln>
                <a:noFill/>
              </a:ln>
              <a:solidFill>
                <a:srgbClr val="000000"/>
              </a:solidFill>
              <a:effectLst/>
              <a:uLnTx/>
              <a:uFillTx/>
              <a:latin typeface="Lato"/>
              <a:ea typeface="Lato"/>
              <a:cs typeface="Lato"/>
              <a:sym typeface="Lato"/>
            </a:endParaRPr>
          </a:p>
          <a:p>
            <a:pPr marL="227013" marR="0" lvl="0" indent="-227013"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___</a:t>
            </a:r>
          </a:p>
          <a:p>
            <a:pPr marL="227013" marR="0" lvl="0" indent="-227013"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endParaRPr kumimoji="0" lang="en" sz="1200" b="0" i="0" u="none" strike="noStrike" kern="0" cap="none" spc="0" normalizeH="0" baseline="0" noProof="0" dirty="0">
              <a:ln>
                <a:noFill/>
              </a:ln>
              <a:solidFill>
                <a:srgbClr val="000000"/>
              </a:solidFill>
              <a:effectLst/>
              <a:uLnTx/>
              <a:uFillTx/>
              <a:latin typeface="Lato"/>
              <a:ea typeface="Lato"/>
              <a:cs typeface="Lato"/>
              <a:sym typeface="Lato"/>
            </a:endParaRPr>
          </a:p>
          <a:p>
            <a:pPr marL="227013" marR="0" lvl="0" indent="-227013"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 sz="1200" dirty="0">
                <a:latin typeface="Lato"/>
                <a:ea typeface="Lato"/>
                <a:cs typeface="Lato"/>
                <a:sym typeface="Lato"/>
              </a:rPr>
              <a:t>___</a:t>
            </a:r>
            <a:endParaRPr kumimoji="0" sz="12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29519121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2C33C332-A080-BAC3-BDAA-D99F5D8C52B2}"/>
            </a:ext>
          </a:extLst>
        </p:cNvPr>
        <p:cNvGrpSpPr/>
        <p:nvPr/>
      </p:nvGrpSpPr>
      <p:grpSpPr>
        <a:xfrm>
          <a:off x="0" y="0"/>
          <a:ext cx="0" cy="0"/>
          <a:chOff x="0" y="0"/>
          <a:chExt cx="0" cy="0"/>
        </a:xfrm>
      </p:grpSpPr>
      <p:sp>
        <p:nvSpPr>
          <p:cNvPr id="372" name="Google Shape;372;p60">
            <a:extLst>
              <a:ext uri="{FF2B5EF4-FFF2-40B4-BE49-F238E27FC236}">
                <a16:creationId xmlns:a16="http://schemas.microsoft.com/office/drawing/2014/main" id="{4AEA79B7-6879-78E3-4604-F9051B753CDB}"/>
              </a:ext>
            </a:extLst>
          </p:cNvPr>
          <p:cNvSpPr txBox="1"/>
          <p:nvPr/>
        </p:nvSpPr>
        <p:spPr>
          <a:xfrm>
            <a:off x="2510400" y="2234152"/>
            <a:ext cx="4123200" cy="9366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121017"/>
              </a:buClr>
              <a:buSzPts val="1100"/>
              <a:buFont typeface="Arial"/>
              <a:buNone/>
              <a:tabLst/>
              <a:defRPr/>
            </a:pPr>
            <a:r>
              <a:rPr kumimoji="0" lang="en-US" sz="2200" b="0" i="0" u="none" strike="noStrike" kern="0" cap="none" spc="0" normalizeH="0" baseline="0" noProof="0" dirty="0">
                <a:ln>
                  <a:noFill/>
                </a:ln>
                <a:solidFill>
                  <a:srgbClr val="FFFFFF"/>
                </a:solidFill>
                <a:effectLst/>
                <a:uLnTx/>
                <a:uFillTx/>
                <a:latin typeface="Lato"/>
                <a:ea typeface="Lato"/>
                <a:cs typeface="Lato"/>
                <a:sym typeface="Lato"/>
              </a:rPr>
              <a:t>end</a:t>
            </a:r>
            <a:endParaRPr kumimoji="0" sz="900" b="0" i="0" u="none" strike="noStrike" kern="0" cap="none" spc="0" normalizeH="0" baseline="0" noProof="0" dirty="0">
              <a:ln>
                <a:noFill/>
              </a:ln>
              <a:solidFill>
                <a:srgbClr val="FFFFFF"/>
              </a:solidFill>
              <a:effectLst/>
              <a:uLnTx/>
              <a:uFillTx/>
              <a:latin typeface="Lato"/>
              <a:ea typeface="Lato"/>
              <a:cs typeface="Lato"/>
              <a:sym typeface="Lato"/>
            </a:endParaRPr>
          </a:p>
        </p:txBody>
      </p:sp>
      <p:pic>
        <p:nvPicPr>
          <p:cNvPr id="375" name="Google Shape;375;p60">
            <a:extLst>
              <a:ext uri="{FF2B5EF4-FFF2-40B4-BE49-F238E27FC236}">
                <a16:creationId xmlns:a16="http://schemas.microsoft.com/office/drawing/2014/main" id="{7D35E461-4F28-5CA8-C131-756A1263311D}"/>
              </a:ext>
            </a:extLst>
          </p:cNvPr>
          <p:cNvPicPr preferRelativeResize="0"/>
          <p:nvPr/>
        </p:nvPicPr>
        <p:blipFill>
          <a:blip r:embed="rId3">
            <a:alphaModFix/>
          </a:blip>
          <a:stretch>
            <a:fillRect/>
          </a:stretch>
        </p:blipFill>
        <p:spPr>
          <a:xfrm>
            <a:off x="638124" y="670596"/>
            <a:ext cx="2915550" cy="393600"/>
          </a:xfrm>
          <a:prstGeom prst="rect">
            <a:avLst/>
          </a:prstGeom>
          <a:noFill/>
          <a:ln>
            <a:noFill/>
          </a:ln>
        </p:spPr>
      </p:pic>
      <p:sp>
        <p:nvSpPr>
          <p:cNvPr id="376" name="Google Shape;376;p60">
            <a:extLst>
              <a:ext uri="{FF2B5EF4-FFF2-40B4-BE49-F238E27FC236}">
                <a16:creationId xmlns:a16="http://schemas.microsoft.com/office/drawing/2014/main" id="{65C2B234-EDED-C600-3E98-D07A16E7696F}"/>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1" i="0" u="none" strike="noStrike" kern="0" cap="none" spc="0" normalizeH="0" baseline="0" noProof="0">
                <a:ln>
                  <a:noFill/>
                </a:ln>
                <a:solidFill>
                  <a:srgbClr val="B7B7B7"/>
                </a:solidFill>
                <a:effectLst/>
                <a:uLnTx/>
                <a:uFillTx/>
                <a:latin typeface="Comfortaa"/>
                <a:sym typeface="Comfortaa"/>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53</a:t>
            </a:fld>
            <a:endParaRPr kumimoji="0" sz="1200" b="1" i="0" u="none" strike="noStrike" kern="0" cap="none" spc="0" normalizeH="0" baseline="0" noProof="0">
              <a:ln>
                <a:noFill/>
              </a:ln>
              <a:solidFill>
                <a:srgbClr val="B7B7B7"/>
              </a:solidFill>
              <a:effectLst/>
              <a:uLnTx/>
              <a:uFillTx/>
              <a:latin typeface="Comfortaa"/>
              <a:sym typeface="Comfortaa"/>
            </a:endParaRPr>
          </a:p>
        </p:txBody>
      </p:sp>
    </p:spTree>
    <p:extLst>
      <p:ext uri="{BB962C8B-B14F-4D97-AF65-F5344CB8AC3E}">
        <p14:creationId xmlns:p14="http://schemas.microsoft.com/office/powerpoint/2010/main" val="40789974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629BB257-0319-07C6-0C45-8F10A1769CE0}"/>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A13D3A6F-400C-109C-A9F4-2E4B412C8CE1}"/>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query optimizer; what constitutes a query (execution) plan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443745CB-F1AF-ADD5-C073-A047A7E91D0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54</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4" name="Google Shape;248;p56">
            <a:extLst>
              <a:ext uri="{FF2B5EF4-FFF2-40B4-BE49-F238E27FC236}">
                <a16:creationId xmlns:a16="http://schemas.microsoft.com/office/drawing/2014/main" id="{82FF5D3E-599A-D604-11DB-75CD729D5CBE}"/>
              </a:ext>
            </a:extLst>
          </p:cNvPr>
          <p:cNvSpPr txBox="1"/>
          <p:nvPr/>
        </p:nvSpPr>
        <p:spPr>
          <a:xfrm>
            <a:off x="258000" y="932539"/>
            <a:ext cx="8272606" cy="3582489"/>
          </a:xfrm>
          <a:prstGeom prst="rect">
            <a:avLst/>
          </a:prstGeom>
          <a:noFill/>
          <a:ln>
            <a:noFill/>
          </a:ln>
        </p:spPr>
        <p:txBody>
          <a:bodyPr spcFirstLastPara="1" wrap="square" lIns="91425" tIns="91425" rIns="91425" bIns="91425" anchor="t" anchorCtr="0">
            <a:spAutoFit/>
          </a:bodyPr>
          <a:lstStyle/>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predicate pushdown, filter placement</a:t>
            </a:r>
          </a:p>
          <a:p>
            <a:pPr marL="460375" lvl="0" indent="-233363">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deciding where in the plan tree to apply a WHERE-clause filter, ideally as early as possible to reduce </a:t>
            </a:r>
            <a:r>
              <a:rPr lang="en-US" sz="1200" b="1" dirty="0">
                <a:solidFill>
                  <a:schemeClr val="tx1"/>
                </a:solidFill>
                <a:latin typeface="Lato"/>
                <a:ea typeface="Lato"/>
                <a:cs typeface="Lato"/>
                <a:sym typeface="Lato"/>
              </a:rPr>
              <a:t>tuple counts </a:t>
            </a:r>
            <a:r>
              <a:rPr lang="en-US" sz="1200" dirty="0">
                <a:solidFill>
                  <a:schemeClr val="tx1"/>
                </a:solidFill>
                <a:latin typeface="Lato"/>
                <a:ea typeface="Lato"/>
                <a:cs typeface="Lato"/>
                <a:sym typeface="Lato"/>
              </a:rPr>
              <a:t>before expensive operations</a:t>
            </a:r>
          </a:p>
          <a:p>
            <a:pPr marL="227013" lvl="0" indent="-227013">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aggregation strategy</a:t>
            </a:r>
          </a:p>
          <a:p>
            <a:pPr marL="460375" lvl="0" indent="-233363">
              <a:lnSpc>
                <a:spcPct val="115000"/>
              </a:lnSpc>
              <a:buFont typeface="Arial" panose="020B0604020202020204" pitchFamily="34" charset="0"/>
              <a:buChar char="•"/>
              <a:tabLst>
                <a:tab pos="227013" algn="l"/>
              </a:tabLst>
              <a:defRPr/>
            </a:pPr>
            <a:r>
              <a:rPr lang="en-US" sz="1200" dirty="0">
                <a:solidFill>
                  <a:schemeClr val="tx1"/>
                </a:solidFill>
                <a:latin typeface="Lato"/>
                <a:ea typeface="Lato"/>
                <a:cs typeface="Lato"/>
                <a:sym typeface="Lato"/>
              </a:rPr>
              <a:t>hash aggregate vs. sort-then-group-aggregate for GROUP BY</a:t>
            </a:r>
          </a:p>
          <a:p>
            <a:pPr marL="227013" lvl="0" indent="-227013">
              <a:lnSpc>
                <a:spcPct val="115000"/>
              </a:lnSpc>
              <a:buFont typeface="Arial" panose="020B0604020202020204" pitchFamily="34" charset="0"/>
              <a:buChar char="•"/>
              <a:tabLst>
                <a:tab pos="227013" algn="l"/>
              </a:tabLst>
              <a:defRPr/>
            </a:pPr>
            <a:r>
              <a:rPr lang="en-US" sz="1200" dirty="0">
                <a:solidFill>
                  <a:schemeClr val="tx1"/>
                </a:solidFill>
                <a:latin typeface="Lato"/>
                <a:ea typeface="Lato"/>
                <a:cs typeface="Lato"/>
                <a:sym typeface="Lato"/>
              </a:rPr>
              <a:t>sort </a:t>
            </a: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elimination</a:t>
            </a:r>
          </a:p>
          <a:p>
            <a:pPr marL="460375" lvl="0" indent="-233363">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recognizing when an index already delivers tuples in the order an ORDER BY or GROUP BY needs, avoiding an explicit sort step entirely</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chemeClr val="tx1"/>
                </a:solidFill>
                <a:latin typeface="Lato"/>
                <a:ea typeface="Lato"/>
                <a:cs typeface="Lato"/>
                <a:sym typeface="Lato"/>
              </a:rPr>
              <a:t>subquery transformation</a:t>
            </a:r>
          </a:p>
          <a:p>
            <a:pPr marL="460375" lvl="0" indent="-233363">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rewriting a correlated subquery into a join (or vice versa), converting IN/EXISTS into semi-joins/anti-joins, or "unnesting" subqueries into the main query when it's provably equivalent and cheaper</a:t>
            </a:r>
            <a:endParaRPr kumimoji="0" lang="en-US" sz="1200" b="0" i="0" u="none" strike="noStrike" kern="0" cap="none" spc="0" normalizeH="0" baseline="0" noProof="0" dirty="0">
              <a:ln>
                <a:noFill/>
              </a:ln>
              <a:solidFill>
                <a:schemeClr val="tx1"/>
              </a:solidFill>
              <a:effectLst/>
              <a:uLnTx/>
              <a:uFillTx/>
              <a:latin typeface="Lato"/>
              <a:ea typeface="Lato"/>
              <a:cs typeface="Lato"/>
              <a:sym typeface="Lato"/>
            </a:endParaRP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materialization versus pi</a:t>
            </a:r>
            <a:r>
              <a:rPr lang="en-US" sz="1200" dirty="0" err="1">
                <a:solidFill>
                  <a:schemeClr val="tx1"/>
                </a:solidFill>
                <a:latin typeface="Lato"/>
                <a:ea typeface="Lato"/>
                <a:cs typeface="Lato"/>
                <a:sym typeface="Lato"/>
              </a:rPr>
              <a:t>pelining</a:t>
            </a:r>
            <a:endParaRPr lang="en-US" sz="1200" dirty="0">
              <a:solidFill>
                <a:schemeClr val="tx1"/>
              </a:solidFill>
              <a:latin typeface="Lato"/>
              <a:ea typeface="Lato"/>
              <a:cs typeface="Lato"/>
              <a:sym typeface="Lato"/>
            </a:endParaRPr>
          </a:p>
          <a:p>
            <a:pPr marL="460375" lvl="0" indent="-233363">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rewriting a correlated subquery into a join (or vice versa), converting IN/EXISTS into semi-joins/anti-joins, or "unnesting" subqueries into the main query when it's provably equivalent and cheaper</a:t>
            </a:r>
            <a:endParaRPr kumimoji="0" lang="en-US" sz="1200" b="0" i="0" u="none" strike="noStrike" kern="0" cap="none" spc="0" normalizeH="0" baseline="0" noProof="0" dirty="0">
              <a:ln>
                <a:noFill/>
              </a:ln>
              <a:solidFill>
                <a:schemeClr val="tx1"/>
              </a:solidFill>
              <a:effectLst/>
              <a:uLnTx/>
              <a:uFillTx/>
              <a:latin typeface="Lato"/>
              <a:ea typeface="Lato"/>
              <a:cs typeface="Lato"/>
              <a:sym typeface="Lato"/>
            </a:endParaRPr>
          </a:p>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        </a:t>
            </a:r>
          </a:p>
          <a:p>
            <a:pPr marR="0" lvl="0" defTabSz="914400" rtl="0" eaLnBrk="1" fontAlgn="auto" latinLnBrk="0" hangingPunct="1">
              <a:lnSpc>
                <a:spcPct val="115000"/>
              </a:lnSpc>
              <a:spcBef>
                <a:spcPts val="0"/>
              </a:spcBef>
              <a:spcAft>
                <a:spcPts val="0"/>
              </a:spcAft>
              <a:buClr>
                <a:srgbClr val="000000"/>
              </a:buClr>
              <a:buSzTx/>
              <a:tabLst/>
              <a:defRPr/>
            </a:pPr>
            <a:r>
              <a:rPr lang="en-US" sz="1200" dirty="0">
                <a:solidFill>
                  <a:schemeClr val="tx1"/>
                </a:solidFill>
                <a:latin typeface="Lato"/>
                <a:ea typeface="Lato"/>
                <a:cs typeface="Lato"/>
                <a:sym typeface="Lato"/>
              </a:rPr>
              <a:t>      …</a:t>
            </a:r>
            <a:endParaRPr kumimoji="0" sz="1200" b="0" i="0" u="none" strike="noStrike" kern="0" cap="none" spc="0" normalizeH="0" baseline="0" noProof="0" dirty="0">
              <a:ln>
                <a:noFill/>
              </a:ln>
              <a:solidFill>
                <a:schemeClr val="tx1"/>
              </a:solidFill>
              <a:effectLst/>
              <a:uLnTx/>
              <a:uFillTx/>
              <a:latin typeface="Lato"/>
              <a:ea typeface="Lato"/>
              <a:cs typeface="Lato"/>
              <a:sym typeface="Lato"/>
            </a:endParaRPr>
          </a:p>
        </p:txBody>
      </p:sp>
    </p:spTree>
    <p:extLst>
      <p:ext uri="{BB962C8B-B14F-4D97-AF65-F5344CB8AC3E}">
        <p14:creationId xmlns:p14="http://schemas.microsoft.com/office/powerpoint/2010/main" val="4258227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7F650B85-278E-4CDB-1226-6ADEFA84F080}"/>
            </a:ext>
          </a:extLst>
        </p:cNvPr>
        <p:cNvGrpSpPr/>
        <p:nvPr/>
      </p:nvGrpSpPr>
      <p:grpSpPr>
        <a:xfrm>
          <a:off x="0" y="0"/>
          <a:ext cx="0" cy="0"/>
          <a:chOff x="0" y="0"/>
          <a:chExt cx="0" cy="0"/>
        </a:xfrm>
      </p:grpSpPr>
      <p:sp>
        <p:nvSpPr>
          <p:cNvPr id="242" name="Google Shape;242;p56">
            <a:extLst>
              <a:ext uri="{FF2B5EF4-FFF2-40B4-BE49-F238E27FC236}">
                <a16:creationId xmlns:a16="http://schemas.microsoft.com/office/drawing/2014/main" id="{4A9E17C9-B4AE-FA9B-E788-895D5AD65D5B}"/>
              </a:ext>
            </a:extLst>
          </p:cNvPr>
          <p:cNvSpPr txBox="1">
            <a:spLocks noGrp="1"/>
          </p:cNvSpPr>
          <p:nvPr>
            <p:ph type="title"/>
          </p:nvPr>
        </p:nvSpPr>
        <p:spPr>
          <a:xfrm>
            <a:off x="258000" y="193675"/>
            <a:ext cx="8628000" cy="47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latin typeface="Lato"/>
                <a:ea typeface="Lato"/>
                <a:cs typeface="Lato"/>
                <a:sym typeface="Lato"/>
              </a:rPr>
              <a:t>query optimizer; what constitutes a query (execution) plan</a:t>
            </a:r>
            <a:endParaRPr dirty="0">
              <a:solidFill>
                <a:schemeClr val="accent2"/>
              </a:solidFill>
              <a:latin typeface="Lato"/>
              <a:ea typeface="Lato"/>
              <a:cs typeface="Lato"/>
              <a:sym typeface="Lato"/>
            </a:endParaRPr>
          </a:p>
        </p:txBody>
      </p:sp>
      <p:sp>
        <p:nvSpPr>
          <p:cNvPr id="274" name="Google Shape;274;p56">
            <a:extLst>
              <a:ext uri="{FF2B5EF4-FFF2-40B4-BE49-F238E27FC236}">
                <a16:creationId xmlns:a16="http://schemas.microsoft.com/office/drawing/2014/main" id="{4C7D4D20-D0C0-7188-628A-1195169F0505}"/>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55</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4" name="Google Shape;248;p56">
            <a:extLst>
              <a:ext uri="{FF2B5EF4-FFF2-40B4-BE49-F238E27FC236}">
                <a16:creationId xmlns:a16="http://schemas.microsoft.com/office/drawing/2014/main" id="{0BE3D3F1-27FF-C34E-B3E7-F15795E5EAC1}"/>
              </a:ext>
            </a:extLst>
          </p:cNvPr>
          <p:cNvSpPr txBox="1"/>
          <p:nvPr/>
        </p:nvSpPr>
        <p:spPr>
          <a:xfrm>
            <a:off x="258000" y="932539"/>
            <a:ext cx="8272606" cy="2733026"/>
          </a:xfrm>
          <a:prstGeom prst="rect">
            <a:avLst/>
          </a:prstGeom>
          <a:noFill/>
          <a:ln>
            <a:noFill/>
          </a:ln>
        </p:spPr>
        <p:txBody>
          <a:bodyPr spcFirstLastPara="1" wrap="square" lIns="91425" tIns="91425" rIns="91425" bIns="91425" anchor="t" anchorCtr="0">
            <a:spAutoFit/>
          </a:bodyPr>
          <a:lstStyle/>
          <a:p>
            <a:pPr marR="0" lvl="0" defTabSz="914400" rtl="0" eaLnBrk="1" fontAlgn="auto" latinLnBrk="0" hangingPunct="1">
              <a:lnSpc>
                <a:spcPct val="115000"/>
              </a:lnSpc>
              <a:spcBef>
                <a:spcPts val="0"/>
              </a:spcBef>
              <a:spcAft>
                <a:spcPts val="0"/>
              </a:spcAft>
              <a:buClr>
                <a:srgbClr val="000000"/>
              </a:buClr>
              <a:buSzTx/>
              <a:tabLst/>
              <a:defRPr/>
            </a:pP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            …</a:t>
            </a:r>
          </a:p>
          <a:p>
            <a:pPr marR="0" lvl="0" defTabSz="914400" rtl="0" eaLnBrk="1" fontAlgn="auto" latinLnBrk="0" hangingPunct="1">
              <a:lnSpc>
                <a:spcPct val="115000"/>
              </a:lnSpc>
              <a:spcBef>
                <a:spcPts val="0"/>
              </a:spcBef>
              <a:spcAft>
                <a:spcPts val="0"/>
              </a:spcAft>
              <a:buClr>
                <a:srgbClr val="000000"/>
              </a:buClr>
              <a:buSzTx/>
              <a:tabLst/>
              <a:defRPr/>
            </a:pPr>
            <a:endParaRPr kumimoji="0" lang="en-US" sz="1200" b="0" i="0" u="none" strike="noStrike" kern="0" cap="none" spc="0" normalizeH="0" baseline="0" noProof="0" dirty="0">
              <a:ln>
                <a:noFill/>
              </a:ln>
              <a:solidFill>
                <a:schemeClr val="tx1"/>
              </a:solidFill>
              <a:effectLst/>
              <a:uLnTx/>
              <a:uFillTx/>
              <a:latin typeface="Lato"/>
              <a:ea typeface="Lato"/>
              <a:cs typeface="Lato"/>
              <a:sym typeface="Lato"/>
            </a:endParaRP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parallel execution planning</a:t>
            </a:r>
          </a:p>
          <a:p>
            <a:pPr marL="460375" lvl="0" indent="-233363">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how many worker processes to use for a parallel scan/join/aggregate, and whether parallelism is even worth the coordination overhead for this particular query</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chemeClr val="tx1"/>
                </a:solidFill>
                <a:latin typeface="Lato"/>
                <a:ea typeface="Lato"/>
                <a:cs typeface="Lato"/>
                <a:sym typeface="Lato"/>
              </a:rPr>
              <a:t>partition pruning</a:t>
            </a:r>
          </a:p>
          <a:p>
            <a:pPr marL="460375" lvl="0" indent="-233363">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or partitioned tables, determining which partitions can be skipped entirely based on the query's filter conditions</a:t>
            </a:r>
            <a:endParaRPr kumimoji="0" lang="en-US" sz="1200" b="0" i="0" u="none" strike="noStrike" kern="0" cap="none" spc="0" normalizeH="0" baseline="0" noProof="0" dirty="0">
              <a:ln>
                <a:noFill/>
              </a:ln>
              <a:solidFill>
                <a:schemeClr val="tx1"/>
              </a:solidFill>
              <a:effectLst/>
              <a:uLnTx/>
              <a:uFillTx/>
              <a:latin typeface="Lato"/>
              <a:ea typeface="Lato"/>
              <a:cs typeface="Lato"/>
              <a:sym typeface="Lato"/>
            </a:endParaRP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chemeClr val="tx1"/>
                </a:solidFill>
                <a:effectLst/>
                <a:uLnTx/>
                <a:uFillTx/>
                <a:latin typeface="Lato"/>
                <a:ea typeface="Lato"/>
                <a:cs typeface="Lato"/>
                <a:sym typeface="Lato"/>
              </a:rPr>
              <a:t>constants folding, expression simplification</a:t>
            </a:r>
          </a:p>
          <a:p>
            <a:pPr marL="460375" lvl="0" indent="-233363">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or partitioned tables, determining which partitions can be skipped entirely based on the query's filter conditions</a:t>
            </a:r>
          </a:p>
          <a:p>
            <a:pPr marL="227013" marR="0" lvl="0" indent="-227013"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1200" dirty="0">
                <a:solidFill>
                  <a:schemeClr val="tx1"/>
                </a:solidFill>
                <a:latin typeface="Lato"/>
                <a:ea typeface="Lato"/>
                <a:cs typeface="Lato"/>
                <a:sym typeface="Lato"/>
              </a:rPr>
              <a:t>view/CTE inlining</a:t>
            </a:r>
          </a:p>
          <a:p>
            <a:pPr marL="460375" lvl="0" indent="-233363">
              <a:lnSpc>
                <a:spcPct val="115000"/>
              </a:lnSpc>
              <a:buFont typeface="Arial" panose="020B0604020202020204" pitchFamily="34" charset="0"/>
              <a:buChar char="•"/>
              <a:defRPr/>
            </a:pPr>
            <a:r>
              <a:rPr lang="en-US" sz="1200" dirty="0">
                <a:solidFill>
                  <a:schemeClr val="tx1"/>
                </a:solidFill>
                <a:latin typeface="Lato"/>
                <a:ea typeface="Lato"/>
                <a:cs typeface="Lato"/>
                <a:sym typeface="Lato"/>
              </a:rPr>
              <a:t>whether to expand a view or CTE inline into the surrounding query (allowing cross-boundary optimization) or treat it as an optimization fence (materializing it separately)</a:t>
            </a:r>
            <a:endParaRPr kumimoji="0" sz="1200" b="0" i="0" u="none" strike="noStrike" kern="0" cap="none" spc="0" normalizeH="0" baseline="0" noProof="0" dirty="0">
              <a:ln>
                <a:noFill/>
              </a:ln>
              <a:solidFill>
                <a:schemeClr val="tx1"/>
              </a:solidFill>
              <a:effectLst/>
              <a:uLnTx/>
              <a:uFillTx/>
              <a:latin typeface="Lato"/>
              <a:ea typeface="Lato"/>
              <a:cs typeface="Lato"/>
              <a:sym typeface="Lato"/>
            </a:endParaRPr>
          </a:p>
        </p:txBody>
      </p:sp>
    </p:spTree>
    <p:extLst>
      <p:ext uri="{BB962C8B-B14F-4D97-AF65-F5344CB8AC3E}">
        <p14:creationId xmlns:p14="http://schemas.microsoft.com/office/powerpoint/2010/main" val="5047407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A9E404BF-8F66-40D2-2E44-B6F4A5E0861E}"/>
            </a:ext>
          </a:extLst>
        </p:cNvPr>
        <p:cNvGrpSpPr/>
        <p:nvPr/>
      </p:nvGrpSpPr>
      <p:grpSpPr>
        <a:xfrm>
          <a:off x="0" y="0"/>
          <a:ext cx="0" cy="0"/>
          <a:chOff x="0" y="0"/>
          <a:chExt cx="0" cy="0"/>
        </a:xfrm>
      </p:grpSpPr>
      <p:sp>
        <p:nvSpPr>
          <p:cNvPr id="274" name="Google Shape;274;p56">
            <a:extLst>
              <a:ext uri="{FF2B5EF4-FFF2-40B4-BE49-F238E27FC236}">
                <a16:creationId xmlns:a16="http://schemas.microsoft.com/office/drawing/2014/main" id="{FE85B005-947C-3BAC-CE44-699CDCC2F4C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56</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Google Shape;248;p56">
            <a:extLst>
              <a:ext uri="{FF2B5EF4-FFF2-40B4-BE49-F238E27FC236}">
                <a16:creationId xmlns:a16="http://schemas.microsoft.com/office/drawing/2014/main" id="{8C848613-1C45-DD02-F4AF-C1B7403912BF}"/>
              </a:ext>
            </a:extLst>
          </p:cNvPr>
          <p:cNvSpPr txBox="1"/>
          <p:nvPr/>
        </p:nvSpPr>
        <p:spPr>
          <a:xfrm>
            <a:off x="3235287" y="2124961"/>
            <a:ext cx="2463600" cy="50318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Lato"/>
                <a:ea typeface="Lato"/>
                <a:cs typeface="Lato"/>
                <a:sym typeface="Lato"/>
              </a:rPr>
              <a:t>Clip art</a:t>
            </a:r>
            <a:endParaRPr kumimoji="0" sz="1800" b="0" i="0" u="none" strike="noStrike" kern="0" cap="none" spc="0" normalizeH="0" baseline="0" noProof="0" dirty="0">
              <a:ln>
                <a:noFill/>
              </a:ln>
              <a:solidFill>
                <a:srgbClr val="000000"/>
              </a:solidFill>
              <a:effectLst/>
              <a:uLnTx/>
              <a:uFillTx/>
              <a:latin typeface="Lato"/>
              <a:ea typeface="Lato"/>
              <a:cs typeface="Lato"/>
              <a:sym typeface="Lato"/>
            </a:endParaRPr>
          </a:p>
        </p:txBody>
      </p:sp>
    </p:spTree>
    <p:extLst>
      <p:ext uri="{BB962C8B-B14F-4D97-AF65-F5344CB8AC3E}">
        <p14:creationId xmlns:p14="http://schemas.microsoft.com/office/powerpoint/2010/main" val="2235744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BFCC599-F7F5-1E51-937B-45313B7B7589}"/>
            </a:ext>
          </a:extLst>
        </p:cNvPr>
        <p:cNvGrpSpPr/>
        <p:nvPr/>
      </p:nvGrpSpPr>
      <p:grpSpPr>
        <a:xfrm>
          <a:off x="0" y="0"/>
          <a:ext cx="0" cy="0"/>
          <a:chOff x="0" y="0"/>
          <a:chExt cx="0" cy="0"/>
        </a:xfrm>
      </p:grpSpPr>
      <p:sp>
        <p:nvSpPr>
          <p:cNvPr id="274" name="Google Shape;274;p56">
            <a:extLst>
              <a:ext uri="{FF2B5EF4-FFF2-40B4-BE49-F238E27FC236}">
                <a16:creationId xmlns:a16="http://schemas.microsoft.com/office/drawing/2014/main" id="{EF8DDED4-AE36-1C50-20F7-E35AA32014E7}"/>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57</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pic>
        <p:nvPicPr>
          <p:cNvPr id="8" name="Picture 7">
            <a:extLst>
              <a:ext uri="{FF2B5EF4-FFF2-40B4-BE49-F238E27FC236}">
                <a16:creationId xmlns:a16="http://schemas.microsoft.com/office/drawing/2014/main" id="{BB09B835-8641-3500-A27E-5F6E8C15CD71}"/>
              </a:ext>
            </a:extLst>
          </p:cNvPr>
          <p:cNvPicPr>
            <a:picLocks noChangeAspect="1"/>
          </p:cNvPicPr>
          <p:nvPr/>
        </p:nvPicPr>
        <p:blipFill>
          <a:blip r:embed="rId3"/>
          <a:stretch>
            <a:fillRect/>
          </a:stretch>
        </p:blipFill>
        <p:spPr>
          <a:xfrm>
            <a:off x="286597" y="780203"/>
            <a:ext cx="3583093" cy="3583093"/>
          </a:xfrm>
          <a:prstGeom prst="rect">
            <a:avLst/>
          </a:prstGeom>
        </p:spPr>
      </p:pic>
      <p:pic>
        <p:nvPicPr>
          <p:cNvPr id="12" name="Picture 11">
            <a:extLst>
              <a:ext uri="{FF2B5EF4-FFF2-40B4-BE49-F238E27FC236}">
                <a16:creationId xmlns:a16="http://schemas.microsoft.com/office/drawing/2014/main" id="{F79929B7-03DB-131C-C8B9-A6D5D4A29493}"/>
              </a:ext>
            </a:extLst>
          </p:cNvPr>
          <p:cNvPicPr>
            <a:picLocks noChangeAspect="1"/>
          </p:cNvPicPr>
          <p:nvPr/>
        </p:nvPicPr>
        <p:blipFill>
          <a:blip r:embed="rId4"/>
          <a:stretch>
            <a:fillRect/>
          </a:stretch>
        </p:blipFill>
        <p:spPr>
          <a:xfrm>
            <a:off x="4081133" y="1151467"/>
            <a:ext cx="3156134" cy="3007360"/>
          </a:xfrm>
          <a:prstGeom prst="rect">
            <a:avLst/>
          </a:prstGeom>
        </p:spPr>
      </p:pic>
    </p:spTree>
    <p:extLst>
      <p:ext uri="{BB962C8B-B14F-4D97-AF65-F5344CB8AC3E}">
        <p14:creationId xmlns:p14="http://schemas.microsoft.com/office/powerpoint/2010/main" val="1463295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9F3E66A-A22F-75C9-F360-B6C2522030FE}"/>
            </a:ext>
          </a:extLst>
        </p:cNvPr>
        <p:cNvGrpSpPr/>
        <p:nvPr/>
      </p:nvGrpSpPr>
      <p:grpSpPr>
        <a:xfrm>
          <a:off x="0" y="0"/>
          <a:ext cx="0" cy="0"/>
          <a:chOff x="0" y="0"/>
          <a:chExt cx="0" cy="0"/>
        </a:xfrm>
      </p:grpSpPr>
      <p:sp>
        <p:nvSpPr>
          <p:cNvPr id="274" name="Google Shape;274;p56">
            <a:extLst>
              <a:ext uri="{FF2B5EF4-FFF2-40B4-BE49-F238E27FC236}">
                <a16:creationId xmlns:a16="http://schemas.microsoft.com/office/drawing/2014/main" id="{FCBF826B-DBD0-5795-F097-80017D0A93B1}"/>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58</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18" name="Rectangle 17">
            <a:extLst>
              <a:ext uri="{FF2B5EF4-FFF2-40B4-BE49-F238E27FC236}">
                <a16:creationId xmlns:a16="http://schemas.microsoft.com/office/drawing/2014/main" id="{15441545-5090-E880-90BD-B4BFEA1E7654}"/>
              </a:ext>
            </a:extLst>
          </p:cNvPr>
          <p:cNvSpPr/>
          <p:nvPr/>
        </p:nvSpPr>
        <p:spPr>
          <a:xfrm>
            <a:off x="454674" y="1712776"/>
            <a:ext cx="2554884" cy="1618488"/>
          </a:xfrm>
          <a:prstGeom prst="rect">
            <a:avLst/>
          </a:pr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BB374C9B-9265-69A5-5158-FF97972030D5}"/>
              </a:ext>
            </a:extLst>
          </p:cNvPr>
          <p:cNvCxnSpPr/>
          <p:nvPr/>
        </p:nvCxnSpPr>
        <p:spPr>
          <a:xfrm>
            <a:off x="683274" y="1705789"/>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B57D463-1B08-D5DB-0A9B-F34D803E6758}"/>
              </a:ext>
            </a:extLst>
          </p:cNvPr>
          <p:cNvCxnSpPr>
            <a:cxnSpLocks/>
          </p:cNvCxnSpPr>
          <p:nvPr/>
        </p:nvCxnSpPr>
        <p:spPr>
          <a:xfrm>
            <a:off x="454674" y="2228384"/>
            <a:ext cx="25548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D99301B-84BF-D06C-CB3C-D07CAF037B48}"/>
              </a:ext>
            </a:extLst>
          </p:cNvPr>
          <p:cNvCxnSpPr>
            <a:cxnSpLocks/>
          </p:cNvCxnSpPr>
          <p:nvPr/>
        </p:nvCxnSpPr>
        <p:spPr>
          <a:xfrm>
            <a:off x="454674" y="2046166"/>
            <a:ext cx="25548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D643D26-4E39-EA32-1F50-1B635762F7E5}"/>
              </a:ext>
            </a:extLst>
          </p:cNvPr>
          <p:cNvCxnSpPr>
            <a:cxnSpLocks/>
          </p:cNvCxnSpPr>
          <p:nvPr/>
        </p:nvCxnSpPr>
        <p:spPr>
          <a:xfrm>
            <a:off x="454674" y="2410602"/>
            <a:ext cx="25548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BA1301D-26C6-2F63-7953-C5C31660877E}"/>
              </a:ext>
            </a:extLst>
          </p:cNvPr>
          <p:cNvCxnSpPr>
            <a:cxnSpLocks/>
          </p:cNvCxnSpPr>
          <p:nvPr/>
        </p:nvCxnSpPr>
        <p:spPr>
          <a:xfrm>
            <a:off x="454674" y="3139474"/>
            <a:ext cx="25548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7BD3B99-4B31-5517-535A-8A12C824EA35}"/>
              </a:ext>
            </a:extLst>
          </p:cNvPr>
          <p:cNvCxnSpPr>
            <a:cxnSpLocks/>
          </p:cNvCxnSpPr>
          <p:nvPr/>
        </p:nvCxnSpPr>
        <p:spPr>
          <a:xfrm>
            <a:off x="454674" y="2957256"/>
            <a:ext cx="25548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EDC1A78-0C2C-352C-25D8-09FCE125AB46}"/>
              </a:ext>
            </a:extLst>
          </p:cNvPr>
          <p:cNvCxnSpPr>
            <a:cxnSpLocks/>
          </p:cNvCxnSpPr>
          <p:nvPr/>
        </p:nvCxnSpPr>
        <p:spPr>
          <a:xfrm>
            <a:off x="454674" y="2775038"/>
            <a:ext cx="25548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7F01024-BFD1-6C1F-0F7E-AA3196415E0A}"/>
              </a:ext>
            </a:extLst>
          </p:cNvPr>
          <p:cNvCxnSpPr/>
          <p:nvPr/>
        </p:nvCxnSpPr>
        <p:spPr>
          <a:xfrm>
            <a:off x="1510821" y="1705788"/>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ACAD28B-7581-2B0F-2697-7582693DA5C7}"/>
              </a:ext>
            </a:extLst>
          </p:cNvPr>
          <p:cNvCxnSpPr/>
          <p:nvPr/>
        </p:nvCxnSpPr>
        <p:spPr>
          <a:xfrm>
            <a:off x="2097863" y="1705789"/>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98241FA-918C-A395-EAB8-40FDB6AF7FFA}"/>
              </a:ext>
            </a:extLst>
          </p:cNvPr>
          <p:cNvSpPr txBox="1"/>
          <p:nvPr/>
        </p:nvSpPr>
        <p:spPr>
          <a:xfrm>
            <a:off x="719032" y="3111187"/>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31" name="TextBox 30">
            <a:extLst>
              <a:ext uri="{FF2B5EF4-FFF2-40B4-BE49-F238E27FC236}">
                <a16:creationId xmlns:a16="http://schemas.microsoft.com/office/drawing/2014/main" id="{552019BA-64E2-90E9-F9FA-942A8C7ED9CF}"/>
              </a:ext>
            </a:extLst>
          </p:cNvPr>
          <p:cNvSpPr txBox="1"/>
          <p:nvPr/>
        </p:nvSpPr>
        <p:spPr>
          <a:xfrm>
            <a:off x="719032" y="2194672"/>
            <a:ext cx="396262" cy="246221"/>
          </a:xfrm>
          <a:prstGeom prst="rect">
            <a:avLst/>
          </a:prstGeom>
          <a:noFill/>
        </p:spPr>
        <p:txBody>
          <a:bodyPr wrap="none" rtlCol="0">
            <a:spAutoFit/>
          </a:bodyPr>
          <a:lstStyle/>
          <a:p>
            <a:r>
              <a:rPr lang="en-US" sz="1000" b="1" dirty="0">
                <a:solidFill>
                  <a:schemeClr val="bg1">
                    <a:lumMod val="50000"/>
                  </a:schemeClr>
                </a:solidFill>
              </a:rPr>
              <a:t>103</a:t>
            </a:r>
          </a:p>
        </p:txBody>
      </p:sp>
      <p:sp>
        <p:nvSpPr>
          <p:cNvPr id="32" name="TextBox 31">
            <a:extLst>
              <a:ext uri="{FF2B5EF4-FFF2-40B4-BE49-F238E27FC236}">
                <a16:creationId xmlns:a16="http://schemas.microsoft.com/office/drawing/2014/main" id="{76A28382-84FD-F597-3432-AFB4060224E0}"/>
              </a:ext>
            </a:extLst>
          </p:cNvPr>
          <p:cNvSpPr txBox="1"/>
          <p:nvPr/>
        </p:nvSpPr>
        <p:spPr>
          <a:xfrm>
            <a:off x="719032" y="2011369"/>
            <a:ext cx="396262" cy="246221"/>
          </a:xfrm>
          <a:prstGeom prst="rect">
            <a:avLst/>
          </a:prstGeom>
          <a:noFill/>
        </p:spPr>
        <p:txBody>
          <a:bodyPr wrap="none" rtlCol="0">
            <a:spAutoFit/>
          </a:bodyPr>
          <a:lstStyle/>
          <a:p>
            <a:r>
              <a:rPr lang="en-US" sz="1000" b="1" dirty="0">
                <a:solidFill>
                  <a:schemeClr val="bg1">
                    <a:lumMod val="50000"/>
                  </a:schemeClr>
                </a:solidFill>
              </a:rPr>
              <a:t>102</a:t>
            </a:r>
          </a:p>
        </p:txBody>
      </p:sp>
      <p:sp>
        <p:nvSpPr>
          <p:cNvPr id="33" name="TextBox 32">
            <a:extLst>
              <a:ext uri="{FF2B5EF4-FFF2-40B4-BE49-F238E27FC236}">
                <a16:creationId xmlns:a16="http://schemas.microsoft.com/office/drawing/2014/main" id="{53C28846-3CF1-323A-6B28-4FD7B76F6BA1}"/>
              </a:ext>
            </a:extLst>
          </p:cNvPr>
          <p:cNvSpPr txBox="1"/>
          <p:nvPr/>
        </p:nvSpPr>
        <p:spPr>
          <a:xfrm>
            <a:off x="719032" y="1828066"/>
            <a:ext cx="396262" cy="246221"/>
          </a:xfrm>
          <a:prstGeom prst="rect">
            <a:avLst/>
          </a:prstGeom>
          <a:noFill/>
        </p:spPr>
        <p:txBody>
          <a:bodyPr wrap="none" rtlCol="0">
            <a:spAutoFit/>
          </a:bodyPr>
          <a:lstStyle/>
          <a:p>
            <a:r>
              <a:rPr lang="en-US" sz="1000" b="1" dirty="0">
                <a:solidFill>
                  <a:schemeClr val="bg1">
                    <a:lumMod val="50000"/>
                  </a:schemeClr>
                </a:solidFill>
              </a:rPr>
              <a:t>101</a:t>
            </a:r>
          </a:p>
        </p:txBody>
      </p:sp>
      <p:sp>
        <p:nvSpPr>
          <p:cNvPr id="34" name="TextBox 33">
            <a:extLst>
              <a:ext uri="{FF2B5EF4-FFF2-40B4-BE49-F238E27FC236}">
                <a16:creationId xmlns:a16="http://schemas.microsoft.com/office/drawing/2014/main" id="{C9AFEC54-AD2C-E678-7B44-9476F4092CE9}"/>
              </a:ext>
            </a:extLst>
          </p:cNvPr>
          <p:cNvSpPr txBox="1"/>
          <p:nvPr/>
        </p:nvSpPr>
        <p:spPr>
          <a:xfrm>
            <a:off x="719032" y="1644763"/>
            <a:ext cx="788999" cy="246221"/>
          </a:xfrm>
          <a:prstGeom prst="rect">
            <a:avLst/>
          </a:prstGeom>
          <a:noFill/>
        </p:spPr>
        <p:txBody>
          <a:bodyPr wrap="none" rtlCol="0">
            <a:spAutoFit/>
          </a:bodyPr>
          <a:lstStyle/>
          <a:p>
            <a:r>
              <a:rPr lang="en-US" sz="1000" b="1" dirty="0" err="1"/>
              <a:t>cust_num</a:t>
            </a:r>
            <a:endParaRPr lang="en-US" sz="1000" b="1" dirty="0"/>
          </a:p>
        </p:txBody>
      </p:sp>
      <p:sp>
        <p:nvSpPr>
          <p:cNvPr id="35" name="TextBox 34">
            <a:extLst>
              <a:ext uri="{FF2B5EF4-FFF2-40B4-BE49-F238E27FC236}">
                <a16:creationId xmlns:a16="http://schemas.microsoft.com/office/drawing/2014/main" id="{1FFB7674-C197-FAE8-8136-6B89D3CC9C28}"/>
              </a:ext>
            </a:extLst>
          </p:cNvPr>
          <p:cNvSpPr txBox="1"/>
          <p:nvPr/>
        </p:nvSpPr>
        <p:spPr>
          <a:xfrm>
            <a:off x="719032" y="2927884"/>
            <a:ext cx="396262" cy="246221"/>
          </a:xfrm>
          <a:prstGeom prst="rect">
            <a:avLst/>
          </a:prstGeom>
          <a:noFill/>
        </p:spPr>
        <p:txBody>
          <a:bodyPr wrap="none" rtlCol="0">
            <a:spAutoFit/>
          </a:bodyPr>
          <a:lstStyle/>
          <a:p>
            <a:r>
              <a:rPr lang="en-US" sz="1000" b="1" dirty="0">
                <a:solidFill>
                  <a:schemeClr val="bg1">
                    <a:lumMod val="50000"/>
                  </a:schemeClr>
                </a:solidFill>
              </a:rPr>
              <a:t>107</a:t>
            </a:r>
          </a:p>
        </p:txBody>
      </p:sp>
      <p:sp>
        <p:nvSpPr>
          <p:cNvPr id="36" name="TextBox 35">
            <a:extLst>
              <a:ext uri="{FF2B5EF4-FFF2-40B4-BE49-F238E27FC236}">
                <a16:creationId xmlns:a16="http://schemas.microsoft.com/office/drawing/2014/main" id="{2F2808A8-E940-504C-9CF8-A67869859ACF}"/>
              </a:ext>
            </a:extLst>
          </p:cNvPr>
          <p:cNvSpPr txBox="1"/>
          <p:nvPr/>
        </p:nvSpPr>
        <p:spPr>
          <a:xfrm>
            <a:off x="719032" y="2744581"/>
            <a:ext cx="396262" cy="246221"/>
          </a:xfrm>
          <a:prstGeom prst="rect">
            <a:avLst/>
          </a:prstGeom>
          <a:noFill/>
        </p:spPr>
        <p:txBody>
          <a:bodyPr wrap="none" rtlCol="0">
            <a:spAutoFit/>
          </a:bodyPr>
          <a:lstStyle/>
          <a:p>
            <a:r>
              <a:rPr lang="en-US" sz="1000" b="1" dirty="0">
                <a:solidFill>
                  <a:schemeClr val="bg1">
                    <a:lumMod val="50000"/>
                  </a:schemeClr>
                </a:solidFill>
              </a:rPr>
              <a:t>106</a:t>
            </a:r>
          </a:p>
        </p:txBody>
      </p:sp>
      <p:sp>
        <p:nvSpPr>
          <p:cNvPr id="37" name="TextBox 36">
            <a:extLst>
              <a:ext uri="{FF2B5EF4-FFF2-40B4-BE49-F238E27FC236}">
                <a16:creationId xmlns:a16="http://schemas.microsoft.com/office/drawing/2014/main" id="{4478D483-776C-94CD-B679-4C368EF48364}"/>
              </a:ext>
            </a:extLst>
          </p:cNvPr>
          <p:cNvSpPr txBox="1"/>
          <p:nvPr/>
        </p:nvSpPr>
        <p:spPr>
          <a:xfrm>
            <a:off x="719032" y="2561278"/>
            <a:ext cx="396262" cy="246221"/>
          </a:xfrm>
          <a:prstGeom prst="rect">
            <a:avLst/>
          </a:prstGeom>
          <a:noFill/>
        </p:spPr>
        <p:txBody>
          <a:bodyPr wrap="none" rtlCol="0">
            <a:spAutoFit/>
          </a:bodyPr>
          <a:lstStyle/>
          <a:p>
            <a:r>
              <a:rPr lang="en-US" sz="1000" b="1" dirty="0">
                <a:solidFill>
                  <a:schemeClr val="bg1">
                    <a:lumMod val="50000"/>
                  </a:schemeClr>
                </a:solidFill>
              </a:rPr>
              <a:t>105</a:t>
            </a:r>
          </a:p>
        </p:txBody>
      </p:sp>
      <p:sp>
        <p:nvSpPr>
          <p:cNvPr id="38" name="TextBox 37">
            <a:extLst>
              <a:ext uri="{FF2B5EF4-FFF2-40B4-BE49-F238E27FC236}">
                <a16:creationId xmlns:a16="http://schemas.microsoft.com/office/drawing/2014/main" id="{BD4E433E-E0AC-E5D2-205A-34100E820B12}"/>
              </a:ext>
            </a:extLst>
          </p:cNvPr>
          <p:cNvSpPr txBox="1"/>
          <p:nvPr/>
        </p:nvSpPr>
        <p:spPr>
          <a:xfrm>
            <a:off x="719032" y="2377975"/>
            <a:ext cx="396262" cy="246221"/>
          </a:xfrm>
          <a:prstGeom prst="rect">
            <a:avLst/>
          </a:prstGeom>
          <a:noFill/>
        </p:spPr>
        <p:txBody>
          <a:bodyPr wrap="none" rtlCol="0">
            <a:spAutoFit/>
          </a:bodyPr>
          <a:lstStyle/>
          <a:p>
            <a:r>
              <a:rPr lang="en-US" sz="1000" b="1" dirty="0">
                <a:solidFill>
                  <a:schemeClr val="bg1">
                    <a:lumMod val="50000"/>
                  </a:schemeClr>
                </a:solidFill>
              </a:rPr>
              <a:t>104</a:t>
            </a:r>
          </a:p>
        </p:txBody>
      </p:sp>
      <p:sp>
        <p:nvSpPr>
          <p:cNvPr id="39" name="TextBox 38">
            <a:extLst>
              <a:ext uri="{FF2B5EF4-FFF2-40B4-BE49-F238E27FC236}">
                <a16:creationId xmlns:a16="http://schemas.microsoft.com/office/drawing/2014/main" id="{FFFDAC96-1C45-5285-B5A8-594B104532C8}"/>
              </a:ext>
            </a:extLst>
          </p:cNvPr>
          <p:cNvSpPr txBox="1"/>
          <p:nvPr/>
        </p:nvSpPr>
        <p:spPr>
          <a:xfrm>
            <a:off x="1587787" y="3111187"/>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40" name="TextBox 39">
            <a:extLst>
              <a:ext uri="{FF2B5EF4-FFF2-40B4-BE49-F238E27FC236}">
                <a16:creationId xmlns:a16="http://schemas.microsoft.com/office/drawing/2014/main" id="{1EB2A829-598C-37E4-5D49-1155FFD65C0D}"/>
              </a:ext>
            </a:extLst>
          </p:cNvPr>
          <p:cNvSpPr txBox="1"/>
          <p:nvPr/>
        </p:nvSpPr>
        <p:spPr>
          <a:xfrm>
            <a:off x="1587787" y="2194672"/>
            <a:ext cx="396262" cy="246221"/>
          </a:xfrm>
          <a:prstGeom prst="rect">
            <a:avLst/>
          </a:prstGeom>
          <a:noFill/>
        </p:spPr>
        <p:txBody>
          <a:bodyPr wrap="none" rtlCol="0">
            <a:spAutoFit/>
          </a:bodyPr>
          <a:lstStyle/>
          <a:p>
            <a:r>
              <a:rPr lang="en-US" sz="1000" b="1" dirty="0">
                <a:solidFill>
                  <a:schemeClr val="bg1">
                    <a:lumMod val="50000"/>
                  </a:schemeClr>
                </a:solidFill>
              </a:rPr>
              <a:t>ccc</a:t>
            </a:r>
          </a:p>
        </p:txBody>
      </p:sp>
      <p:sp>
        <p:nvSpPr>
          <p:cNvPr id="41" name="TextBox 40">
            <a:extLst>
              <a:ext uri="{FF2B5EF4-FFF2-40B4-BE49-F238E27FC236}">
                <a16:creationId xmlns:a16="http://schemas.microsoft.com/office/drawing/2014/main" id="{725D4EDB-519C-77B1-C0F5-A7B878A388FE}"/>
              </a:ext>
            </a:extLst>
          </p:cNvPr>
          <p:cNvSpPr txBox="1"/>
          <p:nvPr/>
        </p:nvSpPr>
        <p:spPr>
          <a:xfrm>
            <a:off x="1587787" y="2011369"/>
            <a:ext cx="420308" cy="246221"/>
          </a:xfrm>
          <a:prstGeom prst="rect">
            <a:avLst/>
          </a:prstGeom>
          <a:noFill/>
        </p:spPr>
        <p:txBody>
          <a:bodyPr wrap="none" rtlCol="0">
            <a:spAutoFit/>
          </a:bodyPr>
          <a:lstStyle/>
          <a:p>
            <a:r>
              <a:rPr lang="en-US" sz="1000" b="1" dirty="0" err="1">
                <a:solidFill>
                  <a:schemeClr val="bg1">
                    <a:lumMod val="50000"/>
                  </a:schemeClr>
                </a:solidFill>
              </a:rPr>
              <a:t>bbb</a:t>
            </a:r>
            <a:endParaRPr lang="en-US" sz="1000" b="1" dirty="0">
              <a:solidFill>
                <a:schemeClr val="bg1">
                  <a:lumMod val="50000"/>
                </a:schemeClr>
              </a:solidFill>
            </a:endParaRPr>
          </a:p>
        </p:txBody>
      </p:sp>
      <p:sp>
        <p:nvSpPr>
          <p:cNvPr id="42" name="TextBox 41">
            <a:extLst>
              <a:ext uri="{FF2B5EF4-FFF2-40B4-BE49-F238E27FC236}">
                <a16:creationId xmlns:a16="http://schemas.microsoft.com/office/drawing/2014/main" id="{2FE3527A-73AE-E61C-B629-5C9E49396333}"/>
              </a:ext>
            </a:extLst>
          </p:cNvPr>
          <p:cNvSpPr txBox="1"/>
          <p:nvPr/>
        </p:nvSpPr>
        <p:spPr>
          <a:xfrm>
            <a:off x="1587787" y="1828066"/>
            <a:ext cx="396262" cy="246221"/>
          </a:xfrm>
          <a:prstGeom prst="rect">
            <a:avLst/>
          </a:prstGeom>
          <a:noFill/>
        </p:spPr>
        <p:txBody>
          <a:bodyPr wrap="none" rtlCol="0">
            <a:spAutoFit/>
          </a:bodyPr>
          <a:lstStyle/>
          <a:p>
            <a:r>
              <a:rPr lang="en-US" sz="1000" b="1" dirty="0" err="1">
                <a:solidFill>
                  <a:schemeClr val="bg1">
                    <a:lumMod val="50000"/>
                  </a:schemeClr>
                </a:solidFill>
              </a:rPr>
              <a:t>aaa</a:t>
            </a:r>
            <a:endParaRPr lang="en-US" sz="1000" b="1" dirty="0">
              <a:solidFill>
                <a:schemeClr val="bg1">
                  <a:lumMod val="50000"/>
                </a:schemeClr>
              </a:solidFill>
            </a:endParaRPr>
          </a:p>
        </p:txBody>
      </p:sp>
      <p:sp>
        <p:nvSpPr>
          <p:cNvPr id="43" name="TextBox 42">
            <a:extLst>
              <a:ext uri="{FF2B5EF4-FFF2-40B4-BE49-F238E27FC236}">
                <a16:creationId xmlns:a16="http://schemas.microsoft.com/office/drawing/2014/main" id="{46A198C7-B2BC-3424-FAD0-F8A55E433EE7}"/>
              </a:ext>
            </a:extLst>
          </p:cNvPr>
          <p:cNvSpPr txBox="1"/>
          <p:nvPr/>
        </p:nvSpPr>
        <p:spPr>
          <a:xfrm>
            <a:off x="1587787" y="1644763"/>
            <a:ext cx="510076" cy="246221"/>
          </a:xfrm>
          <a:prstGeom prst="rect">
            <a:avLst/>
          </a:prstGeom>
          <a:noFill/>
        </p:spPr>
        <p:txBody>
          <a:bodyPr wrap="none" rtlCol="0">
            <a:spAutoFit/>
          </a:bodyPr>
          <a:lstStyle/>
          <a:p>
            <a:r>
              <a:rPr lang="en-US" sz="1000" b="1" dirty="0" err="1"/>
              <a:t>col_x</a:t>
            </a:r>
            <a:endParaRPr lang="en-US" sz="1000" b="1" dirty="0"/>
          </a:p>
        </p:txBody>
      </p:sp>
      <p:sp>
        <p:nvSpPr>
          <p:cNvPr id="44" name="TextBox 43">
            <a:extLst>
              <a:ext uri="{FF2B5EF4-FFF2-40B4-BE49-F238E27FC236}">
                <a16:creationId xmlns:a16="http://schemas.microsoft.com/office/drawing/2014/main" id="{0D56BD3E-3C13-9401-B92E-399296BBEDE5}"/>
              </a:ext>
            </a:extLst>
          </p:cNvPr>
          <p:cNvSpPr txBox="1"/>
          <p:nvPr/>
        </p:nvSpPr>
        <p:spPr>
          <a:xfrm>
            <a:off x="1587787" y="2927884"/>
            <a:ext cx="420308" cy="246221"/>
          </a:xfrm>
          <a:prstGeom prst="rect">
            <a:avLst/>
          </a:prstGeom>
          <a:noFill/>
        </p:spPr>
        <p:txBody>
          <a:bodyPr wrap="none" rtlCol="0">
            <a:spAutoFit/>
          </a:bodyPr>
          <a:lstStyle/>
          <a:p>
            <a:r>
              <a:rPr lang="en-US" sz="1000" b="1" dirty="0" err="1">
                <a:solidFill>
                  <a:schemeClr val="bg1">
                    <a:lumMod val="50000"/>
                  </a:schemeClr>
                </a:solidFill>
              </a:rPr>
              <a:t>ggg</a:t>
            </a:r>
            <a:endParaRPr lang="en-US" sz="1000" b="1" dirty="0">
              <a:solidFill>
                <a:schemeClr val="bg1">
                  <a:lumMod val="50000"/>
                </a:schemeClr>
              </a:solidFill>
            </a:endParaRPr>
          </a:p>
        </p:txBody>
      </p:sp>
      <p:sp>
        <p:nvSpPr>
          <p:cNvPr id="45" name="TextBox 44">
            <a:extLst>
              <a:ext uri="{FF2B5EF4-FFF2-40B4-BE49-F238E27FC236}">
                <a16:creationId xmlns:a16="http://schemas.microsoft.com/office/drawing/2014/main" id="{2D7FAE2A-FFC9-CB88-E32C-89BE62D82329}"/>
              </a:ext>
            </a:extLst>
          </p:cNvPr>
          <p:cNvSpPr txBox="1"/>
          <p:nvPr/>
        </p:nvSpPr>
        <p:spPr>
          <a:xfrm>
            <a:off x="1587787" y="2744581"/>
            <a:ext cx="314510" cy="246221"/>
          </a:xfrm>
          <a:prstGeom prst="rect">
            <a:avLst/>
          </a:prstGeom>
          <a:noFill/>
        </p:spPr>
        <p:txBody>
          <a:bodyPr wrap="none" rtlCol="0">
            <a:spAutoFit/>
          </a:bodyPr>
          <a:lstStyle/>
          <a:p>
            <a:r>
              <a:rPr lang="en-US" sz="1000" b="1" dirty="0" err="1">
                <a:solidFill>
                  <a:schemeClr val="bg1">
                    <a:lumMod val="50000"/>
                  </a:schemeClr>
                </a:solidFill>
              </a:rPr>
              <a:t>fff</a:t>
            </a:r>
            <a:endParaRPr lang="en-US" sz="1000" b="1" dirty="0">
              <a:solidFill>
                <a:schemeClr val="bg1">
                  <a:lumMod val="50000"/>
                </a:schemeClr>
              </a:solidFill>
            </a:endParaRPr>
          </a:p>
        </p:txBody>
      </p:sp>
      <p:sp>
        <p:nvSpPr>
          <p:cNvPr id="46" name="TextBox 45">
            <a:extLst>
              <a:ext uri="{FF2B5EF4-FFF2-40B4-BE49-F238E27FC236}">
                <a16:creationId xmlns:a16="http://schemas.microsoft.com/office/drawing/2014/main" id="{37F85F03-3D3F-34C2-AE1E-5A7E401267E2}"/>
              </a:ext>
            </a:extLst>
          </p:cNvPr>
          <p:cNvSpPr txBox="1"/>
          <p:nvPr/>
        </p:nvSpPr>
        <p:spPr>
          <a:xfrm>
            <a:off x="1587787" y="2561278"/>
            <a:ext cx="396262" cy="246221"/>
          </a:xfrm>
          <a:prstGeom prst="rect">
            <a:avLst/>
          </a:prstGeom>
          <a:noFill/>
        </p:spPr>
        <p:txBody>
          <a:bodyPr wrap="none" rtlCol="0">
            <a:spAutoFit/>
          </a:bodyPr>
          <a:lstStyle/>
          <a:p>
            <a:r>
              <a:rPr lang="en-US" sz="1000" b="1" dirty="0" err="1">
                <a:solidFill>
                  <a:schemeClr val="bg1">
                    <a:lumMod val="50000"/>
                  </a:schemeClr>
                </a:solidFill>
              </a:rPr>
              <a:t>eee</a:t>
            </a:r>
            <a:endParaRPr lang="en-US" sz="1000" b="1" dirty="0">
              <a:solidFill>
                <a:schemeClr val="bg1">
                  <a:lumMod val="50000"/>
                </a:schemeClr>
              </a:solidFill>
            </a:endParaRPr>
          </a:p>
        </p:txBody>
      </p:sp>
      <p:sp>
        <p:nvSpPr>
          <p:cNvPr id="47" name="TextBox 46">
            <a:extLst>
              <a:ext uri="{FF2B5EF4-FFF2-40B4-BE49-F238E27FC236}">
                <a16:creationId xmlns:a16="http://schemas.microsoft.com/office/drawing/2014/main" id="{0484FB6E-DC38-C951-AB42-2DF1B8D44E7E}"/>
              </a:ext>
            </a:extLst>
          </p:cNvPr>
          <p:cNvSpPr txBox="1"/>
          <p:nvPr/>
        </p:nvSpPr>
        <p:spPr>
          <a:xfrm>
            <a:off x="1587787" y="2377975"/>
            <a:ext cx="420308" cy="246221"/>
          </a:xfrm>
          <a:prstGeom prst="rect">
            <a:avLst/>
          </a:prstGeom>
          <a:noFill/>
        </p:spPr>
        <p:txBody>
          <a:bodyPr wrap="none" rtlCol="0">
            <a:spAutoFit/>
          </a:bodyPr>
          <a:lstStyle/>
          <a:p>
            <a:r>
              <a:rPr lang="en-US" sz="1000" b="1" dirty="0" err="1">
                <a:solidFill>
                  <a:schemeClr val="bg1">
                    <a:lumMod val="50000"/>
                  </a:schemeClr>
                </a:solidFill>
              </a:rPr>
              <a:t>ddd</a:t>
            </a:r>
            <a:endParaRPr lang="en-US" sz="1000" b="1" dirty="0">
              <a:solidFill>
                <a:schemeClr val="bg1">
                  <a:lumMod val="50000"/>
                </a:schemeClr>
              </a:solidFill>
            </a:endParaRPr>
          </a:p>
        </p:txBody>
      </p:sp>
      <p:sp>
        <p:nvSpPr>
          <p:cNvPr id="48" name="TextBox 47">
            <a:extLst>
              <a:ext uri="{FF2B5EF4-FFF2-40B4-BE49-F238E27FC236}">
                <a16:creationId xmlns:a16="http://schemas.microsoft.com/office/drawing/2014/main" id="{48440ECB-8FE1-8EFA-921C-9DE2552B751C}"/>
              </a:ext>
            </a:extLst>
          </p:cNvPr>
          <p:cNvSpPr txBox="1"/>
          <p:nvPr/>
        </p:nvSpPr>
        <p:spPr>
          <a:xfrm>
            <a:off x="2156441" y="3111187"/>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49" name="TextBox 48">
            <a:extLst>
              <a:ext uri="{FF2B5EF4-FFF2-40B4-BE49-F238E27FC236}">
                <a16:creationId xmlns:a16="http://schemas.microsoft.com/office/drawing/2014/main" id="{E7292B3C-1C71-9AD5-41A7-8490D60C6755}"/>
              </a:ext>
            </a:extLst>
          </p:cNvPr>
          <p:cNvSpPr txBox="1"/>
          <p:nvPr/>
        </p:nvSpPr>
        <p:spPr>
          <a:xfrm>
            <a:off x="2156441" y="2194672"/>
            <a:ext cx="396262" cy="246221"/>
          </a:xfrm>
          <a:prstGeom prst="rect">
            <a:avLst/>
          </a:prstGeom>
          <a:noFill/>
        </p:spPr>
        <p:txBody>
          <a:bodyPr wrap="none" rtlCol="0">
            <a:spAutoFit/>
          </a:bodyPr>
          <a:lstStyle/>
          <a:p>
            <a:r>
              <a:rPr lang="en-US" sz="1000" b="1" dirty="0">
                <a:solidFill>
                  <a:schemeClr val="bg1">
                    <a:lumMod val="50000"/>
                  </a:schemeClr>
                </a:solidFill>
              </a:rPr>
              <a:t>403</a:t>
            </a:r>
          </a:p>
        </p:txBody>
      </p:sp>
      <p:sp>
        <p:nvSpPr>
          <p:cNvPr id="50" name="TextBox 49">
            <a:extLst>
              <a:ext uri="{FF2B5EF4-FFF2-40B4-BE49-F238E27FC236}">
                <a16:creationId xmlns:a16="http://schemas.microsoft.com/office/drawing/2014/main" id="{FAF0ED3E-C3DA-5D72-BF7E-25DEB0A01864}"/>
              </a:ext>
            </a:extLst>
          </p:cNvPr>
          <p:cNvSpPr txBox="1"/>
          <p:nvPr/>
        </p:nvSpPr>
        <p:spPr>
          <a:xfrm>
            <a:off x="2156441" y="2011369"/>
            <a:ext cx="396262" cy="246221"/>
          </a:xfrm>
          <a:prstGeom prst="rect">
            <a:avLst/>
          </a:prstGeom>
          <a:noFill/>
        </p:spPr>
        <p:txBody>
          <a:bodyPr wrap="none" rtlCol="0">
            <a:spAutoFit/>
          </a:bodyPr>
          <a:lstStyle/>
          <a:p>
            <a:r>
              <a:rPr lang="en-US" sz="1000" b="1" dirty="0">
                <a:solidFill>
                  <a:schemeClr val="bg1">
                    <a:lumMod val="50000"/>
                  </a:schemeClr>
                </a:solidFill>
              </a:rPr>
              <a:t>402</a:t>
            </a:r>
          </a:p>
        </p:txBody>
      </p:sp>
      <p:sp>
        <p:nvSpPr>
          <p:cNvPr id="51" name="TextBox 50">
            <a:extLst>
              <a:ext uri="{FF2B5EF4-FFF2-40B4-BE49-F238E27FC236}">
                <a16:creationId xmlns:a16="http://schemas.microsoft.com/office/drawing/2014/main" id="{AE9BEE2A-9241-CE81-9BE4-49B5348651DE}"/>
              </a:ext>
            </a:extLst>
          </p:cNvPr>
          <p:cNvSpPr txBox="1"/>
          <p:nvPr/>
        </p:nvSpPr>
        <p:spPr>
          <a:xfrm>
            <a:off x="2156441" y="1828066"/>
            <a:ext cx="396262" cy="246221"/>
          </a:xfrm>
          <a:prstGeom prst="rect">
            <a:avLst/>
          </a:prstGeom>
          <a:noFill/>
        </p:spPr>
        <p:txBody>
          <a:bodyPr wrap="none" rtlCol="0">
            <a:spAutoFit/>
          </a:bodyPr>
          <a:lstStyle/>
          <a:p>
            <a:r>
              <a:rPr lang="en-US" sz="1000" b="1" dirty="0">
                <a:solidFill>
                  <a:schemeClr val="bg1">
                    <a:lumMod val="50000"/>
                  </a:schemeClr>
                </a:solidFill>
              </a:rPr>
              <a:t>401</a:t>
            </a:r>
          </a:p>
        </p:txBody>
      </p:sp>
      <p:sp>
        <p:nvSpPr>
          <p:cNvPr id="52" name="TextBox 51">
            <a:extLst>
              <a:ext uri="{FF2B5EF4-FFF2-40B4-BE49-F238E27FC236}">
                <a16:creationId xmlns:a16="http://schemas.microsoft.com/office/drawing/2014/main" id="{923FD844-97B5-210C-25BD-328A9DEBE168}"/>
              </a:ext>
            </a:extLst>
          </p:cNvPr>
          <p:cNvSpPr txBox="1"/>
          <p:nvPr/>
        </p:nvSpPr>
        <p:spPr>
          <a:xfrm>
            <a:off x="2156441" y="1644763"/>
            <a:ext cx="853119" cy="246221"/>
          </a:xfrm>
          <a:prstGeom prst="rect">
            <a:avLst/>
          </a:prstGeom>
          <a:noFill/>
        </p:spPr>
        <p:txBody>
          <a:bodyPr wrap="none" rtlCol="0">
            <a:spAutoFit/>
          </a:bodyPr>
          <a:lstStyle/>
          <a:p>
            <a:r>
              <a:rPr lang="en-US" sz="1000" b="1" dirty="0" err="1"/>
              <a:t>order_num</a:t>
            </a:r>
            <a:endParaRPr lang="en-US" sz="1000" b="1" dirty="0"/>
          </a:p>
        </p:txBody>
      </p:sp>
      <p:sp>
        <p:nvSpPr>
          <p:cNvPr id="53" name="TextBox 52">
            <a:extLst>
              <a:ext uri="{FF2B5EF4-FFF2-40B4-BE49-F238E27FC236}">
                <a16:creationId xmlns:a16="http://schemas.microsoft.com/office/drawing/2014/main" id="{C6E8D09A-BAC4-374C-D954-5F6BAF0974E5}"/>
              </a:ext>
            </a:extLst>
          </p:cNvPr>
          <p:cNvSpPr txBox="1"/>
          <p:nvPr/>
        </p:nvSpPr>
        <p:spPr>
          <a:xfrm>
            <a:off x="2156441" y="2927884"/>
            <a:ext cx="396262" cy="246221"/>
          </a:xfrm>
          <a:prstGeom prst="rect">
            <a:avLst/>
          </a:prstGeom>
          <a:noFill/>
        </p:spPr>
        <p:txBody>
          <a:bodyPr wrap="none" rtlCol="0">
            <a:spAutoFit/>
          </a:bodyPr>
          <a:lstStyle/>
          <a:p>
            <a:r>
              <a:rPr lang="en-US" sz="1000" b="1" dirty="0">
                <a:solidFill>
                  <a:schemeClr val="bg1">
                    <a:lumMod val="50000"/>
                  </a:schemeClr>
                </a:solidFill>
              </a:rPr>
              <a:t>407</a:t>
            </a:r>
          </a:p>
        </p:txBody>
      </p:sp>
      <p:sp>
        <p:nvSpPr>
          <p:cNvPr id="54" name="TextBox 53">
            <a:extLst>
              <a:ext uri="{FF2B5EF4-FFF2-40B4-BE49-F238E27FC236}">
                <a16:creationId xmlns:a16="http://schemas.microsoft.com/office/drawing/2014/main" id="{9D40D9E0-2F34-30F1-74D8-9A2AD2761BF3}"/>
              </a:ext>
            </a:extLst>
          </p:cNvPr>
          <p:cNvSpPr txBox="1"/>
          <p:nvPr/>
        </p:nvSpPr>
        <p:spPr>
          <a:xfrm>
            <a:off x="2156441" y="2744581"/>
            <a:ext cx="396262" cy="246221"/>
          </a:xfrm>
          <a:prstGeom prst="rect">
            <a:avLst/>
          </a:prstGeom>
          <a:noFill/>
        </p:spPr>
        <p:txBody>
          <a:bodyPr wrap="none" rtlCol="0">
            <a:spAutoFit/>
          </a:bodyPr>
          <a:lstStyle/>
          <a:p>
            <a:r>
              <a:rPr lang="en-US" sz="1000" b="1" dirty="0">
                <a:solidFill>
                  <a:schemeClr val="bg1">
                    <a:lumMod val="50000"/>
                  </a:schemeClr>
                </a:solidFill>
              </a:rPr>
              <a:t>406</a:t>
            </a:r>
          </a:p>
        </p:txBody>
      </p:sp>
      <p:sp>
        <p:nvSpPr>
          <p:cNvPr id="55" name="TextBox 54">
            <a:extLst>
              <a:ext uri="{FF2B5EF4-FFF2-40B4-BE49-F238E27FC236}">
                <a16:creationId xmlns:a16="http://schemas.microsoft.com/office/drawing/2014/main" id="{53B7EFB5-E4C8-EEB1-9D5B-78DCA4DEBC54}"/>
              </a:ext>
            </a:extLst>
          </p:cNvPr>
          <p:cNvSpPr txBox="1"/>
          <p:nvPr/>
        </p:nvSpPr>
        <p:spPr>
          <a:xfrm>
            <a:off x="2156441" y="2561278"/>
            <a:ext cx="396262" cy="246221"/>
          </a:xfrm>
          <a:prstGeom prst="rect">
            <a:avLst/>
          </a:prstGeom>
          <a:noFill/>
        </p:spPr>
        <p:txBody>
          <a:bodyPr wrap="none" rtlCol="0">
            <a:spAutoFit/>
          </a:bodyPr>
          <a:lstStyle/>
          <a:p>
            <a:r>
              <a:rPr lang="en-US" sz="1000" b="1" dirty="0">
                <a:solidFill>
                  <a:schemeClr val="bg1">
                    <a:lumMod val="50000"/>
                  </a:schemeClr>
                </a:solidFill>
              </a:rPr>
              <a:t>405</a:t>
            </a:r>
          </a:p>
        </p:txBody>
      </p:sp>
      <p:sp>
        <p:nvSpPr>
          <p:cNvPr id="56" name="TextBox 55">
            <a:extLst>
              <a:ext uri="{FF2B5EF4-FFF2-40B4-BE49-F238E27FC236}">
                <a16:creationId xmlns:a16="http://schemas.microsoft.com/office/drawing/2014/main" id="{69A03B26-0E5A-43CE-882D-B7CA6F1DDE9D}"/>
              </a:ext>
            </a:extLst>
          </p:cNvPr>
          <p:cNvSpPr txBox="1"/>
          <p:nvPr/>
        </p:nvSpPr>
        <p:spPr>
          <a:xfrm>
            <a:off x="2156441" y="2377975"/>
            <a:ext cx="396262" cy="246221"/>
          </a:xfrm>
          <a:prstGeom prst="rect">
            <a:avLst/>
          </a:prstGeom>
          <a:noFill/>
        </p:spPr>
        <p:txBody>
          <a:bodyPr wrap="none" rtlCol="0">
            <a:spAutoFit/>
          </a:bodyPr>
          <a:lstStyle/>
          <a:p>
            <a:r>
              <a:rPr lang="en-US" sz="1000" b="1" dirty="0">
                <a:solidFill>
                  <a:schemeClr val="bg1">
                    <a:lumMod val="50000"/>
                  </a:schemeClr>
                </a:solidFill>
              </a:rPr>
              <a:t>404</a:t>
            </a:r>
          </a:p>
        </p:txBody>
      </p:sp>
      <p:sp>
        <p:nvSpPr>
          <p:cNvPr id="58" name="Rectangle 57">
            <a:extLst>
              <a:ext uri="{FF2B5EF4-FFF2-40B4-BE49-F238E27FC236}">
                <a16:creationId xmlns:a16="http://schemas.microsoft.com/office/drawing/2014/main" id="{6E5A09F9-F683-839D-5A59-08D1AC6E818E}"/>
              </a:ext>
            </a:extLst>
          </p:cNvPr>
          <p:cNvSpPr/>
          <p:nvPr/>
        </p:nvSpPr>
        <p:spPr>
          <a:xfrm>
            <a:off x="5603359" y="1625910"/>
            <a:ext cx="2438400" cy="1618488"/>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26B0BB3D-A81A-F4AE-1F4E-7575AFAA706D}"/>
              </a:ext>
            </a:extLst>
          </p:cNvPr>
          <p:cNvCxnSpPr/>
          <p:nvPr/>
        </p:nvCxnSpPr>
        <p:spPr>
          <a:xfrm>
            <a:off x="5603359" y="2141518"/>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CF02B54C-A56A-B26B-213F-7926C50D54E3}"/>
              </a:ext>
            </a:extLst>
          </p:cNvPr>
          <p:cNvCxnSpPr/>
          <p:nvPr/>
        </p:nvCxnSpPr>
        <p:spPr>
          <a:xfrm>
            <a:off x="5603359" y="1777082"/>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9B69C1E-3189-0F21-851D-4B4256A8E3EE}"/>
              </a:ext>
            </a:extLst>
          </p:cNvPr>
          <p:cNvCxnSpPr/>
          <p:nvPr/>
        </p:nvCxnSpPr>
        <p:spPr>
          <a:xfrm>
            <a:off x="5603359" y="1959300"/>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54998D8-BD44-02D1-2A2D-E63F81E85400}"/>
              </a:ext>
            </a:extLst>
          </p:cNvPr>
          <p:cNvCxnSpPr/>
          <p:nvPr/>
        </p:nvCxnSpPr>
        <p:spPr>
          <a:xfrm>
            <a:off x="5603359" y="2323736"/>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F9709BA5-72AB-D9C4-6063-9E4A3837AEAD}"/>
              </a:ext>
            </a:extLst>
          </p:cNvPr>
          <p:cNvCxnSpPr/>
          <p:nvPr/>
        </p:nvCxnSpPr>
        <p:spPr>
          <a:xfrm>
            <a:off x="5603359" y="3052608"/>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5D7A4811-B67D-18B3-3153-E8223EDDB85D}"/>
              </a:ext>
            </a:extLst>
          </p:cNvPr>
          <p:cNvCxnSpPr/>
          <p:nvPr/>
        </p:nvCxnSpPr>
        <p:spPr>
          <a:xfrm>
            <a:off x="5603359" y="2870390"/>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DC81E19D-F0AE-5CB4-0A8B-393036F0FF64}"/>
              </a:ext>
            </a:extLst>
          </p:cNvPr>
          <p:cNvCxnSpPr/>
          <p:nvPr/>
        </p:nvCxnSpPr>
        <p:spPr>
          <a:xfrm>
            <a:off x="5603359" y="2688172"/>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83C2EA61-D58A-57A5-F9AC-777E7782487D}"/>
              </a:ext>
            </a:extLst>
          </p:cNvPr>
          <p:cNvCxnSpPr/>
          <p:nvPr/>
        </p:nvCxnSpPr>
        <p:spPr>
          <a:xfrm>
            <a:off x="6822559" y="1618922"/>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9" name="TextBox 258">
            <a:extLst>
              <a:ext uri="{FF2B5EF4-FFF2-40B4-BE49-F238E27FC236}">
                <a16:creationId xmlns:a16="http://schemas.microsoft.com/office/drawing/2014/main" id="{43B426BC-F4CD-DAF4-B4E9-7C0BD115C03A}"/>
              </a:ext>
            </a:extLst>
          </p:cNvPr>
          <p:cNvSpPr txBox="1"/>
          <p:nvPr/>
        </p:nvSpPr>
        <p:spPr>
          <a:xfrm>
            <a:off x="7127359" y="3024321"/>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260" name="TextBox 259">
            <a:extLst>
              <a:ext uri="{FF2B5EF4-FFF2-40B4-BE49-F238E27FC236}">
                <a16:creationId xmlns:a16="http://schemas.microsoft.com/office/drawing/2014/main" id="{C0330156-2999-37D1-B883-DD236EC8B347}"/>
              </a:ext>
            </a:extLst>
          </p:cNvPr>
          <p:cNvSpPr txBox="1"/>
          <p:nvPr/>
        </p:nvSpPr>
        <p:spPr>
          <a:xfrm>
            <a:off x="6871519" y="2107806"/>
            <a:ext cx="678391" cy="246221"/>
          </a:xfrm>
          <a:prstGeom prst="rect">
            <a:avLst/>
          </a:prstGeom>
          <a:noFill/>
        </p:spPr>
        <p:txBody>
          <a:bodyPr wrap="none" rtlCol="0">
            <a:spAutoFit/>
          </a:bodyPr>
          <a:lstStyle/>
          <a:p>
            <a:r>
              <a:rPr lang="en-US" sz="1000" b="1" dirty="0">
                <a:solidFill>
                  <a:schemeClr val="bg1">
                    <a:lumMod val="50000"/>
                  </a:schemeClr>
                </a:solidFill>
              </a:rPr>
              <a:t>07/07/18</a:t>
            </a:r>
          </a:p>
        </p:txBody>
      </p:sp>
      <p:sp>
        <p:nvSpPr>
          <p:cNvPr id="261" name="TextBox 260">
            <a:extLst>
              <a:ext uri="{FF2B5EF4-FFF2-40B4-BE49-F238E27FC236}">
                <a16:creationId xmlns:a16="http://schemas.microsoft.com/office/drawing/2014/main" id="{1C6D8DE5-084B-D59F-1983-B35F584A362D}"/>
              </a:ext>
            </a:extLst>
          </p:cNvPr>
          <p:cNvSpPr txBox="1"/>
          <p:nvPr/>
        </p:nvSpPr>
        <p:spPr>
          <a:xfrm>
            <a:off x="6871519" y="1924503"/>
            <a:ext cx="678391" cy="246221"/>
          </a:xfrm>
          <a:prstGeom prst="rect">
            <a:avLst/>
          </a:prstGeom>
          <a:noFill/>
        </p:spPr>
        <p:txBody>
          <a:bodyPr wrap="none" rtlCol="0">
            <a:spAutoFit/>
          </a:bodyPr>
          <a:lstStyle/>
          <a:p>
            <a:r>
              <a:rPr lang="en-US" sz="1000" b="1" dirty="0">
                <a:solidFill>
                  <a:schemeClr val="bg1">
                    <a:lumMod val="50000"/>
                  </a:schemeClr>
                </a:solidFill>
              </a:rPr>
              <a:t>11/12/15</a:t>
            </a:r>
          </a:p>
        </p:txBody>
      </p:sp>
      <p:sp>
        <p:nvSpPr>
          <p:cNvPr id="262" name="TextBox 261">
            <a:extLst>
              <a:ext uri="{FF2B5EF4-FFF2-40B4-BE49-F238E27FC236}">
                <a16:creationId xmlns:a16="http://schemas.microsoft.com/office/drawing/2014/main" id="{769FCE61-B0C9-E1DF-B23D-354E35BCD57C}"/>
              </a:ext>
            </a:extLst>
          </p:cNvPr>
          <p:cNvSpPr txBox="1"/>
          <p:nvPr/>
        </p:nvSpPr>
        <p:spPr>
          <a:xfrm>
            <a:off x="6871519" y="1741200"/>
            <a:ext cx="678391" cy="246221"/>
          </a:xfrm>
          <a:prstGeom prst="rect">
            <a:avLst/>
          </a:prstGeom>
          <a:noFill/>
        </p:spPr>
        <p:txBody>
          <a:bodyPr wrap="none" rtlCol="0">
            <a:spAutoFit/>
          </a:bodyPr>
          <a:lstStyle/>
          <a:p>
            <a:r>
              <a:rPr lang="en-US" sz="1000" b="1" dirty="0">
                <a:solidFill>
                  <a:schemeClr val="bg1">
                    <a:lumMod val="50000"/>
                  </a:schemeClr>
                </a:solidFill>
              </a:rPr>
              <a:t>09/01/16</a:t>
            </a:r>
          </a:p>
        </p:txBody>
      </p:sp>
      <p:sp>
        <p:nvSpPr>
          <p:cNvPr id="263" name="TextBox 262">
            <a:extLst>
              <a:ext uri="{FF2B5EF4-FFF2-40B4-BE49-F238E27FC236}">
                <a16:creationId xmlns:a16="http://schemas.microsoft.com/office/drawing/2014/main" id="{0C9FBBA7-C2B2-714F-3B63-8535D42B79C5}"/>
              </a:ext>
            </a:extLst>
          </p:cNvPr>
          <p:cNvSpPr txBox="1"/>
          <p:nvPr/>
        </p:nvSpPr>
        <p:spPr>
          <a:xfrm>
            <a:off x="6871519" y="1557897"/>
            <a:ext cx="845103" cy="246221"/>
          </a:xfrm>
          <a:prstGeom prst="rect">
            <a:avLst/>
          </a:prstGeom>
          <a:noFill/>
        </p:spPr>
        <p:txBody>
          <a:bodyPr wrap="none" rtlCol="0">
            <a:spAutoFit/>
          </a:bodyPr>
          <a:lstStyle/>
          <a:p>
            <a:r>
              <a:rPr lang="en-US" sz="1000" b="1" dirty="0" err="1"/>
              <a:t>order_date</a:t>
            </a:r>
            <a:endParaRPr lang="en-US" sz="1000" b="1" dirty="0"/>
          </a:p>
        </p:txBody>
      </p:sp>
      <p:sp>
        <p:nvSpPr>
          <p:cNvPr id="264" name="TextBox 263">
            <a:extLst>
              <a:ext uri="{FF2B5EF4-FFF2-40B4-BE49-F238E27FC236}">
                <a16:creationId xmlns:a16="http://schemas.microsoft.com/office/drawing/2014/main" id="{756E53C1-B5BB-5CEC-A685-67FD5AA0D9CD}"/>
              </a:ext>
            </a:extLst>
          </p:cNvPr>
          <p:cNvSpPr txBox="1"/>
          <p:nvPr/>
        </p:nvSpPr>
        <p:spPr>
          <a:xfrm>
            <a:off x="6871519" y="2841018"/>
            <a:ext cx="678391" cy="246221"/>
          </a:xfrm>
          <a:prstGeom prst="rect">
            <a:avLst/>
          </a:prstGeom>
          <a:noFill/>
        </p:spPr>
        <p:txBody>
          <a:bodyPr wrap="none" rtlCol="0">
            <a:spAutoFit/>
          </a:bodyPr>
          <a:lstStyle/>
          <a:p>
            <a:r>
              <a:rPr lang="en-US" sz="1000" b="1" dirty="0">
                <a:solidFill>
                  <a:schemeClr val="bg1">
                    <a:lumMod val="50000"/>
                  </a:schemeClr>
                </a:solidFill>
              </a:rPr>
              <a:t>08/02/18</a:t>
            </a:r>
          </a:p>
        </p:txBody>
      </p:sp>
      <p:sp>
        <p:nvSpPr>
          <p:cNvPr id="265" name="TextBox 264">
            <a:extLst>
              <a:ext uri="{FF2B5EF4-FFF2-40B4-BE49-F238E27FC236}">
                <a16:creationId xmlns:a16="http://schemas.microsoft.com/office/drawing/2014/main" id="{69EC5F37-BFEA-CFEE-EEF2-E7D2E9633528}"/>
              </a:ext>
            </a:extLst>
          </p:cNvPr>
          <p:cNvSpPr txBox="1"/>
          <p:nvPr/>
        </p:nvSpPr>
        <p:spPr>
          <a:xfrm>
            <a:off x="6871519" y="2657715"/>
            <a:ext cx="678391" cy="246221"/>
          </a:xfrm>
          <a:prstGeom prst="rect">
            <a:avLst/>
          </a:prstGeom>
          <a:noFill/>
        </p:spPr>
        <p:txBody>
          <a:bodyPr wrap="none" rtlCol="0">
            <a:spAutoFit/>
          </a:bodyPr>
          <a:lstStyle/>
          <a:p>
            <a:r>
              <a:rPr lang="en-US" sz="1000" b="1" dirty="0">
                <a:solidFill>
                  <a:schemeClr val="bg1">
                    <a:lumMod val="50000"/>
                  </a:schemeClr>
                </a:solidFill>
              </a:rPr>
              <a:t>03/12/12</a:t>
            </a:r>
          </a:p>
        </p:txBody>
      </p:sp>
      <p:sp>
        <p:nvSpPr>
          <p:cNvPr id="266" name="TextBox 265">
            <a:extLst>
              <a:ext uri="{FF2B5EF4-FFF2-40B4-BE49-F238E27FC236}">
                <a16:creationId xmlns:a16="http://schemas.microsoft.com/office/drawing/2014/main" id="{4C3A03BF-9A8A-E3EB-6509-A7B5916CF5B3}"/>
              </a:ext>
            </a:extLst>
          </p:cNvPr>
          <p:cNvSpPr txBox="1"/>
          <p:nvPr/>
        </p:nvSpPr>
        <p:spPr>
          <a:xfrm>
            <a:off x="6871519" y="2474412"/>
            <a:ext cx="678391" cy="246221"/>
          </a:xfrm>
          <a:prstGeom prst="rect">
            <a:avLst/>
          </a:prstGeom>
          <a:noFill/>
        </p:spPr>
        <p:txBody>
          <a:bodyPr wrap="none" rtlCol="0">
            <a:spAutoFit/>
          </a:bodyPr>
          <a:lstStyle/>
          <a:p>
            <a:r>
              <a:rPr lang="en-US" sz="1000" b="1" dirty="0">
                <a:solidFill>
                  <a:schemeClr val="bg1">
                    <a:lumMod val="50000"/>
                  </a:schemeClr>
                </a:solidFill>
              </a:rPr>
              <a:t>04/04/15</a:t>
            </a:r>
          </a:p>
        </p:txBody>
      </p:sp>
      <p:sp>
        <p:nvSpPr>
          <p:cNvPr id="267" name="TextBox 266">
            <a:extLst>
              <a:ext uri="{FF2B5EF4-FFF2-40B4-BE49-F238E27FC236}">
                <a16:creationId xmlns:a16="http://schemas.microsoft.com/office/drawing/2014/main" id="{90146F36-9EDD-58F7-F69B-F9156B9BD749}"/>
              </a:ext>
            </a:extLst>
          </p:cNvPr>
          <p:cNvSpPr txBox="1"/>
          <p:nvPr/>
        </p:nvSpPr>
        <p:spPr>
          <a:xfrm>
            <a:off x="6871519" y="2291109"/>
            <a:ext cx="678391" cy="246221"/>
          </a:xfrm>
          <a:prstGeom prst="rect">
            <a:avLst/>
          </a:prstGeom>
          <a:noFill/>
        </p:spPr>
        <p:txBody>
          <a:bodyPr wrap="none" rtlCol="0">
            <a:spAutoFit/>
          </a:bodyPr>
          <a:lstStyle/>
          <a:p>
            <a:r>
              <a:rPr lang="en-US" sz="1000" b="1" dirty="0">
                <a:solidFill>
                  <a:schemeClr val="bg1">
                    <a:lumMod val="50000"/>
                  </a:schemeClr>
                </a:solidFill>
              </a:rPr>
              <a:t>07/07/18</a:t>
            </a:r>
          </a:p>
        </p:txBody>
      </p:sp>
      <p:sp>
        <p:nvSpPr>
          <p:cNvPr id="268" name="TextBox 267">
            <a:extLst>
              <a:ext uri="{FF2B5EF4-FFF2-40B4-BE49-F238E27FC236}">
                <a16:creationId xmlns:a16="http://schemas.microsoft.com/office/drawing/2014/main" id="{5E2320E8-1C0A-F370-4B13-1FE452369C1D}"/>
              </a:ext>
            </a:extLst>
          </p:cNvPr>
          <p:cNvSpPr txBox="1"/>
          <p:nvPr/>
        </p:nvSpPr>
        <p:spPr>
          <a:xfrm>
            <a:off x="5831959" y="3024321"/>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269" name="TextBox 268">
            <a:extLst>
              <a:ext uri="{FF2B5EF4-FFF2-40B4-BE49-F238E27FC236}">
                <a16:creationId xmlns:a16="http://schemas.microsoft.com/office/drawing/2014/main" id="{17E0B0E2-69D7-A0F7-EEFB-336DAF2875FB}"/>
              </a:ext>
            </a:extLst>
          </p:cNvPr>
          <p:cNvSpPr txBox="1"/>
          <p:nvPr/>
        </p:nvSpPr>
        <p:spPr>
          <a:xfrm>
            <a:off x="5831959" y="2107806"/>
            <a:ext cx="396262" cy="246221"/>
          </a:xfrm>
          <a:prstGeom prst="rect">
            <a:avLst/>
          </a:prstGeom>
          <a:noFill/>
        </p:spPr>
        <p:txBody>
          <a:bodyPr wrap="none" rtlCol="0">
            <a:spAutoFit/>
          </a:bodyPr>
          <a:lstStyle/>
          <a:p>
            <a:r>
              <a:rPr lang="en-US" sz="1000" b="1" dirty="0">
                <a:solidFill>
                  <a:schemeClr val="bg1">
                    <a:lumMod val="50000"/>
                  </a:schemeClr>
                </a:solidFill>
              </a:rPr>
              <a:t>403</a:t>
            </a:r>
          </a:p>
        </p:txBody>
      </p:sp>
      <p:sp>
        <p:nvSpPr>
          <p:cNvPr id="270" name="TextBox 269">
            <a:extLst>
              <a:ext uri="{FF2B5EF4-FFF2-40B4-BE49-F238E27FC236}">
                <a16:creationId xmlns:a16="http://schemas.microsoft.com/office/drawing/2014/main" id="{59D1E11B-3B1F-3BD6-4AC0-C152B9ADCC6B}"/>
              </a:ext>
            </a:extLst>
          </p:cNvPr>
          <p:cNvSpPr txBox="1"/>
          <p:nvPr/>
        </p:nvSpPr>
        <p:spPr>
          <a:xfrm>
            <a:off x="5831959" y="1924503"/>
            <a:ext cx="396262" cy="246221"/>
          </a:xfrm>
          <a:prstGeom prst="rect">
            <a:avLst/>
          </a:prstGeom>
          <a:noFill/>
        </p:spPr>
        <p:txBody>
          <a:bodyPr wrap="none" rtlCol="0">
            <a:spAutoFit/>
          </a:bodyPr>
          <a:lstStyle/>
          <a:p>
            <a:r>
              <a:rPr lang="en-US" sz="1000" b="1" dirty="0">
                <a:solidFill>
                  <a:schemeClr val="bg1">
                    <a:lumMod val="50000"/>
                  </a:schemeClr>
                </a:solidFill>
              </a:rPr>
              <a:t>402</a:t>
            </a:r>
          </a:p>
        </p:txBody>
      </p:sp>
      <p:sp>
        <p:nvSpPr>
          <p:cNvPr id="271" name="TextBox 270">
            <a:extLst>
              <a:ext uri="{FF2B5EF4-FFF2-40B4-BE49-F238E27FC236}">
                <a16:creationId xmlns:a16="http://schemas.microsoft.com/office/drawing/2014/main" id="{9C2FC3D5-C946-2A56-6A2C-4CB4693D6AE0}"/>
              </a:ext>
            </a:extLst>
          </p:cNvPr>
          <p:cNvSpPr txBox="1"/>
          <p:nvPr/>
        </p:nvSpPr>
        <p:spPr>
          <a:xfrm>
            <a:off x="5831959" y="1741200"/>
            <a:ext cx="396262" cy="246221"/>
          </a:xfrm>
          <a:prstGeom prst="rect">
            <a:avLst/>
          </a:prstGeom>
          <a:noFill/>
        </p:spPr>
        <p:txBody>
          <a:bodyPr wrap="none" rtlCol="0">
            <a:spAutoFit/>
          </a:bodyPr>
          <a:lstStyle/>
          <a:p>
            <a:r>
              <a:rPr lang="en-US" sz="1000" b="1" dirty="0">
                <a:solidFill>
                  <a:schemeClr val="bg1">
                    <a:lumMod val="50000"/>
                  </a:schemeClr>
                </a:solidFill>
              </a:rPr>
              <a:t>401</a:t>
            </a:r>
          </a:p>
        </p:txBody>
      </p:sp>
      <p:sp>
        <p:nvSpPr>
          <p:cNvPr id="272" name="TextBox 271">
            <a:extLst>
              <a:ext uri="{FF2B5EF4-FFF2-40B4-BE49-F238E27FC236}">
                <a16:creationId xmlns:a16="http://schemas.microsoft.com/office/drawing/2014/main" id="{E8CD5C22-4EBA-7F04-A6A5-603BDD3304C7}"/>
              </a:ext>
            </a:extLst>
          </p:cNvPr>
          <p:cNvSpPr txBox="1"/>
          <p:nvPr/>
        </p:nvSpPr>
        <p:spPr>
          <a:xfrm>
            <a:off x="5831959" y="1557897"/>
            <a:ext cx="853119" cy="246221"/>
          </a:xfrm>
          <a:prstGeom prst="rect">
            <a:avLst/>
          </a:prstGeom>
          <a:noFill/>
        </p:spPr>
        <p:txBody>
          <a:bodyPr wrap="none" rtlCol="0">
            <a:spAutoFit/>
          </a:bodyPr>
          <a:lstStyle/>
          <a:p>
            <a:r>
              <a:rPr lang="en-US" sz="1000" b="1" dirty="0" err="1"/>
              <a:t>order_num</a:t>
            </a:r>
            <a:endParaRPr lang="en-US" sz="1000" b="1" dirty="0"/>
          </a:p>
        </p:txBody>
      </p:sp>
      <p:sp>
        <p:nvSpPr>
          <p:cNvPr id="273" name="TextBox 272">
            <a:extLst>
              <a:ext uri="{FF2B5EF4-FFF2-40B4-BE49-F238E27FC236}">
                <a16:creationId xmlns:a16="http://schemas.microsoft.com/office/drawing/2014/main" id="{6DD09312-49AD-1356-BF52-F31D36C79DDD}"/>
              </a:ext>
            </a:extLst>
          </p:cNvPr>
          <p:cNvSpPr txBox="1"/>
          <p:nvPr/>
        </p:nvSpPr>
        <p:spPr>
          <a:xfrm>
            <a:off x="5831959" y="2841018"/>
            <a:ext cx="396262" cy="246221"/>
          </a:xfrm>
          <a:prstGeom prst="rect">
            <a:avLst/>
          </a:prstGeom>
          <a:noFill/>
        </p:spPr>
        <p:txBody>
          <a:bodyPr wrap="none" rtlCol="0">
            <a:spAutoFit/>
          </a:bodyPr>
          <a:lstStyle/>
          <a:p>
            <a:r>
              <a:rPr lang="en-US" sz="1000" b="1" dirty="0">
                <a:solidFill>
                  <a:schemeClr val="bg1">
                    <a:lumMod val="50000"/>
                  </a:schemeClr>
                </a:solidFill>
              </a:rPr>
              <a:t>407</a:t>
            </a:r>
          </a:p>
        </p:txBody>
      </p:sp>
      <p:sp>
        <p:nvSpPr>
          <p:cNvPr id="275" name="TextBox 274">
            <a:extLst>
              <a:ext uri="{FF2B5EF4-FFF2-40B4-BE49-F238E27FC236}">
                <a16:creationId xmlns:a16="http://schemas.microsoft.com/office/drawing/2014/main" id="{EF7D644A-4138-7F37-F250-EECDDCE61202}"/>
              </a:ext>
            </a:extLst>
          </p:cNvPr>
          <p:cNvSpPr txBox="1"/>
          <p:nvPr/>
        </p:nvSpPr>
        <p:spPr>
          <a:xfrm>
            <a:off x="5831959" y="2657715"/>
            <a:ext cx="396262" cy="246221"/>
          </a:xfrm>
          <a:prstGeom prst="rect">
            <a:avLst/>
          </a:prstGeom>
          <a:noFill/>
        </p:spPr>
        <p:txBody>
          <a:bodyPr wrap="none" rtlCol="0">
            <a:spAutoFit/>
          </a:bodyPr>
          <a:lstStyle/>
          <a:p>
            <a:r>
              <a:rPr lang="en-US" sz="1000" b="1" dirty="0">
                <a:solidFill>
                  <a:schemeClr val="bg1">
                    <a:lumMod val="50000"/>
                  </a:schemeClr>
                </a:solidFill>
              </a:rPr>
              <a:t>406</a:t>
            </a:r>
          </a:p>
        </p:txBody>
      </p:sp>
      <p:sp>
        <p:nvSpPr>
          <p:cNvPr id="276" name="TextBox 275">
            <a:extLst>
              <a:ext uri="{FF2B5EF4-FFF2-40B4-BE49-F238E27FC236}">
                <a16:creationId xmlns:a16="http://schemas.microsoft.com/office/drawing/2014/main" id="{246D183F-0C19-24D9-6692-9D57713146EF}"/>
              </a:ext>
            </a:extLst>
          </p:cNvPr>
          <p:cNvSpPr txBox="1"/>
          <p:nvPr/>
        </p:nvSpPr>
        <p:spPr>
          <a:xfrm>
            <a:off x="5831959" y="2474412"/>
            <a:ext cx="396262" cy="246221"/>
          </a:xfrm>
          <a:prstGeom prst="rect">
            <a:avLst/>
          </a:prstGeom>
          <a:noFill/>
        </p:spPr>
        <p:txBody>
          <a:bodyPr wrap="none" rtlCol="0">
            <a:spAutoFit/>
          </a:bodyPr>
          <a:lstStyle/>
          <a:p>
            <a:r>
              <a:rPr lang="en-US" sz="1000" b="1" dirty="0">
                <a:solidFill>
                  <a:schemeClr val="bg1">
                    <a:lumMod val="50000"/>
                  </a:schemeClr>
                </a:solidFill>
              </a:rPr>
              <a:t>405</a:t>
            </a:r>
          </a:p>
        </p:txBody>
      </p:sp>
      <p:sp>
        <p:nvSpPr>
          <p:cNvPr id="277" name="TextBox 276">
            <a:extLst>
              <a:ext uri="{FF2B5EF4-FFF2-40B4-BE49-F238E27FC236}">
                <a16:creationId xmlns:a16="http://schemas.microsoft.com/office/drawing/2014/main" id="{65FFD5BF-5B73-7AD0-2A6E-5141CA1B2705}"/>
              </a:ext>
            </a:extLst>
          </p:cNvPr>
          <p:cNvSpPr txBox="1"/>
          <p:nvPr/>
        </p:nvSpPr>
        <p:spPr>
          <a:xfrm>
            <a:off x="5831959" y="2291109"/>
            <a:ext cx="396262" cy="246221"/>
          </a:xfrm>
          <a:prstGeom prst="rect">
            <a:avLst/>
          </a:prstGeom>
          <a:noFill/>
        </p:spPr>
        <p:txBody>
          <a:bodyPr wrap="none" rtlCol="0">
            <a:spAutoFit/>
          </a:bodyPr>
          <a:lstStyle/>
          <a:p>
            <a:r>
              <a:rPr lang="en-US" sz="1000" b="1" dirty="0">
                <a:solidFill>
                  <a:schemeClr val="bg1">
                    <a:lumMod val="50000"/>
                  </a:schemeClr>
                </a:solidFill>
              </a:rPr>
              <a:t>404</a:t>
            </a:r>
          </a:p>
        </p:txBody>
      </p:sp>
      <p:cxnSp>
        <p:nvCxnSpPr>
          <p:cNvPr id="278" name="Straight Connector 277">
            <a:extLst>
              <a:ext uri="{FF2B5EF4-FFF2-40B4-BE49-F238E27FC236}">
                <a16:creationId xmlns:a16="http://schemas.microsoft.com/office/drawing/2014/main" id="{45C07807-DE49-B4C8-769B-799F83814BE5}"/>
              </a:ext>
            </a:extLst>
          </p:cNvPr>
          <p:cNvCxnSpPr/>
          <p:nvPr/>
        </p:nvCxnSpPr>
        <p:spPr>
          <a:xfrm>
            <a:off x="5831959" y="1622416"/>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1DE3B9E4-55E7-279C-74AE-1893111D0721}"/>
              </a:ext>
            </a:extLst>
          </p:cNvPr>
          <p:cNvCxnSpPr/>
          <p:nvPr/>
        </p:nvCxnSpPr>
        <p:spPr>
          <a:xfrm>
            <a:off x="5603359" y="2481943"/>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082B59B0-110F-0D1E-9148-2B153BCFAF98}"/>
              </a:ext>
            </a:extLst>
          </p:cNvPr>
          <p:cNvCxnSpPr>
            <a:cxnSpLocks/>
          </p:cNvCxnSpPr>
          <p:nvPr/>
        </p:nvCxnSpPr>
        <p:spPr>
          <a:xfrm>
            <a:off x="456947" y="1875573"/>
            <a:ext cx="25548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a16="http://schemas.microsoft.com/office/drawing/2014/main" id="{5AF7A9D2-66BC-2E02-D67F-A81C8FB14585}"/>
              </a:ext>
            </a:extLst>
          </p:cNvPr>
          <p:cNvCxnSpPr>
            <a:cxnSpLocks/>
          </p:cNvCxnSpPr>
          <p:nvPr/>
        </p:nvCxnSpPr>
        <p:spPr>
          <a:xfrm>
            <a:off x="456952" y="2590296"/>
            <a:ext cx="25548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48930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3F57560-D349-13A0-FF96-5661589812B2}"/>
            </a:ext>
          </a:extLst>
        </p:cNvPr>
        <p:cNvGrpSpPr/>
        <p:nvPr/>
      </p:nvGrpSpPr>
      <p:grpSpPr>
        <a:xfrm>
          <a:off x="0" y="0"/>
          <a:ext cx="0" cy="0"/>
          <a:chOff x="0" y="0"/>
          <a:chExt cx="0" cy="0"/>
        </a:xfrm>
      </p:grpSpPr>
      <p:sp>
        <p:nvSpPr>
          <p:cNvPr id="274" name="Google Shape;274;p56">
            <a:extLst>
              <a:ext uri="{FF2B5EF4-FFF2-40B4-BE49-F238E27FC236}">
                <a16:creationId xmlns:a16="http://schemas.microsoft.com/office/drawing/2014/main" id="{B6D20BAE-A7AD-7E9E-F8CF-2BD355306AC2}"/>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59</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
        <p:nvSpPr>
          <p:cNvPr id="2" name="Rectangle 1">
            <a:extLst>
              <a:ext uri="{FF2B5EF4-FFF2-40B4-BE49-F238E27FC236}">
                <a16:creationId xmlns:a16="http://schemas.microsoft.com/office/drawing/2014/main" id="{CA9D797F-B39C-BA7E-7432-479704AF192D}"/>
              </a:ext>
            </a:extLst>
          </p:cNvPr>
          <p:cNvSpPr/>
          <p:nvPr/>
        </p:nvSpPr>
        <p:spPr>
          <a:xfrm>
            <a:off x="1234559" y="1509488"/>
            <a:ext cx="2438400" cy="1618488"/>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72FDBC48-B649-90E1-8AEF-54284D13D0C8}"/>
              </a:ext>
            </a:extLst>
          </p:cNvPr>
          <p:cNvCxnSpPr/>
          <p:nvPr/>
        </p:nvCxnSpPr>
        <p:spPr>
          <a:xfrm>
            <a:off x="1234559" y="2025096"/>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62C028B4-4220-67F7-2654-F4C67135361D}"/>
              </a:ext>
            </a:extLst>
          </p:cNvPr>
          <p:cNvCxnSpPr/>
          <p:nvPr/>
        </p:nvCxnSpPr>
        <p:spPr>
          <a:xfrm>
            <a:off x="1234559" y="1660660"/>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C225260-469A-7F3D-7B05-DDC7786C0FA4}"/>
              </a:ext>
            </a:extLst>
          </p:cNvPr>
          <p:cNvCxnSpPr/>
          <p:nvPr/>
        </p:nvCxnSpPr>
        <p:spPr>
          <a:xfrm>
            <a:off x="1234559" y="1842878"/>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B38B285-D049-7748-4925-350D682C504A}"/>
              </a:ext>
            </a:extLst>
          </p:cNvPr>
          <p:cNvCxnSpPr/>
          <p:nvPr/>
        </p:nvCxnSpPr>
        <p:spPr>
          <a:xfrm>
            <a:off x="1234559" y="2207314"/>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F9F6DC7-DFFF-7992-F289-02BF14E58222}"/>
              </a:ext>
            </a:extLst>
          </p:cNvPr>
          <p:cNvCxnSpPr/>
          <p:nvPr/>
        </p:nvCxnSpPr>
        <p:spPr>
          <a:xfrm>
            <a:off x="1234559" y="2936186"/>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6D9C517-ADA3-98CB-150C-4C7A5AF354EB}"/>
              </a:ext>
            </a:extLst>
          </p:cNvPr>
          <p:cNvCxnSpPr/>
          <p:nvPr/>
        </p:nvCxnSpPr>
        <p:spPr>
          <a:xfrm>
            <a:off x="1234559" y="2753968"/>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9DE7DCD-C912-EF30-D11E-06B959FADDAA}"/>
              </a:ext>
            </a:extLst>
          </p:cNvPr>
          <p:cNvCxnSpPr/>
          <p:nvPr/>
        </p:nvCxnSpPr>
        <p:spPr>
          <a:xfrm>
            <a:off x="1234559" y="2571750"/>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753B8E3-95C4-0E9E-2A99-566C6A31365D}"/>
              </a:ext>
            </a:extLst>
          </p:cNvPr>
          <p:cNvCxnSpPr/>
          <p:nvPr/>
        </p:nvCxnSpPr>
        <p:spPr>
          <a:xfrm>
            <a:off x="2453759" y="1502500"/>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F0F1779-D5B0-3095-6DF5-D9D8DAB48F63}"/>
              </a:ext>
            </a:extLst>
          </p:cNvPr>
          <p:cNvSpPr txBox="1"/>
          <p:nvPr/>
        </p:nvSpPr>
        <p:spPr>
          <a:xfrm>
            <a:off x="2758559" y="2907899"/>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13" name="TextBox 12">
            <a:extLst>
              <a:ext uri="{FF2B5EF4-FFF2-40B4-BE49-F238E27FC236}">
                <a16:creationId xmlns:a16="http://schemas.microsoft.com/office/drawing/2014/main" id="{5EED8BE7-9D83-A022-4D84-C9068057CAEE}"/>
              </a:ext>
            </a:extLst>
          </p:cNvPr>
          <p:cNvSpPr txBox="1"/>
          <p:nvPr/>
        </p:nvSpPr>
        <p:spPr>
          <a:xfrm>
            <a:off x="2502719" y="1991384"/>
            <a:ext cx="503664" cy="246221"/>
          </a:xfrm>
          <a:prstGeom prst="rect">
            <a:avLst/>
          </a:prstGeom>
          <a:noFill/>
        </p:spPr>
        <p:txBody>
          <a:bodyPr wrap="none" rtlCol="0">
            <a:spAutoFit/>
          </a:bodyPr>
          <a:lstStyle/>
          <a:p>
            <a:r>
              <a:rPr lang="en-US" sz="1000" b="1" dirty="0">
                <a:solidFill>
                  <a:schemeClr val="bg1">
                    <a:lumMod val="50000"/>
                  </a:schemeClr>
                </a:solidFill>
              </a:rPr>
              <a:t>Carly</a:t>
            </a:r>
          </a:p>
        </p:txBody>
      </p:sp>
      <p:sp>
        <p:nvSpPr>
          <p:cNvPr id="14" name="TextBox 13">
            <a:extLst>
              <a:ext uri="{FF2B5EF4-FFF2-40B4-BE49-F238E27FC236}">
                <a16:creationId xmlns:a16="http://schemas.microsoft.com/office/drawing/2014/main" id="{9B147A40-853E-6535-3EC4-0D665685B724}"/>
              </a:ext>
            </a:extLst>
          </p:cNvPr>
          <p:cNvSpPr txBox="1"/>
          <p:nvPr/>
        </p:nvSpPr>
        <p:spPr>
          <a:xfrm>
            <a:off x="2502719" y="1808081"/>
            <a:ext cx="461986" cy="246221"/>
          </a:xfrm>
          <a:prstGeom prst="rect">
            <a:avLst/>
          </a:prstGeom>
          <a:noFill/>
        </p:spPr>
        <p:txBody>
          <a:bodyPr wrap="none" rtlCol="0">
            <a:spAutoFit/>
          </a:bodyPr>
          <a:lstStyle/>
          <a:p>
            <a:r>
              <a:rPr lang="en-US" sz="1000" b="1" dirty="0">
                <a:solidFill>
                  <a:schemeClr val="bg1">
                    <a:lumMod val="50000"/>
                  </a:schemeClr>
                </a:solidFill>
              </a:rPr>
              <a:t>Alan</a:t>
            </a:r>
          </a:p>
        </p:txBody>
      </p:sp>
      <p:sp>
        <p:nvSpPr>
          <p:cNvPr id="15" name="TextBox 14">
            <a:extLst>
              <a:ext uri="{FF2B5EF4-FFF2-40B4-BE49-F238E27FC236}">
                <a16:creationId xmlns:a16="http://schemas.microsoft.com/office/drawing/2014/main" id="{12FBFC08-92AE-CEE2-81AD-FB7053D86AF9}"/>
              </a:ext>
            </a:extLst>
          </p:cNvPr>
          <p:cNvSpPr txBox="1"/>
          <p:nvPr/>
        </p:nvSpPr>
        <p:spPr>
          <a:xfrm>
            <a:off x="2502719" y="1624778"/>
            <a:ext cx="503664" cy="246221"/>
          </a:xfrm>
          <a:prstGeom prst="rect">
            <a:avLst/>
          </a:prstGeom>
          <a:noFill/>
        </p:spPr>
        <p:txBody>
          <a:bodyPr wrap="none" rtlCol="0">
            <a:spAutoFit/>
          </a:bodyPr>
          <a:lstStyle/>
          <a:p>
            <a:r>
              <a:rPr lang="en-US" sz="1000" b="1" dirty="0">
                <a:solidFill>
                  <a:schemeClr val="bg1">
                    <a:lumMod val="50000"/>
                  </a:schemeClr>
                </a:solidFill>
              </a:rPr>
              <a:t>Carly</a:t>
            </a:r>
          </a:p>
        </p:txBody>
      </p:sp>
      <p:sp>
        <p:nvSpPr>
          <p:cNvPr id="16" name="TextBox 15">
            <a:extLst>
              <a:ext uri="{FF2B5EF4-FFF2-40B4-BE49-F238E27FC236}">
                <a16:creationId xmlns:a16="http://schemas.microsoft.com/office/drawing/2014/main" id="{974488B1-EF4D-0DA4-41D5-83B72CCBEF63}"/>
              </a:ext>
            </a:extLst>
          </p:cNvPr>
          <p:cNvSpPr txBox="1"/>
          <p:nvPr/>
        </p:nvSpPr>
        <p:spPr>
          <a:xfrm>
            <a:off x="2502719" y="1441475"/>
            <a:ext cx="561372" cy="246221"/>
          </a:xfrm>
          <a:prstGeom prst="rect">
            <a:avLst/>
          </a:prstGeom>
          <a:noFill/>
        </p:spPr>
        <p:txBody>
          <a:bodyPr wrap="none" rtlCol="0">
            <a:spAutoFit/>
          </a:bodyPr>
          <a:lstStyle/>
          <a:p>
            <a:r>
              <a:rPr lang="en-US" sz="1000" b="1" dirty="0" err="1"/>
              <a:t>fname</a:t>
            </a:r>
            <a:endParaRPr lang="en-US" sz="1000" b="1" dirty="0"/>
          </a:p>
        </p:txBody>
      </p:sp>
      <p:sp>
        <p:nvSpPr>
          <p:cNvPr id="17" name="TextBox 16">
            <a:extLst>
              <a:ext uri="{FF2B5EF4-FFF2-40B4-BE49-F238E27FC236}">
                <a16:creationId xmlns:a16="http://schemas.microsoft.com/office/drawing/2014/main" id="{C8A025DD-D1E4-4A77-CE23-E1D7991FE12D}"/>
              </a:ext>
            </a:extLst>
          </p:cNvPr>
          <p:cNvSpPr txBox="1"/>
          <p:nvPr/>
        </p:nvSpPr>
        <p:spPr>
          <a:xfrm>
            <a:off x="2502719" y="2724596"/>
            <a:ext cx="489236" cy="246221"/>
          </a:xfrm>
          <a:prstGeom prst="rect">
            <a:avLst/>
          </a:prstGeom>
          <a:noFill/>
        </p:spPr>
        <p:txBody>
          <a:bodyPr wrap="none" rtlCol="0">
            <a:spAutoFit/>
          </a:bodyPr>
          <a:lstStyle/>
          <a:p>
            <a:r>
              <a:rPr lang="en-US" sz="1000" b="1" dirty="0">
                <a:solidFill>
                  <a:schemeClr val="bg1">
                    <a:lumMod val="50000"/>
                  </a:schemeClr>
                </a:solidFill>
              </a:rPr>
              <a:t>Billie</a:t>
            </a:r>
          </a:p>
        </p:txBody>
      </p:sp>
      <p:sp>
        <p:nvSpPr>
          <p:cNvPr id="18" name="TextBox 17">
            <a:extLst>
              <a:ext uri="{FF2B5EF4-FFF2-40B4-BE49-F238E27FC236}">
                <a16:creationId xmlns:a16="http://schemas.microsoft.com/office/drawing/2014/main" id="{2D3DC50C-00FC-1754-EBFB-ED8B7411253D}"/>
              </a:ext>
            </a:extLst>
          </p:cNvPr>
          <p:cNvSpPr txBox="1"/>
          <p:nvPr/>
        </p:nvSpPr>
        <p:spPr>
          <a:xfrm>
            <a:off x="2502719" y="2541293"/>
            <a:ext cx="532518" cy="246221"/>
          </a:xfrm>
          <a:prstGeom prst="rect">
            <a:avLst/>
          </a:prstGeom>
          <a:noFill/>
        </p:spPr>
        <p:txBody>
          <a:bodyPr wrap="none" rtlCol="0">
            <a:spAutoFit/>
          </a:bodyPr>
          <a:lstStyle/>
          <a:p>
            <a:r>
              <a:rPr lang="en-US" sz="1000" b="1" dirty="0">
                <a:solidFill>
                  <a:schemeClr val="bg1">
                    <a:lumMod val="50000"/>
                  </a:schemeClr>
                </a:solidFill>
              </a:rPr>
              <a:t>Naitik</a:t>
            </a:r>
          </a:p>
        </p:txBody>
      </p:sp>
      <p:sp>
        <p:nvSpPr>
          <p:cNvPr id="19" name="TextBox 18">
            <a:extLst>
              <a:ext uri="{FF2B5EF4-FFF2-40B4-BE49-F238E27FC236}">
                <a16:creationId xmlns:a16="http://schemas.microsoft.com/office/drawing/2014/main" id="{E90DD61D-FD7D-98BC-3B66-8687A8445363}"/>
              </a:ext>
            </a:extLst>
          </p:cNvPr>
          <p:cNvSpPr txBox="1"/>
          <p:nvPr/>
        </p:nvSpPr>
        <p:spPr>
          <a:xfrm>
            <a:off x="2502719" y="2357990"/>
            <a:ext cx="404278" cy="246221"/>
          </a:xfrm>
          <a:prstGeom prst="rect">
            <a:avLst/>
          </a:prstGeom>
          <a:noFill/>
        </p:spPr>
        <p:txBody>
          <a:bodyPr wrap="none" rtlCol="0">
            <a:spAutoFit/>
          </a:bodyPr>
          <a:lstStyle/>
          <a:p>
            <a:r>
              <a:rPr lang="en-US" sz="1000" b="1" dirty="0">
                <a:solidFill>
                  <a:schemeClr val="bg1">
                    <a:lumMod val="50000"/>
                  </a:schemeClr>
                </a:solidFill>
              </a:rPr>
              <a:t>Jim</a:t>
            </a:r>
          </a:p>
        </p:txBody>
      </p:sp>
      <p:sp>
        <p:nvSpPr>
          <p:cNvPr id="20" name="TextBox 19">
            <a:extLst>
              <a:ext uri="{FF2B5EF4-FFF2-40B4-BE49-F238E27FC236}">
                <a16:creationId xmlns:a16="http://schemas.microsoft.com/office/drawing/2014/main" id="{47C36C0E-B484-E65D-454C-F6E4D0D278A9}"/>
              </a:ext>
            </a:extLst>
          </p:cNvPr>
          <p:cNvSpPr txBox="1"/>
          <p:nvPr/>
        </p:nvSpPr>
        <p:spPr>
          <a:xfrm>
            <a:off x="2502719" y="2174687"/>
            <a:ext cx="489236" cy="246221"/>
          </a:xfrm>
          <a:prstGeom prst="rect">
            <a:avLst/>
          </a:prstGeom>
          <a:noFill/>
        </p:spPr>
        <p:txBody>
          <a:bodyPr wrap="none" rtlCol="0">
            <a:spAutoFit/>
          </a:bodyPr>
          <a:lstStyle/>
          <a:p>
            <a:r>
              <a:rPr lang="en-US" sz="1000" b="1" dirty="0">
                <a:solidFill>
                  <a:schemeClr val="bg1">
                    <a:lumMod val="50000"/>
                  </a:schemeClr>
                </a:solidFill>
              </a:rPr>
              <a:t>Dave</a:t>
            </a:r>
          </a:p>
        </p:txBody>
      </p:sp>
      <p:sp>
        <p:nvSpPr>
          <p:cNvPr id="21" name="TextBox 20">
            <a:extLst>
              <a:ext uri="{FF2B5EF4-FFF2-40B4-BE49-F238E27FC236}">
                <a16:creationId xmlns:a16="http://schemas.microsoft.com/office/drawing/2014/main" id="{E4D8DB20-A4A4-4176-A74F-817D61492FAD}"/>
              </a:ext>
            </a:extLst>
          </p:cNvPr>
          <p:cNvSpPr txBox="1"/>
          <p:nvPr/>
        </p:nvSpPr>
        <p:spPr>
          <a:xfrm>
            <a:off x="1463159" y="2907899"/>
            <a:ext cx="312906" cy="246221"/>
          </a:xfrm>
          <a:prstGeom prst="rect">
            <a:avLst/>
          </a:prstGeom>
          <a:noFill/>
        </p:spPr>
        <p:txBody>
          <a:bodyPr wrap="none" rtlCol="0">
            <a:spAutoFit/>
          </a:bodyPr>
          <a:lstStyle/>
          <a:p>
            <a:r>
              <a:rPr lang="en-US" sz="1000" b="1" dirty="0">
                <a:solidFill>
                  <a:schemeClr val="bg1">
                    <a:lumMod val="50000"/>
                  </a:schemeClr>
                </a:solidFill>
              </a:rPr>
              <a:t>…</a:t>
            </a:r>
          </a:p>
        </p:txBody>
      </p:sp>
      <p:sp>
        <p:nvSpPr>
          <p:cNvPr id="22" name="TextBox 21">
            <a:extLst>
              <a:ext uri="{FF2B5EF4-FFF2-40B4-BE49-F238E27FC236}">
                <a16:creationId xmlns:a16="http://schemas.microsoft.com/office/drawing/2014/main" id="{D137215E-DEB4-1F5D-ACE4-0433F69BAF3C}"/>
              </a:ext>
            </a:extLst>
          </p:cNvPr>
          <p:cNvSpPr txBox="1"/>
          <p:nvPr/>
        </p:nvSpPr>
        <p:spPr>
          <a:xfrm>
            <a:off x="1463159" y="1991384"/>
            <a:ext cx="540533" cy="246221"/>
          </a:xfrm>
          <a:prstGeom prst="rect">
            <a:avLst/>
          </a:prstGeom>
          <a:noFill/>
        </p:spPr>
        <p:txBody>
          <a:bodyPr wrap="none" rtlCol="0">
            <a:spAutoFit/>
          </a:bodyPr>
          <a:lstStyle/>
          <a:p>
            <a:r>
              <a:rPr lang="en-US" sz="1000" b="1" dirty="0">
                <a:solidFill>
                  <a:schemeClr val="bg1">
                    <a:lumMod val="50000"/>
                  </a:schemeClr>
                </a:solidFill>
              </a:rPr>
              <a:t>Smith</a:t>
            </a:r>
          </a:p>
        </p:txBody>
      </p:sp>
      <p:sp>
        <p:nvSpPr>
          <p:cNvPr id="23" name="TextBox 22">
            <a:extLst>
              <a:ext uri="{FF2B5EF4-FFF2-40B4-BE49-F238E27FC236}">
                <a16:creationId xmlns:a16="http://schemas.microsoft.com/office/drawing/2014/main" id="{A598FBDF-7F65-50F9-0C5B-CD01E0E8A53F}"/>
              </a:ext>
            </a:extLst>
          </p:cNvPr>
          <p:cNvSpPr txBox="1"/>
          <p:nvPr/>
        </p:nvSpPr>
        <p:spPr>
          <a:xfrm>
            <a:off x="1463159" y="1808081"/>
            <a:ext cx="540533" cy="246221"/>
          </a:xfrm>
          <a:prstGeom prst="rect">
            <a:avLst/>
          </a:prstGeom>
          <a:noFill/>
        </p:spPr>
        <p:txBody>
          <a:bodyPr wrap="none" rtlCol="0">
            <a:spAutoFit/>
          </a:bodyPr>
          <a:lstStyle/>
          <a:p>
            <a:r>
              <a:rPr lang="en-US" sz="1000" b="1" dirty="0">
                <a:solidFill>
                  <a:schemeClr val="bg1">
                    <a:lumMod val="50000"/>
                  </a:schemeClr>
                </a:solidFill>
              </a:rPr>
              <a:t>Smith</a:t>
            </a:r>
          </a:p>
        </p:txBody>
      </p:sp>
      <p:sp>
        <p:nvSpPr>
          <p:cNvPr id="24" name="TextBox 23">
            <a:extLst>
              <a:ext uri="{FF2B5EF4-FFF2-40B4-BE49-F238E27FC236}">
                <a16:creationId xmlns:a16="http://schemas.microsoft.com/office/drawing/2014/main" id="{A50EBE7D-1ED2-7EAE-C97D-23A6E74EDF94}"/>
              </a:ext>
            </a:extLst>
          </p:cNvPr>
          <p:cNvSpPr txBox="1"/>
          <p:nvPr/>
        </p:nvSpPr>
        <p:spPr>
          <a:xfrm>
            <a:off x="1463159" y="1624778"/>
            <a:ext cx="532518" cy="246221"/>
          </a:xfrm>
          <a:prstGeom prst="rect">
            <a:avLst/>
          </a:prstGeom>
          <a:noFill/>
        </p:spPr>
        <p:txBody>
          <a:bodyPr wrap="none" rtlCol="0">
            <a:spAutoFit/>
          </a:bodyPr>
          <a:lstStyle/>
          <a:p>
            <a:r>
              <a:rPr lang="en-US" sz="1000" b="1" dirty="0">
                <a:solidFill>
                  <a:schemeClr val="bg1">
                    <a:lumMod val="50000"/>
                  </a:schemeClr>
                </a:solidFill>
              </a:rPr>
              <a:t>Smite</a:t>
            </a:r>
          </a:p>
        </p:txBody>
      </p:sp>
      <p:sp>
        <p:nvSpPr>
          <p:cNvPr id="25" name="TextBox 24">
            <a:extLst>
              <a:ext uri="{FF2B5EF4-FFF2-40B4-BE49-F238E27FC236}">
                <a16:creationId xmlns:a16="http://schemas.microsoft.com/office/drawing/2014/main" id="{269E9543-6636-EF90-AA50-B24D441BCC7C}"/>
              </a:ext>
            </a:extLst>
          </p:cNvPr>
          <p:cNvSpPr txBox="1"/>
          <p:nvPr/>
        </p:nvSpPr>
        <p:spPr>
          <a:xfrm>
            <a:off x="1463159" y="1441475"/>
            <a:ext cx="553357" cy="246221"/>
          </a:xfrm>
          <a:prstGeom prst="rect">
            <a:avLst/>
          </a:prstGeom>
          <a:noFill/>
        </p:spPr>
        <p:txBody>
          <a:bodyPr wrap="none" rtlCol="0">
            <a:spAutoFit/>
          </a:bodyPr>
          <a:lstStyle/>
          <a:p>
            <a:r>
              <a:rPr lang="en-US" sz="1000" b="1" dirty="0" err="1"/>
              <a:t>lname</a:t>
            </a:r>
            <a:endParaRPr lang="en-US" sz="1000" b="1" dirty="0"/>
          </a:p>
        </p:txBody>
      </p:sp>
      <p:sp>
        <p:nvSpPr>
          <p:cNvPr id="26" name="TextBox 25">
            <a:extLst>
              <a:ext uri="{FF2B5EF4-FFF2-40B4-BE49-F238E27FC236}">
                <a16:creationId xmlns:a16="http://schemas.microsoft.com/office/drawing/2014/main" id="{467FFB64-7F14-8B29-EB8A-890261F1BCBA}"/>
              </a:ext>
            </a:extLst>
          </p:cNvPr>
          <p:cNvSpPr txBox="1"/>
          <p:nvPr/>
        </p:nvSpPr>
        <p:spPr>
          <a:xfrm>
            <a:off x="1463159" y="2724596"/>
            <a:ext cx="540533" cy="246221"/>
          </a:xfrm>
          <a:prstGeom prst="rect">
            <a:avLst/>
          </a:prstGeom>
          <a:noFill/>
        </p:spPr>
        <p:txBody>
          <a:bodyPr wrap="none" rtlCol="0">
            <a:spAutoFit/>
          </a:bodyPr>
          <a:lstStyle/>
          <a:p>
            <a:r>
              <a:rPr lang="en-US" sz="1000" b="1" dirty="0">
                <a:solidFill>
                  <a:schemeClr val="bg1">
                    <a:lumMod val="50000"/>
                  </a:schemeClr>
                </a:solidFill>
              </a:rPr>
              <a:t>Stang</a:t>
            </a:r>
          </a:p>
        </p:txBody>
      </p:sp>
      <p:sp>
        <p:nvSpPr>
          <p:cNvPr id="27" name="TextBox 26">
            <a:extLst>
              <a:ext uri="{FF2B5EF4-FFF2-40B4-BE49-F238E27FC236}">
                <a16:creationId xmlns:a16="http://schemas.microsoft.com/office/drawing/2014/main" id="{36A3E217-465C-4A42-6260-879291B5299D}"/>
              </a:ext>
            </a:extLst>
          </p:cNvPr>
          <p:cNvSpPr txBox="1"/>
          <p:nvPr/>
        </p:nvSpPr>
        <p:spPr>
          <a:xfrm>
            <a:off x="1463159" y="2541293"/>
            <a:ext cx="768159" cy="246221"/>
          </a:xfrm>
          <a:prstGeom prst="rect">
            <a:avLst/>
          </a:prstGeom>
          <a:noFill/>
        </p:spPr>
        <p:txBody>
          <a:bodyPr wrap="none" rtlCol="0">
            <a:spAutoFit/>
          </a:bodyPr>
          <a:lstStyle/>
          <a:p>
            <a:r>
              <a:rPr lang="en-US" sz="1000" b="1" dirty="0">
                <a:solidFill>
                  <a:schemeClr val="bg1">
                    <a:lumMod val="50000"/>
                  </a:schemeClr>
                </a:solidFill>
              </a:rPr>
              <a:t>Smithson</a:t>
            </a:r>
          </a:p>
        </p:txBody>
      </p:sp>
      <p:sp>
        <p:nvSpPr>
          <p:cNvPr id="28" name="TextBox 27">
            <a:extLst>
              <a:ext uri="{FF2B5EF4-FFF2-40B4-BE49-F238E27FC236}">
                <a16:creationId xmlns:a16="http://schemas.microsoft.com/office/drawing/2014/main" id="{053E9FCB-D472-F84F-61F9-E439ED061BC3}"/>
              </a:ext>
            </a:extLst>
          </p:cNvPr>
          <p:cNvSpPr txBox="1"/>
          <p:nvPr/>
        </p:nvSpPr>
        <p:spPr>
          <a:xfrm>
            <a:off x="1463159" y="2357990"/>
            <a:ext cx="540533" cy="246221"/>
          </a:xfrm>
          <a:prstGeom prst="rect">
            <a:avLst/>
          </a:prstGeom>
          <a:noFill/>
        </p:spPr>
        <p:txBody>
          <a:bodyPr wrap="none" rtlCol="0">
            <a:spAutoFit/>
          </a:bodyPr>
          <a:lstStyle/>
          <a:p>
            <a:r>
              <a:rPr lang="en-US" sz="1000" b="1" dirty="0">
                <a:solidFill>
                  <a:schemeClr val="bg1">
                    <a:lumMod val="50000"/>
                  </a:schemeClr>
                </a:solidFill>
              </a:rPr>
              <a:t>Smith</a:t>
            </a:r>
          </a:p>
        </p:txBody>
      </p:sp>
      <p:sp>
        <p:nvSpPr>
          <p:cNvPr id="29" name="TextBox 28">
            <a:extLst>
              <a:ext uri="{FF2B5EF4-FFF2-40B4-BE49-F238E27FC236}">
                <a16:creationId xmlns:a16="http://schemas.microsoft.com/office/drawing/2014/main" id="{8338698F-20E2-EBD6-0ED5-0CC116792502}"/>
              </a:ext>
            </a:extLst>
          </p:cNvPr>
          <p:cNvSpPr txBox="1"/>
          <p:nvPr/>
        </p:nvSpPr>
        <p:spPr>
          <a:xfrm>
            <a:off x="1463159" y="2174687"/>
            <a:ext cx="540533" cy="246221"/>
          </a:xfrm>
          <a:prstGeom prst="rect">
            <a:avLst/>
          </a:prstGeom>
          <a:noFill/>
        </p:spPr>
        <p:txBody>
          <a:bodyPr wrap="none" rtlCol="0">
            <a:spAutoFit/>
          </a:bodyPr>
          <a:lstStyle/>
          <a:p>
            <a:r>
              <a:rPr lang="en-US" sz="1000" b="1" dirty="0">
                <a:solidFill>
                  <a:schemeClr val="bg1">
                    <a:lumMod val="50000"/>
                  </a:schemeClr>
                </a:solidFill>
              </a:rPr>
              <a:t>Smith</a:t>
            </a:r>
          </a:p>
        </p:txBody>
      </p:sp>
      <p:cxnSp>
        <p:nvCxnSpPr>
          <p:cNvPr id="30" name="Straight Connector 29">
            <a:extLst>
              <a:ext uri="{FF2B5EF4-FFF2-40B4-BE49-F238E27FC236}">
                <a16:creationId xmlns:a16="http://schemas.microsoft.com/office/drawing/2014/main" id="{0DBE2812-4B97-BAAF-C54C-685EA8F83DD9}"/>
              </a:ext>
            </a:extLst>
          </p:cNvPr>
          <p:cNvCxnSpPr/>
          <p:nvPr/>
        </p:nvCxnSpPr>
        <p:spPr>
          <a:xfrm>
            <a:off x="1463159" y="1505994"/>
            <a:ext cx="0" cy="1625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A23C6FA-7F7C-9662-3D3A-B0856053B373}"/>
              </a:ext>
            </a:extLst>
          </p:cNvPr>
          <p:cNvCxnSpPr/>
          <p:nvPr/>
        </p:nvCxnSpPr>
        <p:spPr>
          <a:xfrm>
            <a:off x="1234559" y="2365521"/>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16034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6612B4C-E1F6-2DDC-303C-78CA450476DA}"/>
            </a:ext>
          </a:extLst>
        </p:cNvPr>
        <p:cNvGrpSpPr/>
        <p:nvPr/>
      </p:nvGrpSpPr>
      <p:grpSpPr>
        <a:xfrm>
          <a:off x="0" y="0"/>
          <a:ext cx="0" cy="0"/>
          <a:chOff x="0" y="0"/>
          <a:chExt cx="0" cy="0"/>
        </a:xfrm>
      </p:grpSpPr>
      <p:sp>
        <p:nvSpPr>
          <p:cNvPr id="274" name="Google Shape;274;p56">
            <a:extLst>
              <a:ext uri="{FF2B5EF4-FFF2-40B4-BE49-F238E27FC236}">
                <a16:creationId xmlns:a16="http://schemas.microsoft.com/office/drawing/2014/main" id="{EBCE48CC-B665-7474-1926-0A3D559D0E8E}"/>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60</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Tree>
    <p:extLst>
      <p:ext uri="{BB962C8B-B14F-4D97-AF65-F5344CB8AC3E}">
        <p14:creationId xmlns:p14="http://schemas.microsoft.com/office/powerpoint/2010/main" val="33047512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ADB088A-A206-CCF7-BABE-A2EFDEC0D4D3}"/>
            </a:ext>
          </a:extLst>
        </p:cNvPr>
        <p:cNvGrpSpPr/>
        <p:nvPr/>
      </p:nvGrpSpPr>
      <p:grpSpPr>
        <a:xfrm>
          <a:off x="0" y="0"/>
          <a:ext cx="0" cy="0"/>
          <a:chOff x="0" y="0"/>
          <a:chExt cx="0" cy="0"/>
        </a:xfrm>
      </p:grpSpPr>
      <p:sp>
        <p:nvSpPr>
          <p:cNvPr id="274" name="Google Shape;274;p56">
            <a:extLst>
              <a:ext uri="{FF2B5EF4-FFF2-40B4-BE49-F238E27FC236}">
                <a16:creationId xmlns:a16="http://schemas.microsoft.com/office/drawing/2014/main" id="{23243D0C-A2EA-34B0-3813-0F93DCF42FF3}"/>
              </a:ext>
            </a:extLst>
          </p:cNvPr>
          <p:cNvSpPr txBox="1">
            <a:spLocks noGrp="1"/>
          </p:cNvSpPr>
          <p:nvPr>
            <p:ph type="sldNum" idx="12"/>
          </p:nvPr>
        </p:nvSpPr>
        <p:spPr>
          <a:xfrm>
            <a:off x="8472450" y="4773850"/>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200" b="0" i="0" u="none" strike="noStrike" kern="0" cap="none" spc="0" normalizeH="0" baseline="0" noProof="0">
                <a:ln>
                  <a:noFill/>
                </a:ln>
                <a:solidFill>
                  <a:srgbClr val="FF6E42"/>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61</a:t>
            </a:fld>
            <a:endParaRPr kumimoji="0" sz="1200" b="0" i="0" u="none" strike="noStrike" kern="0" cap="none" spc="0" normalizeH="0" baseline="0" noProof="0">
              <a:ln>
                <a:noFill/>
              </a:ln>
              <a:solidFill>
                <a:srgbClr val="FF6E42"/>
              </a:solidFill>
              <a:effectLst/>
              <a:uLnTx/>
              <a:uFillTx/>
              <a:latin typeface="Arial"/>
              <a:cs typeface="Arial"/>
              <a:sym typeface="Arial"/>
            </a:endParaRPr>
          </a:p>
        </p:txBody>
      </p:sp>
    </p:spTree>
    <p:extLst>
      <p:ext uri="{BB962C8B-B14F-4D97-AF65-F5344CB8AC3E}">
        <p14:creationId xmlns:p14="http://schemas.microsoft.com/office/powerpoint/2010/main" val="378167720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121017"/>
      </a:dk1>
      <a:lt1>
        <a:srgbClr val="FFFFFF"/>
      </a:lt1>
      <a:dk2>
        <a:srgbClr val="494655"/>
      </a:dk2>
      <a:lt2>
        <a:srgbClr val="F5F5F7"/>
      </a:lt2>
      <a:accent1>
        <a:srgbClr val="FF5F3B"/>
      </a:accent1>
      <a:accent2>
        <a:srgbClr val="1E154B"/>
      </a:accent2>
      <a:accent3>
        <a:srgbClr val="735AF5"/>
      </a:accent3>
      <a:accent4>
        <a:srgbClr val="FF3A46"/>
      </a:accent4>
      <a:accent5>
        <a:srgbClr val="2273C3"/>
      </a:accent5>
      <a:accent6>
        <a:srgbClr val="50D976"/>
      </a:accent6>
      <a:hlink>
        <a:srgbClr val="50D97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8110</TotalTime>
  <Words>5198</Words>
  <Application>Microsoft Office PowerPoint</Application>
  <PresentationFormat>On-screen Show (16:9)</PresentationFormat>
  <Paragraphs>938</Paragraphs>
  <Slides>61</Slides>
  <Notes>61</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61</vt:i4>
      </vt:variant>
    </vt:vector>
  </HeadingPairs>
  <TitlesOfParts>
    <vt:vector size="76" baseType="lpstr">
      <vt:lpstr>Rubik</vt:lpstr>
      <vt:lpstr>Inter Medium</vt:lpstr>
      <vt:lpstr>Inter</vt:lpstr>
      <vt:lpstr>Arial</vt:lpstr>
      <vt:lpstr>Lato</vt:lpstr>
      <vt:lpstr>Courier New</vt:lpstr>
      <vt:lpstr>Roboto</vt:lpstr>
      <vt:lpstr>Merriweather</vt:lpstr>
      <vt:lpstr>Comfortaa Medium</vt:lpstr>
      <vt:lpstr>Helvetica Neue</vt:lpstr>
      <vt:lpstr>Roboto Condensed Light</vt:lpstr>
      <vt:lpstr>Comfortaa</vt:lpstr>
      <vt:lpstr>Simple Light</vt:lpstr>
      <vt:lpstr>Paradigm</vt:lpstr>
      <vt:lpstr>Simple Light</vt:lpstr>
      <vt:lpstr>PowerPoint Presentation</vt:lpstr>
      <vt:lpstr>PowerPoint Presentation</vt:lpstr>
      <vt:lpstr>where this fits in performance tuning</vt:lpstr>
      <vt:lpstr>sargability – Search ARGument availABLE</vt:lpstr>
      <vt:lpstr>which of these-</vt:lpstr>
      <vt:lpstr>the 4 stage backend</vt:lpstr>
      <vt:lpstr>seeing parsing overhead</vt:lpstr>
      <vt:lpstr>query optimizer; what constitutes a query (execution) plan</vt:lpstr>
      <vt:lpstr>file access methods, (traditionally, all databases)</vt:lpstr>
      <vt:lpstr>join method,  table order</vt:lpstr>
      <vt:lpstr>rules based optimizer (rbo), cost based optimizer (cbo)</vt:lpstr>
      <vt:lpstr>PowerPoint Presentation</vt:lpstr>
      <vt:lpstr>example 01:</vt:lpstr>
      <vt:lpstr>but first, 7'th grade algebra; the associative property</vt:lpstr>
      <vt:lpstr>also first; the "psuedo order by clause" (a query rewrite)</vt:lpstr>
      <vt:lpstr>PowerPoint Presentation</vt:lpstr>
      <vt:lpstr>example 01: determing the query plan, applying the rules </vt:lpstr>
      <vt:lpstr>example 01: which query predicate (filter)</vt:lpstr>
      <vt:lpstr>example 01: how, why</vt:lpstr>
      <vt:lpstr>example 01: the actual code behind this</vt:lpstr>
      <vt:lpstr>example 01: the actual code behind this</vt:lpstr>
      <vt:lpstr>example 01: the actual code behind this</vt:lpstr>
      <vt:lpstr>example 01: running the original query</vt:lpstr>
      <vt:lpstr>example 01: output from ANALYZE</vt:lpstr>
      <vt:lpstr>example 01: a different version, that needs to sort</vt:lpstr>
      <vt:lpstr>yugabyteDB doc page: Ask AI capability</vt:lpstr>
      <vt:lpstr>PowerPoint Presentation</vt:lpstr>
      <vt:lpstr>PowerPoint Presentation</vt:lpstr>
      <vt:lpstr>PowerPoint Presentation</vt:lpstr>
      <vt:lpstr>example 02:</vt:lpstr>
      <vt:lpstr>the OR-topped query, the physics</vt:lpstr>
      <vt:lpstr>index negation; non-anchored composite key</vt:lpstr>
      <vt:lpstr>OR-topped query    OR-union transfer (a query rewrite)</vt:lpstr>
      <vt:lpstr>PowerPoint Presentation</vt:lpstr>
      <vt:lpstr>example 02: determing the query plan, applying the rules </vt:lpstr>
      <vt:lpstr>example 02: the actual code behind this</vt:lpstr>
      <vt:lpstr>example 02: running the query</vt:lpstr>
      <vt:lpstr>example 02: output from ANALYZE</vt:lpstr>
      <vt:lpstr>example 02: additional topics</vt:lpstr>
      <vt:lpstr>example 02'ish: a different query, seeing work_mem and sorts</vt:lpstr>
      <vt:lpstr>example 02'ish: a different query, seeing work_mem and sorts</vt:lpstr>
      <vt:lpstr>example 02'ish: a different query, sort time jitter on small sized data</vt:lpstr>
      <vt:lpstr>example 02: optional exercise</vt:lpstr>
      <vt:lpstr>PowerPoint Presentation</vt:lpstr>
      <vt:lpstr>PowerPoint Presentation</vt:lpstr>
      <vt:lpstr>PowerPoint Presentation</vt:lpstr>
      <vt:lpstr>aaa</vt:lpstr>
      <vt:lpstr>aaa</vt:lpstr>
      <vt:lpstr>aaa</vt:lpstr>
      <vt:lpstr>aaa</vt:lpstr>
      <vt:lpstr>demonstration:</vt:lpstr>
      <vt:lpstr>Next step ..</vt:lpstr>
      <vt:lpstr>PowerPoint Presentation</vt:lpstr>
      <vt:lpstr>query optimizer; what constitutes a query (execution) plan</vt:lpstr>
      <vt:lpstr>query optimizer; what constitutes a query (execution) plan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default</dc:creator>
  <cp:lastModifiedBy>Daniel Farrell</cp:lastModifiedBy>
  <cp:revision>87</cp:revision>
  <cp:lastPrinted>2026-08-21T16:57:48Z</cp:lastPrinted>
  <dcterms:modified xsi:type="dcterms:W3CDTF">2026-09-01T19:58:29Z</dcterms:modified>
</cp:coreProperties>
</file>